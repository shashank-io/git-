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69"/>
  </p:handoutMasterIdLst>
  <p:sldIdLst>
    <p:sldId id="718" r:id="rId3"/>
    <p:sldId id="283" r:id="rId5"/>
    <p:sldId id="909" r:id="rId6"/>
    <p:sldId id="910" r:id="rId7"/>
    <p:sldId id="448" r:id="rId8"/>
    <p:sldId id="851" r:id="rId9"/>
    <p:sldId id="850" r:id="rId10"/>
    <p:sldId id="450" r:id="rId11"/>
    <p:sldId id="451" r:id="rId12"/>
    <p:sldId id="452" r:id="rId13"/>
    <p:sldId id="284" r:id="rId14"/>
    <p:sldId id="285" r:id="rId15"/>
    <p:sldId id="287" r:id="rId16"/>
    <p:sldId id="329" r:id="rId17"/>
    <p:sldId id="286" r:id="rId18"/>
    <p:sldId id="515" r:id="rId19"/>
    <p:sldId id="971" r:id="rId20"/>
    <p:sldId id="288" r:id="rId21"/>
    <p:sldId id="293" r:id="rId22"/>
    <p:sldId id="656" r:id="rId23"/>
    <p:sldId id="657" r:id="rId24"/>
    <p:sldId id="658" r:id="rId25"/>
    <p:sldId id="259" r:id="rId26"/>
    <p:sldId id="260" r:id="rId27"/>
    <p:sldId id="261" r:id="rId28"/>
    <p:sldId id="262" r:id="rId29"/>
    <p:sldId id="263" r:id="rId30"/>
    <p:sldId id="513" r:id="rId31"/>
    <p:sldId id="911" r:id="rId32"/>
    <p:sldId id="264" r:id="rId33"/>
    <p:sldId id="265" r:id="rId34"/>
    <p:sldId id="266" r:id="rId35"/>
    <p:sldId id="267" r:id="rId36"/>
    <p:sldId id="268" r:id="rId37"/>
    <p:sldId id="573" r:id="rId38"/>
    <p:sldId id="572" r:id="rId39"/>
    <p:sldId id="574" r:id="rId40"/>
    <p:sldId id="615" r:id="rId41"/>
    <p:sldId id="571" r:id="rId42"/>
    <p:sldId id="827" r:id="rId43"/>
    <p:sldId id="616" r:id="rId44"/>
    <p:sldId id="807" r:id="rId45"/>
    <p:sldId id="912" r:id="rId46"/>
    <p:sldId id="270" r:id="rId47"/>
    <p:sldId id="271" r:id="rId48"/>
    <p:sldId id="272" r:id="rId49"/>
    <p:sldId id="273" r:id="rId50"/>
    <p:sldId id="716" r:id="rId51"/>
    <p:sldId id="274" r:id="rId52"/>
    <p:sldId id="715" r:id="rId53"/>
    <p:sldId id="795" r:id="rId54"/>
    <p:sldId id="796" r:id="rId55"/>
    <p:sldId id="279" r:id="rId56"/>
    <p:sldId id="806" r:id="rId57"/>
    <p:sldId id="805" r:id="rId58"/>
    <p:sldId id="714" r:id="rId59"/>
    <p:sldId id="828" r:id="rId60"/>
    <p:sldId id="808" r:id="rId61"/>
    <p:sldId id="809" r:id="rId62"/>
    <p:sldId id="826" r:id="rId63"/>
    <p:sldId id="914" r:id="rId64"/>
    <p:sldId id="280" r:id="rId65"/>
    <p:sldId id="281" r:id="rId66"/>
    <p:sldId id="282" r:id="rId67"/>
    <p:sldId id="1019" r:id="rId68"/>
  </p:sldIdLst>
  <p:sldSz cx="9144000" cy="6858000" type="screen4x3"/>
  <p:notesSz cx="6858000" cy="9144000"/>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088" userDrawn="1">
          <p15:clr>
            <a:srgbClr val="A4A3A4"/>
          </p15:clr>
        </p15:guide>
        <p15:guide id="2" pos="296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22004"/>
    <p:restoredTop sz="86322"/>
  </p:normalViewPr>
  <p:slideViewPr>
    <p:cSldViewPr showGuides="1">
      <p:cViewPr varScale="1">
        <p:scale>
          <a:sx n="60" d="100"/>
          <a:sy n="60" d="100"/>
        </p:scale>
        <p:origin x="1344" y="78"/>
      </p:cViewPr>
      <p:guideLst>
        <p:guide orient="horz" pos="2088"/>
        <p:guide pos="2962"/>
      </p:guideLst>
    </p:cSldViewPr>
  </p:slideViewPr>
  <p:outlineViewPr>
    <p:cViewPr>
      <p:scale>
        <a:sx n="33" d="100"/>
        <a:sy n="33" d="100"/>
      </p:scale>
      <p:origin x="0" y="4158"/>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2" Type="http://schemas.openxmlformats.org/officeDocument/2006/relationships/tableStyles" Target="tableStyles.xml"/><Relationship Id="rId71" Type="http://schemas.openxmlformats.org/officeDocument/2006/relationships/viewProps" Target="viewProps.xml"/><Relationship Id="rId70" Type="http://schemas.openxmlformats.org/officeDocument/2006/relationships/presProps" Target="presProps.xml"/><Relationship Id="rId7" Type="http://schemas.openxmlformats.org/officeDocument/2006/relationships/slide" Target="slides/slide4.xml"/><Relationship Id="rId69" Type="http://schemas.openxmlformats.org/officeDocument/2006/relationships/handoutMaster" Target="handoutMasters/handoutMaster1.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Prepared by Dr. Mallikarjun Math. Professor &amp; Head CC</a:t>
            </a:r>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f sldNum="0"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Prepared by Dr. Mallikarjun Math. Professor &amp; Head CC</a:t>
            </a:r>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hf sldNum="0"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
        <p:nvSpPr>
          <p:cNvPr id="4" name="Footer Placeholder 3"/>
          <p:cNvSpPr>
            <a:spLocks noGrp="1"/>
          </p:cNvSpPr>
          <p:nvPr>
            <p:ph type="ftr" sz="quarter" idx="4"/>
          </p:nvPr>
        </p:nvSpPr>
        <p:spPr/>
        <p:txBody>
          <a:bodyPr/>
          <a:p>
            <a:r>
              <a:rPr lang="en-US"/>
              <a:t>Prepared by Dr. Mallikarjun Math. Professor &amp; Head CC</a:t>
            </a:r>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
        <p:nvSpPr>
          <p:cNvPr id="4" name="Footer Placeholder 3"/>
          <p:cNvSpPr>
            <a:spLocks noGrp="1"/>
          </p:cNvSpPr>
          <p:nvPr>
            <p:ph type="ftr" sz="quarter" idx="4"/>
          </p:nvPr>
        </p:nvSpPr>
        <p:spPr/>
        <p:txBody>
          <a:bodyPr/>
          <a:p>
            <a:r>
              <a:rPr lang="en-US"/>
              <a:t>Prepared by Dr. Mallikarjun Math. Professor &amp; Head CC</a:t>
            </a:r>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
        <p:nvSpPr>
          <p:cNvPr id="4" name="Footer Placeholder 3"/>
          <p:cNvSpPr>
            <a:spLocks noGrp="1"/>
          </p:cNvSpPr>
          <p:nvPr>
            <p:ph type="ftr" sz="quarter" idx="4"/>
          </p:nvPr>
        </p:nvSpPr>
        <p:spPr/>
        <p:txBody>
          <a:bodyPr/>
          <a:p>
            <a:r>
              <a:rPr lang="en-US"/>
              <a:t>Prepared by Dr. Mallikarjun Math. Professor &amp; Head CC</a:t>
            </a:r>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
        <p:nvSpPr>
          <p:cNvPr id="4" name="Footer Placeholder 3"/>
          <p:cNvSpPr>
            <a:spLocks noGrp="1"/>
          </p:cNvSpPr>
          <p:nvPr>
            <p:ph type="ftr" sz="quarter" idx="4"/>
          </p:nvPr>
        </p:nvSpPr>
        <p:spPr/>
        <p:txBody>
          <a:bodyPr/>
          <a:p>
            <a:r>
              <a:rPr lang="en-US"/>
              <a:t>Prepared by Dr. Mallikarjun Math. Professor &amp; Head CC</a:t>
            </a:r>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
        <p:nvSpPr>
          <p:cNvPr id="4" name="Footer Placeholder 3"/>
          <p:cNvSpPr>
            <a:spLocks noGrp="1"/>
          </p:cNvSpPr>
          <p:nvPr>
            <p:ph type="ftr" sz="quarter" idx="4"/>
          </p:nvPr>
        </p:nvSpPr>
        <p:spPr/>
        <p:txBody>
          <a:bodyPr/>
          <a:p>
            <a:r>
              <a:rPr lang="en-US"/>
              <a:t>Prepared by Dr. Mallikarjun Math. Professor &amp; Head CC</a:t>
            </a:r>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
        <p:nvSpPr>
          <p:cNvPr id="4" name="Footer Placeholder 3"/>
          <p:cNvSpPr>
            <a:spLocks noGrp="1"/>
          </p:cNvSpPr>
          <p:nvPr>
            <p:ph type="ftr" sz="quarter" idx="4"/>
          </p:nvPr>
        </p:nvSpPr>
        <p:spPr/>
        <p:txBody>
          <a:bodyPr/>
          <a:p>
            <a:r>
              <a:rPr lang="en-US"/>
              <a:t>Prepared by Dr. Mallikarjun Math. Professor &amp; Head CC</a:t>
            </a:r>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
        <p:nvSpPr>
          <p:cNvPr id="4" name="Footer Placeholder 3"/>
          <p:cNvSpPr>
            <a:spLocks noGrp="1"/>
          </p:cNvSpPr>
          <p:nvPr>
            <p:ph type="ftr" sz="quarter" idx="4"/>
          </p:nvPr>
        </p:nvSpPr>
        <p:spPr/>
        <p:txBody>
          <a:bodyPr/>
          <a:p>
            <a:r>
              <a:rPr lang="en-US"/>
              <a:t>Prepared by Dr. Mallikarjun Math. Professor &amp; Head CC</a:t>
            </a:r>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
        <p:nvSpPr>
          <p:cNvPr id="4" name="Footer Placeholder 3"/>
          <p:cNvSpPr>
            <a:spLocks noGrp="1"/>
          </p:cNvSpPr>
          <p:nvPr>
            <p:ph type="ftr" sz="quarter" idx="4"/>
          </p:nvPr>
        </p:nvSpPr>
        <p:spPr/>
        <p:txBody>
          <a:bodyPr/>
          <a:p>
            <a:r>
              <a:rPr lang="en-US"/>
              <a:t>Prepared by Dr. Mallikarjun Math. Professor &amp; Head CC</a:t>
            </a:r>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
        <p:nvSpPr>
          <p:cNvPr id="4" name="Footer Placeholder 3"/>
          <p:cNvSpPr>
            <a:spLocks noGrp="1"/>
          </p:cNvSpPr>
          <p:nvPr>
            <p:ph type="ftr" sz="quarter" idx="4"/>
          </p:nvPr>
        </p:nvSpPr>
        <p:spPr/>
        <p:txBody>
          <a:bodyPr/>
          <a:p>
            <a:r>
              <a:rPr lang="en-US"/>
              <a:t>Prepared by Dr. Mallikarjun Math. Professor &amp; Head CC</a:t>
            </a:r>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
        <p:nvSpPr>
          <p:cNvPr id="4" name="Footer Placeholder 3"/>
          <p:cNvSpPr>
            <a:spLocks noGrp="1"/>
          </p:cNvSpPr>
          <p:nvPr>
            <p:ph type="ftr" sz="quarter" idx="4"/>
          </p:nvPr>
        </p:nvSpPr>
        <p:spPr/>
        <p:txBody>
          <a:bodyPr/>
          <a:p>
            <a:r>
              <a:rPr lang="en-US"/>
              <a:t>Prepared by Dr. Mallikarjun Math. Professor &amp; Head CC</a:t>
            </a:r>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
        <p:nvSpPr>
          <p:cNvPr id="4" name="Footer Placeholder 3"/>
          <p:cNvSpPr>
            <a:spLocks noGrp="1"/>
          </p:cNvSpPr>
          <p:nvPr>
            <p:ph type="ftr" sz="quarter" idx="4"/>
          </p:nvPr>
        </p:nvSpPr>
        <p:spPr/>
        <p:txBody>
          <a:bodyPr/>
          <a:p>
            <a:r>
              <a:rPr lang="en-US"/>
              <a:t>Prepared by Dr. Mallikarjun Math. Professor &amp; Head CC</a:t>
            </a:r>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
        <p:nvSpPr>
          <p:cNvPr id="4" name="Footer Placeholder 3"/>
          <p:cNvSpPr>
            <a:spLocks noGrp="1"/>
          </p:cNvSpPr>
          <p:nvPr>
            <p:ph type="ftr" sz="quarter" idx="4"/>
          </p:nvPr>
        </p:nvSpPr>
        <p:spPr/>
        <p:txBody>
          <a:bodyPr/>
          <a:p>
            <a:r>
              <a:rPr lang="en-US"/>
              <a:t>Prepared by Dr. Mallikarjun Math. Professor &amp; Head CC</a:t>
            </a:r>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
        <p:nvSpPr>
          <p:cNvPr id="4" name="Footer Placeholder 3"/>
          <p:cNvSpPr>
            <a:spLocks noGrp="1"/>
          </p:cNvSpPr>
          <p:nvPr>
            <p:ph type="ftr" sz="quarter" idx="4"/>
          </p:nvPr>
        </p:nvSpPr>
        <p:spPr/>
        <p:txBody>
          <a:bodyPr/>
          <a:p>
            <a:r>
              <a:rPr lang="en-US"/>
              <a:t>Prepared by Dr. Mallikarjun Math. Professor &amp; Head CC</a:t>
            </a:r>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
        <p:nvSpPr>
          <p:cNvPr id="4" name="Footer Placeholder 3"/>
          <p:cNvSpPr>
            <a:spLocks noGrp="1"/>
          </p:cNvSpPr>
          <p:nvPr>
            <p:ph type="ftr" sz="quarter" idx="4"/>
          </p:nvPr>
        </p:nvSpPr>
        <p:spPr/>
        <p:txBody>
          <a:bodyPr/>
          <a:p>
            <a:r>
              <a:rPr lang="en-US"/>
              <a:t>Prepared by Dr. Mallikarjun Math. Professor &amp; Head CC</a:t>
            </a:r>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
        <p:nvSpPr>
          <p:cNvPr id="4" name="Footer Placeholder 3"/>
          <p:cNvSpPr>
            <a:spLocks noGrp="1"/>
          </p:cNvSpPr>
          <p:nvPr>
            <p:ph type="ftr" sz="quarter" idx="4"/>
          </p:nvPr>
        </p:nvSpPr>
        <p:spPr/>
        <p:txBody>
          <a:bodyPr/>
          <a:p>
            <a:r>
              <a:rPr lang="en-US"/>
              <a:t>Prepared by Dr. Mallikarjun Math. Professor &amp; Head CC</a:t>
            </a:r>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
        <p:nvSpPr>
          <p:cNvPr id="4" name="Footer Placeholder 3"/>
          <p:cNvSpPr>
            <a:spLocks noGrp="1"/>
          </p:cNvSpPr>
          <p:nvPr>
            <p:ph type="ftr" sz="quarter" idx="4"/>
          </p:nvPr>
        </p:nvSpPr>
        <p:spPr/>
        <p:txBody>
          <a:bodyPr/>
          <a:p>
            <a:r>
              <a:rPr lang="en-US"/>
              <a:t>Prepared by Dr. Mallikarjun Math. Professor &amp; Head CC</a:t>
            </a:r>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
        <p:nvSpPr>
          <p:cNvPr id="4" name="Footer Placeholder 3"/>
          <p:cNvSpPr>
            <a:spLocks noGrp="1"/>
          </p:cNvSpPr>
          <p:nvPr>
            <p:ph type="ftr" sz="quarter" idx="4"/>
          </p:nvPr>
        </p:nvSpPr>
        <p:spPr/>
        <p:txBody>
          <a:bodyPr/>
          <a:p>
            <a:r>
              <a:rPr lang="en-US"/>
              <a:t>Prepared by Dr. Mallikarjun Math. Professor &amp; Head CC</a:t>
            </a:r>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
        <p:nvSpPr>
          <p:cNvPr id="4" name="Footer Placeholder 3"/>
          <p:cNvSpPr>
            <a:spLocks noGrp="1"/>
          </p:cNvSpPr>
          <p:nvPr>
            <p:ph type="ftr" sz="quarter" idx="4"/>
          </p:nvPr>
        </p:nvSpPr>
        <p:spPr/>
        <p:txBody>
          <a:bodyPr/>
          <a:p>
            <a:r>
              <a:rPr lang="en-US"/>
              <a:t>Prepared by Dr. Mallikarjun Math. Professor &amp; Head CC</a:t>
            </a:r>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
        <p:nvSpPr>
          <p:cNvPr id="4" name="Footer Placeholder 3"/>
          <p:cNvSpPr>
            <a:spLocks noGrp="1"/>
          </p:cNvSpPr>
          <p:nvPr>
            <p:ph type="ftr" sz="quarter" idx="4"/>
          </p:nvPr>
        </p:nvSpPr>
        <p:spPr/>
        <p:txBody>
          <a:bodyPr/>
          <a:p>
            <a:r>
              <a:rPr lang="en-US"/>
              <a:t>Prepared by Dr. Mallikarjun Math. Professor &amp; Head CC</a:t>
            </a:r>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
        <p:nvSpPr>
          <p:cNvPr id="4" name="Footer Placeholder 3"/>
          <p:cNvSpPr>
            <a:spLocks noGrp="1"/>
          </p:cNvSpPr>
          <p:nvPr>
            <p:ph type="ftr" sz="quarter" idx="4"/>
          </p:nvPr>
        </p:nvSpPr>
        <p:spPr/>
        <p:txBody>
          <a:bodyPr/>
          <a:p>
            <a:r>
              <a:rPr lang="en-US"/>
              <a:t>Prepared by Dr. Mallikarjun Math. Professor &amp; Head CC</a:t>
            </a:r>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
        <p:nvSpPr>
          <p:cNvPr id="4" name="Footer Placeholder 3"/>
          <p:cNvSpPr>
            <a:spLocks noGrp="1"/>
          </p:cNvSpPr>
          <p:nvPr>
            <p:ph type="ftr" sz="quarter" idx="4"/>
          </p:nvPr>
        </p:nvSpPr>
        <p:spPr/>
        <p:txBody>
          <a:bodyPr/>
          <a:p>
            <a:r>
              <a:rPr lang="en-US"/>
              <a:t>Prepared by Dr. Mallikarjun Math. Professor &amp; Head CC</a:t>
            </a:r>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
        <p:nvSpPr>
          <p:cNvPr id="4" name="Footer Placeholder 3"/>
          <p:cNvSpPr>
            <a:spLocks noGrp="1"/>
          </p:cNvSpPr>
          <p:nvPr>
            <p:ph type="ftr" sz="quarter" idx="4"/>
          </p:nvPr>
        </p:nvSpPr>
        <p:spPr/>
        <p:txBody>
          <a:bodyPr/>
          <a:p>
            <a:r>
              <a:rPr lang="en-US"/>
              <a:t>Prepared by Dr. Mallikarjun Math. Professor &amp; Head CC</a:t>
            </a:r>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
        <p:nvSpPr>
          <p:cNvPr id="4" name="Footer Placeholder 3"/>
          <p:cNvSpPr>
            <a:spLocks noGrp="1"/>
          </p:cNvSpPr>
          <p:nvPr>
            <p:ph type="ftr" sz="quarter" idx="4"/>
          </p:nvPr>
        </p:nvSpPr>
        <p:spPr/>
        <p:txBody>
          <a:bodyPr/>
          <a:p>
            <a:r>
              <a:rPr lang="en-US"/>
              <a:t>Prepared by Dr. Mallikarjun Math. Professor &amp; Head CC</a:t>
            </a:r>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
        <p:nvSpPr>
          <p:cNvPr id="4" name="Footer Placeholder 3"/>
          <p:cNvSpPr>
            <a:spLocks noGrp="1"/>
          </p:cNvSpPr>
          <p:nvPr>
            <p:ph type="ftr" sz="quarter" idx="4"/>
          </p:nvPr>
        </p:nvSpPr>
        <p:spPr/>
        <p:txBody>
          <a:bodyPr/>
          <a:p>
            <a:r>
              <a:rPr lang="en-US"/>
              <a:t>Prepared by Dr. Mallikarjun Math. Professor &amp; Head CC</a:t>
            </a:r>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
        <p:nvSpPr>
          <p:cNvPr id="4" name="Footer Placeholder 3"/>
          <p:cNvSpPr>
            <a:spLocks noGrp="1"/>
          </p:cNvSpPr>
          <p:nvPr>
            <p:ph type="ftr" sz="quarter" idx="4"/>
          </p:nvPr>
        </p:nvSpPr>
        <p:spPr/>
        <p:txBody>
          <a:bodyPr/>
          <a:p>
            <a:r>
              <a:rPr lang="en-US"/>
              <a:t>Prepared by Dr. Mallikarjun Math. Professor &amp; Head CC</a:t>
            </a:r>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
        <p:nvSpPr>
          <p:cNvPr id="4" name="Footer Placeholder 3"/>
          <p:cNvSpPr>
            <a:spLocks noGrp="1"/>
          </p:cNvSpPr>
          <p:nvPr>
            <p:ph type="ftr" sz="quarter" idx="4"/>
          </p:nvPr>
        </p:nvSpPr>
        <p:spPr/>
        <p:txBody>
          <a:bodyPr/>
          <a:p>
            <a:r>
              <a:rPr lang="en-US"/>
              <a:t>Prepared by Dr. Mallikarjun Math. Professor &amp; Head CC</a:t>
            </a:r>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
        <p:nvSpPr>
          <p:cNvPr id="4" name="Footer Placeholder 3"/>
          <p:cNvSpPr>
            <a:spLocks noGrp="1"/>
          </p:cNvSpPr>
          <p:nvPr>
            <p:ph type="ftr" sz="quarter" idx="4"/>
          </p:nvPr>
        </p:nvSpPr>
        <p:spPr/>
        <p:txBody>
          <a:bodyPr/>
          <a:p>
            <a:r>
              <a:rPr lang="en-US"/>
              <a:t>Prepared by Dr. Mallikarjun Math. Professor &amp; Head CC</a:t>
            </a:r>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
        <p:nvSpPr>
          <p:cNvPr id="4" name="Footer Placeholder 3"/>
          <p:cNvSpPr>
            <a:spLocks noGrp="1"/>
          </p:cNvSpPr>
          <p:nvPr>
            <p:ph type="ftr" sz="quarter" idx="4"/>
          </p:nvPr>
        </p:nvSpPr>
        <p:spPr/>
        <p:txBody>
          <a:bodyPr/>
          <a:p>
            <a:r>
              <a:rPr lang="en-US"/>
              <a:t>Prepared by Dr. Mallikarjun Math. Professor &amp; Head CC</a:t>
            </a:r>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
        <p:nvSpPr>
          <p:cNvPr id="4" name="Footer Placeholder 3"/>
          <p:cNvSpPr>
            <a:spLocks noGrp="1"/>
          </p:cNvSpPr>
          <p:nvPr>
            <p:ph type="ftr" sz="quarter" idx="4"/>
          </p:nvPr>
        </p:nvSpPr>
        <p:spPr/>
        <p:txBody>
          <a:bodyPr/>
          <a:p>
            <a:r>
              <a:rPr lang="en-US"/>
              <a:t>Prepared by Dr. Mallikarjun Math. Professor &amp; Head CC</a:t>
            </a:r>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
        <p:nvSpPr>
          <p:cNvPr id="4" name="Footer Placeholder 3"/>
          <p:cNvSpPr>
            <a:spLocks noGrp="1"/>
          </p:cNvSpPr>
          <p:nvPr>
            <p:ph type="ftr" sz="quarter" idx="4"/>
          </p:nvPr>
        </p:nvSpPr>
        <p:spPr/>
        <p:txBody>
          <a:bodyPr/>
          <a:p>
            <a:r>
              <a:rPr lang="en-US"/>
              <a:t>Prepared by Dr. Mallikarjun Math. Professor &amp; Head CC</a:t>
            </a:r>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
        <p:nvSpPr>
          <p:cNvPr id="4" name="Footer Placeholder 3"/>
          <p:cNvSpPr>
            <a:spLocks noGrp="1"/>
          </p:cNvSpPr>
          <p:nvPr>
            <p:ph type="ftr" sz="quarter" idx="4"/>
          </p:nvPr>
        </p:nvSpPr>
        <p:spPr/>
        <p:txBody>
          <a:bodyPr/>
          <a:p>
            <a:r>
              <a:rPr lang="en-US"/>
              <a:t>Prepared by Dr. Mallikarjun Math. Professor &amp; Head CC</a:t>
            </a:r>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
        <p:nvSpPr>
          <p:cNvPr id="4" name="Footer Placeholder 3"/>
          <p:cNvSpPr>
            <a:spLocks noGrp="1"/>
          </p:cNvSpPr>
          <p:nvPr>
            <p:ph type="ftr" sz="quarter" idx="4"/>
          </p:nvPr>
        </p:nvSpPr>
        <p:spPr/>
        <p:txBody>
          <a:bodyPr/>
          <a:p>
            <a:r>
              <a:rPr lang="en-US"/>
              <a:t>Prepared by Dr. Mallikarjun Math. Professor &amp; Head CC</a:t>
            </a:r>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
        <p:nvSpPr>
          <p:cNvPr id="4" name="Footer Placeholder 3"/>
          <p:cNvSpPr>
            <a:spLocks noGrp="1"/>
          </p:cNvSpPr>
          <p:nvPr>
            <p:ph type="ftr" sz="quarter" idx="4"/>
          </p:nvPr>
        </p:nvSpPr>
        <p:spPr/>
        <p:txBody>
          <a:bodyPr/>
          <a:p>
            <a:r>
              <a:rPr lang="en-US"/>
              <a:t>Prepared by Dr. Mallikarjun Math. Professor &amp; Head CC</a:t>
            </a:r>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
        <p:nvSpPr>
          <p:cNvPr id="4" name="Footer Placeholder 3"/>
          <p:cNvSpPr>
            <a:spLocks noGrp="1"/>
          </p:cNvSpPr>
          <p:nvPr>
            <p:ph type="ftr" sz="quarter" idx="4"/>
          </p:nvPr>
        </p:nvSpPr>
        <p:spPr/>
        <p:txBody>
          <a:bodyPr/>
          <a:p>
            <a:r>
              <a:rPr lang="en-US"/>
              <a:t>Prepared by Dr. Mallikarjun Math. Professor &amp; Head CC</a:t>
            </a:r>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
        <p:nvSpPr>
          <p:cNvPr id="4" name="Footer Placeholder 3"/>
          <p:cNvSpPr>
            <a:spLocks noGrp="1"/>
          </p:cNvSpPr>
          <p:nvPr>
            <p:ph type="ftr" sz="quarter" idx="4"/>
          </p:nvPr>
        </p:nvSpPr>
        <p:spPr/>
        <p:txBody>
          <a:bodyPr/>
          <a:p>
            <a:r>
              <a:rPr lang="en-US"/>
              <a:t>Prepared by Dr. Mallikarjun Math. Professor &amp; Head CC</a:t>
            </a:r>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
        <p:nvSpPr>
          <p:cNvPr id="4" name="Footer Placeholder 3"/>
          <p:cNvSpPr>
            <a:spLocks noGrp="1"/>
          </p:cNvSpPr>
          <p:nvPr>
            <p:ph type="ftr" sz="quarter" idx="4"/>
          </p:nvPr>
        </p:nvSpPr>
        <p:spPr/>
        <p:txBody>
          <a:bodyPr/>
          <a:p>
            <a:r>
              <a:rPr lang="en-US"/>
              <a:t>Prepared by Dr. Mallikarjun Math. Professor &amp; Head CC</a:t>
            </a:r>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
        <p:nvSpPr>
          <p:cNvPr id="4" name="Footer Placeholder 3"/>
          <p:cNvSpPr>
            <a:spLocks noGrp="1"/>
          </p:cNvSpPr>
          <p:nvPr>
            <p:ph type="ftr" sz="quarter" idx="4"/>
          </p:nvPr>
        </p:nvSpPr>
        <p:spPr/>
        <p:txBody>
          <a:bodyPr/>
          <a:p>
            <a:r>
              <a:rPr lang="en-US"/>
              <a:t>Prepared by Dr. Mallikarjun Math. Professor &amp; Head CC</a:t>
            </a:r>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
        <p:nvSpPr>
          <p:cNvPr id="4" name="Footer Placeholder 3"/>
          <p:cNvSpPr>
            <a:spLocks noGrp="1"/>
          </p:cNvSpPr>
          <p:nvPr>
            <p:ph type="ftr" sz="quarter" idx="4"/>
          </p:nvPr>
        </p:nvSpPr>
        <p:spPr/>
        <p:txBody>
          <a:bodyPr/>
          <a:p>
            <a:r>
              <a:rPr lang="en-US"/>
              <a:t>Prepared by Dr. Mallikarjun Math. Professor &amp; Head CC</a:t>
            </a:r>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
        <p:nvSpPr>
          <p:cNvPr id="4" name="Footer Placeholder 3"/>
          <p:cNvSpPr>
            <a:spLocks noGrp="1"/>
          </p:cNvSpPr>
          <p:nvPr>
            <p:ph type="ftr" sz="quarter" idx="4"/>
          </p:nvPr>
        </p:nvSpPr>
        <p:spPr/>
        <p:txBody>
          <a:bodyPr/>
          <a:p>
            <a:r>
              <a:rPr lang="en-US"/>
              <a:t>Prepared by Dr. Mallikarjun Math. Professor &amp; Head CC</a:t>
            </a:r>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
        <p:nvSpPr>
          <p:cNvPr id="4" name="Footer Placeholder 3"/>
          <p:cNvSpPr>
            <a:spLocks noGrp="1"/>
          </p:cNvSpPr>
          <p:nvPr>
            <p:ph type="ftr" sz="quarter" idx="4"/>
          </p:nvPr>
        </p:nvSpPr>
        <p:spPr/>
        <p:txBody>
          <a:bodyPr/>
          <a:p>
            <a:r>
              <a:rPr lang="en-US"/>
              <a:t>Prepared by Dr. Mallikarjun Math. Professor &amp; Head CC</a:t>
            </a:r>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
        <p:nvSpPr>
          <p:cNvPr id="4" name="Footer Placeholder 3"/>
          <p:cNvSpPr>
            <a:spLocks noGrp="1"/>
          </p:cNvSpPr>
          <p:nvPr>
            <p:ph type="ftr" sz="quarter" idx="4"/>
          </p:nvPr>
        </p:nvSpPr>
        <p:spPr/>
        <p:txBody>
          <a:bodyPr/>
          <a:p>
            <a:r>
              <a:rPr lang="en-US"/>
              <a:t>Prepared by Dr. Mallikarjun Math. Professor &amp; Head CC</a:t>
            </a:r>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
        <p:nvSpPr>
          <p:cNvPr id="4" name="Footer Placeholder 3"/>
          <p:cNvSpPr>
            <a:spLocks noGrp="1"/>
          </p:cNvSpPr>
          <p:nvPr>
            <p:ph type="ftr" sz="quarter" idx="4"/>
          </p:nvPr>
        </p:nvSpPr>
        <p:spPr/>
        <p:txBody>
          <a:bodyPr/>
          <a:p>
            <a:r>
              <a:rPr lang="en-US"/>
              <a:t>Prepared by Dr. Mallikarjun Math. Professor &amp; Head CC</a:t>
            </a:r>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
        <p:nvSpPr>
          <p:cNvPr id="4" name="Footer Placeholder 3"/>
          <p:cNvSpPr>
            <a:spLocks noGrp="1"/>
          </p:cNvSpPr>
          <p:nvPr>
            <p:ph type="ftr" sz="quarter" idx="4"/>
          </p:nvPr>
        </p:nvSpPr>
        <p:spPr/>
        <p:txBody>
          <a:bodyPr/>
          <a:p>
            <a:r>
              <a:rPr lang="en-US"/>
              <a:t>Prepared by Dr. Mallikarjun Math. Professor &amp; Head CC</a:t>
            </a:r>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
        <p:nvSpPr>
          <p:cNvPr id="4" name="Footer Placeholder 3"/>
          <p:cNvSpPr>
            <a:spLocks noGrp="1"/>
          </p:cNvSpPr>
          <p:nvPr>
            <p:ph type="ftr" sz="quarter" idx="4"/>
          </p:nvPr>
        </p:nvSpPr>
        <p:spPr/>
        <p:txBody>
          <a:bodyPr/>
          <a:p>
            <a:r>
              <a:rPr lang="en-US"/>
              <a:t>Prepared by Dr. Mallikarjun Math. Professor &amp; Head CC</a:t>
            </a:r>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
        <p:nvSpPr>
          <p:cNvPr id="4" name="Footer Placeholder 3"/>
          <p:cNvSpPr>
            <a:spLocks noGrp="1"/>
          </p:cNvSpPr>
          <p:nvPr>
            <p:ph type="ftr" sz="quarter" idx="4"/>
          </p:nvPr>
        </p:nvSpPr>
        <p:spPr/>
        <p:txBody>
          <a:bodyPr/>
          <a:p>
            <a:r>
              <a:rPr lang="en-US"/>
              <a:t>Prepared by Dr. Mallikarjun Math. Professor &amp; Head CC</a:t>
            </a:r>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
        <p:nvSpPr>
          <p:cNvPr id="4" name="Footer Placeholder 3"/>
          <p:cNvSpPr>
            <a:spLocks noGrp="1"/>
          </p:cNvSpPr>
          <p:nvPr>
            <p:ph type="ftr" sz="quarter" idx="4"/>
          </p:nvPr>
        </p:nvSpPr>
        <p:spPr/>
        <p:txBody>
          <a:bodyPr/>
          <a:p>
            <a:r>
              <a:rPr lang="en-US"/>
              <a:t>Prepared by Dr. Mallikarjun Math. Professor &amp; Head CC</a:t>
            </a:r>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
        <p:nvSpPr>
          <p:cNvPr id="4" name="Footer Placeholder 3"/>
          <p:cNvSpPr>
            <a:spLocks noGrp="1"/>
          </p:cNvSpPr>
          <p:nvPr>
            <p:ph type="ftr" sz="quarter" idx="4"/>
          </p:nvPr>
        </p:nvSpPr>
        <p:spPr/>
        <p:txBody>
          <a:bodyPr/>
          <a:p>
            <a:r>
              <a:rPr lang="en-US"/>
              <a:t>Prepared by Dr. Mallikarjun Math. Professor &amp; Head CC</a:t>
            </a:r>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
        <p:nvSpPr>
          <p:cNvPr id="4" name="Footer Placeholder 3"/>
          <p:cNvSpPr>
            <a:spLocks noGrp="1"/>
          </p:cNvSpPr>
          <p:nvPr>
            <p:ph type="ftr" sz="quarter" idx="4"/>
          </p:nvPr>
        </p:nvSpPr>
        <p:spPr/>
        <p:txBody>
          <a:bodyPr/>
          <a:p>
            <a:r>
              <a:rPr lang="en-US"/>
              <a:t>Prepared by Dr. Mallikarjun Math. Professor &amp; Head CC</a:t>
            </a:r>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
        <p:nvSpPr>
          <p:cNvPr id="4" name="Footer Placeholder 3"/>
          <p:cNvSpPr>
            <a:spLocks noGrp="1"/>
          </p:cNvSpPr>
          <p:nvPr>
            <p:ph type="ftr" sz="quarter" idx="4"/>
          </p:nvPr>
        </p:nvSpPr>
        <p:spPr/>
        <p:txBody>
          <a:bodyPr/>
          <a:p>
            <a:r>
              <a:rPr lang="en-US"/>
              <a:t>Prepared by Dr. Mallikarjun Math. Professor &amp; Head CC</a:t>
            </a:r>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
        <p:nvSpPr>
          <p:cNvPr id="4" name="Footer Placeholder 3"/>
          <p:cNvSpPr>
            <a:spLocks noGrp="1"/>
          </p:cNvSpPr>
          <p:nvPr>
            <p:ph type="ftr" sz="quarter" idx="4"/>
          </p:nvPr>
        </p:nvSpPr>
        <p:spPr/>
        <p:txBody>
          <a:bodyPr/>
          <a:p>
            <a:r>
              <a:rPr lang="en-US"/>
              <a:t>Prepared by Dr. Mallikarjun Math. Professor &amp; Head CC</a:t>
            </a:r>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
        <p:nvSpPr>
          <p:cNvPr id="4" name="Footer Placeholder 3"/>
          <p:cNvSpPr>
            <a:spLocks noGrp="1"/>
          </p:cNvSpPr>
          <p:nvPr>
            <p:ph type="ftr" sz="quarter" idx="4"/>
          </p:nvPr>
        </p:nvSpPr>
        <p:spPr/>
        <p:txBody>
          <a:bodyPr/>
          <a:p>
            <a:r>
              <a:rPr lang="en-US"/>
              <a:t>Prepared by Dr. Mallikarjun Math. Professor &amp; Head CC</a:t>
            </a:r>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
        <p:nvSpPr>
          <p:cNvPr id="4" name="Footer Placeholder 3"/>
          <p:cNvSpPr>
            <a:spLocks noGrp="1"/>
          </p:cNvSpPr>
          <p:nvPr>
            <p:ph type="ftr" sz="quarter" idx="4"/>
          </p:nvPr>
        </p:nvSpPr>
        <p:spPr/>
        <p:txBody>
          <a:bodyPr/>
          <a:p>
            <a:r>
              <a:rPr lang="en-US"/>
              <a:t>Prepared by Dr. Mallikarjun Math. Professor &amp; Head CC</a:t>
            </a:r>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
        <p:nvSpPr>
          <p:cNvPr id="4" name="Footer Placeholder 3"/>
          <p:cNvSpPr>
            <a:spLocks noGrp="1"/>
          </p:cNvSpPr>
          <p:nvPr>
            <p:ph type="ftr" sz="quarter" idx="4"/>
          </p:nvPr>
        </p:nvSpPr>
        <p:spPr/>
        <p:txBody>
          <a:bodyPr/>
          <a:p>
            <a:r>
              <a:rPr lang="en-US"/>
              <a:t>Prepared by Dr. Mallikarjun Math. Professor &amp; Head CC</a:t>
            </a:r>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
        <p:nvSpPr>
          <p:cNvPr id="4" name="Footer Placeholder 3"/>
          <p:cNvSpPr>
            <a:spLocks noGrp="1"/>
          </p:cNvSpPr>
          <p:nvPr>
            <p:ph type="ftr" sz="quarter" idx="4"/>
          </p:nvPr>
        </p:nvSpPr>
        <p:spPr/>
        <p:txBody>
          <a:bodyPr/>
          <a:p>
            <a:r>
              <a:rPr lang="en-US"/>
              <a:t>Prepared by Dr. Mallikarjun Math. Professor &amp; Head CC</a:t>
            </a:r>
            <a:endParaRPr 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
        <p:nvSpPr>
          <p:cNvPr id="4" name="Footer Placeholder 3"/>
          <p:cNvSpPr>
            <a:spLocks noGrp="1"/>
          </p:cNvSpPr>
          <p:nvPr>
            <p:ph type="ftr" sz="quarter" idx="4"/>
          </p:nvPr>
        </p:nvSpPr>
        <p:spPr/>
        <p:txBody>
          <a:bodyPr/>
          <a:p>
            <a:r>
              <a:rPr lang="en-US"/>
              <a:t>Prepared by Dr. Mallikarjun Math. Professor &amp; Head CC</a:t>
            </a:r>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
        <p:nvSpPr>
          <p:cNvPr id="4" name="Footer Placeholder 3"/>
          <p:cNvSpPr>
            <a:spLocks noGrp="1"/>
          </p:cNvSpPr>
          <p:nvPr>
            <p:ph type="ftr" sz="quarter" idx="4"/>
          </p:nvPr>
        </p:nvSpPr>
        <p:spPr/>
        <p:txBody>
          <a:bodyPr/>
          <a:p>
            <a:r>
              <a:rPr lang="en-US"/>
              <a:t>Prepared by Dr. Mallikarjun Math. Professor &amp; Head CC</a:t>
            </a:r>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
        <p:nvSpPr>
          <p:cNvPr id="4" name="Footer Placeholder 3"/>
          <p:cNvSpPr>
            <a:spLocks noGrp="1"/>
          </p:cNvSpPr>
          <p:nvPr>
            <p:ph type="ftr" sz="quarter" idx="4"/>
          </p:nvPr>
        </p:nvSpPr>
        <p:spPr/>
        <p:txBody>
          <a:bodyPr/>
          <a:p>
            <a:r>
              <a:rPr lang="en-US"/>
              <a:t>Prepared by Dr. Mallikarjun Math. Professor &amp; Head CC</a:t>
            </a:r>
            <a:endParaRPr 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
        <p:nvSpPr>
          <p:cNvPr id="4" name="Footer Placeholder 3"/>
          <p:cNvSpPr>
            <a:spLocks noGrp="1"/>
          </p:cNvSpPr>
          <p:nvPr>
            <p:ph type="ftr" sz="quarter" idx="4"/>
          </p:nvPr>
        </p:nvSpPr>
        <p:spPr/>
        <p:txBody>
          <a:bodyPr/>
          <a:p>
            <a:r>
              <a:rPr lang="en-US"/>
              <a:t>Prepared by Dr. Mallikarjun Math. Professor &amp; Head CC</a:t>
            </a:r>
            <a:endParaRPr 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
        <p:nvSpPr>
          <p:cNvPr id="4" name="Footer Placeholder 3"/>
          <p:cNvSpPr>
            <a:spLocks noGrp="1"/>
          </p:cNvSpPr>
          <p:nvPr>
            <p:ph type="ftr" sz="quarter" idx="4"/>
          </p:nvPr>
        </p:nvSpPr>
        <p:spPr/>
        <p:txBody>
          <a:bodyPr/>
          <a:p>
            <a:r>
              <a:rPr lang="en-US"/>
              <a:t>Prepared by Dr. Mallikarjun Math. Professor &amp; Head CC</a:t>
            </a:r>
            <a:endParaRPr 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
        <p:nvSpPr>
          <p:cNvPr id="4" name="Footer Placeholder 3"/>
          <p:cNvSpPr>
            <a:spLocks noGrp="1"/>
          </p:cNvSpPr>
          <p:nvPr>
            <p:ph type="ftr" sz="quarter" idx="4"/>
          </p:nvPr>
        </p:nvSpPr>
        <p:spPr/>
        <p:txBody>
          <a:bodyPr/>
          <a:p>
            <a:r>
              <a:rPr lang="en-US"/>
              <a:t>Prepared by Dr. Mallikarjun Math. Professor &amp; Head CC</a:t>
            </a:r>
            <a:endParaRPr 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
        <p:nvSpPr>
          <p:cNvPr id="4" name="Footer Placeholder 3"/>
          <p:cNvSpPr>
            <a:spLocks noGrp="1"/>
          </p:cNvSpPr>
          <p:nvPr>
            <p:ph type="ftr" sz="quarter" idx="4"/>
          </p:nvPr>
        </p:nvSpPr>
        <p:spPr/>
        <p:txBody>
          <a:bodyPr/>
          <a:p>
            <a:r>
              <a:rPr lang="en-US"/>
              <a:t>Prepared by Dr. Mallikarjun Math. Professor &amp; Head CC</a:t>
            </a:r>
            <a:endParaRPr 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
        <p:nvSpPr>
          <p:cNvPr id="4" name="Footer Placeholder 3"/>
          <p:cNvSpPr>
            <a:spLocks noGrp="1"/>
          </p:cNvSpPr>
          <p:nvPr>
            <p:ph type="ftr" sz="quarter" idx="4"/>
          </p:nvPr>
        </p:nvSpPr>
        <p:spPr/>
        <p:txBody>
          <a:bodyPr/>
          <a:p>
            <a:r>
              <a:rPr lang="en-US"/>
              <a:t>Prepared by Dr. Mallikarjun Math. Professor &amp; Head CC</a:t>
            </a:r>
            <a:endParaRPr 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
        <p:nvSpPr>
          <p:cNvPr id="4" name="Footer Placeholder 3"/>
          <p:cNvSpPr>
            <a:spLocks noGrp="1"/>
          </p:cNvSpPr>
          <p:nvPr>
            <p:ph type="ftr" sz="quarter" idx="4"/>
          </p:nvPr>
        </p:nvSpPr>
        <p:spPr/>
        <p:txBody>
          <a:bodyPr/>
          <a:p>
            <a:r>
              <a:rPr lang="en-US"/>
              <a:t>Prepared by Dr. Mallikarjun Math. Professor &amp; Head CC</a:t>
            </a:r>
            <a:endParaRPr 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
        <p:nvSpPr>
          <p:cNvPr id="4" name="Footer Placeholder 3"/>
          <p:cNvSpPr>
            <a:spLocks noGrp="1"/>
          </p:cNvSpPr>
          <p:nvPr>
            <p:ph type="ftr" sz="quarter" idx="4"/>
          </p:nvPr>
        </p:nvSpPr>
        <p:spPr/>
        <p:txBody>
          <a:bodyPr/>
          <a:p>
            <a:r>
              <a:rPr lang="en-US"/>
              <a:t>Prepared by Dr. Mallikarjun Math. Professor &amp; Head CC</a:t>
            </a:r>
            <a:endParaRPr 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
        <p:nvSpPr>
          <p:cNvPr id="4" name="Footer Placeholder 3"/>
          <p:cNvSpPr>
            <a:spLocks noGrp="1"/>
          </p:cNvSpPr>
          <p:nvPr>
            <p:ph type="ftr" sz="quarter" idx="4"/>
          </p:nvPr>
        </p:nvSpPr>
        <p:spPr/>
        <p:txBody>
          <a:bodyPr/>
          <a:p>
            <a:r>
              <a:rPr lang="en-US"/>
              <a:t>Prepared by Dr. Mallikarjun Math. Professor &amp; Head CC</a:t>
            </a:r>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97A21950-89FC-41D3-B70F-60135CFEFE55}" type="datetimeFigureOut">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178AFCB7-B821-4B09-A9EF-4048C04D7D46}"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cSld>
  <p:clrMapOvr>
    <a:masterClrMapping/>
  </p:clrMapOvr>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97A21950-89FC-41D3-B70F-60135CFEFE55}" type="datetimeFigureOut">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178AFCB7-B821-4B09-A9EF-4048C04D7D46}"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cSld>
  <p:clrMapOvr>
    <a:masterClrMapping/>
  </p:clrMapOvr>
  <p:hf sldNum="0"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97A21950-89FC-41D3-B70F-60135CFEFE55}" type="datetimeFigureOut">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178AFCB7-B821-4B09-A9EF-4048C04D7D46}"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cSld>
  <p:clrMapOvr>
    <a:masterClrMapping/>
  </p:clrMapOvr>
  <p:hf sldNum="0"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97A21950-89FC-41D3-B70F-60135CFEFE55}" type="datetimeFigureOut">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178AFCB7-B821-4B09-A9EF-4048C04D7D46}"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cSld>
  <p:clrMapOvr>
    <a:masterClrMapping/>
  </p:clrMapOvr>
  <p:hf sldNum="0"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97A21950-89FC-41D3-B70F-60135CFEFE55}" type="datetimeFigureOut">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Footer Placeholder 7"/>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Slide Number Placeholder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178AFCB7-B821-4B09-A9EF-4048C04D7D46}"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cSld>
  <p:clrMapOvr>
    <a:masterClrMapping/>
  </p:clrMapOvr>
  <p:hf sldNum="0"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97A21950-89FC-41D3-B70F-60135CFEFE55}" type="datetimeFigureOut">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Footer Placeholder 3"/>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Slide Number Placeholder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178AFCB7-B821-4B09-A9EF-4048C04D7D46}"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cSld>
  <p:clrMapOvr>
    <a:masterClrMapping/>
  </p:clrMapOvr>
  <p:hf sldNum="0"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97A21950-89FC-41D3-B70F-60135CFEFE55}" type="datetimeFigureOut">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Footer Placeholder 2"/>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Slide Number Placeholder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178AFCB7-B821-4B09-A9EF-4048C04D7D46}"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cSld>
  <p:clrMapOvr>
    <a:masterClrMapping/>
  </p:clrMapOvr>
  <p:hf sldNum="0"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97A21950-89FC-41D3-B70F-60135CFEFE55}" type="datetimeFigureOut">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178AFCB7-B821-4B09-A9EF-4048C04D7D46}"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97A21950-89FC-41D3-B70F-60135CFEFE55}" type="datetimeFigureOut">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178AFCB7-B821-4B09-A9EF-4048C04D7D46}"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cSld>
  <p:clrMapOvr>
    <a:masterClrMapping/>
  </p:clrMapOvr>
  <p:hf sldNum="0"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97A21950-89FC-41D3-B70F-60135CFEFE55}" type="datetimeFigureOut">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178AFCB7-B821-4B09-A9EF-4048C04D7D46}"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cSld>
  <p:clrMapOvr>
    <a:masterClrMapping/>
  </p:clrMapOvr>
  <p:hf sldNum="0"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97A21950-89FC-41D3-B70F-60135CFEFE55}" type="datetimeFigureOut">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178AFCB7-B821-4B09-A9EF-4048C04D7D46}"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cSld>
  <p:clrMapOvr>
    <a:masterClrMapping/>
  </p:clrMapOvr>
  <p:hf sldNum="0"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600200"/>
            <a:ext cx="4038600" cy="4530725"/>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30725"/>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4"/>
          <p:cNvSpPr>
            <a:spLocks noGrp="1" noChangeArrowheads="1"/>
          </p:cNvSpPr>
          <p:nvPr>
            <p:ph type="dt" sz="half" idx="12"/>
          </p:nvPr>
        </p:nvSpPr>
        <p:spPr>
          <a:xfrm>
            <a:off x="457200" y="6356350"/>
            <a:ext cx="21336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Footer Placeholder 5"/>
          <p:cNvSpPr>
            <a:spLocks noGrp="1" noChangeArrowheads="1"/>
          </p:cNvSpPr>
          <p:nvPr>
            <p:ph type="ftr" sz="quarter" idx="3"/>
          </p:nvPr>
        </p:nvSpPr>
        <p:spPr>
          <a:xfrm>
            <a:off x="3124200" y="6356350"/>
            <a:ext cx="28956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Slide Number Placeholder 6"/>
          <p:cNvSpPr>
            <a:spLocks noGrp="1" noChangeArrowheads="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E2C3FFC4-9F91-4DE3-B8E8-735CE2054F3A}"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cSld>
  <p:clrMapOvr>
    <a:masterClrMapping/>
  </p:clrMapOvr>
  <p:hf sldNum="0"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Title, Text, and 2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600200"/>
            <a:ext cx="4038600" cy="4530725"/>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quarter" idx="2"/>
          </p:nvPr>
        </p:nvSpPr>
        <p:spPr>
          <a:xfrm>
            <a:off x="4648200" y="1600200"/>
            <a:ext cx="4038600" cy="21891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Content Placeholder 4"/>
          <p:cNvSpPr>
            <a:spLocks noGrp="1"/>
          </p:cNvSpPr>
          <p:nvPr>
            <p:ph sz="quarter" idx="3"/>
          </p:nvPr>
        </p:nvSpPr>
        <p:spPr>
          <a:xfrm>
            <a:off x="4648200" y="3941763"/>
            <a:ext cx="4038600" cy="2189162"/>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Rectangle 4"/>
          <p:cNvSpPr>
            <a:spLocks noGrp="1" noChangeArrowheads="1"/>
          </p:cNvSpPr>
          <p:nvPr>
            <p:ph type="dt" sz="half" idx="12"/>
          </p:nvPr>
        </p:nvSpPr>
        <p:spPr>
          <a:xfrm>
            <a:off x="457200" y="6356350"/>
            <a:ext cx="21336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Rectangle 5"/>
          <p:cNvSpPr>
            <a:spLocks noGrp="1" noChangeArrowheads="1"/>
          </p:cNvSpPr>
          <p:nvPr>
            <p:ph type="ftr" sz="quarter" idx="13"/>
          </p:nvPr>
        </p:nvSpPr>
        <p:spPr>
          <a:xfrm>
            <a:off x="3124200" y="6356350"/>
            <a:ext cx="28956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Rectangle 6"/>
          <p:cNvSpPr>
            <a:spLocks noGrp="1" noChangeArrowheads="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880F487A-164E-49C3-A321-C18354854469}"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cSld>
  <p:clrMapOvr>
    <a:masterClrMapping/>
  </p:clrMapOvr>
  <p:hf sldNum="0" hd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Title Placeholder 1"/>
          <p:cNvSpPr>
            <a:spLocks noGrp="1"/>
          </p:cNvSpPr>
          <p:nvPr>
            <p:ph type="title"/>
          </p:nvPr>
        </p:nvSpPr>
        <p:spPr>
          <a:xfrm>
            <a:off x="457200" y="274638"/>
            <a:ext cx="8229600" cy="1143000"/>
          </a:xfrm>
          <a:prstGeom prst="rect">
            <a:avLst/>
          </a:prstGeom>
          <a:noFill/>
          <a:ln w="9525">
            <a:noFill/>
          </a:ln>
        </p:spPr>
        <p:txBody>
          <a:bodyPr anchor="ctr" anchorCtr="0"/>
          <a:p>
            <a:pPr lvl="0"/>
            <a:r>
              <a:rPr lang="en-US" altLang="en-US" dirty="0"/>
              <a:t>Click to edit Master title style</a:t>
            </a:r>
            <a:endParaRPr lang="en-US" altLang="en-US" dirty="0"/>
          </a:p>
        </p:txBody>
      </p:sp>
      <p:sp>
        <p:nvSpPr>
          <p:cNvPr id="1027" name="Text Placeholder 2"/>
          <p:cNvSpPr>
            <a:spLocks noGrp="1"/>
          </p:cNvSpPr>
          <p:nvPr>
            <p:ph type="body" idx="1"/>
          </p:nvPr>
        </p:nvSpPr>
        <p:spPr>
          <a:xfrm>
            <a:off x="457200" y="1600200"/>
            <a:ext cx="8229600" cy="4525963"/>
          </a:xfrm>
          <a:prstGeom prst="rect">
            <a:avLst/>
          </a:prstGeom>
          <a:noFill/>
          <a:ln w="9525">
            <a:noFill/>
          </a:ln>
        </p:spPr>
        <p:txBody>
          <a:bodyPr/>
          <a:p>
            <a:pPr lvl="0"/>
            <a:r>
              <a:rPr lang="en-US" altLang="en-US" dirty="0"/>
              <a:t>Click to edit Master text styles</a:t>
            </a:r>
            <a:endParaRPr lang="en-US" altLang="en-US" dirty="0"/>
          </a:p>
          <a:p>
            <a:pPr lvl="1"/>
            <a:r>
              <a:rPr lang="en-US" altLang="en-US" dirty="0"/>
              <a:t>Second level</a:t>
            </a:r>
            <a:endParaRPr lang="en-US" altLang="en-US" dirty="0"/>
          </a:p>
          <a:p>
            <a:pPr lvl="2"/>
            <a:r>
              <a:rPr lang="en-US" altLang="en-US" dirty="0"/>
              <a:t>Third level</a:t>
            </a:r>
            <a:endParaRPr lang="en-US" altLang="en-US" dirty="0"/>
          </a:p>
          <a:p>
            <a:pPr lvl="3"/>
            <a:r>
              <a:rPr lang="en-US" altLang="en-US" dirty="0"/>
              <a:t>Fourth level</a:t>
            </a:r>
            <a:endParaRPr lang="en-US" altLang="en-US" dirty="0"/>
          </a:p>
          <a:p>
            <a:pPr lvl="4"/>
            <a:r>
              <a:rPr lang="en-US" altLang="en-US" dirty="0"/>
              <a:t>Fifth level</a:t>
            </a:r>
            <a:endParaRPr lang="en-US" alt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97A21950-89FC-41D3-B70F-60135CFEFE55}" type="datetimeFigureOut">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lstStyle>
            <a:lvl1pPr algn="r" eaLnBrk="1" hangingPunct="1">
              <a:defRPr sz="1200">
                <a:solidFill>
                  <a:srgbClr val="898989"/>
                </a:solidFill>
                <a:latin typeface="Calibri" panose="020F050202020403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178AFCB7-B821-4B09-A9EF-4048C04D7D46}" type="slidenum">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2.xml"/><Relationship Id="rId1" Type="http://schemas.openxmlformats.org/officeDocument/2006/relationships/image" Target="../media/image10.jpeg"/></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33400" y="1928504"/>
            <a:ext cx="6858000" cy="425054"/>
          </a:xfrm>
        </p:spPr>
        <p:txBody>
          <a:bodyPr vert="horz" wrap="square" lIns="68580" tIns="34290" rIns="68580" bIns="34290" numCol="1" rtlCol="0" anchor="ctr" anchorCtr="0" compatLnSpc="1">
            <a:normAutofit fontScale="90000"/>
          </a:bodyPr>
          <a:lstStyle/>
          <a:p>
            <a:pPr algn="l" fontAlgn="base">
              <a:lnSpc>
                <a:spcPct val="100000"/>
              </a:lnSpc>
              <a:spcAft>
                <a:spcPct val="0"/>
              </a:spcAft>
              <a:defRPr/>
            </a:pPr>
            <a:r>
              <a:rPr lang="en-IN" altLang="en-US" sz="3000" i="1" dirty="0">
                <a:solidFill>
                  <a:srgbClr val="FF0000"/>
                </a:solidFill>
                <a:effectLst>
                  <a:outerShdw blurRad="38100" dist="38100" dir="2700000">
                    <a:srgbClr val="C0C0C0"/>
                  </a:outerShdw>
                </a:effectLst>
                <a:ea typeface="+mn-ea"/>
              </a:rPr>
              <a:t>  </a:t>
            </a:r>
            <a:r>
              <a:rPr lang="en-US" sz="3000" i="1" dirty="0">
                <a:solidFill>
                  <a:srgbClr val="FF0000"/>
                </a:solidFill>
                <a:effectLst>
                  <a:outerShdw blurRad="38100" dist="38100" dir="2700000">
                    <a:srgbClr val="C0C0C0"/>
                  </a:outerShdw>
                </a:effectLst>
                <a:ea typeface="+mn-ea"/>
              </a:rPr>
              <a:t>Topics to be covered :</a:t>
            </a:r>
            <a:endParaRPr lang="en-IN" sz="3000" i="1" dirty="0">
              <a:solidFill>
                <a:srgbClr val="FF0000"/>
              </a:solidFill>
              <a:effectLst>
                <a:outerShdw blurRad="38100" dist="38100" dir="2700000">
                  <a:srgbClr val="C0C0C0"/>
                </a:outerShdw>
              </a:effectLst>
              <a:ea typeface="+mn-ea"/>
            </a:endParaRPr>
          </a:p>
        </p:txBody>
      </p:sp>
      <p:sp>
        <p:nvSpPr>
          <p:cNvPr id="11268" name="Rectangles 941057"/>
          <p:cNvSpPr/>
          <p:nvPr/>
        </p:nvSpPr>
        <p:spPr>
          <a:xfrm>
            <a:off x="279400" y="685800"/>
            <a:ext cx="8579485" cy="1073150"/>
          </a:xfrm>
          <a:prstGeom prst="rect">
            <a:avLst/>
          </a:prstGeom>
          <a:solidFill>
            <a:srgbClr val="FFFF66"/>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0" indent="0" algn="ctr" eaLnBrk="1" hangingPunct="1">
              <a:spcBef>
                <a:spcPct val="0"/>
              </a:spcBef>
              <a:buNone/>
            </a:pPr>
            <a:endParaRPr lang="zh-CN" altLang="en-US" sz="1350" dirty="0">
              <a:ea typeface="SimSun" panose="02010600030101010101" pitchFamily="2" charset="-122"/>
            </a:endParaRPr>
          </a:p>
        </p:txBody>
      </p:sp>
      <p:sp>
        <p:nvSpPr>
          <p:cNvPr id="11269" name="Text Box 941058"/>
          <p:cNvSpPr txBox="1"/>
          <p:nvPr/>
        </p:nvSpPr>
        <p:spPr>
          <a:xfrm>
            <a:off x="506095" y="914400"/>
            <a:ext cx="7811135" cy="55308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0" indent="0" eaLnBrk="1" hangingPunct="1">
              <a:spcBef>
                <a:spcPct val="0"/>
              </a:spcBef>
              <a:buNone/>
            </a:pPr>
            <a:r>
              <a:rPr lang="en-US" altLang="en-US" sz="3000" b="1" dirty="0" smtClean="0">
                <a:solidFill>
                  <a:srgbClr val="FF0000"/>
                </a:solidFill>
              </a:rPr>
              <a:t>UNIT-</a:t>
            </a:r>
            <a:r>
              <a:rPr lang="en-IN" altLang="en-US" sz="3000" b="1" dirty="0" smtClean="0">
                <a:solidFill>
                  <a:srgbClr val="FF0000"/>
                </a:solidFill>
              </a:rPr>
              <a:t>1</a:t>
            </a:r>
            <a:r>
              <a:rPr lang="en-US" altLang="en-US" sz="3000" b="1" dirty="0" smtClean="0">
                <a:solidFill>
                  <a:srgbClr val="FF0000"/>
                </a:solidFill>
              </a:rPr>
              <a:t>.</a:t>
            </a:r>
            <a:r>
              <a:rPr lang="zh-CN" altLang="en-US" sz="3000" b="1" dirty="0" smtClean="0">
                <a:solidFill>
                  <a:srgbClr val="FF0000"/>
                </a:solidFill>
                <a:ea typeface="SimSun" panose="02010600030101010101" pitchFamily="2" charset="-122"/>
              </a:rPr>
              <a:t>   </a:t>
            </a:r>
            <a:r>
              <a:rPr lang="en-IN" altLang="zh-CN" sz="3000" b="1" dirty="0" smtClean="0">
                <a:solidFill>
                  <a:srgbClr val="FF0000"/>
                </a:solidFill>
                <a:ea typeface="SimSun" panose="02010600030101010101" pitchFamily="2" charset="-122"/>
              </a:rPr>
              <a:t>INTRODUCTION TO FINITA AUTOMATA</a:t>
            </a:r>
            <a:r>
              <a:rPr lang="zh-CN" altLang="en-US" sz="3000" dirty="0" smtClean="0">
                <a:ea typeface="SimSun" panose="02010600030101010101" pitchFamily="2" charset="-122"/>
              </a:rPr>
              <a:t>  </a:t>
            </a:r>
            <a:endParaRPr lang="zh-CN" altLang="en-US" sz="3000" dirty="0">
              <a:ea typeface="SimSun" panose="02010600030101010101" pitchFamily="2" charset="-122"/>
            </a:endParaRPr>
          </a:p>
        </p:txBody>
      </p:sp>
      <p:sp>
        <p:nvSpPr>
          <p:cNvPr id="11270" name="Text Box 941059"/>
          <p:cNvSpPr txBox="1"/>
          <p:nvPr/>
        </p:nvSpPr>
        <p:spPr>
          <a:xfrm>
            <a:off x="7315200" y="5657851"/>
            <a:ext cx="309880" cy="29908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0" indent="0" eaLnBrk="1" hangingPunct="1">
              <a:spcBef>
                <a:spcPct val="0"/>
              </a:spcBef>
              <a:buNone/>
            </a:pPr>
            <a:endParaRPr lang="zh-CN" altLang="en-US" sz="1350" dirty="0">
              <a:ea typeface="SimSun" panose="02010600030101010101" pitchFamily="2" charset="-122"/>
            </a:endParaRPr>
          </a:p>
        </p:txBody>
      </p:sp>
      <p:sp>
        <p:nvSpPr>
          <p:cNvPr id="941061" name="Rectangles 941060"/>
          <p:cNvSpPr/>
          <p:nvPr/>
        </p:nvSpPr>
        <p:spPr>
          <a:xfrm>
            <a:off x="607695" y="2466340"/>
            <a:ext cx="7393305" cy="2030095"/>
          </a:xfrm>
          <a:prstGeom prst="rect">
            <a:avLst/>
          </a:prstGeom>
          <a:noFill/>
          <a:ln w="9525">
            <a:noFill/>
          </a:ln>
        </p:spPr>
        <p:txBody>
          <a:bodyPr wrap="square" anchor="ctr">
            <a:spAutoFit/>
          </a:bodyPr>
          <a:lstStyle/>
          <a:p>
            <a:pPr algn="just" fontAlgn="base">
              <a:spcBef>
                <a:spcPct val="0"/>
              </a:spcBef>
              <a:spcAft>
                <a:spcPct val="0"/>
              </a:spcAft>
              <a:defRPr/>
            </a:pPr>
            <a:r>
              <a:rPr lang="en-IN" altLang="en-GB" sz="2100" b="1" i="1" noProof="1" smtClean="0">
                <a:solidFill>
                  <a:srgbClr val="00B0F0"/>
                </a:solidFill>
                <a:effectLst>
                  <a:outerShdw blurRad="38100" dist="38100" dir="2700000">
                    <a:srgbClr val="C0C0C0"/>
                  </a:outerShdw>
                </a:effectLst>
                <a:latin typeface="Arial" panose="020B0604020202020204" pitchFamily="34" charset="0"/>
              </a:rPr>
              <a:t>Introduction to Finite Automata</a:t>
            </a:r>
            <a:r>
              <a:rPr lang="en-GB" sz="2100" b="1" i="1" noProof="1" smtClean="0">
                <a:solidFill>
                  <a:srgbClr val="00B0F0"/>
                </a:solidFill>
                <a:effectLst>
                  <a:outerShdw blurRad="38100" dist="38100" dir="2700000">
                    <a:srgbClr val="C0C0C0"/>
                  </a:outerShdw>
                </a:effectLst>
                <a:latin typeface="Arial" panose="020B0604020202020204" pitchFamily="34" charset="0"/>
              </a:rPr>
              <a:t> : </a:t>
            </a:r>
            <a:r>
              <a:rPr lang="en-US" sz="100" b="1" smtClean="0"/>
              <a:t> </a:t>
            </a:r>
            <a:r>
              <a:rPr lang="en-US" sz="2100" i="1" smtClean="0">
                <a:effectLst>
                  <a:outerShdw blurRad="38100" dist="38100" dir="2700000">
                    <a:srgbClr val="C0C0C0"/>
                  </a:outerShdw>
                </a:effectLst>
                <a:latin typeface="Arial" panose="020B0604020202020204" pitchFamily="34" charset="0"/>
                <a:sym typeface="+mn-ea"/>
              </a:rPr>
              <a:t> </a:t>
            </a:r>
            <a:r>
              <a:rPr lang="en-IN" altLang="en-US" sz="2100" i="1" smtClean="0">
                <a:effectLst>
                  <a:outerShdw blurRad="38100" dist="38100" dir="2700000">
                    <a:srgbClr val="C0C0C0"/>
                  </a:outerShdw>
                </a:effectLst>
                <a:latin typeface="Arial" panose="020B0604020202020204" pitchFamily="34" charset="0"/>
                <a:sym typeface="+mn-ea"/>
              </a:rPr>
              <a:t>Structural Representation, The Central Concept of Automata Theory - Alphabet, String &amp; langauges. Deterministic Finite Automata(DFA), Non-</a:t>
            </a:r>
            <a:r>
              <a:rPr lang="en-IN" altLang="en-US" sz="2100" i="1" smtClean="0">
                <a:effectLst>
                  <a:outerShdw blurRad="38100" dist="38100" dir="2700000">
                    <a:srgbClr val="C0C0C0"/>
                  </a:outerShdw>
                </a:effectLst>
                <a:sym typeface="+mn-ea"/>
              </a:rPr>
              <a:t>Deterministic Finite Automata(NFA),  and Equivalance of NFA and DFA , Finite Automata with Epsilon (</a:t>
            </a:r>
            <a:r>
              <a:rPr lang="en-IN" altLang="en-US" sz="2100" i="1" smtClean="0">
                <a:effectLst>
                  <a:outerShdw blurRad="38100" dist="38100" dir="2700000">
                    <a:srgbClr val="C0C0C0"/>
                  </a:outerShdw>
                </a:effectLst>
                <a:cs typeface="Arial" panose="020B0604020202020204" pitchFamily="34" charset="0"/>
                <a:sym typeface="+mn-ea"/>
              </a:rPr>
              <a:t>Ԑ</a:t>
            </a:r>
            <a:r>
              <a:rPr lang="en-IN" altLang="en-US" sz="2100" i="1" smtClean="0">
                <a:effectLst>
                  <a:outerShdw blurRad="38100" dist="38100" dir="2700000">
                    <a:srgbClr val="C0C0C0"/>
                  </a:outerShdw>
                </a:effectLst>
                <a:sym typeface="+mn-ea"/>
              </a:rPr>
              <a:t>) Transitions.</a:t>
            </a:r>
            <a:endParaRPr lang="en-IN" altLang="en-GB" sz="2100" i="1" smtClean="0">
              <a:solidFill>
                <a:srgbClr val="FF0000"/>
              </a:solidFill>
              <a:effectLst>
                <a:outerShdw blurRad="38100" dist="38100" dir="2700000">
                  <a:srgbClr val="C0C0C0"/>
                </a:outerShdw>
              </a:effectLst>
              <a:latin typeface="Arial" panose="020B0604020202020204" pitchFamily="34" charset="0"/>
            </a:endParaRPr>
          </a:p>
        </p:txBody>
      </p:sp>
      <p:sp>
        <p:nvSpPr>
          <p:cNvPr id="8" name="Rectangle 7"/>
          <p:cNvSpPr/>
          <p:nvPr/>
        </p:nvSpPr>
        <p:spPr>
          <a:xfrm>
            <a:off x="989330" y="4582795"/>
            <a:ext cx="6679565" cy="1374775"/>
          </a:xfrm>
          <a:prstGeom prst="rect">
            <a:avLst/>
          </a:prstGeom>
          <a:noFill/>
          <a:ln w="9525">
            <a:noFill/>
          </a:ln>
        </p:spPr>
        <p:txBody>
          <a:bodyPr wrap="square">
            <a:noAutofit/>
          </a:bodyPr>
          <a:lstStyle>
            <a:defPPr>
              <a:defRPr lang="en-US"/>
            </a:defPPr>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anose="02020603050405020304" pitchFamily="18" charset="0"/>
                <a:ea typeface="+mn-ea"/>
                <a:cs typeface="+mn-cs"/>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anose="02020603050405020304" pitchFamily="18" charset="0"/>
                <a:ea typeface="+mn-ea"/>
                <a:cs typeface="+mn-cs"/>
              </a:defRPr>
            </a:lvl5pPr>
            <a:lvl6pPr marL="2286000" lvl="5"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anose="02020603050405020304" pitchFamily="18" charset="0"/>
                <a:ea typeface="+mn-ea"/>
                <a:cs typeface="+mn-cs"/>
              </a:defRPr>
            </a:lvl6pPr>
            <a:lvl7pPr marL="2743200" lvl="6"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anose="02020603050405020304" pitchFamily="18" charset="0"/>
                <a:ea typeface="+mn-ea"/>
                <a:cs typeface="+mn-cs"/>
              </a:defRPr>
            </a:lvl7pPr>
            <a:lvl8pPr marL="3200400" lvl="7"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anose="02020603050405020304" pitchFamily="18" charset="0"/>
                <a:ea typeface="+mn-ea"/>
                <a:cs typeface="+mn-cs"/>
              </a:defRPr>
            </a:lvl8pPr>
            <a:lvl9pPr marL="3657600" lvl="8"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anose="02020603050405020304" pitchFamily="18" charset="0"/>
                <a:ea typeface="+mn-ea"/>
                <a:cs typeface="+mn-cs"/>
              </a:defRPr>
            </a:lvl9pPr>
          </a:lstStyle>
          <a:p>
            <a:r>
              <a:rPr lang="en-US" altLang="en-US" sz="1800" i="1" dirty="0">
                <a:solidFill>
                  <a:schemeClr val="hlink"/>
                </a:solidFill>
                <a:latin typeface="Times New Roman" panose="02020603050405020304" pitchFamily="18" charset="0"/>
              </a:rPr>
              <a:t>Upon completion you will be able </a:t>
            </a:r>
            <a:r>
              <a:rPr lang="en-US" altLang="en-US" sz="1800" i="1" dirty="0" smtClean="0">
                <a:solidFill>
                  <a:schemeClr val="hlink"/>
                </a:solidFill>
                <a:latin typeface="Times New Roman" panose="02020603050405020304" pitchFamily="18" charset="0"/>
              </a:rPr>
              <a:t>to</a:t>
            </a:r>
            <a:endParaRPr lang="en-US" altLang="en-US" sz="1800" i="1" dirty="0" smtClean="0">
              <a:solidFill>
                <a:schemeClr val="hlink"/>
              </a:solidFill>
              <a:latin typeface="Times New Roman" panose="02020603050405020304" pitchFamily="18" charset="0"/>
            </a:endParaRPr>
          </a:p>
          <a:p>
            <a:pPr marL="147320" indent="-147320">
              <a:buFont typeface="Arial" panose="020B0604020202020204" pitchFamily="34" charset="0"/>
              <a:buChar char="•"/>
            </a:pPr>
            <a:r>
              <a:rPr lang="en-GB" altLang="en-US" sz="1800" dirty="0">
                <a:sym typeface="+mn-ea"/>
              </a:rPr>
              <a:t> </a:t>
            </a:r>
            <a:r>
              <a:rPr lang="en-US" altLang="en-US" sz="1800" dirty="0">
                <a:sym typeface="+mn-ea"/>
              </a:rPr>
              <a:t>Explain </a:t>
            </a:r>
            <a:r>
              <a:rPr lang="en-IN" altLang="en-US" sz="1800" dirty="0">
                <a:sym typeface="+mn-ea"/>
              </a:rPr>
              <a:t>the concepts of Auotomata Theory and its Applications</a:t>
            </a:r>
            <a:r>
              <a:rPr lang="en-GB" altLang="en-US" sz="1800" dirty="0">
                <a:sym typeface="+mn-ea"/>
              </a:rPr>
              <a:t>.</a:t>
            </a:r>
            <a:endParaRPr lang="en-US" altLang="en-US" sz="1800" dirty="0">
              <a:latin typeface="Times New Roman" panose="02020603050405020304" pitchFamily="18" charset="0"/>
            </a:endParaRPr>
          </a:p>
          <a:p>
            <a:pPr>
              <a:buFontTx/>
              <a:buChar char="•"/>
            </a:pPr>
            <a:r>
              <a:rPr lang="en-GB" altLang="en-US" sz="1800" dirty="0"/>
              <a:t>  </a:t>
            </a:r>
            <a:r>
              <a:rPr lang="en-IN" altLang="en-GB" sz="1800" dirty="0"/>
              <a:t>Design  DFA, NFA and </a:t>
            </a:r>
            <a:r>
              <a:rPr lang="en-IN" altLang="en-US" sz="1800" i="1" smtClean="0">
                <a:effectLst>
                  <a:outerShdw blurRad="38100" dist="38100" dir="2700000">
                    <a:srgbClr val="C0C0C0"/>
                  </a:outerShdw>
                </a:effectLst>
                <a:cs typeface="Arial" panose="020B0604020202020204" pitchFamily="34" charset="0"/>
                <a:sym typeface="+mn-ea"/>
              </a:rPr>
              <a:t>Ԑ-NFA for Regular languages</a:t>
            </a:r>
            <a:endParaRPr lang="en-IN" altLang="en-US" sz="1800" i="1" smtClean="0">
              <a:effectLst>
                <a:outerShdw blurRad="38100" dist="38100" dir="2700000">
                  <a:srgbClr val="C0C0C0"/>
                </a:outerShdw>
              </a:effectLst>
              <a:cs typeface="Arial" panose="020B0604020202020204" pitchFamily="34" charset="0"/>
              <a:sym typeface="+mn-ea"/>
            </a:endParaRPr>
          </a:p>
          <a:p>
            <a:pPr>
              <a:buFontTx/>
              <a:buChar char="•"/>
            </a:pPr>
            <a:r>
              <a:rPr lang="en-IN" altLang="en-US" sz="1800" i="1" smtClean="0">
                <a:effectLst>
                  <a:outerShdw blurRad="38100" dist="38100" dir="2700000">
                    <a:srgbClr val="C0C0C0"/>
                  </a:outerShdw>
                </a:effectLst>
                <a:cs typeface="Arial" panose="020B0604020202020204" pitchFamily="34" charset="0"/>
                <a:sym typeface="+mn-ea"/>
              </a:rPr>
              <a:t>  Demonstrate the equivalence of  </a:t>
            </a:r>
            <a:r>
              <a:rPr lang="en-IN" altLang="en-GB" sz="1800" dirty="0">
                <a:sym typeface="+mn-ea"/>
              </a:rPr>
              <a:t>DFA, NFA and </a:t>
            </a:r>
            <a:r>
              <a:rPr lang="en-IN" altLang="en-US" sz="1800" i="1" smtClean="0">
                <a:effectLst>
                  <a:outerShdw blurRad="38100" dist="38100" dir="2700000">
                    <a:srgbClr val="C0C0C0"/>
                  </a:outerShdw>
                </a:effectLst>
                <a:cs typeface="Arial" panose="020B0604020202020204" pitchFamily="34" charset="0"/>
                <a:sym typeface="+mn-ea"/>
              </a:rPr>
              <a:t>Ԑ-NFA</a:t>
            </a:r>
            <a:r>
              <a:rPr lang="en-GB" altLang="en-US" sz="1800" dirty="0">
                <a:sym typeface="+mn-ea"/>
              </a:rPr>
              <a:t>s.</a:t>
            </a:r>
            <a:endParaRPr lang="en-US" altLang="en-US" sz="1800" dirty="0"/>
          </a:p>
          <a:p>
            <a:endParaRPr lang="en-US" altLang="en-US" sz="2100" dirty="0">
              <a:latin typeface="Times New Roman" panose="02020603050405020304" pitchFamily="18" charset="0"/>
            </a:endParaRPr>
          </a:p>
        </p:txBody>
      </p:sp>
      <p:sp>
        <p:nvSpPr>
          <p:cNvPr id="2" name="Footer Placeholder 1"/>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685800" y="304800"/>
            <a:ext cx="7772400" cy="685800"/>
          </a:xfrm>
        </p:spPr>
        <p:txBody>
          <a:bodyPr vert="horz" wrap="square" lIns="91440" tIns="45720" rIns="91440" bIns="45720" numCol="1" rtlCol="0" anchor="ctr" anchorCtr="0" compatLnSpc="1">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4400" b="0" i="0" u="none" strike="noStrike" kern="1200" cap="none" spc="0" normalizeH="0" baseline="0" noProof="0" dirty="0" smtClean="0">
                <a:ln>
                  <a:noFill/>
                </a:ln>
                <a:solidFill>
                  <a:schemeClr val="tx1"/>
                </a:solidFill>
                <a:effectLst/>
                <a:uLnTx/>
                <a:uFillTx/>
                <a:latin typeface="+mj-lt"/>
                <a:ea typeface="+mj-ea"/>
                <a:cs typeface="+mj-cs"/>
              </a:rPr>
              <a:t> </a:t>
            </a:r>
            <a:r>
              <a:rPr kumimoji="0" lang="en-US" sz="4000" b="1" i="0" u="none" strike="noStrike" kern="1200" cap="none" spc="0" normalizeH="0" baseline="0" noProof="0" dirty="0" smtClean="0">
                <a:ln>
                  <a:noFill/>
                </a:ln>
                <a:solidFill>
                  <a:srgbClr val="FF0000"/>
                </a:solidFill>
                <a:effectLst/>
                <a:uLnTx/>
                <a:uFillTx/>
                <a:latin typeface="+mj-lt"/>
                <a:ea typeface="+mj-ea"/>
                <a:cs typeface="+mj-cs"/>
              </a:rPr>
              <a:t>Deterministic Finite Automata(DFA)</a:t>
            </a:r>
            <a:endParaRPr kumimoji="0" lang="en-US" sz="4000" b="1" i="0" u="none" strike="noStrike" kern="1200" cap="none" spc="0" normalizeH="0" baseline="0" noProof="0" dirty="0" smtClean="0">
              <a:ln>
                <a:noFill/>
              </a:ln>
              <a:solidFill>
                <a:srgbClr val="FF0000"/>
              </a:solidFill>
              <a:effectLst/>
              <a:uLnTx/>
              <a:uFillTx/>
              <a:latin typeface="+mj-lt"/>
              <a:ea typeface="+mj-ea"/>
              <a:cs typeface="+mj-cs"/>
            </a:endParaRPr>
          </a:p>
        </p:txBody>
      </p:sp>
      <p:sp>
        <p:nvSpPr>
          <p:cNvPr id="3" name="Subtitle 2"/>
          <p:cNvSpPr>
            <a:spLocks noGrp="1"/>
          </p:cNvSpPr>
          <p:nvPr>
            <p:ph type="subTitle" idx="1"/>
          </p:nvPr>
        </p:nvSpPr>
        <p:spPr>
          <a:xfrm>
            <a:off x="227965" y="1108710"/>
            <a:ext cx="8820150" cy="4832350"/>
          </a:xfrm>
        </p:spPr>
        <p:txBody>
          <a:bodyPr vert="horz" wrap="square" lIns="91440" tIns="45720" rIns="91440" bIns="45720" numCol="1" rtlCol="0" anchor="t" anchorCtr="0" compatLnSpc="1">
            <a:normAutofit fontScale="70000"/>
          </a:bodyPr>
          <a:lstStyle/>
          <a:p>
            <a:pPr marL="914400" marR="0" lvl="1" indent="-4572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3850" b="0" i="0" u="none" strike="noStrike" kern="1200" cap="none" spc="0" normalizeH="0" baseline="0" noProof="0" dirty="0" smtClean="0">
                <a:ln>
                  <a:noFill/>
                </a:ln>
                <a:solidFill>
                  <a:schemeClr val="tx1"/>
                </a:solidFill>
                <a:effectLst/>
                <a:uLnTx/>
                <a:uFillTx/>
                <a:latin typeface="+mj-lt"/>
                <a:ea typeface="+mj-ea"/>
                <a:cs typeface="+mj-cs"/>
              </a:rPr>
              <a:t> </a:t>
            </a:r>
            <a:r>
              <a:rPr kumimoji="0" lang="en-US" sz="3850" i="0" u="none" strike="noStrike" kern="1200" cap="none" spc="0" normalizeH="0" baseline="0" noProof="0" dirty="0" smtClean="0">
                <a:ln>
                  <a:noFill/>
                </a:ln>
                <a:solidFill>
                  <a:schemeClr val="tx1"/>
                </a:solidFill>
                <a:effectLst/>
                <a:uLnTx/>
                <a:uFillTx/>
                <a:latin typeface="+mj-lt"/>
                <a:ea typeface="+mj-ea"/>
                <a:cs typeface="+mj-cs"/>
              </a:rPr>
              <a:t>Structural /Schematic Representation and working of a Finite   Automata. </a:t>
            </a:r>
            <a:endParaRPr kumimoji="0" lang="en-US" sz="3850" i="0" u="none" strike="noStrike" kern="1200" cap="none" spc="0" normalizeH="0" baseline="0" noProof="0" dirty="0" smtClean="0">
              <a:ln>
                <a:noFill/>
              </a:ln>
              <a:solidFill>
                <a:schemeClr val="tx1"/>
              </a:solidFill>
              <a:effectLst/>
              <a:uLnTx/>
              <a:uFillTx/>
              <a:latin typeface="+mj-lt"/>
              <a:ea typeface="+mj-ea"/>
              <a:cs typeface="+mj-cs"/>
            </a:endParaRPr>
          </a:p>
          <a:p>
            <a:pPr marL="914400" marR="0" lvl="1" indent="-4572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3850" i="0" u="none" strike="noStrike" kern="1200" cap="none" spc="0" normalizeH="0" baseline="0" noProof="0" dirty="0" smtClean="0">
                <a:ln>
                  <a:noFill/>
                </a:ln>
                <a:solidFill>
                  <a:schemeClr val="tx1"/>
                </a:solidFill>
                <a:effectLst/>
                <a:uLnTx/>
                <a:uFillTx/>
                <a:latin typeface="+mj-lt"/>
                <a:ea typeface="+mj-ea"/>
                <a:cs typeface="+mj-cs"/>
              </a:rPr>
              <a:t> Types of Automata</a:t>
            </a:r>
            <a:endParaRPr kumimoji="0" lang="en-US" sz="3850" i="0" u="none" strike="noStrike" kern="1200" cap="none" spc="0" normalizeH="0" baseline="0" noProof="0" dirty="0" smtClean="0">
              <a:ln>
                <a:noFill/>
              </a:ln>
              <a:solidFill>
                <a:schemeClr val="tx1"/>
              </a:solidFill>
              <a:effectLst/>
              <a:uLnTx/>
              <a:uFillTx/>
              <a:latin typeface="+mj-lt"/>
              <a:ea typeface="+mj-ea"/>
              <a:cs typeface="+mj-cs"/>
            </a:endParaRPr>
          </a:p>
          <a:p>
            <a:pPr marL="1371600" marR="0" lvl="2" indent="-4572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IN" altLang="en-US" sz="3300" i="0" u="none" strike="noStrike" kern="1200" cap="none" spc="0" normalizeH="0" baseline="0" noProof="0" dirty="0" smtClean="0">
                <a:ln>
                  <a:noFill/>
                </a:ln>
                <a:solidFill>
                  <a:schemeClr val="tx1"/>
                </a:solidFill>
                <a:effectLst/>
                <a:uLnTx/>
                <a:uFillTx/>
                <a:latin typeface="+mj-lt"/>
                <a:ea typeface="+mj-ea"/>
                <a:cs typeface="+mj-cs"/>
              </a:rPr>
              <a:t>Deterministic and Non Deterministic</a:t>
            </a:r>
            <a:endParaRPr kumimoji="0" lang="en-US" sz="3300" i="0" u="none" strike="noStrike" kern="1200" cap="none" spc="0" normalizeH="0" baseline="0" noProof="0" dirty="0" smtClean="0">
              <a:ln>
                <a:noFill/>
              </a:ln>
              <a:solidFill>
                <a:schemeClr val="tx1"/>
              </a:solidFill>
              <a:effectLst/>
              <a:uLnTx/>
              <a:uFillTx/>
              <a:latin typeface="+mj-lt"/>
              <a:ea typeface="+mj-ea"/>
              <a:cs typeface="+mj-cs"/>
            </a:endParaRPr>
          </a:p>
          <a:p>
            <a:pPr marL="509905" marR="0" lvl="1" indent="-27305"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IN" altLang="en-US" sz="3850" i="0" u="none" strike="noStrike" kern="1200" cap="none" spc="0" normalizeH="0" baseline="0" noProof="0" dirty="0" smtClean="0">
                <a:ln>
                  <a:noFill/>
                </a:ln>
                <a:solidFill>
                  <a:schemeClr val="tx1"/>
                </a:solidFill>
                <a:effectLst/>
                <a:uLnTx/>
                <a:uFillTx/>
                <a:latin typeface="+mj-lt"/>
                <a:ea typeface="+mj-ea"/>
                <a:cs typeface="+mj-cs"/>
              </a:rPr>
              <a:t>   The cental concept of Automata theory</a:t>
            </a:r>
            <a:endParaRPr kumimoji="0" lang="en-IN" altLang="en-US" sz="3850" i="0" u="none" strike="noStrike" kern="1200" cap="none" spc="0" normalizeH="0" baseline="0" noProof="0" dirty="0" smtClean="0">
              <a:ln>
                <a:noFill/>
              </a:ln>
              <a:solidFill>
                <a:schemeClr val="tx1"/>
              </a:solidFill>
              <a:effectLst/>
              <a:uLnTx/>
              <a:uFillTx/>
              <a:latin typeface="+mj-lt"/>
              <a:ea typeface="+mj-ea"/>
              <a:cs typeface="+mj-cs"/>
            </a:endParaRPr>
          </a:p>
          <a:p>
            <a:pPr marL="519430" marR="0" lvl="1" indent="-83185"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IN" altLang="en-US" sz="3850" i="0" u="none" strike="noStrike" kern="1200" cap="none" spc="0" normalizeH="0" baseline="0" noProof="0" dirty="0" smtClean="0">
                <a:ln>
                  <a:noFill/>
                </a:ln>
                <a:solidFill>
                  <a:schemeClr val="tx1"/>
                </a:solidFill>
                <a:effectLst/>
                <a:uLnTx/>
                <a:uFillTx/>
                <a:latin typeface="+mj-lt"/>
                <a:ea typeface="+mj-ea"/>
                <a:cs typeface="+mj-cs"/>
              </a:rPr>
              <a:t>    </a:t>
            </a:r>
            <a:r>
              <a:rPr lang="en-US" sz="3850" noProof="0" dirty="0" smtClean="0">
                <a:ln>
                  <a:noFill/>
                </a:ln>
                <a:solidFill>
                  <a:schemeClr val="tx1"/>
                </a:solidFill>
                <a:effectLst/>
                <a:uLnTx/>
                <a:uFillTx/>
                <a:latin typeface="+mj-lt"/>
                <a:ea typeface="+mj-ea"/>
                <a:cs typeface="+mj-cs"/>
                <a:sym typeface="+mn-ea"/>
              </a:rPr>
              <a:t>Formal Definition</a:t>
            </a:r>
            <a:r>
              <a:rPr lang="en-IN" altLang="en-US" sz="3850" noProof="0" dirty="0" smtClean="0">
                <a:ln>
                  <a:noFill/>
                </a:ln>
                <a:solidFill>
                  <a:schemeClr val="tx1"/>
                </a:solidFill>
                <a:effectLst/>
                <a:uLnTx/>
                <a:uFillTx/>
                <a:latin typeface="+mj-lt"/>
                <a:ea typeface="+mj-ea"/>
                <a:cs typeface="+mj-cs"/>
                <a:sym typeface="+mn-ea"/>
              </a:rPr>
              <a:t> of Deterministic Finite Automata-DFA</a:t>
            </a:r>
            <a:endParaRPr kumimoji="0" lang="en-US" sz="3850" i="0" u="none" strike="noStrike" kern="1200" cap="none" spc="0" normalizeH="0" baseline="0" noProof="0" dirty="0" smtClean="0">
              <a:ln>
                <a:noFill/>
              </a:ln>
              <a:solidFill>
                <a:schemeClr val="tx1"/>
              </a:solidFill>
              <a:effectLst/>
              <a:uLnTx/>
              <a:uFillTx/>
              <a:latin typeface="+mj-lt"/>
              <a:ea typeface="+mj-ea"/>
              <a:cs typeface="+mj-cs"/>
            </a:endParaRPr>
          </a:p>
          <a:p>
            <a:pPr marL="914400" marR="0" lvl="1" indent="-4572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3850" i="0" u="none" strike="noStrike" kern="1200" cap="none" spc="0" normalizeH="0" baseline="0" noProof="0" dirty="0" smtClean="0">
                <a:ln>
                  <a:noFill/>
                </a:ln>
                <a:solidFill>
                  <a:schemeClr val="tx1"/>
                </a:solidFill>
                <a:effectLst/>
                <a:uLnTx/>
                <a:uFillTx/>
                <a:latin typeface="+mj-lt"/>
                <a:ea typeface="+mj-ea"/>
                <a:cs typeface="+mj-cs"/>
              </a:rPr>
              <a:t>Processing of a string </a:t>
            </a:r>
            <a:r>
              <a:rPr kumimoji="0" lang="en-IN" altLang="en-US" sz="3850" i="0" u="none" strike="noStrike" kern="1200" cap="none" spc="0" normalizeH="0" baseline="0" noProof="0" dirty="0" smtClean="0">
                <a:ln>
                  <a:noFill/>
                </a:ln>
                <a:solidFill>
                  <a:schemeClr val="tx1"/>
                </a:solidFill>
                <a:effectLst/>
                <a:uLnTx/>
                <a:uFillTx/>
                <a:latin typeface="+mj-lt"/>
                <a:ea typeface="+mj-ea"/>
                <a:cs typeface="+mj-cs"/>
              </a:rPr>
              <a:t>by DFA</a:t>
            </a:r>
            <a:endParaRPr kumimoji="0" lang="en-US" sz="3850" i="0" u="none" strike="noStrike" kern="1200" cap="none" spc="0" normalizeH="0" baseline="0" noProof="0" dirty="0" smtClean="0">
              <a:ln>
                <a:noFill/>
              </a:ln>
              <a:solidFill>
                <a:schemeClr val="tx1"/>
              </a:solidFill>
              <a:effectLst/>
              <a:uLnTx/>
              <a:uFillTx/>
              <a:latin typeface="+mj-lt"/>
              <a:ea typeface="+mj-ea"/>
              <a:cs typeface="+mj-cs"/>
            </a:endParaRPr>
          </a:p>
          <a:p>
            <a:pPr marL="914400" marR="0" lvl="1" indent="-4572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3850" i="0" u="none" strike="noStrike" kern="1200" cap="none" spc="0" normalizeH="0" baseline="0" noProof="0" dirty="0" smtClean="0">
                <a:ln>
                  <a:noFill/>
                </a:ln>
                <a:solidFill>
                  <a:schemeClr val="tx1"/>
                </a:solidFill>
                <a:effectLst/>
                <a:uLnTx/>
                <a:uFillTx/>
                <a:latin typeface="+mj-lt"/>
                <a:ea typeface="+mj-ea"/>
                <a:cs typeface="+mj-cs"/>
              </a:rPr>
              <a:t>Extended Transition Function δ*</a:t>
            </a:r>
            <a:endParaRPr kumimoji="0" lang="en-US" sz="3850" i="0" u="none" strike="noStrike" kern="1200" cap="none" spc="0" normalizeH="0" baseline="0" noProof="0" dirty="0" smtClean="0">
              <a:ln>
                <a:noFill/>
              </a:ln>
              <a:solidFill>
                <a:schemeClr val="tx1"/>
              </a:solidFill>
              <a:effectLst/>
              <a:uLnTx/>
              <a:uFillTx/>
              <a:latin typeface="+mj-lt"/>
              <a:ea typeface="+mj-ea"/>
              <a:cs typeface="+mj-cs"/>
            </a:endParaRPr>
          </a:p>
          <a:p>
            <a:pPr marL="914400" marR="0" lvl="1" indent="-4572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3850" i="0" u="none" strike="noStrike" kern="1200" cap="none" spc="0" normalizeH="0" baseline="0" noProof="0" dirty="0" smtClean="0">
                <a:ln>
                  <a:noFill/>
                </a:ln>
                <a:solidFill>
                  <a:schemeClr val="tx1"/>
                </a:solidFill>
                <a:effectLst/>
                <a:uLnTx/>
                <a:uFillTx/>
                <a:latin typeface="+mj-lt"/>
                <a:ea typeface="+mj-ea"/>
                <a:cs typeface="+mj-cs"/>
              </a:rPr>
              <a:t>Languages of an DFA</a:t>
            </a:r>
            <a:endParaRPr kumimoji="0" lang="en-US" sz="3850" i="0" u="none" strike="noStrike" kern="1200" cap="none" spc="0" normalizeH="0" baseline="0" noProof="0" dirty="0" smtClean="0">
              <a:ln>
                <a:noFill/>
              </a:ln>
              <a:solidFill>
                <a:schemeClr val="tx1"/>
              </a:solidFill>
              <a:effectLst/>
              <a:uLnTx/>
              <a:uFillTx/>
              <a:latin typeface="+mj-lt"/>
              <a:ea typeface="+mj-ea"/>
              <a:cs typeface="+mj-cs"/>
            </a:endParaRPr>
          </a:p>
          <a:p>
            <a:pPr marL="914400" marR="0" lvl="1" indent="-4572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3850" i="0" u="none" strike="noStrike" kern="1200" cap="none" spc="0" normalizeH="0" baseline="0" noProof="0" dirty="0" smtClean="0">
                <a:ln>
                  <a:noFill/>
                </a:ln>
                <a:solidFill>
                  <a:schemeClr val="tx1"/>
                </a:solidFill>
                <a:effectLst/>
                <a:uLnTx/>
                <a:uFillTx/>
                <a:latin typeface="+mj-lt"/>
                <a:ea typeface="+mj-ea"/>
                <a:cs typeface="+mj-cs"/>
              </a:rPr>
              <a:t>Examples</a:t>
            </a:r>
            <a:endParaRPr kumimoji="0" lang="en-US" sz="3850" i="0" u="none" strike="noStrike" kern="1200" cap="none" spc="0" normalizeH="0" baseline="0" noProof="0" dirty="0" smtClean="0">
              <a:ln>
                <a:noFill/>
              </a:ln>
              <a:solidFill>
                <a:schemeClr val="tx1"/>
              </a:solidFill>
              <a:effectLst/>
              <a:uLnTx/>
              <a:uFillTx/>
              <a:latin typeface="+mj-lt"/>
              <a:ea typeface="+mj-ea"/>
              <a:cs typeface="+mj-cs"/>
            </a:endParaRPr>
          </a:p>
          <a:p>
            <a:pPr marL="0" marR="0" lvl="0" indent="0" algn="l" defTabSz="914400" rtl="0" eaLnBrk="1" fontAlgn="auto" latinLnBrk="0" hangingPunct="1">
              <a:lnSpc>
                <a:spcPct val="100000"/>
              </a:lnSpc>
              <a:spcBef>
                <a:spcPct val="20000"/>
              </a:spcBef>
              <a:spcAft>
                <a:spcPts val="0"/>
              </a:spcAft>
              <a:buClrTx/>
              <a:buSzTx/>
              <a:buFontTx/>
              <a:buNone/>
              <a:defRPr/>
            </a:pPr>
            <a:endParaRPr kumimoji="0" lang="en-US" sz="3200" b="1" i="0" u="none" strike="noStrike" kern="1200" cap="none" spc="0" normalizeH="0" baseline="0" noProof="0" dirty="0">
              <a:ln>
                <a:noFill/>
              </a:ln>
              <a:solidFill>
                <a:schemeClr val="tx1">
                  <a:tint val="75000"/>
                </a:schemeClr>
              </a:solidFill>
              <a:effectLst/>
              <a:uLnTx/>
              <a:uFillTx/>
              <a:latin typeface="Bahnschrift Light SemiCondensed" panose="020B0502040204020203" charset="0"/>
              <a:ea typeface="+mn-ea"/>
              <a:cs typeface="Bahnschrift Light SemiCondensed" panose="020B0502040204020203" charset="0"/>
            </a:endParaRPr>
          </a:p>
        </p:txBody>
      </p:sp>
      <p:sp>
        <p:nvSpPr>
          <p:cNvPr id="4" name="Footer Placeholder 3"/>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71780" y="46355"/>
            <a:ext cx="8687435" cy="955040"/>
          </a:xfrm>
        </p:spPr>
        <p:txBody>
          <a:bodyPr/>
          <a:p>
            <a:pPr algn="l"/>
            <a:r>
              <a:rPr lang="en-IN" altLang="en-US" noProof="0" dirty="0" smtClean="0">
                <a:ln>
                  <a:noFill/>
                </a:ln>
                <a:solidFill>
                  <a:schemeClr val="tx1">
                    <a:tint val="75000"/>
                  </a:schemeClr>
                </a:solidFill>
                <a:effectLst/>
                <a:uLnTx/>
                <a:uFillTx/>
                <a:latin typeface="+mn-lt"/>
                <a:ea typeface="+mn-ea"/>
                <a:cs typeface="+mn-cs"/>
                <a:sym typeface="+mn-ea"/>
              </a:rPr>
              <a:t> </a:t>
            </a:r>
            <a:r>
              <a:rPr lang="en-IN" altLang="en-US" sz="3200" b="1" noProof="0" dirty="0" smtClean="0">
                <a:ln>
                  <a:noFill/>
                </a:ln>
                <a:solidFill>
                  <a:srgbClr val="FF0000"/>
                </a:solidFill>
                <a:effectLst/>
                <a:uLnTx/>
                <a:uFillTx/>
                <a:latin typeface="+mn-lt"/>
                <a:ea typeface="+mn-ea"/>
                <a:cs typeface="+mn-cs"/>
                <a:sym typeface="+mn-ea"/>
              </a:rPr>
              <a:t>Structural/Schematic Representation and working of a Finite    Automata</a:t>
            </a:r>
            <a:r>
              <a:rPr lang="en-IN" altLang="en-US" sz="3200" noProof="0" dirty="0" smtClean="0">
                <a:ln>
                  <a:noFill/>
                </a:ln>
                <a:solidFill>
                  <a:schemeClr val="tx1">
                    <a:tint val="75000"/>
                  </a:schemeClr>
                </a:solidFill>
                <a:effectLst/>
                <a:uLnTx/>
                <a:uFillTx/>
                <a:latin typeface="+mn-lt"/>
                <a:ea typeface="+mn-ea"/>
                <a:cs typeface="+mn-cs"/>
                <a:sym typeface="+mn-ea"/>
              </a:rPr>
              <a:t>.</a:t>
            </a:r>
            <a:endParaRPr lang="en-US"/>
          </a:p>
        </p:txBody>
      </p:sp>
      <p:pic>
        <p:nvPicPr>
          <p:cNvPr id="4" name="Content Placeholder 3" descr="Untitled"/>
          <p:cNvPicPr>
            <a:picLocks noChangeAspect="1"/>
          </p:cNvPicPr>
          <p:nvPr>
            <p:ph idx="1"/>
          </p:nvPr>
        </p:nvPicPr>
        <p:blipFill>
          <a:blip r:embed="rId1"/>
          <a:srcRect r="53013" b="45229"/>
          <a:stretch>
            <a:fillRect/>
          </a:stretch>
        </p:blipFill>
        <p:spPr>
          <a:xfrm>
            <a:off x="271780" y="1066800"/>
            <a:ext cx="4742180" cy="2438400"/>
          </a:xfrm>
          <a:prstGeom prst="rect">
            <a:avLst/>
          </a:prstGeom>
        </p:spPr>
      </p:pic>
      <p:sp>
        <p:nvSpPr>
          <p:cNvPr id="6" name="Text Box 5"/>
          <p:cNvSpPr txBox="1"/>
          <p:nvPr/>
        </p:nvSpPr>
        <p:spPr>
          <a:xfrm>
            <a:off x="335280" y="3449320"/>
            <a:ext cx="8508365" cy="3308985"/>
          </a:xfrm>
          <a:prstGeom prst="rect">
            <a:avLst/>
          </a:prstGeom>
          <a:noFill/>
        </p:spPr>
        <p:txBody>
          <a:bodyPr wrap="square" rtlCol="0">
            <a:noAutofit/>
          </a:bodyPr>
          <a:p>
            <a:r>
              <a:rPr lang="en-IN" altLang="en-US"/>
              <a:t>Automata has the follwing essential features :</a:t>
            </a:r>
            <a:endParaRPr lang="en-IN" altLang="en-US"/>
          </a:p>
          <a:p>
            <a:r>
              <a:rPr lang="en-IN" altLang="en-US"/>
              <a:t>1. It has a mechan</a:t>
            </a:r>
            <a:r>
              <a:rPr lang="en-GB" altLang="en-IN"/>
              <a:t>i</a:t>
            </a:r>
            <a:r>
              <a:rPr lang="en-IN" altLang="en-US"/>
              <a:t>sm for reading the input that is assumed to be string over a given alphabet and is strored in a </a:t>
            </a:r>
            <a:r>
              <a:rPr lang="en-IN" altLang="en-US" b="1">
                <a:solidFill>
                  <a:srgbClr val="00B0F0"/>
                </a:solidFill>
              </a:rPr>
              <a:t>input file or Input beffer </a:t>
            </a:r>
            <a:r>
              <a:rPr lang="en-IN" altLang="en-US" sz="1800"/>
              <a:t>which the automata can read one character at a time but cannot write. The input file is divided into ‘n’ number of cell,  where each cell is cable of holding the single character. The input mecahnism can read the input file from left to right one character at a time. It can also detect the end of input.</a:t>
            </a:r>
            <a:endParaRPr lang="en-IN" altLang="en-US" sz="1800"/>
          </a:p>
          <a:p>
            <a:r>
              <a:rPr lang="en-IN" altLang="en-US" sz="1800"/>
              <a:t>2. The Automata can produce an </a:t>
            </a:r>
            <a:r>
              <a:rPr lang="en-IN" altLang="en-US" sz="1800" b="1">
                <a:solidFill>
                  <a:srgbClr val="00B0F0"/>
                </a:solidFill>
              </a:rPr>
              <a:t>Output</a:t>
            </a:r>
            <a:r>
              <a:rPr lang="en-IN" altLang="en-US" sz="1800"/>
              <a:t> of some form.</a:t>
            </a:r>
            <a:endParaRPr lang="en-IN" altLang="en-US" sz="1800"/>
          </a:p>
          <a:p>
            <a:r>
              <a:rPr lang="en-IN" altLang="en-US" sz="1800"/>
              <a:t>3</a:t>
            </a:r>
            <a:r>
              <a:rPr lang="en-IN" altLang="en-US" b="1">
                <a:solidFill>
                  <a:srgbClr val="00B0F0"/>
                </a:solidFill>
              </a:rPr>
              <a:t>. </a:t>
            </a:r>
            <a:r>
              <a:rPr lang="en-IN" altLang="en-US" sz="1800">
                <a:solidFill>
                  <a:schemeClr val="tx1"/>
                </a:solidFill>
              </a:rPr>
              <a:t>The Automata may have a temporary </a:t>
            </a:r>
            <a:r>
              <a:rPr lang="en-IN" altLang="en-US" sz="1800" b="1">
                <a:solidFill>
                  <a:srgbClr val="00B0F0"/>
                </a:solidFill>
              </a:rPr>
              <a:t>Storage</a:t>
            </a:r>
            <a:r>
              <a:rPr lang="en-IN" altLang="en-US" sz="1800">
                <a:solidFill>
                  <a:schemeClr val="tx1"/>
                </a:solidFill>
              </a:rPr>
              <a:t> </a:t>
            </a:r>
            <a:r>
              <a:rPr lang="en-IN" altLang="en-US" b="1">
                <a:solidFill>
                  <a:schemeClr val="tx1"/>
                </a:solidFill>
              </a:rPr>
              <a:t> </a:t>
            </a:r>
            <a:r>
              <a:rPr lang="en-IN" altLang="en-US" sz="1800">
                <a:solidFill>
                  <a:schemeClr val="tx1"/>
                </a:solidFill>
              </a:rPr>
              <a:t>device</a:t>
            </a:r>
            <a:r>
              <a:rPr lang="en-IN" altLang="en-US" b="1">
                <a:solidFill>
                  <a:schemeClr val="tx1"/>
                </a:solidFill>
              </a:rPr>
              <a:t>  consisting of an unlimited number of cells, each Cell is capable of holding a single character from an alphabet. The Automata can read and change the contents of the storage cells</a:t>
            </a:r>
            <a:endParaRPr lang="en-IN" altLang="en-US" b="1">
              <a:solidFill>
                <a:schemeClr val="tx1"/>
              </a:solidFill>
            </a:endParaRPr>
          </a:p>
        </p:txBody>
      </p:sp>
      <p:sp>
        <p:nvSpPr>
          <p:cNvPr id="3" name="Footer Placeholder 2"/>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57200" y="301625"/>
            <a:ext cx="8229600" cy="6268720"/>
          </a:xfrm>
        </p:spPr>
        <p:txBody>
          <a:bodyPr/>
          <a:p>
            <a:pPr marL="0" indent="0">
              <a:buNone/>
            </a:pPr>
            <a:r>
              <a:rPr lang="en-IN" altLang="en-US" sz="1800">
                <a:latin typeface="Arial" panose="020B0604020202020204" pitchFamily="34" charset="0"/>
              </a:rPr>
              <a:t>4. Finally Automata has a </a:t>
            </a:r>
            <a:r>
              <a:rPr lang="en-IN" altLang="en-US" sz="1800" b="1">
                <a:solidFill>
                  <a:srgbClr val="00B0F0"/>
                </a:solidFill>
                <a:latin typeface="Arial" panose="020B0604020202020204" pitchFamily="34" charset="0"/>
              </a:rPr>
              <a:t>Control Unit, </a:t>
            </a:r>
            <a:r>
              <a:rPr lang="en-IN" altLang="en-US" sz="1800">
                <a:latin typeface="Arial" panose="020B0604020202020204" pitchFamily="34" charset="0"/>
              </a:rPr>
              <a:t>which can be in any one of a finite number of internal states, and can change state in some defined manner.</a:t>
            </a:r>
            <a:endParaRPr lang="en-IN" altLang="en-US" sz="1800">
              <a:latin typeface="Arial" panose="020B0604020202020204" pitchFamily="34" charset="0"/>
            </a:endParaRPr>
          </a:p>
          <a:p>
            <a:pPr marL="0" indent="0">
              <a:buNone/>
            </a:pPr>
            <a:r>
              <a:rPr lang="en-IN" altLang="en-US" sz="1800" b="1">
                <a:solidFill>
                  <a:srgbClr val="00B0F0"/>
                </a:solidFill>
                <a:latin typeface="Arial" panose="020B0604020202020204" pitchFamily="34" charset="0"/>
              </a:rPr>
              <a:t>Working of Automata :</a:t>
            </a:r>
            <a:endParaRPr lang="en-IN" altLang="en-US" sz="1800" b="1">
              <a:solidFill>
                <a:srgbClr val="00B0F0"/>
              </a:solidFill>
              <a:latin typeface="Arial" panose="020B0604020202020204" pitchFamily="34" charset="0"/>
            </a:endParaRPr>
          </a:p>
          <a:p>
            <a:pPr marL="0" algn="just">
              <a:buClrTx/>
              <a:buSzTx/>
              <a:buNone/>
            </a:pPr>
            <a:r>
              <a:rPr lang="en-IN" altLang="en-US" sz="1800" b="1">
                <a:solidFill>
                  <a:srgbClr val="00B0F0"/>
                </a:solidFill>
                <a:latin typeface="Arial" panose="020B0604020202020204" pitchFamily="34" charset="0"/>
              </a:rPr>
              <a:t>             </a:t>
            </a:r>
            <a:r>
              <a:rPr lang="en-IN" altLang="en-US" sz="1800">
                <a:latin typeface="Arial" panose="020B0604020202020204" pitchFamily="34" charset="0"/>
              </a:rPr>
              <a:t> An Automata is assumed to operate in discrete manner of timeframe. At any given instance of  time,  the </a:t>
            </a:r>
            <a:r>
              <a:rPr lang="en-IN" altLang="en-US" sz="1800" b="1">
                <a:solidFill>
                  <a:srgbClr val="00B0F0"/>
                </a:solidFill>
                <a:latin typeface="Arial" panose="020B0604020202020204" pitchFamily="34" charset="0"/>
              </a:rPr>
              <a:t>control unit </a:t>
            </a:r>
            <a:r>
              <a:rPr lang="en-IN" altLang="en-US" sz="1800">
                <a:latin typeface="Arial" panose="020B0604020202020204" pitchFamily="34" charset="0"/>
              </a:rPr>
              <a:t>is in some internal state and the input mechanism is scanning the perticular input symbol on the</a:t>
            </a:r>
            <a:r>
              <a:rPr lang="en-IN" altLang="en-US" sz="1800" b="1">
                <a:solidFill>
                  <a:srgbClr val="00B0F0"/>
                </a:solidFill>
                <a:latin typeface="Arial" panose="020B0604020202020204" pitchFamily="34" charset="0"/>
              </a:rPr>
              <a:t> input file. T</a:t>
            </a:r>
            <a:r>
              <a:rPr lang="en-IN" altLang="en-US" sz="1800">
                <a:latin typeface="Arial" panose="020B0604020202020204" pitchFamily="34" charset="0"/>
              </a:rPr>
              <a:t>he internal state of the </a:t>
            </a:r>
            <a:r>
              <a:rPr lang="en-IN" altLang="en-US" sz="1800" b="1">
                <a:solidFill>
                  <a:srgbClr val="00B0F0"/>
                </a:solidFill>
                <a:latin typeface="Arial" panose="020B0604020202020204" pitchFamily="34" charset="0"/>
              </a:rPr>
              <a:t>control unit</a:t>
            </a:r>
            <a:r>
              <a:rPr lang="en-IN" altLang="en-US" sz="1800">
                <a:latin typeface="Arial" panose="020B0604020202020204" pitchFamily="34" charset="0"/>
              </a:rPr>
              <a:t> at next time step is determined by the </a:t>
            </a:r>
            <a:r>
              <a:rPr lang="en-IN" altLang="en-US" sz="1800" b="1">
                <a:solidFill>
                  <a:srgbClr val="00B0F0"/>
                </a:solidFill>
                <a:latin typeface="Arial" panose="020B0604020202020204" pitchFamily="34" charset="0"/>
              </a:rPr>
              <a:t>transision function -  </a:t>
            </a:r>
            <a:r>
              <a:rPr lang="en-IN" altLang="en-US" sz="1800" b="1">
                <a:solidFill>
                  <a:srgbClr val="00B0F0"/>
                </a:solidFill>
                <a:latin typeface="Arial" panose="020B0604020202020204" pitchFamily="34" charset="0"/>
                <a:sym typeface="+mn-ea"/>
              </a:rPr>
              <a:t> δ. </a:t>
            </a:r>
            <a:endParaRPr lang="en-IN" altLang="en-US" sz="1800" b="1">
              <a:solidFill>
                <a:srgbClr val="00B0F0"/>
              </a:solidFill>
              <a:latin typeface="Arial" panose="020B0604020202020204" pitchFamily="34" charset="0"/>
              <a:sym typeface="+mn-ea"/>
            </a:endParaRPr>
          </a:p>
          <a:p>
            <a:pPr marL="0" algn="just">
              <a:buClrTx/>
              <a:buSzTx/>
              <a:buNone/>
            </a:pPr>
            <a:r>
              <a:rPr lang="en-IN" altLang="en-US" sz="1800" b="1">
                <a:solidFill>
                  <a:srgbClr val="00B0F0"/>
                </a:solidFill>
                <a:latin typeface="Arial" panose="020B0604020202020204" pitchFamily="34" charset="0"/>
                <a:sym typeface="+mn-ea"/>
              </a:rPr>
              <a:t>             </a:t>
            </a:r>
            <a:r>
              <a:rPr lang="en-IN" altLang="en-US" sz="1800">
                <a:latin typeface="Arial" panose="020B0604020202020204" pitchFamily="34" charset="0"/>
                <a:sym typeface="+mn-ea"/>
              </a:rPr>
              <a:t>The</a:t>
            </a:r>
            <a:r>
              <a:rPr lang="en-IN" altLang="en-US" sz="1800" b="1">
                <a:solidFill>
                  <a:srgbClr val="00B0F0"/>
                </a:solidFill>
                <a:latin typeface="Arial" panose="020B0604020202020204" pitchFamily="34" charset="0"/>
                <a:sym typeface="+mn-ea"/>
              </a:rPr>
              <a:t> Transision function -  </a:t>
            </a:r>
            <a:r>
              <a:rPr lang="en-IN" altLang="en-US" sz="1800" b="1">
                <a:solidFill>
                  <a:srgbClr val="00B0F0"/>
                </a:solidFill>
                <a:latin typeface="Arial" panose="020B0604020202020204" pitchFamily="34" charset="0"/>
                <a:sym typeface="+mn-ea"/>
              </a:rPr>
              <a:t> δ </a:t>
            </a:r>
            <a:r>
              <a:rPr lang="en-IN" altLang="en-US" sz="1800">
                <a:latin typeface="Arial" panose="020B0604020202020204" pitchFamily="34" charset="0"/>
                <a:sym typeface="+mn-ea"/>
              </a:rPr>
              <a:t>gives the next state interms of the </a:t>
            </a:r>
            <a:r>
              <a:rPr lang="en-IN" altLang="en-US" sz="1800" b="1">
                <a:solidFill>
                  <a:srgbClr val="00B0F0"/>
                </a:solidFill>
                <a:latin typeface="Arial" panose="020B0604020202020204" pitchFamily="34" charset="0"/>
                <a:sym typeface="+mn-ea"/>
              </a:rPr>
              <a:t>current state and current input symbol and the information currently in the temporary storage</a:t>
            </a:r>
            <a:r>
              <a:rPr lang="en-IN" altLang="en-US" sz="1800">
                <a:latin typeface="Arial" panose="020B0604020202020204" pitchFamily="34" charset="0"/>
                <a:sym typeface="+mn-ea"/>
              </a:rPr>
              <a:t>. During the transition from one state to next state the </a:t>
            </a:r>
            <a:r>
              <a:rPr lang="en-IN" altLang="en-US" sz="1800" b="1">
                <a:solidFill>
                  <a:srgbClr val="00B0F0"/>
                </a:solidFill>
                <a:latin typeface="Arial" panose="020B0604020202020204" pitchFamily="34" charset="0"/>
                <a:sym typeface="+mn-ea"/>
              </a:rPr>
              <a:t>output </a:t>
            </a:r>
            <a:r>
              <a:rPr lang="en-IN" altLang="en-US" sz="1800">
                <a:latin typeface="Arial" panose="020B0604020202020204" pitchFamily="34" charset="0"/>
                <a:sym typeface="+mn-ea"/>
              </a:rPr>
              <a:t>may be produced or the information in the temporary staorage changed. </a:t>
            </a:r>
            <a:endParaRPr lang="en-IN" altLang="en-US" sz="1800">
              <a:latin typeface="Arial" panose="020B0604020202020204" pitchFamily="34" charset="0"/>
              <a:sym typeface="+mn-ea"/>
            </a:endParaRPr>
          </a:p>
          <a:p>
            <a:pPr marL="41275" lvl="2" indent="27940" algn="just">
              <a:buClrTx/>
              <a:buSzTx/>
              <a:buNone/>
            </a:pPr>
            <a:r>
              <a:rPr lang="en-IN" altLang="en-US" sz="1800">
                <a:latin typeface="Arial" panose="020B0604020202020204" pitchFamily="34" charset="0"/>
              </a:rPr>
              <a:t>            The term </a:t>
            </a:r>
            <a:r>
              <a:rPr lang="en-IN" altLang="en-US" sz="1800" b="1">
                <a:solidFill>
                  <a:srgbClr val="00B0F0"/>
                </a:solidFill>
                <a:latin typeface="Arial" panose="020B0604020202020204" pitchFamily="34" charset="0"/>
              </a:rPr>
              <a:t>Configuaration</a:t>
            </a:r>
            <a:r>
              <a:rPr lang="en-IN" altLang="en-US" sz="1800">
                <a:latin typeface="Arial" panose="020B0604020202020204" pitchFamily="34" charset="0"/>
              </a:rPr>
              <a:t> will be used to refer to perticular state of the </a:t>
            </a:r>
            <a:r>
              <a:rPr lang="en-IN" altLang="en-US" sz="1800" b="1">
                <a:solidFill>
                  <a:srgbClr val="00B0F0"/>
                </a:solidFill>
                <a:latin typeface="Arial" panose="020B0604020202020204" pitchFamily="34" charset="0"/>
              </a:rPr>
              <a:t>control unit, input file </a:t>
            </a:r>
            <a:r>
              <a:rPr lang="en-IN" altLang="en-US" sz="1800">
                <a:latin typeface="Arial" panose="020B0604020202020204" pitchFamily="34" charset="0"/>
              </a:rPr>
              <a:t>and </a:t>
            </a:r>
            <a:r>
              <a:rPr lang="en-IN" altLang="en-US" sz="1800" b="1">
                <a:solidFill>
                  <a:srgbClr val="00B0F0"/>
                </a:solidFill>
                <a:latin typeface="Arial" panose="020B0604020202020204" pitchFamily="34" charset="0"/>
              </a:rPr>
              <a:t>temporary storage</a:t>
            </a:r>
            <a:r>
              <a:rPr lang="en-IN" altLang="en-US" sz="1800">
                <a:latin typeface="Arial" panose="020B0604020202020204" pitchFamily="34" charset="0"/>
              </a:rPr>
              <a:t>. The transition of the automata from configuration to another will be called as </a:t>
            </a:r>
            <a:r>
              <a:rPr lang="en-IN" altLang="en-US" sz="1800" b="1">
                <a:solidFill>
                  <a:srgbClr val="00B0F0"/>
                </a:solidFill>
                <a:latin typeface="Arial" panose="020B0604020202020204" pitchFamily="34" charset="0"/>
              </a:rPr>
              <a:t>MOVE.</a:t>
            </a:r>
            <a:endParaRPr lang="en-IN" altLang="en-US" sz="1800" b="1">
              <a:solidFill>
                <a:srgbClr val="00B0F0"/>
              </a:solidFill>
              <a:latin typeface="Arial" panose="020B0604020202020204" pitchFamily="34" charset="0"/>
            </a:endParaRPr>
          </a:p>
          <a:p>
            <a:pPr marL="41275" lvl="2" indent="27940" algn="just">
              <a:buClrTx/>
              <a:buSzTx/>
              <a:buNone/>
            </a:pPr>
            <a:r>
              <a:rPr lang="en-IN" altLang="en-US" sz="1800" b="1">
                <a:solidFill>
                  <a:srgbClr val="FF0000"/>
                </a:solidFill>
                <a:latin typeface="Arial" panose="020B0604020202020204" pitchFamily="34" charset="0"/>
              </a:rPr>
              <a:t>NOTE : This genaral model covers all the automatra like PDA, Turing Machine. The finite state control will be common to all specific cases, however the diffrence will arise from the way the output can be produced and the nature of the temporary storage. The power of differnt types of automata is governed by nature of Temporary storage.</a:t>
            </a:r>
            <a:endParaRPr lang="en-IN" altLang="en-US" sz="1800" b="1">
              <a:solidFill>
                <a:srgbClr val="FF0000"/>
              </a:solidFill>
              <a:latin typeface="Arial" panose="020B0604020202020204" pitchFamily="34" charset="0"/>
            </a:endParaRPr>
          </a:p>
          <a:p>
            <a:pPr marL="41275" lvl="2" indent="27940" algn="just">
              <a:buClrTx/>
              <a:buSzTx/>
              <a:buNone/>
            </a:pPr>
            <a:endParaRPr lang="en-IN" altLang="en-US" sz="1800" b="1">
              <a:solidFill>
                <a:srgbClr val="FF0000"/>
              </a:solidFill>
              <a:latin typeface="Arial" panose="020B0604020202020204" pitchFamily="34" charset="0"/>
            </a:endParaRPr>
          </a:p>
        </p:txBody>
      </p:sp>
      <p:sp>
        <p:nvSpPr>
          <p:cNvPr id="2" name="Footer Placeholder 1"/>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106045"/>
            <a:ext cx="8229600" cy="843915"/>
          </a:xfrm>
        </p:spPr>
        <p:txBody>
          <a:bodyPr vert="horz" wrap="square" lIns="91440" tIns="45720" rIns="91440" bIns="45720" numCol="1" rtlCol="0" anchor="ctr" anchorCtr="0" compatLnSpc="1">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4400" b="0" i="0" u="none" strike="noStrike" kern="1200" cap="none" spc="0" normalizeH="0" baseline="0" noProof="0" dirty="0" smtClean="0">
                <a:ln>
                  <a:noFill/>
                </a:ln>
                <a:solidFill>
                  <a:srgbClr val="FF0000"/>
                </a:solidFill>
                <a:effectLst/>
                <a:uLnTx/>
                <a:uFillTx/>
                <a:latin typeface="+mj-lt"/>
                <a:ea typeface="+mj-ea"/>
                <a:cs typeface="+mj-cs"/>
              </a:rPr>
              <a:t>Central concept of automata theory</a:t>
            </a:r>
            <a:endParaRPr kumimoji="0" lang="en-US" sz="4400" b="0" i="0" u="none" strike="noStrike" kern="1200" cap="none" spc="0" normalizeH="0" baseline="0" noProof="0" dirty="0" smtClean="0">
              <a:ln>
                <a:noFill/>
              </a:ln>
              <a:solidFill>
                <a:srgbClr val="FF0000"/>
              </a:solidFill>
              <a:effectLst/>
              <a:uLnTx/>
              <a:uFillTx/>
              <a:latin typeface="+mj-lt"/>
              <a:ea typeface="+mj-ea"/>
              <a:cs typeface="+mj-cs"/>
            </a:endParaRPr>
          </a:p>
        </p:txBody>
      </p:sp>
      <p:sp>
        <p:nvSpPr>
          <p:cNvPr id="5123" name="Content Placeholder 2"/>
          <p:cNvSpPr>
            <a:spLocks noGrp="1"/>
          </p:cNvSpPr>
          <p:nvPr>
            <p:ph idx="1"/>
          </p:nvPr>
        </p:nvSpPr>
        <p:spPr>
          <a:xfrm>
            <a:off x="169545" y="533400"/>
            <a:ext cx="8798560" cy="4526280"/>
          </a:xfrm>
        </p:spPr>
        <p:txBody>
          <a:bodyPr vert="horz" wrap="square" lIns="91440" tIns="45720" rIns="91440" bIns="45720" anchor="t" anchorCtr="0"/>
          <a:p>
            <a:pPr eaLnBrk="1" hangingPunct="1"/>
            <a:r>
              <a:rPr lang="en-US" altLang="en-US" b="1" dirty="0">
                <a:solidFill>
                  <a:srgbClr val="0070C0"/>
                </a:solidFill>
              </a:rPr>
              <a:t>Alphabets</a:t>
            </a:r>
            <a:r>
              <a:rPr lang="en-IN" altLang="en-US" b="1" dirty="0">
                <a:solidFill>
                  <a:srgbClr val="0070C0"/>
                </a:solidFill>
              </a:rPr>
              <a:t> - </a:t>
            </a:r>
            <a:r>
              <a:rPr lang="en-IN" altLang="en-US" b="1" dirty="0">
                <a:solidFill>
                  <a:srgbClr val="0070C0"/>
                </a:solidFill>
                <a:latin typeface="Arial" panose="020B0604020202020204" pitchFamily="34" charset="0"/>
                <a:cs typeface="Arial" panose="020B0604020202020204" pitchFamily="34" charset="0"/>
              </a:rPr>
              <a:t>∑</a:t>
            </a:r>
            <a:endParaRPr lang="en-IN" altLang="en-US" b="1" dirty="0">
              <a:solidFill>
                <a:srgbClr val="0070C0"/>
              </a:solidFill>
              <a:latin typeface="Arial" panose="020B0604020202020204" pitchFamily="34" charset="0"/>
              <a:cs typeface="Arial" panose="020B0604020202020204" pitchFamily="34" charset="0"/>
            </a:endParaRPr>
          </a:p>
          <a:p>
            <a:pPr lvl="1" eaLnBrk="1" hangingPunct="1"/>
            <a:r>
              <a:rPr lang="en-IN" altLang="en-US" sz="2800" dirty="0">
                <a:latin typeface="Arial" panose="020B0604020202020204" pitchFamily="34" charset="0"/>
                <a:cs typeface="Arial" panose="020B0604020202020204" pitchFamily="34" charset="0"/>
              </a:rPr>
              <a:t>An </a:t>
            </a:r>
            <a:r>
              <a:rPr lang="en-US" altLang="en-US" sz="3200" b="1" dirty="0">
                <a:solidFill>
                  <a:srgbClr val="0070C0"/>
                </a:solidFill>
              </a:rPr>
              <a:t>alphabet</a:t>
            </a:r>
            <a:r>
              <a:rPr lang="en-IN" altLang="en-US" sz="2800" dirty="0">
                <a:latin typeface="Arial" panose="020B0604020202020204" pitchFamily="34" charset="0"/>
                <a:cs typeface="Arial" panose="020B0604020202020204" pitchFamily="34" charset="0"/>
              </a:rPr>
              <a:t> is a finite, non empty set of symbols. </a:t>
            </a:r>
            <a:r>
              <a:rPr lang="en-IN" altLang="en-US" dirty="0">
                <a:latin typeface="Arial" panose="020B0604020202020204" pitchFamily="34" charset="0"/>
                <a:cs typeface="Arial" panose="020B0604020202020204" pitchFamily="34" charset="0"/>
                <a:sym typeface="+mn-ea"/>
              </a:rPr>
              <a:t>∑- symbol is used denote the same.</a:t>
            </a:r>
            <a:endParaRPr lang="en-IN" altLang="en-US" dirty="0">
              <a:latin typeface="Arial" panose="020B0604020202020204" pitchFamily="34" charset="0"/>
              <a:cs typeface="Arial" panose="020B0604020202020204" pitchFamily="34" charset="0"/>
              <a:sym typeface="+mn-ea"/>
            </a:endParaRPr>
          </a:p>
          <a:p>
            <a:pPr marL="457200" lvl="1" indent="0" eaLnBrk="1" hangingPunct="1">
              <a:buNone/>
            </a:pPr>
            <a:r>
              <a:rPr lang="en-IN" altLang="en-US" dirty="0">
                <a:latin typeface="Arial" panose="020B0604020202020204" pitchFamily="34" charset="0"/>
                <a:cs typeface="Arial" panose="020B0604020202020204" pitchFamily="34" charset="0"/>
                <a:sym typeface="+mn-ea"/>
              </a:rPr>
              <a:t>   </a:t>
            </a:r>
            <a:r>
              <a:rPr lang="en-IN" altLang="en-US" sz="2000" b="1" dirty="0">
                <a:solidFill>
                  <a:srgbClr val="002060"/>
                </a:solidFill>
                <a:latin typeface="Arial" panose="020B0604020202020204" pitchFamily="34" charset="0"/>
                <a:cs typeface="Arial" panose="020B0604020202020204" pitchFamily="34" charset="0"/>
                <a:sym typeface="+mn-ea"/>
              </a:rPr>
              <a:t>Ex-1. ∑ = {0, 1}, the binary alphabet</a:t>
            </a:r>
            <a:endParaRPr lang="en-IN" altLang="en-US" sz="2000" b="1" dirty="0">
              <a:solidFill>
                <a:srgbClr val="002060"/>
              </a:solidFill>
              <a:latin typeface="Arial" panose="020B0604020202020204" pitchFamily="34" charset="0"/>
              <a:cs typeface="Arial" panose="020B0604020202020204" pitchFamily="34" charset="0"/>
              <a:sym typeface="+mn-ea"/>
            </a:endParaRPr>
          </a:p>
          <a:p>
            <a:pPr marL="457200" lvl="1" indent="0" eaLnBrk="1" hangingPunct="1">
              <a:buNone/>
            </a:pPr>
            <a:r>
              <a:rPr lang="en-IN" altLang="en-US" sz="2000" b="1" dirty="0">
                <a:solidFill>
                  <a:srgbClr val="002060"/>
                </a:solidFill>
                <a:latin typeface="Arial" panose="020B0604020202020204" pitchFamily="34" charset="0"/>
                <a:cs typeface="Arial" panose="020B0604020202020204" pitchFamily="34" charset="0"/>
                <a:sym typeface="+mn-ea"/>
              </a:rPr>
              <a:t>    Ex-2. </a:t>
            </a:r>
            <a:r>
              <a:rPr lang="en-IN" altLang="en-US" sz="2000" b="1" dirty="0">
                <a:solidFill>
                  <a:srgbClr val="002060"/>
                </a:solidFill>
                <a:latin typeface="Arial" panose="020B0604020202020204" pitchFamily="34" charset="0"/>
                <a:cs typeface="Arial" panose="020B0604020202020204" pitchFamily="34" charset="0"/>
              </a:rPr>
              <a:t> </a:t>
            </a:r>
            <a:r>
              <a:rPr lang="en-IN" altLang="en-US" sz="2000" b="1" dirty="0">
                <a:solidFill>
                  <a:srgbClr val="002060"/>
                </a:solidFill>
                <a:latin typeface="Arial" panose="020B0604020202020204" pitchFamily="34" charset="0"/>
                <a:cs typeface="Arial" panose="020B0604020202020204" pitchFamily="34" charset="0"/>
                <a:sym typeface="+mn-ea"/>
              </a:rPr>
              <a:t>∑ ={a, b,.....z}, the set of all lower case letters</a:t>
            </a:r>
            <a:endParaRPr lang="en-US" altLang="en-US" sz="2400" b="1" dirty="0">
              <a:solidFill>
                <a:srgbClr val="002060"/>
              </a:solidFill>
            </a:endParaRPr>
          </a:p>
          <a:p>
            <a:pPr eaLnBrk="1" hangingPunct="1"/>
            <a:r>
              <a:rPr lang="en-US" altLang="en-US" b="1" dirty="0">
                <a:solidFill>
                  <a:srgbClr val="FF0000"/>
                </a:solidFill>
              </a:rPr>
              <a:t>Strings</a:t>
            </a:r>
            <a:endParaRPr lang="en-US" altLang="en-US" b="1" dirty="0">
              <a:solidFill>
                <a:srgbClr val="FF0000"/>
              </a:solidFill>
            </a:endParaRPr>
          </a:p>
          <a:p>
            <a:pPr lvl="1" eaLnBrk="1" hangingPunct="1"/>
            <a:r>
              <a:rPr lang="en-IN" altLang="en-US" sz="2800" dirty="0"/>
              <a:t>A </a:t>
            </a:r>
            <a:r>
              <a:rPr lang="en-IN" altLang="en-US" sz="2800" b="1" dirty="0">
                <a:solidFill>
                  <a:srgbClr val="FF0000"/>
                </a:solidFill>
              </a:rPr>
              <a:t>string</a:t>
            </a:r>
            <a:r>
              <a:rPr lang="en-IN" altLang="en-US" sz="2800" dirty="0"/>
              <a:t> ( referred as word ) is finite sequence of symbols choosen from some alphabet.</a:t>
            </a:r>
            <a:endParaRPr lang="en-IN" altLang="en-US" sz="2800" dirty="0"/>
          </a:p>
          <a:p>
            <a:pPr marL="0" lvl="1" indent="0" eaLnBrk="1" hangingPunct="1">
              <a:buNone/>
            </a:pPr>
            <a:r>
              <a:rPr lang="en-IN" altLang="en-US" dirty="0"/>
              <a:t>          </a:t>
            </a:r>
            <a:r>
              <a:rPr lang="en-IN" altLang="en-US" sz="2000" b="1" dirty="0">
                <a:solidFill>
                  <a:srgbClr val="002060"/>
                </a:solidFill>
                <a:latin typeface="Arial" panose="020B0604020202020204" pitchFamily="34" charset="0"/>
                <a:cs typeface="Arial" panose="020B0604020202020204" pitchFamily="34" charset="0"/>
              </a:rPr>
              <a:t>Ex-1. if </a:t>
            </a:r>
            <a:r>
              <a:rPr lang="en-IN" altLang="en-US" sz="2000" b="1" dirty="0">
                <a:solidFill>
                  <a:srgbClr val="002060"/>
                </a:solidFill>
                <a:latin typeface="Arial" panose="020B0604020202020204" pitchFamily="34" charset="0"/>
                <a:cs typeface="Arial" panose="020B0604020202020204" pitchFamily="34" charset="0"/>
                <a:sym typeface="+mn-ea"/>
              </a:rPr>
              <a:t>∑ = {0, 1}, is the binary alphabet then 011011 is string      </a:t>
            </a:r>
            <a:endParaRPr lang="en-IN" altLang="en-US" sz="2000" b="1" dirty="0">
              <a:solidFill>
                <a:srgbClr val="002060"/>
              </a:solidFill>
              <a:latin typeface="Arial" panose="020B0604020202020204" pitchFamily="34" charset="0"/>
              <a:cs typeface="Arial" panose="020B0604020202020204" pitchFamily="34" charset="0"/>
              <a:sym typeface="+mn-ea"/>
            </a:endParaRPr>
          </a:p>
          <a:p>
            <a:pPr marL="0" lvl="1" indent="0" eaLnBrk="1" hangingPunct="1">
              <a:buNone/>
            </a:pPr>
            <a:r>
              <a:rPr lang="en-IN" altLang="en-US" sz="2000" b="1" dirty="0">
                <a:solidFill>
                  <a:srgbClr val="002060"/>
                </a:solidFill>
                <a:latin typeface="Arial" panose="020B0604020202020204" pitchFamily="34" charset="0"/>
                <a:cs typeface="Arial" panose="020B0604020202020204" pitchFamily="34" charset="0"/>
                <a:sym typeface="+mn-ea"/>
              </a:rPr>
              <a:t>                     from binary alphabet</a:t>
            </a:r>
            <a:endParaRPr lang="en-IN" altLang="en-US" sz="2000" b="1" dirty="0">
              <a:solidFill>
                <a:srgbClr val="002060"/>
              </a:solidFill>
              <a:latin typeface="Arial" panose="020B0604020202020204" pitchFamily="34" charset="0"/>
              <a:cs typeface="Arial" panose="020B0604020202020204" pitchFamily="34" charset="0"/>
              <a:sym typeface="+mn-ea"/>
            </a:endParaRPr>
          </a:p>
          <a:p>
            <a:pPr lvl="1" eaLnBrk="1" hangingPunct="1"/>
            <a:r>
              <a:rPr lang="en-IN" altLang="en-US" dirty="0"/>
              <a:t>The </a:t>
            </a:r>
            <a:r>
              <a:rPr lang="en-US" altLang="en-US" sz="3200" b="1" dirty="0">
                <a:solidFill>
                  <a:srgbClr val="FF0000"/>
                </a:solidFill>
              </a:rPr>
              <a:t>Empty string </a:t>
            </a:r>
            <a:r>
              <a:rPr lang="en-IN" altLang="en-US" dirty="0"/>
              <a:t>is a string with zero occurance of symbols from the alphabet. This is denoted by </a:t>
            </a:r>
            <a:r>
              <a:rPr lang="en-IN" altLang="en-US" b="1" dirty="0">
                <a:solidFill>
                  <a:srgbClr val="FF0000"/>
                </a:solidFill>
              </a:rPr>
              <a:t>‘</a:t>
            </a:r>
            <a:r>
              <a:rPr lang="en-IN" altLang="en-US" b="1" dirty="0">
                <a:solidFill>
                  <a:srgbClr val="FF0000"/>
                </a:solidFill>
                <a:latin typeface="Arial" panose="020B0604020202020204" pitchFamily="34" charset="0"/>
                <a:cs typeface="Arial" panose="020B0604020202020204" pitchFamily="34" charset="0"/>
              </a:rPr>
              <a:t>Ԑ’ </a:t>
            </a:r>
            <a:r>
              <a:rPr lang="en-IN" altLang="en-US" dirty="0"/>
              <a:t>which can be choosen from any alphabet-</a:t>
            </a:r>
            <a:r>
              <a:rPr lang="en-IN" altLang="en-US" dirty="0">
                <a:latin typeface="Arial" panose="020B0604020202020204" pitchFamily="34" charset="0"/>
                <a:cs typeface="Arial" panose="020B0604020202020204" pitchFamily="34" charset="0"/>
              </a:rPr>
              <a:t>∑</a:t>
            </a:r>
            <a:endParaRPr lang="en-IN" altLang="en-US" b="1" dirty="0">
              <a:solidFill>
                <a:srgbClr val="FF0000"/>
              </a:solidFill>
              <a:latin typeface="Arial" panose="020B0604020202020204" pitchFamily="34" charset="0"/>
              <a:cs typeface="Arial" panose="020B0604020202020204" pitchFamily="34" charset="0"/>
            </a:endParaRPr>
          </a:p>
        </p:txBody>
      </p:sp>
      <p:sp>
        <p:nvSpPr>
          <p:cNvPr id="3" name="Footer Placeholder 2"/>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228600" y="381000"/>
            <a:ext cx="8492490" cy="6330950"/>
          </a:xfrm>
        </p:spPr>
        <p:txBody>
          <a:bodyPr/>
          <a:p>
            <a:pPr marL="457200" lvl="2" indent="236220" defTabSz="0" eaLnBrk="1" hangingPunct="1">
              <a:buFont typeface="Arial" panose="020B0604020202020204" pitchFamily="34" charset="0"/>
              <a:buNone/>
              <a:tabLst>
                <a:tab pos="626745" algn="l"/>
              </a:tabLst>
            </a:pPr>
            <a:r>
              <a:rPr lang="en-IN" altLang="en-US" sz="2800" b="1">
                <a:solidFill>
                  <a:srgbClr val="FF0000"/>
                </a:solidFill>
              </a:rPr>
              <a:t>- Power of an alphabet - </a:t>
            </a:r>
            <a:r>
              <a:rPr lang="en-IN" altLang="en-US" b="1">
                <a:solidFill>
                  <a:srgbClr val="FF0000"/>
                </a:solidFill>
                <a:sym typeface="+mn-ea"/>
              </a:rPr>
              <a:t>∑k</a:t>
            </a:r>
            <a:r>
              <a:rPr lang="en-IN" altLang="en-US" sz="2800"/>
              <a:t>  - If </a:t>
            </a:r>
            <a:r>
              <a:rPr lang="en-IN" altLang="en-US" dirty="0">
                <a:latin typeface="Arial" panose="020B0604020202020204" pitchFamily="34" charset="0"/>
                <a:cs typeface="Arial" panose="020B0604020202020204" pitchFamily="34" charset="0"/>
                <a:sym typeface="+mn-ea"/>
              </a:rPr>
              <a:t>∑ is an alphabet, then power of an alphabet is set of strings of certain length from alphabet by an exponential notation. i.e We define ∑</a:t>
            </a:r>
            <a:r>
              <a:rPr lang="en-IN" altLang="en-US" baseline="30000" dirty="0">
                <a:latin typeface="Arial" panose="020B0604020202020204" pitchFamily="34" charset="0"/>
                <a:cs typeface="Arial" panose="020B0604020202020204" pitchFamily="34" charset="0"/>
                <a:sym typeface="+mn-ea"/>
              </a:rPr>
              <a:t>k</a:t>
            </a:r>
            <a:r>
              <a:rPr lang="en-IN" altLang="en-US">
                <a:sym typeface="+mn-ea"/>
              </a:rPr>
              <a:t>  to be the set of strings of length k, each of whose symbol is in </a:t>
            </a:r>
            <a:r>
              <a:rPr lang="en-IN" altLang="en-US" dirty="0">
                <a:latin typeface="Arial" panose="020B0604020202020204" pitchFamily="34" charset="0"/>
                <a:cs typeface="Arial" panose="020B0604020202020204" pitchFamily="34" charset="0"/>
                <a:sym typeface="+mn-ea"/>
              </a:rPr>
              <a:t>∑.</a:t>
            </a:r>
            <a:endParaRPr lang="en-IN" altLang="en-US" dirty="0">
              <a:latin typeface="Arial" panose="020B0604020202020204" pitchFamily="34" charset="0"/>
              <a:cs typeface="Arial" panose="020B0604020202020204" pitchFamily="34" charset="0"/>
              <a:sym typeface="+mn-ea"/>
            </a:endParaRPr>
          </a:p>
          <a:p>
            <a:pPr marL="914400" lvl="2" indent="0">
              <a:buNone/>
            </a:pPr>
            <a:r>
              <a:rPr lang="en-IN" altLang="en-US" sz="2000" b="1" dirty="0">
                <a:solidFill>
                  <a:srgbClr val="002060"/>
                </a:solidFill>
                <a:latin typeface="Arial" panose="020B0604020202020204" pitchFamily="34" charset="0"/>
                <a:cs typeface="Arial" panose="020B0604020202020204" pitchFamily="34" charset="0"/>
                <a:sym typeface="+mn-ea"/>
              </a:rPr>
              <a:t>Ex-1 if ∑ = {0,1}, then </a:t>
            </a:r>
            <a:endParaRPr lang="en-IN" altLang="en-US" sz="2000" b="1" dirty="0">
              <a:solidFill>
                <a:srgbClr val="002060"/>
              </a:solidFill>
              <a:latin typeface="Arial" panose="020B0604020202020204" pitchFamily="34" charset="0"/>
              <a:cs typeface="Arial" panose="020B0604020202020204" pitchFamily="34" charset="0"/>
              <a:sym typeface="+mn-ea"/>
            </a:endParaRPr>
          </a:p>
          <a:p>
            <a:pPr marL="914400" lvl="2" indent="0">
              <a:buFont typeface="Wingdings" panose="05000000000000000000" charset="0"/>
              <a:buNone/>
            </a:pPr>
            <a:r>
              <a:rPr lang="en-IN" altLang="en-US" sz="2000" b="1" dirty="0">
                <a:solidFill>
                  <a:srgbClr val="002060"/>
                </a:solidFill>
                <a:latin typeface="Arial" panose="020B0604020202020204" pitchFamily="34" charset="0"/>
                <a:cs typeface="Arial" panose="020B0604020202020204" pitchFamily="34" charset="0"/>
                <a:sym typeface="+mn-ea"/>
              </a:rPr>
              <a:t>          1. ∑</a:t>
            </a:r>
            <a:r>
              <a:rPr lang="en-IN" altLang="en-US" sz="2000" b="1" baseline="30000" dirty="0">
                <a:solidFill>
                  <a:srgbClr val="002060"/>
                </a:solidFill>
                <a:latin typeface="Arial" panose="020B0604020202020204" pitchFamily="34" charset="0"/>
                <a:cs typeface="Arial" panose="020B0604020202020204" pitchFamily="34" charset="0"/>
                <a:sym typeface="+mn-ea"/>
              </a:rPr>
              <a:t>1</a:t>
            </a:r>
            <a:r>
              <a:rPr lang="en-IN" altLang="en-US" sz="2000" b="1" dirty="0">
                <a:solidFill>
                  <a:srgbClr val="002060"/>
                </a:solidFill>
                <a:latin typeface="Arial" panose="020B0604020202020204" pitchFamily="34" charset="0"/>
                <a:cs typeface="Arial" panose="020B0604020202020204" pitchFamily="34" charset="0"/>
                <a:sym typeface="+mn-ea"/>
              </a:rPr>
              <a:t>= {0,1} is the set of strings of length 1.</a:t>
            </a:r>
            <a:endParaRPr lang="en-IN" altLang="en-US" sz="2000" b="1" dirty="0">
              <a:solidFill>
                <a:srgbClr val="002060"/>
              </a:solidFill>
              <a:latin typeface="Arial" panose="020B0604020202020204" pitchFamily="34" charset="0"/>
              <a:cs typeface="Arial" panose="020B0604020202020204" pitchFamily="34" charset="0"/>
              <a:sym typeface="+mn-ea"/>
            </a:endParaRPr>
          </a:p>
          <a:p>
            <a:pPr marL="0" lvl="2" indent="0">
              <a:buFont typeface="Wingdings" panose="05000000000000000000" charset="0"/>
              <a:buNone/>
            </a:pPr>
            <a:r>
              <a:rPr lang="en-IN" altLang="en-US" sz="2000" b="1" dirty="0">
                <a:solidFill>
                  <a:srgbClr val="002060"/>
                </a:solidFill>
                <a:latin typeface="Arial" panose="020B0604020202020204" pitchFamily="34" charset="0"/>
                <a:cs typeface="Arial" panose="020B0604020202020204" pitchFamily="34" charset="0"/>
                <a:sym typeface="+mn-ea"/>
              </a:rPr>
              <a:t>                       2. ∑</a:t>
            </a:r>
            <a:r>
              <a:rPr lang="en-IN" altLang="en-US" sz="2000" b="1" baseline="30000" dirty="0">
                <a:solidFill>
                  <a:srgbClr val="002060"/>
                </a:solidFill>
                <a:latin typeface="Arial" panose="020B0604020202020204" pitchFamily="34" charset="0"/>
                <a:cs typeface="Arial" panose="020B0604020202020204" pitchFamily="34" charset="0"/>
                <a:sym typeface="+mn-ea"/>
              </a:rPr>
              <a:t>2</a:t>
            </a:r>
            <a:r>
              <a:rPr lang="en-IN" altLang="en-US" sz="2000" b="1" dirty="0">
                <a:solidFill>
                  <a:srgbClr val="002060"/>
                </a:solidFill>
                <a:latin typeface="Arial" panose="020B0604020202020204" pitchFamily="34" charset="0"/>
                <a:cs typeface="Arial" panose="020B0604020202020204" pitchFamily="34" charset="0"/>
                <a:sym typeface="+mn-ea"/>
              </a:rPr>
              <a:t>= {00,01,10,11} is the set of strings of length 2.</a:t>
            </a:r>
            <a:endParaRPr lang="en-IN" altLang="en-US" sz="2000" b="1" dirty="0">
              <a:solidFill>
                <a:srgbClr val="002060"/>
              </a:solidFill>
              <a:latin typeface="Arial" panose="020B0604020202020204" pitchFamily="34" charset="0"/>
              <a:cs typeface="Arial" panose="020B0604020202020204" pitchFamily="34" charset="0"/>
              <a:sym typeface="+mn-ea"/>
            </a:endParaRPr>
          </a:p>
          <a:p>
            <a:pPr marL="0" lvl="2" indent="0">
              <a:buFont typeface="Wingdings" panose="05000000000000000000" charset="0"/>
              <a:buNone/>
            </a:pPr>
            <a:r>
              <a:rPr lang="en-IN" altLang="en-US" sz="2000" b="1" dirty="0">
                <a:solidFill>
                  <a:srgbClr val="002060"/>
                </a:solidFill>
                <a:latin typeface="Arial" panose="020B0604020202020204" pitchFamily="34" charset="0"/>
                <a:cs typeface="Arial" panose="020B0604020202020204" pitchFamily="34" charset="0"/>
                <a:sym typeface="+mn-ea"/>
              </a:rPr>
              <a:t>                           and so on.... Note that ∑</a:t>
            </a:r>
            <a:r>
              <a:rPr lang="en-IN" altLang="en-US" sz="2000" b="1" baseline="30000" dirty="0">
                <a:solidFill>
                  <a:srgbClr val="002060"/>
                </a:solidFill>
                <a:latin typeface="Arial" panose="020B0604020202020204" pitchFamily="34" charset="0"/>
                <a:cs typeface="Arial" panose="020B0604020202020204" pitchFamily="34" charset="0"/>
                <a:sym typeface="+mn-ea"/>
              </a:rPr>
              <a:t>0</a:t>
            </a:r>
            <a:r>
              <a:rPr lang="en-IN" altLang="en-US" sz="2000" b="1" dirty="0">
                <a:solidFill>
                  <a:srgbClr val="002060"/>
                </a:solidFill>
                <a:latin typeface="Arial" panose="020B0604020202020204" pitchFamily="34" charset="0"/>
                <a:cs typeface="Arial" panose="020B0604020202020204" pitchFamily="34" charset="0"/>
                <a:sym typeface="+mn-ea"/>
              </a:rPr>
              <a:t>= Ԑ is string of length 0 no </a:t>
            </a:r>
            <a:endParaRPr lang="en-IN" altLang="en-US" sz="2000" b="1" dirty="0">
              <a:solidFill>
                <a:srgbClr val="002060"/>
              </a:solidFill>
              <a:latin typeface="Arial" panose="020B0604020202020204" pitchFamily="34" charset="0"/>
              <a:cs typeface="Arial" panose="020B0604020202020204" pitchFamily="34" charset="0"/>
              <a:sym typeface="+mn-ea"/>
            </a:endParaRPr>
          </a:p>
          <a:p>
            <a:pPr marL="0" lvl="2" indent="0">
              <a:buFont typeface="Wingdings" panose="05000000000000000000" charset="0"/>
              <a:buNone/>
            </a:pPr>
            <a:r>
              <a:rPr lang="en-IN" altLang="en-US" sz="2000" b="1" dirty="0">
                <a:solidFill>
                  <a:srgbClr val="002060"/>
                </a:solidFill>
                <a:latin typeface="Arial" panose="020B0604020202020204" pitchFamily="34" charset="0"/>
                <a:cs typeface="Arial" panose="020B0604020202020204" pitchFamily="34" charset="0"/>
                <a:sym typeface="+mn-ea"/>
              </a:rPr>
              <a:t>                           matter what the alphabet -∑ is	</a:t>
            </a:r>
            <a:endParaRPr lang="en-IN" altLang="en-US" sz="2000" b="1" dirty="0">
              <a:solidFill>
                <a:srgbClr val="002060"/>
              </a:solidFill>
              <a:latin typeface="Arial" panose="020B0604020202020204" pitchFamily="34" charset="0"/>
              <a:cs typeface="Arial" panose="020B0604020202020204" pitchFamily="34" charset="0"/>
              <a:sym typeface="+mn-ea"/>
            </a:endParaRPr>
          </a:p>
          <a:p>
            <a:pPr marL="0" lvl="2" indent="0">
              <a:buFont typeface="Wingdings" panose="05000000000000000000" charset="0"/>
              <a:buNone/>
            </a:pPr>
            <a:r>
              <a:rPr lang="en-IN" altLang="en-US" sz="2000" b="1" dirty="0">
                <a:solidFill>
                  <a:srgbClr val="002060"/>
                </a:solidFill>
                <a:latin typeface="Arial" panose="020B0604020202020204" pitchFamily="34" charset="0"/>
                <a:cs typeface="Arial" panose="020B0604020202020204" pitchFamily="34" charset="0"/>
                <a:sym typeface="+mn-ea"/>
              </a:rPr>
              <a:t>                      3.  The set of all strings of any length is conventionaly  </a:t>
            </a:r>
            <a:endParaRPr lang="en-IN" altLang="en-US" sz="2000" b="1" dirty="0">
              <a:solidFill>
                <a:srgbClr val="002060"/>
              </a:solidFill>
              <a:latin typeface="Arial" panose="020B0604020202020204" pitchFamily="34" charset="0"/>
              <a:cs typeface="Arial" panose="020B0604020202020204" pitchFamily="34" charset="0"/>
              <a:sym typeface="+mn-ea"/>
            </a:endParaRPr>
          </a:p>
          <a:p>
            <a:pPr marL="0" lvl="2" indent="0">
              <a:buFont typeface="Wingdings" panose="05000000000000000000" charset="0"/>
              <a:buNone/>
            </a:pPr>
            <a:r>
              <a:rPr lang="en-IN" altLang="en-US" sz="2000" b="1" dirty="0">
                <a:solidFill>
                  <a:srgbClr val="002060"/>
                </a:solidFill>
                <a:latin typeface="Arial" panose="020B0604020202020204" pitchFamily="34" charset="0"/>
                <a:cs typeface="Arial" panose="020B0604020202020204" pitchFamily="34" charset="0"/>
                <a:sym typeface="+mn-ea"/>
              </a:rPr>
              <a:t>                          denoted by ∑* = {Ԑ, 0,1,00,01,10,11, 000,010,........}.</a:t>
            </a:r>
            <a:endParaRPr lang="en-IN" altLang="en-US" sz="2000" b="1" dirty="0">
              <a:solidFill>
                <a:srgbClr val="002060"/>
              </a:solidFill>
              <a:latin typeface="Arial" panose="020B0604020202020204" pitchFamily="34" charset="0"/>
              <a:cs typeface="Arial" panose="020B0604020202020204" pitchFamily="34" charset="0"/>
              <a:sym typeface="+mn-ea"/>
            </a:endParaRPr>
          </a:p>
          <a:p>
            <a:pPr marL="0" lvl="2" indent="0">
              <a:buFont typeface="Wingdings" panose="05000000000000000000" charset="0"/>
              <a:buNone/>
            </a:pPr>
            <a:r>
              <a:rPr lang="en-IN" altLang="en-US" sz="2000" b="1" dirty="0">
                <a:solidFill>
                  <a:srgbClr val="002060"/>
                </a:solidFill>
                <a:latin typeface="Arial" panose="020B0604020202020204" pitchFamily="34" charset="0"/>
                <a:cs typeface="Arial" panose="020B0604020202020204" pitchFamily="34" charset="0"/>
                <a:sym typeface="+mn-ea"/>
              </a:rPr>
              <a:t>                          This can also be denoted as follows</a:t>
            </a:r>
            <a:endParaRPr lang="en-IN" altLang="en-US" sz="2000" b="1" dirty="0">
              <a:solidFill>
                <a:srgbClr val="002060"/>
              </a:solidFill>
              <a:latin typeface="Arial" panose="020B0604020202020204" pitchFamily="34" charset="0"/>
              <a:cs typeface="Arial" panose="020B0604020202020204" pitchFamily="34" charset="0"/>
              <a:sym typeface="+mn-ea"/>
            </a:endParaRPr>
          </a:p>
          <a:p>
            <a:pPr marL="0" lvl="2" indent="0">
              <a:buFont typeface="Wingdings" panose="05000000000000000000" charset="0"/>
              <a:buNone/>
            </a:pPr>
            <a:r>
              <a:rPr lang="en-IN" altLang="en-US" sz="2000" b="1" dirty="0">
                <a:solidFill>
                  <a:srgbClr val="002060"/>
                </a:solidFill>
                <a:latin typeface="Arial" panose="020B0604020202020204" pitchFamily="34" charset="0"/>
                <a:cs typeface="Arial" panose="020B0604020202020204" pitchFamily="34" charset="0"/>
                <a:sym typeface="+mn-ea"/>
              </a:rPr>
              <a:t>                           ∑* = ∑</a:t>
            </a:r>
            <a:r>
              <a:rPr lang="en-IN" altLang="en-US" sz="2000" b="1" baseline="30000" dirty="0">
                <a:solidFill>
                  <a:srgbClr val="002060"/>
                </a:solidFill>
                <a:latin typeface="Arial" panose="020B0604020202020204" pitchFamily="34" charset="0"/>
                <a:cs typeface="Arial" panose="020B0604020202020204" pitchFamily="34" charset="0"/>
                <a:sym typeface="+mn-ea"/>
              </a:rPr>
              <a:t>0</a:t>
            </a:r>
            <a:r>
              <a:rPr lang="en-IN" altLang="en-US" sz="2000" b="1" dirty="0">
                <a:solidFill>
                  <a:srgbClr val="002060"/>
                </a:solidFill>
                <a:latin typeface="Arial" panose="020B0604020202020204" pitchFamily="34" charset="0"/>
                <a:cs typeface="Arial" panose="020B0604020202020204" pitchFamily="34" charset="0"/>
                <a:sym typeface="+mn-ea"/>
              </a:rPr>
              <a:t> Ụ ∑</a:t>
            </a:r>
            <a:r>
              <a:rPr lang="en-IN" altLang="en-US" sz="2000" b="1" baseline="30000" dirty="0">
                <a:solidFill>
                  <a:srgbClr val="002060"/>
                </a:solidFill>
                <a:latin typeface="Arial" panose="020B0604020202020204" pitchFamily="34" charset="0"/>
                <a:cs typeface="Arial" panose="020B0604020202020204" pitchFamily="34" charset="0"/>
                <a:sym typeface="+mn-ea"/>
              </a:rPr>
              <a:t>1</a:t>
            </a:r>
            <a:r>
              <a:rPr lang="en-IN" altLang="en-US" sz="2000" b="1" dirty="0">
                <a:solidFill>
                  <a:srgbClr val="002060"/>
                </a:solidFill>
                <a:latin typeface="Arial" panose="020B0604020202020204" pitchFamily="34" charset="0"/>
                <a:cs typeface="Arial" panose="020B0604020202020204" pitchFamily="34" charset="0"/>
                <a:sym typeface="+mn-ea"/>
              </a:rPr>
              <a:t> Ụ ∑</a:t>
            </a:r>
            <a:r>
              <a:rPr lang="en-IN" altLang="en-US" sz="2000" b="1" baseline="30000" dirty="0">
                <a:solidFill>
                  <a:srgbClr val="002060"/>
                </a:solidFill>
                <a:latin typeface="Arial" panose="020B0604020202020204" pitchFamily="34" charset="0"/>
                <a:cs typeface="Arial" panose="020B0604020202020204" pitchFamily="34" charset="0"/>
                <a:sym typeface="+mn-ea"/>
              </a:rPr>
              <a:t>2</a:t>
            </a:r>
            <a:r>
              <a:rPr lang="en-IN" altLang="en-US" sz="2000" b="1" dirty="0">
                <a:solidFill>
                  <a:srgbClr val="002060"/>
                </a:solidFill>
                <a:latin typeface="Arial" panose="020B0604020202020204" pitchFamily="34" charset="0"/>
                <a:cs typeface="Arial" panose="020B0604020202020204" pitchFamily="34" charset="0"/>
                <a:sym typeface="+mn-ea"/>
              </a:rPr>
              <a:t> Ụ ∑</a:t>
            </a:r>
            <a:r>
              <a:rPr lang="en-IN" altLang="en-US" sz="2000" b="1" baseline="30000" dirty="0">
                <a:solidFill>
                  <a:srgbClr val="002060"/>
                </a:solidFill>
                <a:latin typeface="Arial" panose="020B0604020202020204" pitchFamily="34" charset="0"/>
                <a:cs typeface="Arial" panose="020B0604020202020204" pitchFamily="34" charset="0"/>
                <a:sym typeface="+mn-ea"/>
              </a:rPr>
              <a:t>3 </a:t>
            </a:r>
            <a:r>
              <a:rPr lang="en-IN" altLang="en-US" sz="2000" b="1" dirty="0">
                <a:solidFill>
                  <a:srgbClr val="002060"/>
                </a:solidFill>
                <a:latin typeface="Arial" panose="020B0604020202020204" pitchFamily="34" charset="0"/>
                <a:cs typeface="Arial" panose="020B0604020202020204" pitchFamily="34" charset="0"/>
                <a:sym typeface="+mn-ea"/>
              </a:rPr>
              <a:t>Ụ.............</a:t>
            </a:r>
            <a:endParaRPr lang="en-IN" altLang="en-US" sz="2000" b="1" dirty="0">
              <a:solidFill>
                <a:srgbClr val="002060"/>
              </a:solidFill>
              <a:latin typeface="Arial" panose="020B0604020202020204" pitchFamily="34" charset="0"/>
              <a:cs typeface="Arial" panose="020B0604020202020204" pitchFamily="34" charset="0"/>
              <a:sym typeface="+mn-ea"/>
            </a:endParaRPr>
          </a:p>
          <a:p>
            <a:pPr marL="0" lvl="2" indent="0">
              <a:buFont typeface="Wingdings" panose="05000000000000000000" charset="0"/>
              <a:buNone/>
            </a:pPr>
            <a:r>
              <a:rPr lang="en-IN" altLang="en-US" sz="2000" b="1" dirty="0">
                <a:solidFill>
                  <a:srgbClr val="002060"/>
                </a:solidFill>
                <a:latin typeface="Arial" panose="020B0604020202020204" pitchFamily="34" charset="0"/>
                <a:cs typeface="Arial" panose="020B0604020202020204" pitchFamily="34" charset="0"/>
                <a:sym typeface="+mn-ea"/>
              </a:rPr>
              <a:t>                      4. ∑</a:t>
            </a:r>
            <a:r>
              <a:rPr lang="en-IN" altLang="en-US" sz="2000" b="1" baseline="30000" dirty="0">
                <a:solidFill>
                  <a:srgbClr val="002060"/>
                </a:solidFill>
                <a:latin typeface="Arial" panose="020B0604020202020204" pitchFamily="34" charset="0"/>
                <a:cs typeface="Arial" panose="020B0604020202020204" pitchFamily="34" charset="0"/>
                <a:sym typeface="+mn-ea"/>
              </a:rPr>
              <a:t>+</a:t>
            </a:r>
            <a:r>
              <a:rPr lang="en-IN" altLang="en-US" sz="2000" b="1" dirty="0">
                <a:solidFill>
                  <a:srgbClr val="002060"/>
                </a:solidFill>
                <a:latin typeface="Arial" panose="020B0604020202020204" pitchFamily="34" charset="0"/>
                <a:cs typeface="Arial" panose="020B0604020202020204" pitchFamily="34" charset="0"/>
                <a:sym typeface="+mn-ea"/>
              </a:rPr>
              <a:t> =  ∑</a:t>
            </a:r>
            <a:r>
              <a:rPr lang="en-IN" altLang="en-US" sz="2000" b="1" baseline="30000" dirty="0">
                <a:solidFill>
                  <a:srgbClr val="002060"/>
                </a:solidFill>
                <a:latin typeface="Arial" panose="020B0604020202020204" pitchFamily="34" charset="0"/>
                <a:cs typeface="Arial" panose="020B0604020202020204" pitchFamily="34" charset="0"/>
                <a:sym typeface="+mn-ea"/>
              </a:rPr>
              <a:t>1</a:t>
            </a:r>
            <a:r>
              <a:rPr lang="en-IN" altLang="en-US" sz="2000" b="1" dirty="0">
                <a:solidFill>
                  <a:srgbClr val="002060"/>
                </a:solidFill>
                <a:latin typeface="Arial" panose="020B0604020202020204" pitchFamily="34" charset="0"/>
                <a:cs typeface="Arial" panose="020B0604020202020204" pitchFamily="34" charset="0"/>
                <a:sym typeface="+mn-ea"/>
              </a:rPr>
              <a:t> Ụ ∑</a:t>
            </a:r>
            <a:r>
              <a:rPr lang="en-IN" altLang="en-US" sz="2000" b="1" baseline="30000" dirty="0">
                <a:solidFill>
                  <a:srgbClr val="002060"/>
                </a:solidFill>
                <a:latin typeface="Arial" panose="020B0604020202020204" pitchFamily="34" charset="0"/>
                <a:cs typeface="Arial" panose="020B0604020202020204" pitchFamily="34" charset="0"/>
                <a:sym typeface="+mn-ea"/>
              </a:rPr>
              <a:t>2</a:t>
            </a:r>
            <a:r>
              <a:rPr lang="en-IN" altLang="en-US" sz="2000" b="1" dirty="0">
                <a:solidFill>
                  <a:srgbClr val="002060"/>
                </a:solidFill>
                <a:latin typeface="Arial" panose="020B0604020202020204" pitchFamily="34" charset="0"/>
                <a:cs typeface="Arial" panose="020B0604020202020204" pitchFamily="34" charset="0"/>
                <a:sym typeface="+mn-ea"/>
              </a:rPr>
              <a:t> Ụ ∑</a:t>
            </a:r>
            <a:r>
              <a:rPr lang="en-IN" altLang="en-US" sz="2000" b="1" baseline="30000" dirty="0">
                <a:solidFill>
                  <a:srgbClr val="002060"/>
                </a:solidFill>
                <a:latin typeface="Arial" panose="020B0604020202020204" pitchFamily="34" charset="0"/>
                <a:cs typeface="Arial" panose="020B0604020202020204" pitchFamily="34" charset="0"/>
                <a:sym typeface="+mn-ea"/>
              </a:rPr>
              <a:t>3 </a:t>
            </a:r>
            <a:r>
              <a:rPr lang="en-IN" altLang="en-US" sz="2000" b="1" dirty="0">
                <a:solidFill>
                  <a:srgbClr val="002060"/>
                </a:solidFill>
                <a:latin typeface="Arial" panose="020B0604020202020204" pitchFamily="34" charset="0"/>
                <a:cs typeface="Arial" panose="020B0604020202020204" pitchFamily="34" charset="0"/>
                <a:sym typeface="+mn-ea"/>
              </a:rPr>
              <a:t>Ụ.............     This excludes the    </a:t>
            </a:r>
            <a:endParaRPr lang="en-IN" altLang="en-US" sz="2000" b="1" dirty="0">
              <a:solidFill>
                <a:srgbClr val="002060"/>
              </a:solidFill>
              <a:latin typeface="Arial" panose="020B0604020202020204" pitchFamily="34" charset="0"/>
              <a:cs typeface="Arial" panose="020B0604020202020204" pitchFamily="34" charset="0"/>
              <a:sym typeface="+mn-ea"/>
            </a:endParaRPr>
          </a:p>
          <a:p>
            <a:pPr marL="0" lvl="2" indent="0">
              <a:buFont typeface="Wingdings" panose="05000000000000000000" charset="0"/>
              <a:buNone/>
            </a:pPr>
            <a:r>
              <a:rPr lang="en-IN" altLang="en-US" sz="2000" b="1" dirty="0">
                <a:solidFill>
                  <a:srgbClr val="002060"/>
                </a:solidFill>
                <a:latin typeface="Arial" panose="020B0604020202020204" pitchFamily="34" charset="0"/>
                <a:cs typeface="Arial" panose="020B0604020202020204" pitchFamily="34" charset="0"/>
                <a:sym typeface="+mn-ea"/>
              </a:rPr>
              <a:t>                          empty string - Ԑ</a:t>
            </a:r>
            <a:endParaRPr lang="en-IN" altLang="en-US" sz="2000" b="1" dirty="0">
              <a:solidFill>
                <a:srgbClr val="002060"/>
              </a:solidFill>
              <a:latin typeface="Arial" panose="020B0604020202020204" pitchFamily="34" charset="0"/>
              <a:cs typeface="Arial" panose="020B0604020202020204" pitchFamily="34" charset="0"/>
              <a:sym typeface="+mn-ea"/>
            </a:endParaRPr>
          </a:p>
          <a:p>
            <a:pPr marL="0" lvl="2" indent="0">
              <a:buFont typeface="Wingdings" panose="05000000000000000000" charset="0"/>
              <a:buNone/>
            </a:pPr>
            <a:r>
              <a:rPr lang="en-IN" altLang="en-US" sz="2000" b="1" dirty="0">
                <a:solidFill>
                  <a:srgbClr val="002060"/>
                </a:solidFill>
                <a:latin typeface="Arial" panose="020B0604020202020204" pitchFamily="34" charset="0"/>
                <a:cs typeface="Arial" panose="020B0604020202020204" pitchFamily="34" charset="0"/>
                <a:sym typeface="+mn-ea"/>
              </a:rPr>
              <a:t>                      5. ∑* can also be written as - ∑* = ∑</a:t>
            </a:r>
            <a:r>
              <a:rPr lang="en-IN" altLang="en-US" sz="2000" b="1" baseline="30000" dirty="0">
                <a:solidFill>
                  <a:srgbClr val="002060"/>
                </a:solidFill>
                <a:latin typeface="Arial" panose="020B0604020202020204" pitchFamily="34" charset="0"/>
                <a:cs typeface="Arial" panose="020B0604020202020204" pitchFamily="34" charset="0"/>
                <a:sym typeface="+mn-ea"/>
              </a:rPr>
              <a:t>+</a:t>
            </a:r>
            <a:r>
              <a:rPr lang="en-IN" altLang="en-US" sz="2000" b="1" dirty="0">
                <a:solidFill>
                  <a:srgbClr val="002060"/>
                </a:solidFill>
                <a:latin typeface="Arial" panose="020B0604020202020204" pitchFamily="34" charset="0"/>
                <a:cs typeface="Arial" panose="020B0604020202020204" pitchFamily="34" charset="0"/>
                <a:sym typeface="+mn-ea"/>
              </a:rPr>
              <a:t> Ụ { Ԑ }</a:t>
            </a:r>
            <a:endParaRPr lang="en-IN" altLang="en-US" sz="2000" b="1" dirty="0">
              <a:solidFill>
                <a:srgbClr val="002060"/>
              </a:solidFill>
              <a:latin typeface="Arial" panose="020B0604020202020204" pitchFamily="34" charset="0"/>
              <a:cs typeface="Arial" panose="020B0604020202020204" pitchFamily="34" charset="0"/>
              <a:sym typeface="+mn-ea"/>
            </a:endParaRPr>
          </a:p>
          <a:p>
            <a:pPr marL="342900" lvl="2" indent="-342900">
              <a:buFont typeface="Wingdings" panose="05000000000000000000" charset="0"/>
              <a:buChar char="ü"/>
            </a:pPr>
            <a:endParaRPr lang="en-IN" altLang="en-US" b="1" dirty="0">
              <a:solidFill>
                <a:srgbClr val="002060"/>
              </a:solidFill>
              <a:latin typeface="Arial" panose="020B0604020202020204" pitchFamily="34" charset="0"/>
              <a:cs typeface="Arial" panose="020B0604020202020204" pitchFamily="34" charset="0"/>
              <a:sym typeface="+mn-ea"/>
            </a:endParaRPr>
          </a:p>
          <a:p>
            <a:pPr marL="914400" lvl="2" indent="0">
              <a:buNone/>
            </a:pPr>
            <a:endParaRPr lang="en-IN" altLang="en-US" sz="2800" b="1">
              <a:solidFill>
                <a:srgbClr val="FF0000"/>
              </a:solidFill>
            </a:endParaRPr>
          </a:p>
        </p:txBody>
      </p:sp>
      <p:sp>
        <p:nvSpPr>
          <p:cNvPr id="2" name="Footer Placeholder 1"/>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57200" y="609600"/>
            <a:ext cx="8270240" cy="5985510"/>
          </a:xfrm>
        </p:spPr>
        <p:txBody>
          <a:bodyPr/>
          <a:p>
            <a:pPr marL="0" indent="0">
              <a:buNone/>
            </a:pPr>
            <a:endParaRPr lang="en-IN" altLang="en-US"/>
          </a:p>
          <a:p>
            <a:pPr marL="363855" lvl="1" indent="0"/>
            <a:r>
              <a:rPr lang="en-IN" altLang="en-US" b="1">
                <a:solidFill>
                  <a:srgbClr val="FF0000"/>
                </a:solidFill>
                <a:sym typeface="+mn-ea"/>
              </a:rPr>
              <a:t> Concatenation of string - </a:t>
            </a:r>
            <a:r>
              <a:rPr lang="en-IN" altLang="en-US" dirty="0">
                <a:latin typeface="Arial" panose="020B0604020202020204" pitchFamily="34" charset="0"/>
                <a:cs typeface="Arial" panose="020B0604020202020204" pitchFamily="34" charset="0"/>
                <a:sym typeface="+mn-ea"/>
              </a:rPr>
              <a:t>Let </a:t>
            </a:r>
            <a:r>
              <a:rPr lang="en-IN" altLang="en-US" b="1" dirty="0">
                <a:solidFill>
                  <a:srgbClr val="FF0000"/>
                </a:solidFill>
                <a:latin typeface="Arial" panose="020B0604020202020204" pitchFamily="34" charset="0"/>
                <a:cs typeface="Arial" panose="020B0604020202020204" pitchFamily="34" charset="0"/>
                <a:sym typeface="+mn-ea"/>
              </a:rPr>
              <a:t>x</a:t>
            </a:r>
            <a:r>
              <a:rPr lang="en-IN" altLang="en-US" dirty="0">
                <a:latin typeface="Arial" panose="020B0604020202020204" pitchFamily="34" charset="0"/>
                <a:cs typeface="Arial" panose="020B0604020202020204" pitchFamily="34" charset="0"/>
                <a:sym typeface="+mn-ea"/>
              </a:rPr>
              <a:t> and </a:t>
            </a:r>
            <a:r>
              <a:rPr lang="en-IN" altLang="en-US" b="1" dirty="0">
                <a:solidFill>
                  <a:srgbClr val="FF0000"/>
                </a:solidFill>
                <a:latin typeface="Arial" panose="020B0604020202020204" pitchFamily="34" charset="0"/>
                <a:cs typeface="Arial" panose="020B0604020202020204" pitchFamily="34" charset="0"/>
                <a:sym typeface="+mn-ea"/>
              </a:rPr>
              <a:t>y</a:t>
            </a:r>
            <a:r>
              <a:rPr lang="en-IN" altLang="en-US" dirty="0">
                <a:latin typeface="Arial" panose="020B0604020202020204" pitchFamily="34" charset="0"/>
                <a:cs typeface="Arial" panose="020B0604020202020204" pitchFamily="34" charset="0"/>
                <a:sym typeface="+mn-ea"/>
              </a:rPr>
              <a:t> be </a:t>
            </a:r>
            <a:r>
              <a:rPr lang="en-IN" altLang="en-US" b="1" dirty="0">
                <a:solidFill>
                  <a:srgbClr val="FF0000"/>
                </a:solidFill>
                <a:latin typeface="Arial" panose="020B0604020202020204" pitchFamily="34" charset="0"/>
                <a:cs typeface="Arial" panose="020B0604020202020204" pitchFamily="34" charset="0"/>
                <a:sym typeface="+mn-ea"/>
              </a:rPr>
              <a:t>strings</a:t>
            </a:r>
            <a:r>
              <a:rPr lang="en-IN" altLang="en-US" dirty="0">
                <a:latin typeface="Arial" panose="020B0604020202020204" pitchFamily="34" charset="0"/>
                <a:cs typeface="Arial" panose="020B0604020202020204" pitchFamily="34" charset="0"/>
                <a:sym typeface="+mn-ea"/>
              </a:rPr>
              <a:t>. Then </a:t>
            </a:r>
            <a:r>
              <a:rPr lang="en-IN" altLang="en-US" b="1" dirty="0">
                <a:solidFill>
                  <a:srgbClr val="FF0000"/>
                </a:solidFill>
                <a:latin typeface="Arial" panose="020B0604020202020204" pitchFamily="34" charset="0"/>
                <a:cs typeface="Arial" panose="020B0604020202020204" pitchFamily="34" charset="0"/>
                <a:sym typeface="+mn-ea"/>
              </a:rPr>
              <a:t>xy </a:t>
            </a:r>
            <a:r>
              <a:rPr lang="en-IN" altLang="en-US" dirty="0">
                <a:latin typeface="Arial" panose="020B0604020202020204" pitchFamily="34" charset="0"/>
                <a:cs typeface="Arial" panose="020B0604020202020204" pitchFamily="34" charset="0"/>
                <a:sym typeface="+mn-ea"/>
              </a:rPr>
              <a:t>denotes the </a:t>
            </a:r>
            <a:r>
              <a:rPr lang="en-IN" altLang="en-US" b="1" dirty="0">
                <a:solidFill>
                  <a:srgbClr val="FF0000"/>
                </a:solidFill>
                <a:latin typeface="Arial" panose="020B0604020202020204" pitchFamily="34" charset="0"/>
                <a:cs typeface="Arial" panose="020B0604020202020204" pitchFamily="34" charset="0"/>
                <a:sym typeface="+mn-ea"/>
              </a:rPr>
              <a:t>concatenation </a:t>
            </a:r>
            <a:r>
              <a:rPr lang="en-IN" altLang="en-US" dirty="0">
                <a:latin typeface="Arial" panose="020B0604020202020204" pitchFamily="34" charset="0"/>
                <a:cs typeface="Arial" panose="020B0604020202020204" pitchFamily="34" charset="0"/>
                <a:sym typeface="+mn-ea"/>
              </a:rPr>
              <a:t>of </a:t>
            </a:r>
            <a:r>
              <a:rPr lang="en-IN" altLang="en-US" b="1" dirty="0">
                <a:solidFill>
                  <a:srgbClr val="FF0000"/>
                </a:solidFill>
                <a:latin typeface="Arial" panose="020B0604020202020204" pitchFamily="34" charset="0"/>
                <a:cs typeface="Arial" panose="020B0604020202020204" pitchFamily="34" charset="0"/>
                <a:sym typeface="+mn-ea"/>
              </a:rPr>
              <a:t>string x</a:t>
            </a:r>
            <a:r>
              <a:rPr lang="en-IN" altLang="en-US" dirty="0">
                <a:latin typeface="Arial" panose="020B0604020202020204" pitchFamily="34" charset="0"/>
                <a:cs typeface="Arial" panose="020B0604020202020204" pitchFamily="34" charset="0"/>
                <a:sym typeface="+mn-ea"/>
              </a:rPr>
              <a:t> and </a:t>
            </a:r>
            <a:r>
              <a:rPr lang="en-IN" altLang="en-US" b="1" dirty="0">
                <a:solidFill>
                  <a:srgbClr val="FF0000"/>
                </a:solidFill>
                <a:latin typeface="Arial" panose="020B0604020202020204" pitchFamily="34" charset="0"/>
                <a:cs typeface="Arial" panose="020B0604020202020204" pitchFamily="34" charset="0"/>
                <a:sym typeface="+mn-ea"/>
              </a:rPr>
              <a:t>y</a:t>
            </a:r>
            <a:r>
              <a:rPr lang="en-IN" altLang="en-US" dirty="0">
                <a:latin typeface="Arial" panose="020B0604020202020204" pitchFamily="34" charset="0"/>
                <a:cs typeface="Arial" panose="020B0604020202020204" pitchFamily="34" charset="0"/>
                <a:sym typeface="+mn-ea"/>
              </a:rPr>
              <a:t>, that is </a:t>
            </a:r>
            <a:r>
              <a:rPr lang="en-IN" altLang="en-US" b="1" dirty="0">
                <a:solidFill>
                  <a:srgbClr val="FF0000"/>
                </a:solidFill>
                <a:latin typeface="Arial" panose="020B0604020202020204" pitchFamily="34" charset="0"/>
                <a:cs typeface="Arial" panose="020B0604020202020204" pitchFamily="34" charset="0"/>
                <a:sym typeface="+mn-ea"/>
              </a:rPr>
              <a:t>string formed</a:t>
            </a:r>
            <a:r>
              <a:rPr lang="en-IN" altLang="en-US" dirty="0">
                <a:latin typeface="Arial" panose="020B0604020202020204" pitchFamily="34" charset="0"/>
                <a:cs typeface="Arial" panose="020B0604020202020204" pitchFamily="34" charset="0"/>
                <a:sym typeface="+mn-ea"/>
              </a:rPr>
              <a:t> by making a</a:t>
            </a:r>
            <a:r>
              <a:rPr lang="en-IN" altLang="en-US" b="1" dirty="0">
                <a:solidFill>
                  <a:srgbClr val="FF0000"/>
                </a:solidFill>
                <a:latin typeface="Arial" panose="020B0604020202020204" pitchFamily="34" charset="0"/>
                <a:cs typeface="Arial" panose="020B0604020202020204" pitchFamily="34" charset="0"/>
                <a:sym typeface="+mn-ea"/>
              </a:rPr>
              <a:t> copy of x</a:t>
            </a:r>
            <a:r>
              <a:rPr lang="en-IN" altLang="en-US" dirty="0">
                <a:latin typeface="Arial" panose="020B0604020202020204" pitchFamily="34" charset="0"/>
                <a:cs typeface="Arial" panose="020B0604020202020204" pitchFamily="34" charset="0"/>
                <a:sym typeface="+mn-ea"/>
              </a:rPr>
              <a:t> and followed by</a:t>
            </a:r>
            <a:r>
              <a:rPr lang="en-IN" altLang="en-US" b="1" dirty="0">
                <a:solidFill>
                  <a:srgbClr val="FF0000"/>
                </a:solidFill>
                <a:latin typeface="Arial" panose="020B0604020202020204" pitchFamily="34" charset="0"/>
                <a:cs typeface="Arial" panose="020B0604020202020204" pitchFamily="34" charset="0"/>
                <a:sym typeface="+mn-ea"/>
              </a:rPr>
              <a:t> copy of y</a:t>
            </a:r>
            <a:r>
              <a:rPr lang="en-IN" altLang="en-US" dirty="0">
                <a:latin typeface="Arial" panose="020B0604020202020204" pitchFamily="34" charset="0"/>
                <a:cs typeface="Arial" panose="020B0604020202020204" pitchFamily="34" charset="0"/>
                <a:sym typeface="+mn-ea"/>
              </a:rPr>
              <a:t>.</a:t>
            </a:r>
            <a:endParaRPr lang="en-IN" altLang="en-US" dirty="0">
              <a:latin typeface="Arial" panose="020B0604020202020204" pitchFamily="34" charset="0"/>
              <a:cs typeface="Arial" panose="020B0604020202020204" pitchFamily="34" charset="0"/>
              <a:sym typeface="+mn-ea"/>
            </a:endParaRPr>
          </a:p>
          <a:p>
            <a:pPr marL="821055" lvl="2" indent="0">
              <a:buNone/>
            </a:pPr>
            <a:r>
              <a:rPr lang="en-IN" altLang="en-US" sz="2000" b="1" dirty="0">
                <a:solidFill>
                  <a:srgbClr val="002060"/>
                </a:solidFill>
                <a:latin typeface="Arial" panose="020B0604020202020204" pitchFamily="34" charset="0"/>
                <a:cs typeface="Arial" panose="020B0604020202020204" pitchFamily="34" charset="0"/>
              </a:rPr>
              <a:t>Ex-1. Let x = 1101 and y = 0001.Then xy = 11010001</a:t>
            </a:r>
            <a:endParaRPr lang="en-IN" altLang="en-US"/>
          </a:p>
          <a:p>
            <a:r>
              <a:rPr lang="en-IN" altLang="en-US" b="1">
                <a:solidFill>
                  <a:srgbClr val="00B0F0"/>
                </a:solidFill>
              </a:rPr>
              <a:t>Languages </a:t>
            </a:r>
            <a:endParaRPr lang="en-IN" altLang="en-US" b="1">
              <a:solidFill>
                <a:srgbClr val="00B0F0"/>
              </a:solidFill>
            </a:endParaRPr>
          </a:p>
          <a:p>
            <a:pPr lvl="1"/>
            <a:r>
              <a:rPr lang="en-IN" altLang="en-US" dirty="0">
                <a:latin typeface="Arial" panose="020B0604020202020204" pitchFamily="34" charset="0"/>
                <a:cs typeface="Arial" panose="020B0604020202020204" pitchFamily="34" charset="0"/>
              </a:rPr>
              <a:t>A set of strings all of which are choosen from ∑*, where ∑ is a perticluar alphabet is called a </a:t>
            </a:r>
            <a:r>
              <a:rPr lang="en-IN" altLang="en-US" sz="3200" b="1">
                <a:solidFill>
                  <a:srgbClr val="00B0F0"/>
                </a:solidFill>
              </a:rPr>
              <a:t>Language</a:t>
            </a:r>
            <a:r>
              <a:rPr lang="en-IN" altLang="en-US" dirty="0">
                <a:latin typeface="Arial" panose="020B0604020202020204" pitchFamily="34" charset="0"/>
                <a:cs typeface="Arial" panose="020B0604020202020204" pitchFamily="34" charset="0"/>
              </a:rPr>
              <a:t>. If </a:t>
            </a:r>
            <a:r>
              <a:rPr lang="en-IN" altLang="en-US" dirty="0">
                <a:latin typeface="Arial" panose="020B0604020202020204" pitchFamily="34" charset="0"/>
                <a:cs typeface="Arial" panose="020B0604020202020204" pitchFamily="34" charset="0"/>
                <a:sym typeface="+mn-ea"/>
              </a:rPr>
              <a:t>∑ is an alphabet and L ⊆ ∑*, then L is a </a:t>
            </a:r>
            <a:r>
              <a:rPr lang="en-IN" altLang="en-US" sz="3200" b="1">
                <a:solidFill>
                  <a:srgbClr val="00B0F0"/>
                </a:solidFill>
                <a:sym typeface="+mn-ea"/>
              </a:rPr>
              <a:t>language</a:t>
            </a:r>
            <a:r>
              <a:rPr lang="en-IN" altLang="en-US" dirty="0">
                <a:latin typeface="Arial" panose="020B0604020202020204" pitchFamily="34" charset="0"/>
                <a:cs typeface="Arial" panose="020B0604020202020204" pitchFamily="34" charset="0"/>
                <a:sym typeface="+mn-ea"/>
              </a:rPr>
              <a:t> over ∑. </a:t>
            </a:r>
            <a:endParaRPr lang="en-IN" altLang="en-US" dirty="0">
              <a:latin typeface="Arial" panose="020B0604020202020204" pitchFamily="34" charset="0"/>
              <a:cs typeface="Arial" panose="020B0604020202020204" pitchFamily="34" charset="0"/>
              <a:sym typeface="+mn-ea"/>
            </a:endParaRPr>
          </a:p>
          <a:p>
            <a:pPr lvl="2"/>
            <a:r>
              <a:rPr lang="en-IN" altLang="en-US" sz="2000" b="1" dirty="0">
                <a:solidFill>
                  <a:srgbClr val="002060"/>
                </a:solidFill>
                <a:latin typeface="Arial" panose="020B0604020202020204" pitchFamily="34" charset="0"/>
                <a:cs typeface="Arial" panose="020B0604020202020204" pitchFamily="34" charset="0"/>
                <a:sym typeface="+mn-ea"/>
              </a:rPr>
              <a:t>Note that the language over </a:t>
            </a:r>
            <a:r>
              <a:rPr lang="en-IN" altLang="en-US" sz="2000" b="1" dirty="0">
                <a:solidFill>
                  <a:srgbClr val="002060"/>
                </a:solidFill>
                <a:latin typeface="Arial" panose="020B0604020202020204" pitchFamily="34" charset="0"/>
                <a:cs typeface="Arial" panose="020B0604020202020204" pitchFamily="34" charset="0"/>
                <a:sym typeface="+mn-ea"/>
              </a:rPr>
              <a:t>∑ need not include strings with all the symbols of ∑</a:t>
            </a:r>
            <a:endParaRPr lang="en-IN" altLang="en-US" sz="2000" b="1" dirty="0">
              <a:solidFill>
                <a:srgbClr val="002060"/>
              </a:solidFill>
              <a:latin typeface="Arial" panose="020B0604020202020204" pitchFamily="34" charset="0"/>
              <a:cs typeface="Arial" panose="020B0604020202020204" pitchFamily="34" charset="0"/>
              <a:sym typeface="+mn-ea"/>
            </a:endParaRPr>
          </a:p>
        </p:txBody>
      </p:sp>
      <p:sp>
        <p:nvSpPr>
          <p:cNvPr id="2" name="Footer Placeholder 1"/>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46038"/>
            <a:ext cx="8229600" cy="1143000"/>
          </a:xfrm>
        </p:spPr>
        <p:txBody>
          <a:bodyPr/>
          <a:p>
            <a:pPr algn="l"/>
            <a:r>
              <a:rPr lang="en-IN" altLang="en-US" b="1" noProof="0" dirty="0" smtClean="0">
                <a:ln>
                  <a:noFill/>
                </a:ln>
                <a:solidFill>
                  <a:srgbClr val="FF0000"/>
                </a:solidFill>
                <a:effectLst/>
                <a:uLnTx/>
                <a:uFillTx/>
                <a:latin typeface="+mn-lt"/>
                <a:ea typeface="+mn-ea"/>
                <a:cs typeface="+mn-cs"/>
                <a:sym typeface="+mn-ea"/>
              </a:rPr>
              <a:t>Types of Automata</a:t>
            </a:r>
            <a:endParaRPr lang="en-IN" altLang="en-US" b="1" noProof="0" dirty="0" smtClean="0">
              <a:ln>
                <a:noFill/>
              </a:ln>
              <a:solidFill>
                <a:srgbClr val="FF0000"/>
              </a:solidFill>
              <a:effectLst/>
              <a:uLnTx/>
              <a:uFillTx/>
              <a:latin typeface="+mn-lt"/>
              <a:ea typeface="+mn-ea"/>
              <a:cs typeface="+mn-cs"/>
              <a:sym typeface="+mn-ea"/>
            </a:endParaRPr>
          </a:p>
        </p:txBody>
      </p:sp>
      <p:sp>
        <p:nvSpPr>
          <p:cNvPr id="3" name="Content Placeholder 2"/>
          <p:cNvSpPr>
            <a:spLocks noGrp="1"/>
          </p:cNvSpPr>
          <p:nvPr>
            <p:ph idx="1"/>
          </p:nvPr>
        </p:nvSpPr>
        <p:spPr>
          <a:xfrm>
            <a:off x="457200" y="1235075"/>
            <a:ext cx="8229600" cy="4891405"/>
          </a:xfrm>
        </p:spPr>
        <p:txBody>
          <a:bodyPr/>
          <a:p>
            <a:pPr algn="just"/>
            <a:r>
              <a:rPr lang="en-IN" altLang="en-US" sz="2800"/>
              <a:t>Depending on how  the </a:t>
            </a:r>
            <a:r>
              <a:rPr lang="en-IN" altLang="en-US" sz="2800" b="1">
                <a:solidFill>
                  <a:srgbClr val="00B0F0"/>
                </a:solidFill>
                <a:latin typeface="Arial" panose="020B0604020202020204" pitchFamily="34" charset="0"/>
                <a:sym typeface="+mn-ea"/>
              </a:rPr>
              <a:t>Transision function -   δ</a:t>
            </a:r>
            <a:r>
              <a:rPr lang="en-IN" altLang="en-US" sz="2800"/>
              <a:t> is defined there are two types of Autromata.</a:t>
            </a:r>
            <a:endParaRPr lang="en-IN" altLang="en-US" sz="2800"/>
          </a:p>
          <a:p>
            <a:pPr marL="0" indent="457200" algn="just">
              <a:buNone/>
            </a:pPr>
            <a:r>
              <a:rPr lang="en-IN" altLang="en-US" sz="2800"/>
              <a:t>1. </a:t>
            </a:r>
            <a:r>
              <a:rPr lang="en-IN" altLang="en-US" sz="2800" b="1">
                <a:solidFill>
                  <a:srgbClr val="00B0F0"/>
                </a:solidFill>
                <a:latin typeface="Arial" panose="020B0604020202020204" pitchFamily="34" charset="0"/>
              </a:rPr>
              <a:t>Determinstic Finite Automata :</a:t>
            </a:r>
            <a:r>
              <a:rPr lang="en-IN" altLang="en-US" sz="2800"/>
              <a:t> </a:t>
            </a:r>
            <a:endParaRPr lang="en-IN" altLang="en-US" sz="2800"/>
          </a:p>
          <a:p>
            <a:pPr marL="457200" lvl="1" indent="457200" algn="just">
              <a:buNone/>
            </a:pPr>
            <a:r>
              <a:rPr lang="en-IN" altLang="en-US" sz="2450"/>
              <a:t>A deteministric automata is one in which each move is uniquely determinined by the current configuaration. i.e A </a:t>
            </a:r>
            <a:r>
              <a:rPr lang="en-IN" altLang="en-US" sz="2450" b="1">
                <a:solidFill>
                  <a:srgbClr val="00B0F0"/>
                </a:solidFill>
                <a:latin typeface="Arial" panose="020B0604020202020204" pitchFamily="34" charset="0"/>
              </a:rPr>
              <a:t>finite automata</a:t>
            </a:r>
            <a:r>
              <a:rPr lang="en-IN" altLang="en-US" sz="2450"/>
              <a:t> is said to be </a:t>
            </a:r>
            <a:r>
              <a:rPr lang="en-IN" altLang="en-US" sz="2450" b="1">
                <a:solidFill>
                  <a:srgbClr val="00B0F0"/>
                </a:solidFill>
                <a:latin typeface="Arial" panose="020B0604020202020204" pitchFamily="34" charset="0"/>
              </a:rPr>
              <a:t>deterministic</a:t>
            </a:r>
            <a:r>
              <a:rPr lang="en-IN" altLang="en-US" sz="2450"/>
              <a:t> iff, for </a:t>
            </a:r>
            <a:r>
              <a:rPr lang="en-IN" altLang="en-US" sz="2450" b="1">
                <a:solidFill>
                  <a:srgbClr val="00B0F0"/>
                </a:solidFill>
                <a:latin typeface="Arial" panose="020B0604020202020204" pitchFamily="34" charset="0"/>
              </a:rPr>
              <a:t>any state ‘s’</a:t>
            </a:r>
            <a:r>
              <a:rPr lang="en-IN" altLang="en-US" sz="2450"/>
              <a:t> and for </a:t>
            </a:r>
            <a:r>
              <a:rPr lang="en-IN" altLang="en-US" sz="2450" b="1">
                <a:solidFill>
                  <a:srgbClr val="00B0F0"/>
                </a:solidFill>
                <a:latin typeface="Arial" panose="020B0604020202020204" pitchFamily="34" charset="0"/>
              </a:rPr>
              <a:t>any input symbol ‘a’</a:t>
            </a:r>
            <a:r>
              <a:rPr lang="en-IN" altLang="en-US" sz="2450"/>
              <a:t> the </a:t>
            </a:r>
            <a:r>
              <a:rPr lang="en-IN" altLang="en-US" sz="2450" b="1">
                <a:solidFill>
                  <a:srgbClr val="00B0F0"/>
                </a:solidFill>
                <a:latin typeface="Arial" panose="020B0604020202020204" pitchFamily="34" charset="0"/>
                <a:sym typeface="+mn-ea"/>
              </a:rPr>
              <a:t>Transision function -   δ</a:t>
            </a:r>
            <a:r>
              <a:rPr lang="en-IN" altLang="en-US" sz="2450">
                <a:sym typeface="+mn-ea"/>
              </a:rPr>
              <a:t> is uniquely defined. i.e next state can be easily determined</a:t>
            </a:r>
            <a:endParaRPr lang="en-IN" altLang="en-US" sz="2450"/>
          </a:p>
        </p:txBody>
      </p:sp>
      <p:sp>
        <p:nvSpPr>
          <p:cNvPr id="4" name="Footer Placeholder 3"/>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46038"/>
            <a:ext cx="8229600" cy="1143000"/>
          </a:xfrm>
        </p:spPr>
        <p:txBody>
          <a:bodyPr/>
          <a:p>
            <a:pPr algn="l"/>
            <a:r>
              <a:rPr lang="en-IN" altLang="en-US" b="1" noProof="0" dirty="0" smtClean="0">
                <a:ln>
                  <a:noFill/>
                </a:ln>
                <a:solidFill>
                  <a:srgbClr val="FF0000"/>
                </a:solidFill>
                <a:effectLst/>
                <a:uLnTx/>
                <a:uFillTx/>
                <a:latin typeface="+mn-lt"/>
                <a:ea typeface="+mn-ea"/>
                <a:cs typeface="+mn-cs"/>
                <a:sym typeface="+mn-ea"/>
              </a:rPr>
              <a:t>Types of Automata</a:t>
            </a:r>
            <a:endParaRPr lang="en-IN" altLang="en-US" b="1" noProof="0" dirty="0" smtClean="0">
              <a:ln>
                <a:noFill/>
              </a:ln>
              <a:solidFill>
                <a:srgbClr val="FF0000"/>
              </a:solidFill>
              <a:effectLst/>
              <a:uLnTx/>
              <a:uFillTx/>
              <a:latin typeface="+mn-lt"/>
              <a:ea typeface="+mn-ea"/>
              <a:cs typeface="+mn-cs"/>
              <a:sym typeface="+mn-ea"/>
            </a:endParaRPr>
          </a:p>
        </p:txBody>
      </p:sp>
      <p:sp>
        <p:nvSpPr>
          <p:cNvPr id="3" name="Content Placeholder 2"/>
          <p:cNvSpPr>
            <a:spLocks noGrp="1"/>
          </p:cNvSpPr>
          <p:nvPr>
            <p:ph idx="1"/>
          </p:nvPr>
        </p:nvSpPr>
        <p:spPr>
          <a:xfrm>
            <a:off x="457200" y="1235075"/>
            <a:ext cx="8229600" cy="4891405"/>
          </a:xfrm>
        </p:spPr>
        <p:txBody>
          <a:bodyPr/>
          <a:p>
            <a:pPr marL="0" indent="0">
              <a:buNone/>
            </a:pPr>
            <a:endParaRPr lang="en-IN" altLang="en-US" sz="2800"/>
          </a:p>
          <a:p>
            <a:pPr marL="0" indent="457200">
              <a:buNone/>
            </a:pPr>
            <a:r>
              <a:rPr lang="en-IN" altLang="en-US" sz="2800"/>
              <a:t>2. </a:t>
            </a:r>
            <a:r>
              <a:rPr lang="en-IN" altLang="en-US" sz="2800" b="1">
                <a:solidFill>
                  <a:srgbClr val="00B0F0"/>
                </a:solidFill>
                <a:latin typeface="Arial" panose="020B0604020202020204" pitchFamily="34" charset="0"/>
              </a:rPr>
              <a:t>Non Determinstic Finite Automata :</a:t>
            </a:r>
            <a:endParaRPr lang="en-IN" altLang="en-US" sz="2800" b="1">
              <a:solidFill>
                <a:srgbClr val="00B0F0"/>
              </a:solidFill>
              <a:latin typeface="Arial" panose="020B0604020202020204" pitchFamily="34" charset="0"/>
            </a:endParaRPr>
          </a:p>
          <a:p>
            <a:pPr marL="0" indent="457200" algn="just">
              <a:buNone/>
            </a:pPr>
            <a:r>
              <a:rPr lang="en-IN" altLang="en-US" sz="2800" b="1">
                <a:solidFill>
                  <a:srgbClr val="00B0F0"/>
                </a:solidFill>
                <a:latin typeface="Arial" panose="020B0604020202020204" pitchFamily="34" charset="0"/>
              </a:rPr>
              <a:t> </a:t>
            </a:r>
            <a:r>
              <a:rPr lang="en-IN" altLang="en-US" sz="2800"/>
              <a:t>A </a:t>
            </a:r>
            <a:r>
              <a:rPr lang="en-IN" altLang="en-US" sz="2800" b="1">
                <a:solidFill>
                  <a:srgbClr val="00B0F0"/>
                </a:solidFill>
                <a:latin typeface="Arial" panose="020B0604020202020204" pitchFamily="34" charset="0"/>
              </a:rPr>
              <a:t>non deteministric automata</a:t>
            </a:r>
            <a:r>
              <a:rPr lang="en-IN" altLang="en-US" sz="2800"/>
              <a:t> is one in which each move is not uniquely determinined by the current configuaration. i.e A </a:t>
            </a:r>
            <a:r>
              <a:rPr lang="en-IN" altLang="en-US" sz="2800" b="1">
                <a:solidFill>
                  <a:srgbClr val="00B0F0"/>
                </a:solidFill>
                <a:latin typeface="Arial" panose="020B0604020202020204" pitchFamily="34" charset="0"/>
              </a:rPr>
              <a:t>finite automata</a:t>
            </a:r>
            <a:r>
              <a:rPr lang="en-IN" altLang="en-US" sz="2800"/>
              <a:t> is said to be </a:t>
            </a:r>
            <a:r>
              <a:rPr lang="en-IN" altLang="en-US" sz="2800" b="1">
                <a:solidFill>
                  <a:srgbClr val="00B0F0"/>
                </a:solidFill>
                <a:latin typeface="Arial" panose="020B0604020202020204" pitchFamily="34" charset="0"/>
              </a:rPr>
              <a:t>non</a:t>
            </a:r>
            <a:r>
              <a:rPr lang="en-IN" altLang="en-US" sz="2800"/>
              <a:t> </a:t>
            </a:r>
            <a:r>
              <a:rPr lang="en-IN" altLang="en-US" sz="2800" b="1">
                <a:solidFill>
                  <a:srgbClr val="00B0F0"/>
                </a:solidFill>
                <a:latin typeface="Arial" panose="020B0604020202020204" pitchFamily="34" charset="0"/>
              </a:rPr>
              <a:t>deterministic</a:t>
            </a:r>
            <a:r>
              <a:rPr lang="en-IN" altLang="en-US" sz="2800"/>
              <a:t> iff, for </a:t>
            </a:r>
            <a:r>
              <a:rPr lang="en-IN" altLang="en-US" sz="2800" b="1">
                <a:solidFill>
                  <a:srgbClr val="00B0F0"/>
                </a:solidFill>
                <a:latin typeface="Arial" panose="020B0604020202020204" pitchFamily="34" charset="0"/>
              </a:rPr>
              <a:t>any state ‘s’</a:t>
            </a:r>
            <a:r>
              <a:rPr lang="en-IN" altLang="en-US" sz="2800"/>
              <a:t> and for </a:t>
            </a:r>
            <a:r>
              <a:rPr lang="en-IN" altLang="en-US" sz="2800" b="1">
                <a:solidFill>
                  <a:srgbClr val="00B0F0"/>
                </a:solidFill>
                <a:latin typeface="Arial" panose="020B0604020202020204" pitchFamily="34" charset="0"/>
              </a:rPr>
              <a:t>any input symbol ‘a’</a:t>
            </a:r>
            <a:r>
              <a:rPr lang="en-IN" altLang="en-US" sz="2800"/>
              <a:t> the </a:t>
            </a:r>
            <a:r>
              <a:rPr lang="en-IN" altLang="en-US" sz="2800" b="1">
                <a:solidFill>
                  <a:srgbClr val="00B0F0"/>
                </a:solidFill>
                <a:latin typeface="Arial" panose="020B0604020202020204" pitchFamily="34" charset="0"/>
                <a:sym typeface="+mn-ea"/>
              </a:rPr>
              <a:t>Transision function -   δ</a:t>
            </a:r>
            <a:r>
              <a:rPr lang="en-IN" altLang="en-US" sz="2800">
                <a:sym typeface="+mn-ea"/>
              </a:rPr>
              <a:t> is not uniquely defined. i.e next state cannot be easily determined.</a:t>
            </a:r>
            <a:endParaRPr lang="en-IN" altLang="en-US" sz="2800"/>
          </a:p>
        </p:txBody>
      </p:sp>
      <p:sp>
        <p:nvSpPr>
          <p:cNvPr id="4" name="Footer Placeholder 3"/>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endParaRPr lang="en-US"/>
          </a:p>
          <a:p>
            <a:endParaRPr lang="en-US"/>
          </a:p>
          <a:p>
            <a:endParaRPr lang="en-US"/>
          </a:p>
          <a:p>
            <a:r>
              <a:rPr lang="en-IN" altLang="en-US" sz="4000" b="1">
                <a:solidFill>
                  <a:srgbClr val="FF0000"/>
                </a:solidFill>
              </a:rPr>
              <a:t>DFA - Deterministic Finite Automata</a:t>
            </a:r>
            <a:endParaRPr lang="en-IN" altLang="en-US" sz="4000" b="1">
              <a:solidFill>
                <a:srgbClr val="FF0000"/>
              </a:solidFill>
            </a:endParaRPr>
          </a:p>
        </p:txBody>
      </p:sp>
      <p:sp>
        <p:nvSpPr>
          <p:cNvPr id="4" name="Footer Placeholder 3"/>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Title 1"/>
          <p:cNvSpPr>
            <a:spLocks noGrp="1"/>
          </p:cNvSpPr>
          <p:nvPr>
            <p:ph type="title"/>
          </p:nvPr>
        </p:nvSpPr>
        <p:spPr/>
        <p:txBody>
          <a:bodyPr vert="horz" wrap="square" lIns="91440" tIns="45720" rIns="91440" bIns="45720" anchor="ctr" anchorCtr="0"/>
          <a:p>
            <a:pPr eaLnBrk="1" hangingPunct="1"/>
            <a:r>
              <a:rPr lang="en-US" altLang="en-US" dirty="0"/>
              <a:t>Formal Definition</a:t>
            </a:r>
            <a:endParaRPr lang="en-US" altLang="en-US" dirty="0"/>
          </a:p>
        </p:txBody>
      </p:sp>
      <p:sp>
        <p:nvSpPr>
          <p:cNvPr id="3" name="Content Placeholder 2"/>
          <p:cNvSpPr>
            <a:spLocks noGrp="1"/>
          </p:cNvSpPr>
          <p:nvPr>
            <p:ph idx="1"/>
          </p:nvPr>
        </p:nvSpPr>
        <p:spPr/>
        <p:txBody>
          <a:bodyPr vert="horz" wrap="square" lIns="91440" tIns="45720" rIns="91440" bIns="45720" numCol="1" rtlCol="0" anchor="t" anchorCtr="0" compatLnSpc="1">
            <a:normAutofit fontScale="70000" lnSpcReduction="20000"/>
          </a:bodyPr>
          <a:lstStyle/>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The  Deterministic  Automata (DFA) is defined as 5-tuple or quintuple indicating five components:</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r>
              <a:rPr kumimoji="0" lang="en-IN" altLang="en-US" sz="3200" b="0" i="0" u="none" strike="noStrike" kern="1200" cap="none" spc="0" normalizeH="0" baseline="0" noProof="0" dirty="0" smtClean="0">
                <a:ln>
                  <a:noFill/>
                </a:ln>
                <a:solidFill>
                  <a:schemeClr val="tx1"/>
                </a:solidFill>
                <a:effectLst/>
                <a:uLnTx/>
                <a:uFillTx/>
                <a:latin typeface="+mn-lt"/>
                <a:ea typeface="+mn-ea"/>
                <a:cs typeface="+mn-cs"/>
              </a:rPr>
              <a:t>D </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 Q, ∑, </a:t>
            </a:r>
            <a:r>
              <a:rPr kumimoji="0" lang="el-GR" sz="3200" b="0" i="0" u="none" strike="noStrike" kern="1200" cap="none" spc="0" normalizeH="0" baseline="0" noProof="0" dirty="0" smtClean="0">
                <a:ln>
                  <a:noFill/>
                </a:ln>
                <a:solidFill>
                  <a:schemeClr val="tx1"/>
                </a:solidFill>
                <a:effectLst/>
                <a:uLnTx/>
                <a:uFillTx/>
                <a:latin typeface="+mn-lt"/>
                <a:ea typeface="+mn-ea"/>
                <a:cs typeface="+mn-cs"/>
              </a:rPr>
              <a:t>δ</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q</a:t>
            </a:r>
            <a:r>
              <a:rPr kumimoji="0" lang="en-US" sz="3200" b="0" i="0" u="none" strike="noStrike" kern="1200" cap="none" spc="0" normalizeH="0" baseline="-25000" noProof="0" dirty="0" smtClean="0">
                <a:ln>
                  <a:noFill/>
                </a:ln>
                <a:solidFill>
                  <a:schemeClr val="tx1"/>
                </a:solidFill>
                <a:effectLst/>
                <a:uLnTx/>
                <a:uFillTx/>
                <a:latin typeface="+mn-lt"/>
                <a:ea typeface="+mn-ea"/>
                <a:cs typeface="+mn-cs"/>
              </a:rPr>
              <a:t>0</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F}</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Where:</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1.Q is a finite set of states.</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2. ∑ is a finite set of input symbols.</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3. </a:t>
            </a:r>
            <a:r>
              <a:rPr kumimoji="0" lang="el-GR" sz="3200" b="0" i="0" u="none" strike="noStrike" kern="1200" cap="none" spc="0" normalizeH="0" baseline="0" noProof="0" dirty="0" smtClean="0">
                <a:ln>
                  <a:noFill/>
                </a:ln>
                <a:solidFill>
                  <a:schemeClr val="tx1"/>
                </a:solidFill>
                <a:effectLst/>
                <a:uLnTx/>
                <a:uFillTx/>
                <a:latin typeface="+mn-lt"/>
                <a:ea typeface="+mn-ea"/>
                <a:cs typeface="+mn-cs"/>
              </a:rPr>
              <a:t>δ</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is the transition function that takes a state     </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in Q  and an input symbol in ∑ as arguments   </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and returns  a state</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r>
              <a:rPr kumimoji="0" lang="el-GR" sz="3200" b="0" i="0" u="none" strike="noStrike" kern="1200" cap="none" spc="0" normalizeH="0" baseline="0" noProof="0" dirty="0" smtClean="0">
                <a:ln>
                  <a:noFill/>
                </a:ln>
                <a:solidFill>
                  <a:schemeClr val="tx1"/>
                </a:solidFill>
                <a:effectLst/>
                <a:uLnTx/>
                <a:uFillTx/>
                <a:latin typeface="+mn-lt"/>
                <a:ea typeface="+mn-ea"/>
                <a:cs typeface="+mn-cs"/>
              </a:rPr>
              <a:t>δ</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 Q x ∑ → Q            </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4. q</a:t>
            </a:r>
            <a:r>
              <a:rPr kumimoji="0" lang="en-US" sz="3200" b="0" i="0" u="none" strike="noStrike" kern="1200" cap="none" spc="0" normalizeH="0" baseline="-25000" noProof="0" dirty="0" smtClean="0">
                <a:ln>
                  <a:noFill/>
                </a:ln>
                <a:solidFill>
                  <a:schemeClr val="tx1"/>
                </a:solidFill>
                <a:effectLst/>
                <a:uLnTx/>
                <a:uFillTx/>
                <a:latin typeface="+mn-lt"/>
                <a:ea typeface="+mn-ea"/>
                <a:cs typeface="+mn-cs"/>
              </a:rPr>
              <a:t>0</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is the start state that belongs to Q</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5. F is a subset of Q, is the set of final (or accepting) states.</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2" name="Footer Placeholder 1"/>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457200" y="151765"/>
            <a:ext cx="8229600" cy="798830"/>
          </a:xfrm>
        </p:spPr>
        <p:txBody>
          <a:bodyPr vert="horz" wrap="square" lIns="91440" tIns="45720" rIns="91440" bIns="45720" anchor="ctr" anchorCtr="0"/>
          <a:p>
            <a:pPr algn="l" eaLnBrk="1" hangingPunct="1"/>
            <a:r>
              <a:rPr lang="en-US" altLang="en-US" b="1" dirty="0">
                <a:solidFill>
                  <a:srgbClr val="FF0000"/>
                </a:solidFill>
              </a:rPr>
              <a:t>Processing of strings by DFA</a:t>
            </a:r>
            <a:endParaRPr lang="en-US" altLang="en-US" b="1" dirty="0">
              <a:solidFill>
                <a:srgbClr val="FF0000"/>
              </a:solidFill>
            </a:endParaRPr>
          </a:p>
        </p:txBody>
      </p:sp>
      <p:sp>
        <p:nvSpPr>
          <p:cNvPr id="7171" name="Content Placeholder 2"/>
          <p:cNvSpPr>
            <a:spLocks noGrp="1"/>
          </p:cNvSpPr>
          <p:nvPr>
            <p:ph idx="1"/>
          </p:nvPr>
        </p:nvSpPr>
        <p:spPr>
          <a:xfrm>
            <a:off x="457200" y="914400"/>
            <a:ext cx="8229600" cy="5071110"/>
          </a:xfrm>
        </p:spPr>
        <p:txBody>
          <a:bodyPr vert="horz" wrap="square" lIns="91440" tIns="45720" rIns="91440" bIns="45720" anchor="t" anchorCtr="0"/>
          <a:p>
            <a:pPr algn="just" eaLnBrk="1" hangingPunct="1"/>
            <a:r>
              <a:rPr lang="en-US" altLang="en-US" sz="2800" dirty="0"/>
              <a:t>Suppose </a:t>
            </a:r>
            <a:r>
              <a:rPr lang="en-IN" altLang="en-US" sz="2800" b="1" dirty="0">
                <a:solidFill>
                  <a:srgbClr val="FF0000"/>
                </a:solidFill>
              </a:rPr>
              <a:t>w=</a:t>
            </a:r>
            <a:r>
              <a:rPr lang="en-US" altLang="en-US" sz="2800" b="1" dirty="0">
                <a:solidFill>
                  <a:srgbClr val="FF0000"/>
                </a:solidFill>
              </a:rPr>
              <a:t>a1,a2,….an</a:t>
            </a:r>
            <a:r>
              <a:rPr lang="en-US" altLang="en-US" sz="2800" dirty="0"/>
              <a:t> is the string to be processed  then DFA starts with </a:t>
            </a:r>
            <a:r>
              <a:rPr lang="en-US" altLang="en-US" sz="2800" b="1" dirty="0">
                <a:solidFill>
                  <a:srgbClr val="00B0F0"/>
                </a:solidFill>
              </a:rPr>
              <a:t>start state q0</a:t>
            </a:r>
            <a:r>
              <a:rPr lang="en-US" altLang="en-US" sz="2800" dirty="0"/>
              <a:t> and </a:t>
            </a:r>
            <a:r>
              <a:rPr lang="en-US" altLang="en-US" sz="2800" b="1" dirty="0">
                <a:solidFill>
                  <a:srgbClr val="FF0000"/>
                </a:solidFill>
              </a:rPr>
              <a:t>a1 the first character</a:t>
            </a:r>
            <a:r>
              <a:rPr lang="en-US" altLang="en-US" sz="2800" dirty="0"/>
              <a:t> and consults the </a:t>
            </a:r>
            <a:r>
              <a:rPr lang="en-US" altLang="en-US" sz="2800" b="1" dirty="0">
                <a:solidFill>
                  <a:srgbClr val="00B0F0"/>
                </a:solidFill>
              </a:rPr>
              <a:t>transition  function δ </a:t>
            </a:r>
            <a:r>
              <a:rPr lang="en-US" altLang="en-US" sz="2800" dirty="0"/>
              <a:t>to find the </a:t>
            </a:r>
            <a:r>
              <a:rPr lang="en-US" altLang="en-US" sz="2800" b="1" dirty="0">
                <a:solidFill>
                  <a:srgbClr val="FF0000"/>
                </a:solidFill>
              </a:rPr>
              <a:t>next state</a:t>
            </a:r>
            <a:r>
              <a:rPr lang="en-US" altLang="en-US" sz="2800" dirty="0"/>
              <a:t> that DFA stays after processing the </a:t>
            </a:r>
            <a:r>
              <a:rPr lang="en-US" altLang="en-US" sz="2800" b="1" dirty="0">
                <a:solidFill>
                  <a:srgbClr val="00B0F0"/>
                </a:solidFill>
              </a:rPr>
              <a:t>input symbol a1.</a:t>
            </a:r>
            <a:r>
              <a:rPr lang="en-US" altLang="en-US" sz="2800" dirty="0"/>
              <a:t> </a:t>
            </a:r>
            <a:endParaRPr lang="en-US" altLang="en-US" sz="2800" dirty="0"/>
          </a:p>
          <a:p>
            <a:pPr algn="just" eaLnBrk="1" hangingPunct="1"/>
            <a:r>
              <a:rPr lang="en-US" altLang="en-US" sz="2800" dirty="0"/>
              <a:t>This is continued for all the</a:t>
            </a:r>
            <a:r>
              <a:rPr lang="en-IN" altLang="en-US" sz="2800" dirty="0"/>
              <a:t> subsequent </a:t>
            </a:r>
            <a:r>
              <a:rPr lang="en-US" altLang="en-US" sz="2800" b="1" dirty="0">
                <a:solidFill>
                  <a:srgbClr val="00B0F0"/>
                </a:solidFill>
                <a:sym typeface="+mn-ea"/>
              </a:rPr>
              <a:t>input </a:t>
            </a:r>
            <a:r>
              <a:rPr lang="en-US" altLang="en-US" sz="2800" b="1" dirty="0">
                <a:solidFill>
                  <a:srgbClr val="00B0F0"/>
                </a:solidFill>
              </a:rPr>
              <a:t>characters</a:t>
            </a:r>
            <a:r>
              <a:rPr lang="en-IN" altLang="en-US" sz="2800" b="1" dirty="0">
                <a:solidFill>
                  <a:srgbClr val="00B0F0"/>
                </a:solidFill>
              </a:rPr>
              <a:t> from</a:t>
            </a:r>
            <a:r>
              <a:rPr lang="en-US" altLang="en-US" sz="2800" b="1" dirty="0">
                <a:solidFill>
                  <a:srgbClr val="00B0F0"/>
                </a:solidFill>
              </a:rPr>
              <a:t> a2,a3,....</a:t>
            </a:r>
            <a:r>
              <a:rPr lang="en-IN" altLang="en-US" sz="2800" b="1" dirty="0">
                <a:solidFill>
                  <a:srgbClr val="00B0F0"/>
                </a:solidFill>
              </a:rPr>
              <a:t>an</a:t>
            </a:r>
            <a:r>
              <a:rPr lang="en-US" altLang="en-US" sz="2800" b="1" dirty="0">
                <a:solidFill>
                  <a:srgbClr val="00B0F0"/>
                </a:solidFill>
              </a:rPr>
              <a:t>  </a:t>
            </a:r>
            <a:r>
              <a:rPr lang="en-US" altLang="en-US" sz="2800" dirty="0"/>
              <a:t> </a:t>
            </a:r>
            <a:r>
              <a:rPr lang="en-IN" altLang="en-US" sz="2800" dirty="0"/>
              <a:t> and current</a:t>
            </a:r>
            <a:r>
              <a:rPr lang="en-US" altLang="en-US" sz="2800" dirty="0"/>
              <a:t> state  </a:t>
            </a:r>
            <a:r>
              <a:rPr lang="en-IN" altLang="en-US" sz="2800" dirty="0"/>
              <a:t>to find next state by consulting </a:t>
            </a:r>
            <a:r>
              <a:rPr lang="en-US" altLang="en-US" sz="2800" b="1" dirty="0">
                <a:solidFill>
                  <a:srgbClr val="FF0000"/>
                </a:solidFill>
                <a:sym typeface="+mn-ea"/>
              </a:rPr>
              <a:t>transition  function δ </a:t>
            </a:r>
            <a:r>
              <a:rPr lang="en-US" altLang="en-US" sz="2800" dirty="0"/>
              <a:t>and finally  DFA stays in a </a:t>
            </a:r>
            <a:r>
              <a:rPr lang="en-IN" altLang="en-US" sz="2800" b="1" dirty="0">
                <a:solidFill>
                  <a:srgbClr val="00B0F0"/>
                </a:solidFill>
              </a:rPr>
              <a:t>state q.</a:t>
            </a:r>
            <a:endParaRPr lang="en-IN" altLang="en-US" sz="2800" dirty="0"/>
          </a:p>
          <a:p>
            <a:pPr algn="just" eaLnBrk="1" hangingPunct="1"/>
            <a:r>
              <a:rPr lang="en-US" altLang="en-US" sz="2800" dirty="0"/>
              <a:t> and if </a:t>
            </a:r>
            <a:r>
              <a:rPr lang="en-IN" altLang="en-US" sz="2800" dirty="0"/>
              <a:t>a </a:t>
            </a:r>
            <a:r>
              <a:rPr lang="en-IN" altLang="en-US" sz="2800" b="1" dirty="0">
                <a:solidFill>
                  <a:srgbClr val="00B0F0"/>
                </a:solidFill>
              </a:rPr>
              <a:t>state q </a:t>
            </a:r>
            <a:r>
              <a:rPr lang="en-US" altLang="en-US" sz="2800" dirty="0"/>
              <a:t>is a</a:t>
            </a:r>
            <a:r>
              <a:rPr lang="en-IN" altLang="en-US" sz="2800" b="1" dirty="0">
                <a:solidFill>
                  <a:srgbClr val="00B0F0"/>
                </a:solidFill>
              </a:rPr>
              <a:t> </a:t>
            </a:r>
            <a:r>
              <a:rPr lang="en-US" altLang="en-US" sz="2800" dirty="0"/>
              <a:t> </a:t>
            </a:r>
            <a:r>
              <a:rPr lang="en-US" altLang="en-US" sz="2800" b="1" dirty="0">
                <a:solidFill>
                  <a:srgbClr val="FF0000"/>
                </a:solidFill>
              </a:rPr>
              <a:t>final state</a:t>
            </a:r>
            <a:r>
              <a:rPr lang="en-US" altLang="en-US" sz="2800" dirty="0"/>
              <a:t> then the </a:t>
            </a:r>
            <a:r>
              <a:rPr lang="en-US" altLang="en-US" sz="2800" b="1" dirty="0">
                <a:solidFill>
                  <a:srgbClr val="00B0F0"/>
                </a:solidFill>
              </a:rPr>
              <a:t>input w</a:t>
            </a:r>
            <a:r>
              <a:rPr lang="en-US" altLang="en-US" sz="2800" dirty="0"/>
              <a:t> is </a:t>
            </a:r>
            <a:r>
              <a:rPr lang="en-US" altLang="en-US" sz="2800" b="1" dirty="0">
                <a:solidFill>
                  <a:srgbClr val="FF0000"/>
                </a:solidFill>
              </a:rPr>
              <a:t>accepted</a:t>
            </a:r>
            <a:r>
              <a:rPr lang="en-IN" altLang="en-US" sz="2800" b="1" dirty="0">
                <a:solidFill>
                  <a:srgbClr val="FF0000"/>
                </a:solidFill>
              </a:rPr>
              <a:t>, otherwise</a:t>
            </a:r>
            <a:r>
              <a:rPr lang="en-US" altLang="en-US" sz="2800" b="1" dirty="0">
                <a:solidFill>
                  <a:srgbClr val="FF0000"/>
                </a:solidFill>
              </a:rPr>
              <a:t> rejected</a:t>
            </a:r>
            <a:r>
              <a:rPr lang="en-US" altLang="en-US" sz="2800" dirty="0"/>
              <a:t>.</a:t>
            </a:r>
            <a:endParaRPr lang="en-US" altLang="en-US" sz="2800" dirty="0"/>
          </a:p>
        </p:txBody>
      </p:sp>
      <p:sp>
        <p:nvSpPr>
          <p:cNvPr id="2" name="Footer Placeholder 1"/>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Title 1"/>
          <p:cNvSpPr>
            <a:spLocks noGrp="1"/>
          </p:cNvSpPr>
          <p:nvPr>
            <p:ph type="title"/>
          </p:nvPr>
        </p:nvSpPr>
        <p:spPr>
          <a:xfrm>
            <a:off x="457200" y="0"/>
            <a:ext cx="8229600" cy="914400"/>
          </a:xfrm>
        </p:spPr>
        <p:txBody>
          <a:bodyPr vert="horz" wrap="square" lIns="91440" tIns="45720" rIns="91440" bIns="45720" anchor="ctr" anchorCtr="0"/>
          <a:p>
            <a:pPr algn="l" eaLnBrk="1" hangingPunct="1"/>
            <a:r>
              <a:rPr lang="en-US" altLang="en-US" sz="3600" b="1" dirty="0">
                <a:solidFill>
                  <a:srgbClr val="FF0000"/>
                </a:solidFill>
              </a:rPr>
              <a:t>Simpler Notations of DFA</a:t>
            </a:r>
            <a:endParaRPr lang="en-US" altLang="en-US" sz="3600" b="1" dirty="0">
              <a:solidFill>
                <a:srgbClr val="FF0000"/>
              </a:solidFill>
            </a:endParaRPr>
          </a:p>
        </p:txBody>
      </p:sp>
      <p:sp>
        <p:nvSpPr>
          <p:cNvPr id="8195" name="Content Placeholder 2"/>
          <p:cNvSpPr>
            <a:spLocks noGrp="1"/>
          </p:cNvSpPr>
          <p:nvPr>
            <p:ph idx="1"/>
          </p:nvPr>
        </p:nvSpPr>
        <p:spPr>
          <a:xfrm>
            <a:off x="292735" y="533400"/>
            <a:ext cx="8616315" cy="6200775"/>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en-IN" altLang="en-US" sz="2800" b="0" i="0" u="none" strike="noStrike" kern="1200" cap="none" spc="0" normalizeH="0" baseline="0" noProof="0" dirty="0" smtClean="0">
                <a:ln>
                  <a:noFill/>
                </a:ln>
                <a:solidFill>
                  <a:schemeClr val="tx1"/>
                </a:solidFill>
                <a:effectLst/>
                <a:uLnTx/>
                <a:uFillTx/>
                <a:latin typeface="+mn-lt"/>
                <a:ea typeface="+mn-ea"/>
                <a:cs typeface="+mn-cs"/>
              </a:rPr>
              <a:t>There are two types of notations to represent DFA</a:t>
            </a:r>
            <a:endParaRPr kumimoji="0" lang="en-IN" altLang="en-US" sz="2800" b="0" i="0" u="none" strike="noStrike" kern="1200" cap="none" spc="0" normalizeH="0" baseline="0" noProof="0" dirty="0" smtClean="0">
              <a:ln>
                <a:noFill/>
              </a:ln>
              <a:solidFill>
                <a:schemeClr val="tx1"/>
              </a:solidFill>
              <a:effectLst/>
              <a:uLnTx/>
              <a:uFillTx/>
              <a:latin typeface="+mn-lt"/>
              <a:ea typeface="+mn-ea"/>
              <a:cs typeface="+mn-cs"/>
            </a:endParaRPr>
          </a:p>
          <a:p>
            <a:pPr marL="914400" marR="0" lvl="1" indent="-457200" algn="l" defTabSz="914400" rtl="0" eaLnBrk="1" fontAlgn="base" latinLnBrk="0" hangingPunct="1">
              <a:lnSpc>
                <a:spcPct val="100000"/>
              </a:lnSpc>
              <a:spcBef>
                <a:spcPct val="20000"/>
              </a:spcBef>
              <a:spcAft>
                <a:spcPct val="0"/>
              </a:spcAft>
              <a:buClrTx/>
              <a:buSzTx/>
              <a:buFont typeface="Arial" panose="020B0604020202020204" pitchFamily="34" charset="0"/>
              <a:buAutoNum type="arabicPeriod"/>
              <a:defRPr/>
            </a:pPr>
            <a:r>
              <a:rPr kumimoji="0" lang="en-US" altLang="en-US" sz="2800" b="1" i="0" u="none" strike="noStrike" kern="1200" cap="none" spc="0" normalizeH="0" baseline="0" noProof="0" dirty="0" smtClean="0">
                <a:ln>
                  <a:noFill/>
                </a:ln>
                <a:solidFill>
                  <a:srgbClr val="0070C0"/>
                </a:solidFill>
                <a:effectLst/>
                <a:uLnTx/>
                <a:uFillTx/>
                <a:latin typeface="+mn-lt"/>
                <a:ea typeface="+mn-ea"/>
                <a:cs typeface="+mn-cs"/>
              </a:rPr>
              <a:t>Transition Diagram</a:t>
            </a:r>
            <a:endParaRPr kumimoji="0" lang="en-US" altLang="en-US" sz="2800" b="1" i="0" u="none" strike="noStrike" kern="1200" cap="none" spc="0" normalizeH="0" baseline="0" noProof="0" dirty="0" smtClean="0">
              <a:ln>
                <a:noFill/>
              </a:ln>
              <a:solidFill>
                <a:srgbClr val="0070C0"/>
              </a:solidFill>
              <a:effectLst/>
              <a:uLnTx/>
              <a:uFillTx/>
              <a:latin typeface="+mn-lt"/>
              <a:ea typeface="+mn-ea"/>
              <a:cs typeface="+mn-cs"/>
            </a:endParaRPr>
          </a:p>
          <a:p>
            <a:pPr marL="914400" marR="0" lvl="1" indent="-457200" algn="l" defTabSz="914400" rtl="0" eaLnBrk="1" fontAlgn="base" latinLnBrk="0" hangingPunct="1">
              <a:lnSpc>
                <a:spcPct val="100000"/>
              </a:lnSpc>
              <a:spcBef>
                <a:spcPct val="20000"/>
              </a:spcBef>
              <a:spcAft>
                <a:spcPct val="0"/>
              </a:spcAft>
              <a:buClrTx/>
              <a:buSzTx/>
              <a:buFont typeface="Arial" panose="020B0604020202020204" pitchFamily="34" charset="0"/>
              <a:buAutoNum type="arabicPeriod"/>
              <a:defRPr/>
            </a:pPr>
            <a:r>
              <a:rPr kumimoji="0" lang="en-IN" altLang="en-US" sz="2450" b="1" i="0" u="none" strike="noStrike" kern="1200" cap="none" spc="0" normalizeH="0" baseline="0" noProof="0" dirty="0" smtClean="0">
                <a:ln>
                  <a:noFill/>
                </a:ln>
                <a:solidFill>
                  <a:srgbClr val="FF0000"/>
                </a:solidFill>
                <a:effectLst/>
                <a:uLnTx/>
                <a:uFillTx/>
                <a:latin typeface="+mn-lt"/>
                <a:ea typeface="+mn-ea"/>
                <a:cs typeface="+mn-cs"/>
              </a:rPr>
              <a:t>Trantion Table </a:t>
            </a:r>
            <a:endParaRPr kumimoji="0" lang="en-US" altLang="en-US" sz="2450" b="1" i="0" u="none" strike="noStrike" kern="1200" cap="none" spc="0" normalizeH="0" baseline="0" noProof="0" dirty="0" smtClean="0">
              <a:ln>
                <a:noFill/>
              </a:ln>
              <a:solidFill>
                <a:srgbClr val="FF0000"/>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r>
              <a:rPr kumimoji="0" lang="en-IN" altLang="en-US" sz="2800" b="1" i="0" u="none" strike="noStrike" kern="1200" cap="none" spc="0" normalizeH="0" baseline="0" noProof="0" dirty="0" smtClean="0">
                <a:ln>
                  <a:noFill/>
                </a:ln>
                <a:solidFill>
                  <a:srgbClr val="0070C0"/>
                </a:solidFill>
                <a:effectLst/>
                <a:uLnTx/>
                <a:uFillTx/>
                <a:latin typeface="+mn-lt"/>
                <a:ea typeface="+mn-ea"/>
                <a:cs typeface="+mn-cs"/>
              </a:rPr>
              <a:t>1. T</a:t>
            </a:r>
            <a:r>
              <a:rPr kumimoji="0" lang="en-US" altLang="en-US" sz="2800" b="1" i="0" u="none" strike="noStrike" kern="1200" cap="none" spc="0" normalizeH="0" baseline="0" noProof="0" dirty="0" smtClean="0">
                <a:ln>
                  <a:noFill/>
                </a:ln>
                <a:solidFill>
                  <a:srgbClr val="0070C0"/>
                </a:solidFill>
                <a:effectLst/>
                <a:uLnTx/>
                <a:uFillTx/>
                <a:latin typeface="+mn-lt"/>
                <a:ea typeface="+mn-ea"/>
                <a:cs typeface="+mn-cs"/>
              </a:rPr>
              <a:t>ransition Diagram</a:t>
            </a:r>
            <a:r>
              <a:rPr kumimoji="0" lang="en-US" altLang="en-US" sz="2800" b="0" i="0" u="none" strike="noStrike" kern="1200" cap="none" spc="0" normalizeH="0" baseline="0" noProof="0" dirty="0" smtClean="0">
                <a:ln>
                  <a:noFill/>
                </a:ln>
                <a:solidFill>
                  <a:schemeClr val="tx1"/>
                </a:solidFill>
                <a:effectLst/>
                <a:uLnTx/>
                <a:uFillTx/>
                <a:latin typeface="+mn-lt"/>
                <a:ea typeface="+mn-ea"/>
                <a:cs typeface="+mn-cs"/>
              </a:rPr>
              <a:t> : A </a:t>
            </a:r>
            <a:r>
              <a:rPr kumimoji="0" lang="en-US" altLang="en-US" sz="2800" b="1" i="0" u="none" strike="noStrike" kern="1200" cap="none" spc="0" normalizeH="0" baseline="0" noProof="0" dirty="0" smtClean="0">
                <a:ln>
                  <a:noFill/>
                </a:ln>
                <a:solidFill>
                  <a:srgbClr val="0070C0"/>
                </a:solidFill>
                <a:effectLst/>
                <a:uLnTx/>
                <a:uFillTx/>
                <a:latin typeface="+mn-lt"/>
                <a:ea typeface="+mn-ea"/>
                <a:cs typeface="+mn-cs"/>
              </a:rPr>
              <a:t>transition diagram </a:t>
            </a:r>
            <a:r>
              <a:rPr kumimoji="0" lang="en-US" altLang="en-US" sz="2800" b="0" i="0" u="none" strike="noStrike" kern="1200" cap="none" spc="0" normalizeH="0" baseline="0" noProof="0" dirty="0" smtClean="0">
                <a:ln>
                  <a:noFill/>
                </a:ln>
                <a:solidFill>
                  <a:schemeClr val="tx1"/>
                </a:solidFill>
                <a:effectLst/>
                <a:uLnTx/>
                <a:uFillTx/>
                <a:latin typeface="+mn-lt"/>
                <a:ea typeface="+mn-ea"/>
                <a:cs typeface="+mn-cs"/>
              </a:rPr>
              <a:t>for DFA A ={ Q, ∑, </a:t>
            </a:r>
            <a:r>
              <a:rPr kumimoji="0" lang="el-GR" altLang="en-US" sz="2800" b="0" i="0" u="none" strike="noStrike" kern="1200" cap="none" spc="0" normalizeH="0" baseline="0" noProof="0" dirty="0" smtClean="0">
                <a:ln>
                  <a:noFill/>
                </a:ln>
                <a:solidFill>
                  <a:schemeClr val="tx1"/>
                </a:solidFill>
                <a:effectLst/>
                <a:uLnTx/>
                <a:uFillTx/>
                <a:latin typeface="+mn-lt"/>
                <a:ea typeface="+mn-ea"/>
                <a:cs typeface="+mn-cs"/>
              </a:rPr>
              <a:t>δ</a:t>
            </a:r>
            <a:r>
              <a:rPr kumimoji="0" lang="en-IN" altLang="en-US" sz="2800" b="0" i="0" u="none" strike="noStrike" kern="1200" cap="none" spc="0" normalizeH="0" baseline="0" noProof="0" dirty="0" smtClean="0">
                <a:ln>
                  <a:noFill/>
                </a:ln>
                <a:solidFill>
                  <a:schemeClr val="tx1"/>
                </a:solidFill>
                <a:effectLst/>
                <a:uLnTx/>
                <a:uFillTx/>
                <a:latin typeface="+mn-lt"/>
                <a:ea typeface="+mn-ea"/>
                <a:cs typeface="+mn-cs"/>
              </a:rPr>
              <a:t>, q0, F} is a directed graph and  defined as follows :</a:t>
            </a:r>
            <a:endParaRPr kumimoji="0" lang="en-IN" altLang="en-US" sz="2800" b="0" i="0" u="none" strike="noStrike" kern="1200" cap="none" spc="0" normalizeH="0" baseline="0" noProof="0" dirty="0" smtClean="0">
              <a:ln>
                <a:noFill/>
              </a:ln>
              <a:solidFill>
                <a:schemeClr val="tx1"/>
              </a:solidFill>
              <a:effectLst/>
              <a:uLnTx/>
              <a:uFillTx/>
              <a:latin typeface="+mn-lt"/>
              <a:ea typeface="+mn-ea"/>
              <a:cs typeface="+mn-cs"/>
            </a:endParaRPr>
          </a:p>
          <a:p>
            <a:pPr marL="457200" marR="0" lvl="1"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r>
              <a:rPr kumimoji="0" lang="en-IN" altLang="en-US" sz="2450" b="0" i="0" u="none" strike="noStrike" kern="1200" cap="none" spc="0" normalizeH="0" baseline="0" noProof="0" dirty="0">
                <a:ln>
                  <a:noFill/>
                </a:ln>
                <a:solidFill>
                  <a:schemeClr val="tx1"/>
                </a:solidFill>
                <a:effectLst/>
                <a:uLnTx/>
                <a:uFillTx/>
                <a:latin typeface="+mn-lt"/>
                <a:ea typeface="+mn-ea"/>
                <a:cs typeface="+mn-cs"/>
              </a:rPr>
              <a:t> </a:t>
            </a:r>
            <a:r>
              <a:rPr kumimoji="0" lang="en-IN" altLang="en-US" sz="2450" b="0" i="0" u="none" strike="noStrike" kern="1200" cap="none" spc="0" normalizeH="0" baseline="0" noProof="0" dirty="0" smtClean="0">
                <a:ln>
                  <a:noFill/>
                </a:ln>
                <a:solidFill>
                  <a:schemeClr val="tx1"/>
                </a:solidFill>
                <a:effectLst/>
                <a:uLnTx/>
                <a:uFillTx/>
                <a:latin typeface="+mn-lt"/>
                <a:ea typeface="+mn-ea"/>
                <a:cs typeface="+mn-cs"/>
              </a:rPr>
              <a:t> a. For each state in Q there is node and nodes are denoted by 	Circle</a:t>
            </a:r>
            <a:endParaRPr kumimoji="0" lang="en-IN" altLang="en-US" sz="2450" b="0" i="0" u="none" strike="noStrike" kern="1200" cap="none" spc="0" normalizeH="0" baseline="0" noProof="0" dirty="0" smtClean="0">
              <a:ln>
                <a:noFill/>
              </a:ln>
              <a:solidFill>
                <a:schemeClr val="tx1"/>
              </a:solidFill>
              <a:effectLst/>
              <a:uLnTx/>
              <a:uFillTx/>
              <a:latin typeface="+mn-lt"/>
              <a:ea typeface="+mn-ea"/>
              <a:cs typeface="+mn-cs"/>
            </a:endParaRPr>
          </a:p>
          <a:p>
            <a:pPr marL="1003300" marR="0" lvl="1" indent="-54610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r>
              <a:rPr kumimoji="0" lang="en-IN" altLang="en-US" sz="2450" b="0" i="0" u="none" strike="noStrike" kern="1200" cap="none" spc="0" normalizeH="0" baseline="0" noProof="0" dirty="0">
                <a:ln>
                  <a:noFill/>
                </a:ln>
                <a:solidFill>
                  <a:schemeClr val="tx1"/>
                </a:solidFill>
                <a:effectLst/>
                <a:uLnTx/>
                <a:uFillTx/>
                <a:latin typeface="+mn-lt"/>
                <a:ea typeface="+mn-ea"/>
                <a:cs typeface="+mn-cs"/>
              </a:rPr>
              <a:t> </a:t>
            </a:r>
            <a:r>
              <a:rPr kumimoji="0" lang="en-IN" altLang="en-US" sz="2450" b="0" i="0" u="none" strike="noStrike" kern="1200" cap="none" spc="0" normalizeH="0" baseline="0" noProof="0" dirty="0" smtClean="0">
                <a:ln>
                  <a:noFill/>
                </a:ln>
                <a:solidFill>
                  <a:schemeClr val="tx1"/>
                </a:solidFill>
                <a:effectLst/>
                <a:uLnTx/>
                <a:uFillTx/>
                <a:latin typeface="+mn-lt"/>
                <a:ea typeface="+mn-ea"/>
                <a:cs typeface="+mn-cs"/>
              </a:rPr>
              <a:t> b. For each state ‘q’ in Q and for each input symbol ‘a’ in ∑, let  </a:t>
            </a:r>
            <a:r>
              <a:rPr kumimoji="0" lang="el-GR" altLang="en-US" sz="2450" b="0" i="0" u="none" strike="noStrike" kern="1200" cap="none" spc="0" normalizeH="0" baseline="0" noProof="0" dirty="0" smtClean="0">
                <a:ln>
                  <a:noFill/>
                </a:ln>
                <a:solidFill>
                  <a:schemeClr val="tx1"/>
                </a:solidFill>
                <a:effectLst/>
                <a:uLnTx/>
                <a:uFillTx/>
                <a:latin typeface="+mn-lt"/>
                <a:ea typeface="+mn-ea"/>
                <a:cs typeface="+mn-cs"/>
              </a:rPr>
              <a:t>δ</a:t>
            </a:r>
            <a:r>
              <a:rPr kumimoji="0" lang="en-IN" altLang="en-US" sz="2450" b="0" i="0" u="none" strike="noStrike" kern="1200" cap="none" spc="0" normalizeH="0" baseline="0" noProof="0" dirty="0" smtClean="0">
                <a:ln>
                  <a:noFill/>
                </a:ln>
                <a:solidFill>
                  <a:schemeClr val="tx1"/>
                </a:solidFill>
                <a:effectLst/>
                <a:uLnTx/>
                <a:uFillTx/>
                <a:latin typeface="+mn-lt"/>
                <a:ea typeface="+mn-ea"/>
                <a:cs typeface="+mn-cs"/>
              </a:rPr>
              <a:t>(q, a) = p then transition diagram must contain an arc or edge from state ‘q’ to state ‘p’ with labelled ‘a’.</a:t>
            </a:r>
            <a:endParaRPr kumimoji="0" lang="en-IN" altLang="en-US" sz="2450" b="0" i="0" u="none" strike="noStrike" kern="1200" cap="none" spc="0" normalizeH="0" baseline="0" noProof="0" dirty="0" smtClean="0">
              <a:ln>
                <a:noFill/>
              </a:ln>
              <a:solidFill>
                <a:schemeClr val="tx1"/>
              </a:solidFill>
              <a:effectLst/>
              <a:uLnTx/>
              <a:uFillTx/>
              <a:latin typeface="+mn-lt"/>
              <a:ea typeface="+mn-ea"/>
              <a:cs typeface="+mn-cs"/>
            </a:endParaRPr>
          </a:p>
          <a:p>
            <a:pPr marL="1003300" marR="0" lvl="1" indent="-54610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r>
              <a:rPr kumimoji="0" lang="en-IN" altLang="en-US" sz="2450" b="0" i="0" u="none" strike="noStrike" kern="1200" cap="none" spc="0" normalizeH="0" baseline="0" noProof="0" dirty="0">
                <a:ln>
                  <a:noFill/>
                </a:ln>
                <a:solidFill>
                  <a:schemeClr val="tx1"/>
                </a:solidFill>
                <a:effectLst/>
                <a:uLnTx/>
                <a:uFillTx/>
                <a:latin typeface="+mn-lt"/>
                <a:ea typeface="+mn-ea"/>
                <a:cs typeface="+mn-cs"/>
              </a:rPr>
              <a:t> </a:t>
            </a:r>
            <a:r>
              <a:rPr kumimoji="0" lang="en-IN" altLang="en-US" sz="2450" b="0" i="0" u="none" strike="noStrike" kern="1200" cap="none" spc="0" normalizeH="0" baseline="0" noProof="0" dirty="0" smtClean="0">
                <a:ln>
                  <a:noFill/>
                </a:ln>
                <a:solidFill>
                  <a:schemeClr val="tx1"/>
                </a:solidFill>
                <a:effectLst/>
                <a:uLnTx/>
                <a:uFillTx/>
                <a:latin typeface="+mn-lt"/>
                <a:ea typeface="+mn-ea"/>
                <a:cs typeface="+mn-cs"/>
              </a:rPr>
              <a:t> c. there is an arrow into the start state q0 labelled START</a:t>
            </a:r>
            <a:endParaRPr kumimoji="0" lang="en-IN" altLang="en-US" sz="2450" b="0" i="0" u="none" strike="noStrike" kern="1200" cap="none" spc="0" normalizeH="0" baseline="0" noProof="0" dirty="0" smtClean="0">
              <a:ln>
                <a:noFill/>
              </a:ln>
              <a:solidFill>
                <a:schemeClr val="tx1"/>
              </a:solidFill>
              <a:effectLst/>
              <a:uLnTx/>
              <a:uFillTx/>
              <a:latin typeface="+mn-lt"/>
              <a:ea typeface="+mn-ea"/>
              <a:cs typeface="+mn-cs"/>
            </a:endParaRPr>
          </a:p>
          <a:p>
            <a:pPr marL="1003300" marR="0" lvl="1" indent="-54610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r>
              <a:rPr kumimoji="0" lang="en-IN" altLang="en-US" sz="2450" b="0" i="0" u="none" strike="noStrike" kern="1200" cap="none" spc="0" normalizeH="0" baseline="0" noProof="0" dirty="0">
                <a:ln>
                  <a:noFill/>
                </a:ln>
                <a:solidFill>
                  <a:schemeClr val="tx1"/>
                </a:solidFill>
                <a:effectLst/>
                <a:uLnTx/>
                <a:uFillTx/>
                <a:latin typeface="+mn-lt"/>
                <a:ea typeface="+mn-ea"/>
                <a:cs typeface="+mn-cs"/>
              </a:rPr>
              <a:t> </a:t>
            </a:r>
            <a:r>
              <a:rPr kumimoji="0" lang="en-IN" altLang="en-US" sz="2450" b="0" i="0" u="none" strike="noStrike" kern="1200" cap="none" spc="0" normalizeH="0" baseline="0" noProof="0" dirty="0" smtClean="0">
                <a:ln>
                  <a:noFill/>
                </a:ln>
                <a:solidFill>
                  <a:schemeClr val="tx1"/>
                </a:solidFill>
                <a:effectLst/>
                <a:uLnTx/>
                <a:uFillTx/>
                <a:latin typeface="+mn-lt"/>
                <a:ea typeface="+mn-ea"/>
                <a:cs typeface="+mn-cs"/>
              </a:rPr>
              <a:t> d. Node corresponding to accepting states (Those are in F) are marked by double circle other states have a single circle</a:t>
            </a:r>
            <a:endParaRPr kumimoji="0" lang="en-IN" altLang="en-US" sz="2450" b="0" i="0" u="none" strike="noStrike" kern="1200" cap="none" spc="0" normalizeH="0" baseline="0" noProof="0" dirty="0" smtClean="0">
              <a:ln>
                <a:noFill/>
              </a:ln>
              <a:solidFill>
                <a:schemeClr val="tx1"/>
              </a:solidFill>
              <a:effectLst/>
              <a:uLnTx/>
              <a:uFillTx/>
              <a:latin typeface="+mn-lt"/>
              <a:ea typeface="+mn-ea"/>
              <a:cs typeface="+mn-cs"/>
            </a:endParaRPr>
          </a:p>
          <a:p>
            <a:pPr marL="546100" marR="0" lvl="0" indent="-54610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en-IN" altLang="en-US" sz="3200" b="0" i="0" u="none" strike="noStrike" kern="120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2" name="Footer Placeholder 1"/>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Title 1"/>
          <p:cNvSpPr>
            <a:spLocks noGrp="1"/>
          </p:cNvSpPr>
          <p:nvPr>
            <p:ph type="title"/>
          </p:nvPr>
        </p:nvSpPr>
        <p:spPr>
          <a:xfrm>
            <a:off x="457200" y="0"/>
            <a:ext cx="8229600" cy="914400"/>
          </a:xfrm>
        </p:spPr>
        <p:txBody>
          <a:bodyPr vert="horz" wrap="square" lIns="91440" tIns="45720" rIns="91440" bIns="45720" anchor="ctr" anchorCtr="0"/>
          <a:p>
            <a:pPr algn="l" eaLnBrk="1" hangingPunct="1"/>
            <a:r>
              <a:rPr lang="en-US" altLang="en-US" b="1" dirty="0">
                <a:solidFill>
                  <a:srgbClr val="00B0F0"/>
                </a:solidFill>
              </a:rPr>
              <a:t>Simpler Notations of DFA</a:t>
            </a:r>
            <a:endParaRPr lang="en-US" altLang="en-US" b="1" dirty="0">
              <a:solidFill>
                <a:srgbClr val="00B0F0"/>
              </a:solidFill>
            </a:endParaRPr>
          </a:p>
        </p:txBody>
      </p:sp>
      <p:sp>
        <p:nvSpPr>
          <p:cNvPr id="8195" name="Content Placeholder 2"/>
          <p:cNvSpPr>
            <a:spLocks noGrp="1"/>
          </p:cNvSpPr>
          <p:nvPr>
            <p:ph idx="1"/>
          </p:nvPr>
        </p:nvSpPr>
        <p:spPr>
          <a:xfrm>
            <a:off x="457200" y="1143000"/>
            <a:ext cx="8458200" cy="5181600"/>
          </a:xfrm>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r>
              <a:rPr kumimoji="0" lang="en-IN" altLang="en-US" sz="3200" b="1" i="0" u="none" strike="noStrike" kern="1200" cap="none" spc="0" normalizeH="0" baseline="0" noProof="0" dirty="0" smtClean="0">
                <a:ln>
                  <a:noFill/>
                </a:ln>
                <a:solidFill>
                  <a:srgbClr val="FF0000"/>
                </a:solidFill>
                <a:effectLst/>
                <a:uLnTx/>
                <a:uFillTx/>
                <a:latin typeface="+mn-lt"/>
                <a:ea typeface="+mn-ea"/>
                <a:cs typeface="+mn-cs"/>
              </a:rPr>
              <a:t>2. </a:t>
            </a:r>
            <a:r>
              <a:rPr kumimoji="0" lang="en-US" altLang="en-US" sz="3200" b="1" i="0" u="none" strike="noStrike" kern="1200" cap="none" spc="0" normalizeH="0" baseline="0" noProof="0" dirty="0" smtClean="0">
                <a:ln>
                  <a:noFill/>
                </a:ln>
                <a:solidFill>
                  <a:srgbClr val="FF0000"/>
                </a:solidFill>
                <a:effectLst/>
                <a:uLnTx/>
                <a:uFillTx/>
                <a:latin typeface="+mn-lt"/>
                <a:ea typeface="+mn-ea"/>
                <a:cs typeface="+mn-cs"/>
              </a:rPr>
              <a:t>A transition table :</a:t>
            </a:r>
            <a:r>
              <a:rPr kumimoji="0" lang="en-US" altLang="en-US" sz="3200" b="0" i="0" u="none" strike="noStrike" kern="1200" cap="none" spc="0" normalizeH="0" baseline="0" noProof="0" dirty="0" smtClean="0">
                <a:ln>
                  <a:noFill/>
                </a:ln>
                <a:solidFill>
                  <a:schemeClr val="tx1"/>
                </a:solidFill>
                <a:effectLst/>
                <a:uLnTx/>
                <a:uFillTx/>
                <a:latin typeface="+mn-lt"/>
                <a:ea typeface="+mn-ea"/>
                <a:cs typeface="+mn-cs"/>
              </a:rPr>
              <a:t>  </a:t>
            </a:r>
            <a:r>
              <a:rPr kumimoji="0" lang="en-IN" altLang="en-US" sz="3200" b="1" i="0" u="none" strike="noStrike" kern="1200" cap="none" spc="0" normalizeH="0" baseline="0" noProof="0" dirty="0" smtClean="0">
                <a:ln>
                  <a:noFill/>
                </a:ln>
                <a:solidFill>
                  <a:srgbClr val="FF0000"/>
                </a:solidFill>
                <a:effectLst/>
                <a:uLnTx/>
                <a:uFillTx/>
                <a:latin typeface="+mn-lt"/>
                <a:ea typeface="+mn-ea"/>
                <a:cs typeface="+mn-cs"/>
              </a:rPr>
              <a:t>A</a:t>
            </a:r>
            <a:r>
              <a:rPr kumimoji="0" lang="en-US" altLang="en-US" sz="3200" b="0" i="0" u="none" strike="noStrike" kern="1200" cap="none" spc="0" normalizeH="0" baseline="0" noProof="0" dirty="0" smtClean="0">
                <a:ln>
                  <a:noFill/>
                </a:ln>
                <a:solidFill>
                  <a:schemeClr val="tx1"/>
                </a:solidFill>
                <a:effectLst/>
                <a:uLnTx/>
                <a:uFillTx/>
                <a:latin typeface="+mn-lt"/>
                <a:ea typeface="+mn-ea"/>
                <a:cs typeface="+mn-cs"/>
              </a:rPr>
              <a:t> </a:t>
            </a:r>
            <a:r>
              <a:rPr kumimoji="0" lang="en-IN" altLang="en-US" sz="3200" b="1" i="0" u="none" strike="noStrike" kern="1200" cap="none" spc="0" normalizeH="0" baseline="0" noProof="0" dirty="0" smtClean="0">
                <a:ln>
                  <a:noFill/>
                </a:ln>
                <a:solidFill>
                  <a:srgbClr val="FF0000"/>
                </a:solidFill>
                <a:effectLst/>
                <a:uLnTx/>
                <a:uFillTx/>
                <a:latin typeface="+mn-lt"/>
                <a:ea typeface="+mn-ea"/>
                <a:cs typeface="+mn-cs"/>
              </a:rPr>
              <a:t>transition table </a:t>
            </a:r>
            <a:r>
              <a:rPr kumimoji="0" lang="en-US" altLang="en-US" sz="3200" b="0" i="0" u="none" strike="noStrike" kern="1200" cap="none" spc="0" normalizeH="0" baseline="0" noProof="0" dirty="0" smtClean="0">
                <a:ln>
                  <a:noFill/>
                </a:ln>
                <a:solidFill>
                  <a:schemeClr val="tx1"/>
                </a:solidFill>
                <a:effectLst/>
                <a:uLnTx/>
                <a:uFillTx/>
                <a:latin typeface="+mn-lt"/>
                <a:ea typeface="+mn-ea"/>
                <a:cs typeface="+mn-cs"/>
              </a:rPr>
              <a:t>for DFA A ={ Q, ∑, </a:t>
            </a:r>
            <a:r>
              <a:rPr kumimoji="0" lang="el-GR" altLang="en-US" sz="3200" b="0" i="0" u="none" strike="noStrike" kern="1200" cap="none" spc="0" normalizeH="0" baseline="0" noProof="0" dirty="0" smtClean="0">
                <a:ln>
                  <a:noFill/>
                </a:ln>
                <a:solidFill>
                  <a:schemeClr val="tx1"/>
                </a:solidFill>
                <a:effectLst/>
                <a:uLnTx/>
                <a:uFillTx/>
                <a:latin typeface="+mn-lt"/>
                <a:ea typeface="+mn-ea"/>
                <a:cs typeface="+mn-cs"/>
              </a:rPr>
              <a:t>δ</a:t>
            </a:r>
            <a:r>
              <a:rPr kumimoji="0" lang="en-IN" altLang="en-US" sz="3200" b="0" i="0" u="none" strike="noStrike" kern="1200" cap="none" spc="0" normalizeH="0" baseline="0" noProof="0" dirty="0" smtClean="0">
                <a:ln>
                  <a:noFill/>
                </a:ln>
                <a:solidFill>
                  <a:schemeClr val="tx1"/>
                </a:solidFill>
                <a:effectLst/>
                <a:uLnTx/>
                <a:uFillTx/>
                <a:latin typeface="+mn-lt"/>
                <a:ea typeface="+mn-ea"/>
                <a:cs typeface="+mn-cs"/>
              </a:rPr>
              <a:t>, q0, F} is a conventional tabular representation of transition function </a:t>
            </a:r>
            <a:r>
              <a:rPr kumimoji="0" lang="el-GR" altLang="en-US" sz="3200" b="0" i="0" u="none" strike="noStrike" kern="1200" cap="none" spc="0" normalizeH="0" baseline="0" noProof="0" dirty="0" smtClean="0">
                <a:ln>
                  <a:noFill/>
                </a:ln>
                <a:solidFill>
                  <a:schemeClr val="tx1"/>
                </a:solidFill>
                <a:effectLst/>
                <a:uLnTx/>
                <a:uFillTx/>
                <a:latin typeface="+mn-lt"/>
                <a:ea typeface="+mn-ea"/>
                <a:cs typeface="+mn-cs"/>
              </a:rPr>
              <a:t>δ</a:t>
            </a:r>
            <a:r>
              <a:rPr kumimoji="0" lang="en-IN" altLang="el-GR" sz="3200" b="0" i="0" u="none" strike="noStrike" kern="1200" cap="none" spc="0" normalizeH="0" baseline="0" noProof="0" dirty="0" smtClean="0">
                <a:ln>
                  <a:noFill/>
                </a:ln>
                <a:solidFill>
                  <a:schemeClr val="tx1"/>
                </a:solidFill>
                <a:effectLst/>
                <a:uLnTx/>
                <a:uFillTx/>
                <a:latin typeface="+mn-lt"/>
                <a:ea typeface="+mn-ea"/>
                <a:cs typeface="+mn-cs"/>
              </a:rPr>
              <a:t>, where</a:t>
            </a:r>
            <a:endParaRPr kumimoji="0" lang="el-GR" altLang="en-US" sz="3200" b="0" i="0" u="none" strike="noStrike" kern="1200" cap="none" spc="0" normalizeH="0" baseline="0" noProof="0" dirty="0" smtClean="0">
              <a:ln>
                <a:noFill/>
              </a:ln>
              <a:solidFill>
                <a:schemeClr val="tx1"/>
              </a:solidFill>
              <a:effectLst/>
              <a:uLnTx/>
              <a:uFillTx/>
              <a:latin typeface="+mn-lt"/>
              <a:ea typeface="+mn-ea"/>
              <a:cs typeface="+mn-cs"/>
            </a:endParaRPr>
          </a:p>
          <a:p>
            <a:pPr marL="640080" marR="0" lvl="0" indent="-340995" algn="l" defTabSz="914400" rtl="0" eaLnBrk="1" fontAlgn="base" latinLnBrk="0" hangingPunct="1">
              <a:lnSpc>
                <a:spcPct val="100000"/>
              </a:lnSpc>
              <a:spcBef>
                <a:spcPct val="20000"/>
              </a:spcBef>
              <a:spcAft>
                <a:spcPct val="0"/>
              </a:spcAft>
              <a:buClrTx/>
              <a:buSzTx/>
              <a:tabLst>
                <a:tab pos="537210" algn="l"/>
              </a:tabLst>
              <a:defRPr/>
            </a:pPr>
            <a:r>
              <a:rPr kumimoji="0" lang="en-IN" altLang="en-US" sz="3200" b="1" i="0" u="none" strike="noStrike" kern="1200" cap="none" spc="0" normalizeH="0" baseline="0" noProof="0" dirty="0" smtClean="0">
                <a:ln>
                  <a:noFill/>
                </a:ln>
                <a:solidFill>
                  <a:srgbClr val="00B0F0"/>
                </a:solidFill>
                <a:effectLst/>
                <a:uLnTx/>
                <a:uFillTx/>
                <a:latin typeface="+mn-lt"/>
                <a:ea typeface="+mn-ea"/>
                <a:cs typeface="+mn-cs"/>
              </a:rPr>
              <a:t>Rows </a:t>
            </a:r>
            <a:r>
              <a:rPr kumimoji="0" lang="en-IN" altLang="en-US" sz="3200" b="0" i="0" u="none" strike="noStrike" kern="1200" cap="none" spc="0" normalizeH="0" baseline="0" noProof="0" dirty="0" smtClean="0">
                <a:ln>
                  <a:noFill/>
                </a:ln>
                <a:solidFill>
                  <a:schemeClr val="tx1"/>
                </a:solidFill>
                <a:effectLst/>
                <a:uLnTx/>
                <a:uFillTx/>
                <a:latin typeface="+mn-lt"/>
                <a:ea typeface="+mn-ea"/>
                <a:cs typeface="+mn-cs"/>
              </a:rPr>
              <a:t>corresponds to the states in Q for the transition table.</a:t>
            </a:r>
            <a:endParaRPr kumimoji="0" lang="en-IN" altLang="en-US" sz="3200" b="0" i="0" u="none" strike="noStrike" kern="1200" cap="none" spc="0" normalizeH="0" baseline="0" noProof="0" dirty="0" smtClean="0">
              <a:ln>
                <a:noFill/>
              </a:ln>
              <a:solidFill>
                <a:schemeClr val="tx1"/>
              </a:solidFill>
              <a:effectLst/>
              <a:uLnTx/>
              <a:uFillTx/>
              <a:latin typeface="+mn-lt"/>
              <a:ea typeface="+mn-ea"/>
              <a:cs typeface="+mn-cs"/>
            </a:endParaRPr>
          </a:p>
          <a:p>
            <a:pPr marL="640080" marR="0" lvl="0" indent="-340995" algn="l" defTabSz="914400" rtl="0" eaLnBrk="1" fontAlgn="base" latinLnBrk="0" hangingPunct="1">
              <a:lnSpc>
                <a:spcPct val="100000"/>
              </a:lnSpc>
              <a:spcBef>
                <a:spcPct val="20000"/>
              </a:spcBef>
              <a:spcAft>
                <a:spcPct val="0"/>
              </a:spcAft>
              <a:buClrTx/>
              <a:buSzTx/>
              <a:tabLst>
                <a:tab pos="537210" algn="l"/>
              </a:tabLst>
              <a:defRPr/>
            </a:pPr>
            <a:r>
              <a:rPr kumimoji="0" lang="en-US" altLang="en-US" sz="3200" b="1" i="0" u="none" strike="noStrike" kern="1200" cap="none" spc="0" normalizeH="0" baseline="0" noProof="0" dirty="0" smtClean="0">
                <a:ln>
                  <a:noFill/>
                </a:ln>
                <a:solidFill>
                  <a:srgbClr val="FF0000"/>
                </a:solidFill>
                <a:effectLst/>
                <a:uLnTx/>
                <a:uFillTx/>
                <a:latin typeface="+mn-lt"/>
                <a:ea typeface="+mn-ea"/>
                <a:cs typeface="+mn-cs"/>
              </a:rPr>
              <a:t>Columns</a:t>
            </a:r>
            <a:r>
              <a:rPr kumimoji="0" lang="en-IN" altLang="en-US" sz="3200" b="0" i="0" u="none" strike="noStrike" kern="1200" cap="none" spc="0" normalizeH="0" baseline="0" noProof="0" dirty="0" smtClean="0">
                <a:ln>
                  <a:noFill/>
                </a:ln>
                <a:solidFill>
                  <a:schemeClr val="tx1"/>
                </a:solidFill>
                <a:effectLst/>
                <a:uLnTx/>
                <a:uFillTx/>
                <a:latin typeface="+mn-lt"/>
                <a:ea typeface="+mn-ea"/>
                <a:cs typeface="+mn-cs"/>
              </a:rPr>
              <a:t> corresponds to the </a:t>
            </a:r>
            <a:r>
              <a:rPr kumimoji="0" lang="en-IN" altLang="en-US" sz="3200" b="1" i="0" u="none" strike="noStrike" kern="1200" cap="none" spc="0" normalizeH="0" baseline="0" noProof="0" dirty="0" smtClean="0">
                <a:ln>
                  <a:noFill/>
                </a:ln>
                <a:solidFill>
                  <a:srgbClr val="00B0F0"/>
                </a:solidFill>
                <a:effectLst/>
                <a:uLnTx/>
                <a:uFillTx/>
                <a:latin typeface="+mn-lt"/>
                <a:ea typeface="+mn-ea"/>
                <a:cs typeface="+mn-cs"/>
              </a:rPr>
              <a:t>inputs from ∑</a:t>
            </a:r>
            <a:r>
              <a:rPr kumimoji="0" lang="en-IN" alt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IN" altLang="en-US" sz="3200" b="0" i="0" u="none" strike="noStrike" kern="1200" cap="none" spc="0" normalizeH="0" baseline="0" noProof="0" dirty="0" smtClean="0">
              <a:ln>
                <a:noFill/>
              </a:ln>
              <a:solidFill>
                <a:schemeClr val="tx1"/>
              </a:solidFill>
              <a:effectLst/>
              <a:uLnTx/>
              <a:uFillTx/>
              <a:latin typeface="+mn-lt"/>
              <a:ea typeface="+mn-ea"/>
              <a:cs typeface="+mn-cs"/>
            </a:endParaRPr>
          </a:p>
          <a:p>
            <a:pPr marL="640080" marR="0" lvl="0" indent="-340995" algn="l" defTabSz="914400" rtl="0" eaLnBrk="1" fontAlgn="base" latinLnBrk="0" hangingPunct="1">
              <a:lnSpc>
                <a:spcPct val="100000"/>
              </a:lnSpc>
              <a:spcBef>
                <a:spcPct val="20000"/>
              </a:spcBef>
              <a:spcAft>
                <a:spcPct val="0"/>
              </a:spcAft>
              <a:buClrTx/>
              <a:buSzTx/>
              <a:tabLst>
                <a:tab pos="537210" algn="l"/>
              </a:tabLst>
              <a:defRPr/>
            </a:pPr>
            <a:r>
              <a:rPr kumimoji="0" lang="en-IN" altLang="en-US" sz="3200" b="0" i="0" u="none" strike="noStrike" kern="1200" cap="none" spc="0" normalizeH="0" baseline="0" noProof="0" dirty="0" smtClean="0">
                <a:ln>
                  <a:noFill/>
                </a:ln>
                <a:solidFill>
                  <a:schemeClr val="tx1"/>
                </a:solidFill>
                <a:effectLst/>
                <a:uLnTx/>
                <a:uFillTx/>
                <a:latin typeface="+mn-lt"/>
                <a:ea typeface="+mn-ea"/>
                <a:cs typeface="+mn-cs"/>
              </a:rPr>
              <a:t>The entry for the row corresponding to </a:t>
            </a:r>
            <a:r>
              <a:rPr kumimoji="0" lang="en-US" altLang="en-US" sz="3200" b="1" i="0" u="none" strike="noStrike" kern="1200" cap="none" spc="0" normalizeH="0" baseline="0" noProof="0" dirty="0" smtClean="0">
                <a:ln>
                  <a:noFill/>
                </a:ln>
                <a:solidFill>
                  <a:srgbClr val="FF0000"/>
                </a:solidFill>
                <a:effectLst/>
                <a:uLnTx/>
                <a:uFillTx/>
                <a:latin typeface="+mn-lt"/>
                <a:ea typeface="+mn-ea"/>
                <a:cs typeface="+mn-cs"/>
              </a:rPr>
              <a:t>state ‘q’ </a:t>
            </a:r>
            <a:r>
              <a:rPr kumimoji="0" lang="en-IN" altLang="en-US" sz="3200" b="0" i="0" u="none" strike="noStrike" kern="1200" cap="none" spc="0" normalizeH="0" baseline="0" noProof="0" dirty="0" smtClean="0">
                <a:ln>
                  <a:noFill/>
                </a:ln>
                <a:solidFill>
                  <a:schemeClr val="tx1"/>
                </a:solidFill>
                <a:effectLst/>
                <a:uLnTx/>
                <a:uFillTx/>
                <a:latin typeface="+mn-lt"/>
                <a:ea typeface="+mn-ea"/>
                <a:cs typeface="+mn-cs"/>
              </a:rPr>
              <a:t>and the column corresponding to </a:t>
            </a:r>
            <a:r>
              <a:rPr kumimoji="0" lang="en-IN" altLang="en-US" sz="3200" b="1" i="0" u="none" strike="noStrike" kern="1200" cap="none" spc="0" normalizeH="0" baseline="0" noProof="0" dirty="0" smtClean="0">
                <a:ln>
                  <a:noFill/>
                </a:ln>
                <a:solidFill>
                  <a:srgbClr val="00B0F0"/>
                </a:solidFill>
                <a:effectLst/>
                <a:uLnTx/>
                <a:uFillTx/>
                <a:latin typeface="+mn-lt"/>
                <a:ea typeface="+mn-ea"/>
                <a:cs typeface="+mn-cs"/>
              </a:rPr>
              <a:t>input ‘a’ </a:t>
            </a:r>
            <a:r>
              <a:rPr kumimoji="0" lang="en-IN" altLang="en-US" sz="3200" b="0" i="0" u="none" strike="noStrike" kern="1200" cap="none" spc="0" normalizeH="0" baseline="0" noProof="0" dirty="0" smtClean="0">
                <a:ln>
                  <a:noFill/>
                </a:ln>
                <a:solidFill>
                  <a:schemeClr val="tx1"/>
                </a:solidFill>
                <a:effectLst/>
                <a:uLnTx/>
                <a:uFillTx/>
                <a:latin typeface="+mn-lt"/>
                <a:ea typeface="+mn-ea"/>
                <a:cs typeface="+mn-cs"/>
              </a:rPr>
              <a:t>is the </a:t>
            </a:r>
            <a:r>
              <a:rPr kumimoji="0" lang="en-US" altLang="en-US" sz="3200" b="1" i="0" u="none" strike="noStrike" kern="1200" cap="none" spc="0" normalizeH="0" baseline="0" noProof="0" dirty="0" smtClean="0">
                <a:ln>
                  <a:noFill/>
                </a:ln>
                <a:solidFill>
                  <a:srgbClr val="FF0000"/>
                </a:solidFill>
                <a:effectLst/>
                <a:uLnTx/>
                <a:uFillTx/>
                <a:latin typeface="+mn-lt"/>
                <a:ea typeface="+mn-ea"/>
                <a:cs typeface="+mn-cs"/>
              </a:rPr>
              <a:t>state</a:t>
            </a:r>
            <a:r>
              <a:rPr kumimoji="0" lang="en-IN" altLang="en-US" sz="3200" b="1" i="0" u="none" strike="noStrike" kern="1200" cap="none" spc="0" normalizeH="0" baseline="0" noProof="0" dirty="0" smtClean="0">
                <a:ln>
                  <a:noFill/>
                </a:ln>
                <a:solidFill>
                  <a:srgbClr val="FF0000"/>
                </a:solidFill>
                <a:effectLst/>
                <a:uLnTx/>
                <a:uFillTx/>
                <a:latin typeface="+mn-lt"/>
                <a:ea typeface="+mn-ea"/>
                <a:cs typeface="+mn-cs"/>
              </a:rPr>
              <a:t> ‘p’</a:t>
            </a:r>
            <a:r>
              <a:rPr kumimoji="0" lang="en-US" altLang="en-US" sz="3200" b="1" i="0" u="none" strike="noStrike" kern="1200" cap="none" spc="0" normalizeH="0" baseline="0" noProof="0" dirty="0" smtClean="0">
                <a:ln>
                  <a:noFill/>
                </a:ln>
                <a:solidFill>
                  <a:srgbClr val="FF0000"/>
                </a:solidFill>
                <a:effectLst/>
                <a:uLnTx/>
                <a:uFillTx/>
                <a:latin typeface="+mn-lt"/>
                <a:ea typeface="+mn-ea"/>
                <a:cs typeface="+mn-cs"/>
              </a:rPr>
              <a:t> from δ(q, a)</a:t>
            </a:r>
            <a:endParaRPr kumimoji="0" lang="en-IN" altLang="en-US" sz="3200" b="0" i="0" u="none" strike="noStrike" kern="1200" cap="none" spc="0" normalizeH="0" baseline="0" noProof="0" dirty="0" smtClean="0">
              <a:ln>
                <a:noFill/>
              </a:ln>
              <a:solidFill>
                <a:schemeClr val="tx1"/>
              </a:solidFill>
              <a:effectLst/>
              <a:uLnTx/>
              <a:uFillTx/>
              <a:latin typeface="+mn-lt"/>
              <a:ea typeface="+mn-ea"/>
              <a:cs typeface="+mn-cs"/>
            </a:endParaRPr>
          </a:p>
          <a:p>
            <a:pPr marL="546100" marR="0" lvl="0" indent="-54610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en-IN" altLang="en-US" sz="3200" b="0" i="0" u="none" strike="noStrike" kern="120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2" name="Footer Placeholder 1"/>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Title 1"/>
          <p:cNvSpPr>
            <a:spLocks noGrp="1"/>
          </p:cNvSpPr>
          <p:nvPr>
            <p:ph type="title"/>
          </p:nvPr>
        </p:nvSpPr>
        <p:spPr/>
        <p:txBody>
          <a:bodyPr vert="horz" wrap="square" lIns="91440" tIns="45720" rIns="91440" bIns="45720" anchor="ctr" anchorCtr="0"/>
          <a:p>
            <a:pPr eaLnBrk="1" hangingPunct="1"/>
            <a:r>
              <a:rPr lang="en-US" altLang="en-US" dirty="0"/>
              <a:t>Extended Transition Function </a:t>
            </a:r>
            <a:r>
              <a:rPr lang="el-GR" altLang="en-US" dirty="0"/>
              <a:t>δ</a:t>
            </a:r>
            <a:r>
              <a:rPr lang="en-US" altLang="en-US" dirty="0"/>
              <a:t> *</a:t>
            </a:r>
            <a:endParaRPr lang="en-US" altLang="en-US" dirty="0"/>
          </a:p>
        </p:txBody>
      </p:sp>
      <p:sp>
        <p:nvSpPr>
          <p:cNvPr id="3" name="Content Placeholder 2"/>
          <p:cNvSpPr>
            <a:spLocks noGrp="1"/>
          </p:cNvSpPr>
          <p:nvPr>
            <p:ph idx="1"/>
          </p:nvPr>
        </p:nvSpPr>
        <p:spPr>
          <a:xfrm>
            <a:off x="457200" y="1295400"/>
            <a:ext cx="8229600" cy="4830763"/>
          </a:xfrm>
        </p:spPr>
        <p:txBody>
          <a:bodyPr vert="horz" wrap="square" lIns="91440" tIns="45720" rIns="91440" bIns="45720" numCol="1" rtlCol="0" anchor="t" anchorCtr="0" compatLnSpc="1"/>
          <a:p>
            <a:pPr eaLnBrk="1" hangingPunct="1">
              <a:lnSpc>
                <a:spcPct val="80000"/>
              </a:lnSpc>
            </a:pPr>
            <a:r>
              <a:rPr sz="2500" dirty="0"/>
              <a:t>The extended transition function </a:t>
            </a:r>
            <a:r>
              <a:rPr lang="el-GR" altLang="x-none" sz="2500" dirty="0"/>
              <a:t>δ</a:t>
            </a:r>
            <a:r>
              <a:rPr sz="2500" dirty="0"/>
              <a:t>* for DFA  is an extension of Transition function </a:t>
            </a:r>
            <a:r>
              <a:rPr lang="el-GR" altLang="x-none" sz="2500" dirty="0"/>
              <a:t>δ</a:t>
            </a:r>
            <a:r>
              <a:rPr sz="2500" dirty="0"/>
              <a:t> of DFA and is defined as follows</a:t>
            </a:r>
            <a:endParaRPr sz="2500" dirty="0"/>
          </a:p>
          <a:p>
            <a:pPr eaLnBrk="1" hangingPunct="1">
              <a:lnSpc>
                <a:spcPct val="80000"/>
              </a:lnSpc>
              <a:buNone/>
            </a:pPr>
            <a:r>
              <a:rPr sz="2500" dirty="0"/>
              <a:t>Basis : </a:t>
            </a:r>
            <a:r>
              <a:rPr lang="el-GR" altLang="x-none" sz="2500" dirty="0"/>
              <a:t>δ</a:t>
            </a:r>
            <a:r>
              <a:rPr sz="2500" dirty="0"/>
              <a:t>*(q,</a:t>
            </a:r>
            <a:r>
              <a:rPr lang="az-Cyrl-AZ" altLang="x-none" sz="2500" dirty="0"/>
              <a:t>Є</a:t>
            </a:r>
            <a:r>
              <a:rPr sz="2500" dirty="0"/>
              <a:t>) = {q} that is without reading any  input symbols      </a:t>
            </a:r>
            <a:endParaRPr sz="2500" dirty="0"/>
          </a:p>
          <a:p>
            <a:pPr eaLnBrk="1" hangingPunct="1">
              <a:lnSpc>
                <a:spcPct val="80000"/>
              </a:lnSpc>
              <a:buNone/>
            </a:pPr>
            <a:r>
              <a:rPr sz="2500" dirty="0"/>
              <a:t>             DFA is still in same state q.</a:t>
            </a:r>
            <a:endParaRPr sz="2500" dirty="0"/>
          </a:p>
          <a:p>
            <a:pPr eaLnBrk="1" hangingPunct="1">
              <a:lnSpc>
                <a:spcPct val="80000"/>
              </a:lnSpc>
              <a:buNone/>
            </a:pPr>
            <a:r>
              <a:rPr sz="2500" dirty="0"/>
              <a:t>Induction: Suppose w is of the form w=xa where a is the final  </a:t>
            </a:r>
            <a:endParaRPr sz="2500" dirty="0"/>
          </a:p>
          <a:p>
            <a:pPr eaLnBrk="1" hangingPunct="1">
              <a:lnSpc>
                <a:spcPct val="80000"/>
              </a:lnSpc>
              <a:buNone/>
            </a:pPr>
            <a:r>
              <a:rPr sz="2500" dirty="0"/>
              <a:t>                    symbol of w and x is the rest of w. </a:t>
            </a:r>
            <a:endParaRPr sz="2500" dirty="0"/>
          </a:p>
          <a:p>
            <a:pPr eaLnBrk="1" hangingPunct="1">
              <a:lnSpc>
                <a:spcPct val="80000"/>
              </a:lnSpc>
              <a:buNone/>
            </a:pPr>
            <a:r>
              <a:rPr sz="2500" dirty="0"/>
              <a:t>                    Then </a:t>
            </a:r>
            <a:r>
              <a:rPr lang="el-GR" altLang="x-none" sz="2500" dirty="0"/>
              <a:t>δ</a:t>
            </a:r>
            <a:r>
              <a:rPr sz="2500" dirty="0"/>
              <a:t>*(q, w)=</a:t>
            </a:r>
            <a:r>
              <a:rPr lang="el-GR" altLang="x-none" sz="2500" dirty="0"/>
              <a:t> δ</a:t>
            </a:r>
            <a:r>
              <a:rPr sz="2500" dirty="0"/>
              <a:t>(</a:t>
            </a:r>
            <a:r>
              <a:rPr lang="el-GR" altLang="x-none" sz="2500" dirty="0"/>
              <a:t>δ</a:t>
            </a:r>
            <a:r>
              <a:rPr sz="2500" dirty="0"/>
              <a:t>*(q, x),a)</a:t>
            </a:r>
            <a:endParaRPr sz="2500" dirty="0"/>
          </a:p>
          <a:p>
            <a:pPr eaLnBrk="1" hangingPunct="1">
              <a:lnSpc>
                <a:spcPct val="80000"/>
              </a:lnSpc>
              <a:buNone/>
            </a:pPr>
            <a:r>
              <a:rPr sz="2500" dirty="0"/>
              <a:t>                    If </a:t>
            </a:r>
            <a:r>
              <a:rPr lang="el-GR" altLang="x-none" sz="2500" dirty="0"/>
              <a:t>δ</a:t>
            </a:r>
            <a:r>
              <a:rPr sz="2500" dirty="0"/>
              <a:t>*(q, x) =p then</a:t>
            </a:r>
            <a:endParaRPr sz="2500" dirty="0"/>
          </a:p>
          <a:p>
            <a:pPr eaLnBrk="1" hangingPunct="1">
              <a:lnSpc>
                <a:spcPct val="80000"/>
              </a:lnSpc>
              <a:buNone/>
            </a:pPr>
            <a:r>
              <a:rPr sz="2500" dirty="0"/>
              <a:t>                                                  </a:t>
            </a:r>
            <a:endParaRPr sz="2500" baseline="-25000" dirty="0"/>
          </a:p>
          <a:p>
            <a:pPr eaLnBrk="1" hangingPunct="1">
              <a:lnSpc>
                <a:spcPct val="80000"/>
              </a:lnSpc>
              <a:buNone/>
            </a:pPr>
            <a:r>
              <a:rPr sz="2500" dirty="0"/>
              <a:t>     </a:t>
            </a:r>
            <a:r>
              <a:rPr lang="el-GR" altLang="x-none" sz="2500" dirty="0"/>
              <a:t>δ</a:t>
            </a:r>
            <a:r>
              <a:rPr sz="2500" dirty="0"/>
              <a:t>*(q, w)=</a:t>
            </a:r>
            <a:r>
              <a:rPr lang="el-GR" altLang="x-none" sz="2500" dirty="0"/>
              <a:t> δ</a:t>
            </a:r>
            <a:r>
              <a:rPr sz="2500" dirty="0"/>
              <a:t>(</a:t>
            </a:r>
            <a:r>
              <a:rPr lang="el-GR" altLang="x-none" sz="2500" dirty="0"/>
              <a:t>δ</a:t>
            </a:r>
            <a:r>
              <a:rPr sz="2500" dirty="0"/>
              <a:t>*(q, x),a) = </a:t>
            </a:r>
            <a:r>
              <a:rPr sz="2500" dirty="0">
                <a:latin typeface="Times New Roman" panose="02020603050405020304" pitchFamily="18" charset="0"/>
                <a:cs typeface="Times New Roman" panose="02020603050405020304" pitchFamily="18" charset="0"/>
              </a:rPr>
              <a:t> </a:t>
            </a:r>
            <a:r>
              <a:rPr lang="el-GR" altLang="x-none" sz="2500" dirty="0">
                <a:latin typeface="Times New Roman" panose="02020603050405020304" pitchFamily="18" charset="0"/>
                <a:cs typeface="Times New Roman" panose="02020603050405020304" pitchFamily="18" charset="0"/>
              </a:rPr>
              <a:t>δ</a:t>
            </a:r>
            <a:r>
              <a:rPr sz="2500" dirty="0">
                <a:latin typeface="Times New Roman" panose="02020603050405020304" pitchFamily="18" charset="0"/>
                <a:cs typeface="Times New Roman" panose="02020603050405020304" pitchFamily="18" charset="0"/>
              </a:rPr>
              <a:t>(p, a) </a:t>
            </a:r>
            <a:endParaRPr sz="2500" dirty="0">
              <a:latin typeface="Times New Roman" panose="02020603050405020304" pitchFamily="18" charset="0"/>
              <a:cs typeface="Times New Roman" panose="02020603050405020304" pitchFamily="18" charset="0"/>
            </a:endParaRPr>
          </a:p>
          <a:p>
            <a:pPr eaLnBrk="1" hangingPunct="1">
              <a:lnSpc>
                <a:spcPct val="80000"/>
              </a:lnSpc>
              <a:buNone/>
            </a:pPr>
            <a:r>
              <a:rPr sz="2500" dirty="0">
                <a:latin typeface="Times New Roman" panose="02020603050405020304" pitchFamily="18" charset="0"/>
                <a:cs typeface="Times New Roman" panose="02020603050405020304" pitchFamily="18" charset="0"/>
              </a:rPr>
              <a:t>                                             </a:t>
            </a:r>
            <a:endParaRPr sz="2500" baseline="30000" dirty="0"/>
          </a:p>
          <a:p>
            <a:pPr eaLnBrk="1" hangingPunct="1">
              <a:lnSpc>
                <a:spcPct val="80000"/>
              </a:lnSpc>
            </a:pPr>
            <a:endParaRPr sz="2500" dirty="0"/>
          </a:p>
        </p:txBody>
      </p:sp>
      <p:sp>
        <p:nvSpPr>
          <p:cNvPr id="2" name="Footer Placeholder 1"/>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7" name="Group 16"/>
          <p:cNvGrpSpPr/>
          <p:nvPr/>
        </p:nvGrpSpPr>
        <p:grpSpPr>
          <a:xfrm>
            <a:off x="1597025" y="609600"/>
            <a:ext cx="5115560" cy="1116330"/>
            <a:chOff x="1928" y="3120"/>
            <a:chExt cx="3727" cy="1758"/>
          </a:xfrm>
        </p:grpSpPr>
        <p:sp>
          <p:nvSpPr>
            <p:cNvPr id="13315" name="Line 11"/>
            <p:cNvSpPr/>
            <p:nvPr/>
          </p:nvSpPr>
          <p:spPr>
            <a:xfrm>
              <a:off x="1928" y="4298"/>
              <a:ext cx="275" cy="0"/>
            </a:xfrm>
            <a:prstGeom prst="line">
              <a:avLst/>
            </a:prstGeom>
            <a:ln w="9525" cap="flat" cmpd="sng">
              <a:solidFill>
                <a:schemeClr val="tx1"/>
              </a:solidFill>
              <a:prstDash val="solid"/>
              <a:headEnd type="none" w="med" len="med"/>
              <a:tailEnd type="triangle" w="med" len="med"/>
            </a:ln>
          </p:spPr>
        </p:sp>
        <p:sp>
          <p:nvSpPr>
            <p:cNvPr id="13321" name="Text Box 39"/>
            <p:cNvSpPr txBox="1"/>
            <p:nvPr/>
          </p:nvSpPr>
          <p:spPr>
            <a:xfrm>
              <a:off x="2573" y="3120"/>
              <a:ext cx="460" cy="58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en-US" sz="1800" i="1" dirty="0">
                  <a:latin typeface="Garamond" panose="02020404030301010803" pitchFamily="18" charset="0"/>
                </a:rPr>
                <a:t>b</a:t>
              </a:r>
              <a:endParaRPr lang="en-US" altLang="zh-TW" sz="1800" dirty="0">
                <a:latin typeface="Garamond" panose="02020404030301010803" pitchFamily="18" charset="0"/>
                <a:ea typeface="PMingLiU"/>
              </a:endParaRPr>
            </a:p>
          </p:txBody>
        </p:sp>
        <p:sp>
          <p:nvSpPr>
            <p:cNvPr id="13322" name="Text Box 40"/>
            <p:cNvSpPr txBox="1"/>
            <p:nvPr/>
          </p:nvSpPr>
          <p:spPr>
            <a:xfrm>
              <a:off x="5180" y="3148"/>
              <a:ext cx="475" cy="58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en-US" sz="1800" i="1" dirty="0">
                  <a:latin typeface="Garamond" panose="02020404030301010803" pitchFamily="18" charset="0"/>
                </a:rPr>
                <a:t>a</a:t>
              </a:r>
              <a:endParaRPr lang="en-US" altLang="zh-TW" sz="1800" dirty="0">
                <a:latin typeface="Garamond" panose="02020404030301010803" pitchFamily="18" charset="0"/>
                <a:ea typeface="PMingLiU"/>
              </a:endParaRPr>
            </a:p>
          </p:txBody>
        </p:sp>
        <p:sp>
          <p:nvSpPr>
            <p:cNvPr id="13324" name="Text Box 42"/>
            <p:cNvSpPr txBox="1"/>
            <p:nvPr/>
          </p:nvSpPr>
          <p:spPr>
            <a:xfrm>
              <a:off x="3548" y="4298"/>
              <a:ext cx="460" cy="58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en-US" sz="1800" i="1" dirty="0">
                  <a:latin typeface="Garamond" panose="02020404030301010803" pitchFamily="18" charset="0"/>
                </a:rPr>
                <a:t>b</a:t>
              </a:r>
              <a:endParaRPr lang="en-US" altLang="zh-TW" sz="1800" dirty="0">
                <a:latin typeface="Garamond" panose="02020404030301010803" pitchFamily="18" charset="0"/>
                <a:ea typeface="PMingLiU"/>
              </a:endParaRPr>
            </a:p>
          </p:txBody>
        </p:sp>
        <p:grpSp>
          <p:nvGrpSpPr>
            <p:cNvPr id="18" name="Group 17"/>
            <p:cNvGrpSpPr/>
            <p:nvPr/>
          </p:nvGrpSpPr>
          <p:grpSpPr>
            <a:xfrm>
              <a:off x="2153" y="3498"/>
              <a:ext cx="3270" cy="1092"/>
              <a:chOff x="2153" y="3498"/>
              <a:chExt cx="3270" cy="1092"/>
            </a:xfrm>
          </p:grpSpPr>
          <p:sp>
            <p:nvSpPr>
              <p:cNvPr id="19" name="Oval 10"/>
              <p:cNvSpPr/>
              <p:nvPr/>
            </p:nvSpPr>
            <p:spPr>
              <a:xfrm>
                <a:off x="2203" y="3990"/>
                <a:ext cx="600" cy="600"/>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1800" dirty="0"/>
              </a:p>
            </p:txBody>
          </p:sp>
          <p:sp>
            <p:nvSpPr>
              <p:cNvPr id="20" name="Rectangle 13"/>
              <p:cNvSpPr/>
              <p:nvPr/>
            </p:nvSpPr>
            <p:spPr>
              <a:xfrm>
                <a:off x="2213" y="3885"/>
                <a:ext cx="580" cy="58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zh-TW" sz="1800" dirty="0">
                    <a:latin typeface="Garamond" panose="02020404030301010803" pitchFamily="18" charset="0"/>
                    <a:ea typeface="PMingLiU"/>
                    <a:sym typeface="Symbol" panose="05050102010706020507" pitchFamily="18" charset="2"/>
                  </a:rPr>
                  <a:t>q</a:t>
                </a:r>
                <a:r>
                  <a:rPr lang="en-US" altLang="zh-TW" sz="1800" baseline="-25000" dirty="0">
                    <a:latin typeface="Garamond" panose="02020404030301010803" pitchFamily="18" charset="0"/>
                    <a:ea typeface="PMingLiU"/>
                    <a:sym typeface="Symbol" panose="05050102010706020507" pitchFamily="18" charset="2"/>
                  </a:rPr>
                  <a:t>0</a:t>
                </a:r>
                <a:endParaRPr lang="en-US" altLang="zh-TW" sz="1800" baseline="-25000" dirty="0">
                  <a:latin typeface="Garamond" panose="02020404030301010803" pitchFamily="18" charset="0"/>
                  <a:ea typeface="PMingLiU"/>
                  <a:sym typeface="Symbol" panose="05050102010706020507" pitchFamily="18" charset="2"/>
                </a:endParaRPr>
              </a:p>
            </p:txBody>
          </p:sp>
          <p:sp>
            <p:nvSpPr>
              <p:cNvPr id="21" name="Rectangle 14"/>
              <p:cNvSpPr/>
              <p:nvPr/>
            </p:nvSpPr>
            <p:spPr>
              <a:xfrm>
                <a:off x="4843" y="3885"/>
                <a:ext cx="580" cy="58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zh-TW" sz="1800" dirty="0">
                    <a:latin typeface="Garamond" panose="02020404030301010803" pitchFamily="18" charset="0"/>
                    <a:ea typeface="PMingLiU"/>
                    <a:sym typeface="Symbol" panose="05050102010706020507" pitchFamily="18" charset="2"/>
                  </a:rPr>
                  <a:t>q</a:t>
                </a:r>
                <a:r>
                  <a:rPr lang="en-US" altLang="zh-TW" sz="1800" baseline="-25000" dirty="0">
                    <a:latin typeface="Garamond" panose="02020404030301010803" pitchFamily="18" charset="0"/>
                    <a:ea typeface="PMingLiU"/>
                    <a:sym typeface="Symbol" panose="05050102010706020507" pitchFamily="18" charset="2"/>
                  </a:rPr>
                  <a:t>1</a:t>
                </a:r>
                <a:endParaRPr lang="en-US" altLang="zh-TW" sz="1800" baseline="-25000" dirty="0">
                  <a:latin typeface="Garamond" panose="02020404030301010803" pitchFamily="18" charset="0"/>
                  <a:ea typeface="PMingLiU"/>
                  <a:sym typeface="Symbol" panose="05050102010706020507" pitchFamily="18" charset="2"/>
                </a:endParaRPr>
              </a:p>
            </p:txBody>
          </p:sp>
          <p:sp>
            <p:nvSpPr>
              <p:cNvPr id="22" name="Line 35"/>
              <p:cNvSpPr/>
              <p:nvPr/>
            </p:nvSpPr>
            <p:spPr>
              <a:xfrm>
                <a:off x="2793" y="4178"/>
                <a:ext cx="2040" cy="0"/>
              </a:xfrm>
              <a:prstGeom prst="line">
                <a:avLst/>
              </a:prstGeom>
              <a:ln w="9525" cap="flat" cmpd="sng">
                <a:solidFill>
                  <a:schemeClr val="tx1"/>
                </a:solidFill>
                <a:prstDash val="solid"/>
                <a:headEnd type="none" w="med" len="med"/>
                <a:tailEnd type="triangle" w="med" len="med"/>
              </a:ln>
            </p:spPr>
          </p:sp>
          <p:sp>
            <p:nvSpPr>
              <p:cNvPr id="23" name="Line 36"/>
              <p:cNvSpPr/>
              <p:nvPr/>
            </p:nvSpPr>
            <p:spPr>
              <a:xfrm flipH="1">
                <a:off x="2780" y="4405"/>
                <a:ext cx="2000" cy="0"/>
              </a:xfrm>
              <a:prstGeom prst="line">
                <a:avLst/>
              </a:prstGeom>
              <a:ln w="9525" cap="flat" cmpd="sng">
                <a:solidFill>
                  <a:schemeClr val="tx1"/>
                </a:solidFill>
                <a:prstDash val="solid"/>
                <a:headEnd type="none" w="med" len="med"/>
                <a:tailEnd type="triangle" w="med" len="med"/>
              </a:ln>
            </p:spPr>
          </p:sp>
          <p:sp>
            <p:nvSpPr>
              <p:cNvPr id="24" name="Freeform 37"/>
              <p:cNvSpPr/>
              <p:nvPr/>
            </p:nvSpPr>
            <p:spPr>
              <a:xfrm>
                <a:off x="2153" y="3498"/>
                <a:ext cx="560" cy="517"/>
              </a:xfrm>
              <a:custGeom>
                <a:avLst/>
                <a:gdLst>
                  <a:gd name="txL" fmla="*/ 0 w 320"/>
                  <a:gd name="txT" fmla="*/ 0 h 296"/>
                  <a:gd name="txR" fmla="*/ 320 w 320"/>
                  <a:gd name="txB" fmla="*/ 296 h 296"/>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320" h="296">
                    <a:moveTo>
                      <a:pt x="112" y="296"/>
                    </a:moveTo>
                    <a:cubicBezTo>
                      <a:pt x="72" y="268"/>
                      <a:pt x="32" y="240"/>
                      <a:pt x="16" y="200"/>
                    </a:cubicBezTo>
                    <a:cubicBezTo>
                      <a:pt x="0" y="160"/>
                      <a:pt x="0" y="88"/>
                      <a:pt x="16" y="56"/>
                    </a:cubicBezTo>
                    <a:cubicBezTo>
                      <a:pt x="32" y="24"/>
                      <a:pt x="80" y="16"/>
                      <a:pt x="112" y="8"/>
                    </a:cubicBezTo>
                    <a:cubicBezTo>
                      <a:pt x="144" y="0"/>
                      <a:pt x="176" y="0"/>
                      <a:pt x="208" y="8"/>
                    </a:cubicBezTo>
                    <a:cubicBezTo>
                      <a:pt x="240" y="16"/>
                      <a:pt x="288" y="24"/>
                      <a:pt x="304" y="56"/>
                    </a:cubicBezTo>
                    <a:cubicBezTo>
                      <a:pt x="320" y="88"/>
                      <a:pt x="312" y="160"/>
                      <a:pt x="304" y="200"/>
                    </a:cubicBezTo>
                    <a:cubicBezTo>
                      <a:pt x="296" y="240"/>
                      <a:pt x="276" y="268"/>
                      <a:pt x="256" y="296"/>
                    </a:cubicBezTo>
                  </a:path>
                </a:pathLst>
              </a:custGeom>
              <a:noFill/>
              <a:ln w="9525" cap="flat" cmpd="sng">
                <a:solidFill>
                  <a:schemeClr val="tx1">
                    <a:alpha val="100000"/>
                  </a:schemeClr>
                </a:solidFill>
                <a:prstDash val="solid"/>
                <a:round/>
                <a:headEnd type="none" w="med" len="med"/>
                <a:tailEnd type="triangle" w="med" len="med"/>
              </a:ln>
            </p:spPr>
            <p:txBody>
              <a:bodyPr/>
              <a:p>
                <a:endParaRPr lang="en-US"/>
              </a:p>
            </p:txBody>
          </p:sp>
          <p:sp>
            <p:nvSpPr>
              <p:cNvPr id="25" name="Text Box 41"/>
              <p:cNvSpPr txBox="1"/>
              <p:nvPr/>
            </p:nvSpPr>
            <p:spPr>
              <a:xfrm>
                <a:off x="3553" y="3653"/>
                <a:ext cx="475" cy="58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en-US" sz="1800" i="1" dirty="0">
                    <a:latin typeface="Garamond" panose="02020404030301010803" pitchFamily="18" charset="0"/>
                  </a:rPr>
                  <a:t>a</a:t>
                </a:r>
                <a:endParaRPr lang="en-US" altLang="zh-TW" sz="1800" dirty="0">
                  <a:latin typeface="Garamond" panose="02020404030301010803" pitchFamily="18" charset="0"/>
                  <a:ea typeface="PMingLiU"/>
                </a:endParaRPr>
              </a:p>
            </p:txBody>
          </p:sp>
          <p:sp>
            <p:nvSpPr>
              <p:cNvPr id="26" name="Oval 10"/>
              <p:cNvSpPr/>
              <p:nvPr/>
            </p:nvSpPr>
            <p:spPr>
              <a:xfrm>
                <a:off x="4820" y="3978"/>
                <a:ext cx="600" cy="600"/>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1800" dirty="0"/>
              </a:p>
            </p:txBody>
          </p:sp>
          <p:sp>
            <p:nvSpPr>
              <p:cNvPr id="27" name="Oval 10"/>
              <p:cNvSpPr/>
              <p:nvPr/>
            </p:nvSpPr>
            <p:spPr>
              <a:xfrm>
                <a:off x="4900" y="4070"/>
                <a:ext cx="428" cy="42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1800" dirty="0"/>
              </a:p>
            </p:txBody>
          </p:sp>
          <p:sp>
            <p:nvSpPr>
              <p:cNvPr id="28" name="Freeform 37"/>
              <p:cNvSpPr/>
              <p:nvPr/>
            </p:nvSpPr>
            <p:spPr>
              <a:xfrm>
                <a:off x="4768" y="3498"/>
                <a:ext cx="560" cy="517"/>
              </a:xfrm>
              <a:custGeom>
                <a:avLst/>
                <a:gdLst>
                  <a:gd name="txL" fmla="*/ 0 w 320"/>
                  <a:gd name="txT" fmla="*/ 0 h 296"/>
                  <a:gd name="txR" fmla="*/ 320 w 320"/>
                  <a:gd name="txB" fmla="*/ 296 h 296"/>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320" h="296">
                    <a:moveTo>
                      <a:pt x="112" y="296"/>
                    </a:moveTo>
                    <a:cubicBezTo>
                      <a:pt x="72" y="268"/>
                      <a:pt x="32" y="240"/>
                      <a:pt x="16" y="200"/>
                    </a:cubicBezTo>
                    <a:cubicBezTo>
                      <a:pt x="0" y="160"/>
                      <a:pt x="0" y="88"/>
                      <a:pt x="16" y="56"/>
                    </a:cubicBezTo>
                    <a:cubicBezTo>
                      <a:pt x="32" y="24"/>
                      <a:pt x="80" y="16"/>
                      <a:pt x="112" y="8"/>
                    </a:cubicBezTo>
                    <a:cubicBezTo>
                      <a:pt x="144" y="0"/>
                      <a:pt x="176" y="0"/>
                      <a:pt x="208" y="8"/>
                    </a:cubicBezTo>
                    <a:cubicBezTo>
                      <a:pt x="240" y="16"/>
                      <a:pt x="288" y="24"/>
                      <a:pt x="304" y="56"/>
                    </a:cubicBezTo>
                    <a:cubicBezTo>
                      <a:pt x="320" y="88"/>
                      <a:pt x="312" y="160"/>
                      <a:pt x="304" y="200"/>
                    </a:cubicBezTo>
                    <a:cubicBezTo>
                      <a:pt x="296" y="240"/>
                      <a:pt x="276" y="268"/>
                      <a:pt x="256" y="296"/>
                    </a:cubicBezTo>
                  </a:path>
                </a:pathLst>
              </a:custGeom>
              <a:noFill/>
              <a:ln w="9525" cap="flat" cmpd="sng">
                <a:solidFill>
                  <a:schemeClr val="tx1">
                    <a:alpha val="100000"/>
                  </a:schemeClr>
                </a:solidFill>
                <a:prstDash val="solid"/>
                <a:round/>
                <a:headEnd type="none" w="med" len="med"/>
                <a:tailEnd type="triangle" w="med" len="med"/>
              </a:ln>
            </p:spPr>
            <p:txBody>
              <a:bodyPr/>
              <a:p>
                <a:endParaRPr lang="en-US"/>
              </a:p>
            </p:txBody>
          </p:sp>
        </p:grpSp>
      </p:grpSp>
      <p:sp>
        <p:nvSpPr>
          <p:cNvPr id="29" name="Text Box 28"/>
          <p:cNvSpPr txBox="1"/>
          <p:nvPr/>
        </p:nvSpPr>
        <p:spPr>
          <a:xfrm>
            <a:off x="305435" y="1905000"/>
            <a:ext cx="8613775" cy="3434715"/>
          </a:xfrm>
          <a:prstGeom prst="rect">
            <a:avLst/>
          </a:prstGeom>
          <a:noFill/>
        </p:spPr>
        <p:txBody>
          <a:bodyPr wrap="square" rtlCol="0" anchor="t">
            <a:noAutofit/>
          </a:bodyPr>
          <a:p>
            <a:pPr algn="l">
              <a:buClrTx/>
              <a:buSzTx/>
              <a:buFontTx/>
            </a:pPr>
            <a:r>
              <a:rPr lang="en-GB" sz="2400" b="1" dirty="0">
                <a:solidFill>
                  <a:schemeClr val="accent1"/>
                </a:solidFill>
                <a:effectLst>
                  <a:outerShdw blurRad="38100" dist="25400" dir="5400000" algn="ctr" rotWithShape="0">
                    <a:srgbClr val="6E747A">
                      <a:alpha val="43000"/>
                    </a:srgbClr>
                  </a:outerShdw>
                </a:effectLst>
                <a:sym typeface="+mn-ea"/>
              </a:rPr>
              <a:t>Use of Extended transition function δ* to validate the inputs</a:t>
            </a:r>
            <a:endParaRPr lang="en-GB" sz="2400" b="1" dirty="0">
              <a:solidFill>
                <a:schemeClr val="accent1"/>
              </a:solidFill>
              <a:effectLst>
                <a:outerShdw blurRad="38100" dist="25400" dir="5400000" algn="ctr" rotWithShape="0">
                  <a:srgbClr val="6E747A">
                    <a:alpha val="43000"/>
                  </a:srgbClr>
                </a:outerShdw>
              </a:effectLst>
            </a:endParaRPr>
          </a:p>
          <a:p>
            <a:pPr lvl="1"/>
            <a:r>
              <a:rPr lang="en-GB" altLang="el-GR" b="1" dirty="0">
                <a:solidFill>
                  <a:srgbClr val="FF0000"/>
                </a:solidFill>
                <a:sym typeface="+mn-ea"/>
              </a:rPr>
              <a:t>Example -1 - Computation of </a:t>
            </a:r>
            <a:r>
              <a:rPr lang="el-GR" altLang="en-US" b="1" dirty="0">
                <a:solidFill>
                  <a:srgbClr val="FF0000"/>
                </a:solidFill>
                <a:sym typeface="+mn-ea"/>
              </a:rPr>
              <a:t>δ*</a:t>
            </a:r>
            <a:r>
              <a:rPr lang="en-US" altLang="en-US" b="1" dirty="0">
                <a:solidFill>
                  <a:srgbClr val="FF0000"/>
                </a:solidFill>
                <a:sym typeface="+mn-ea"/>
              </a:rPr>
              <a:t>(q0,</a:t>
            </a:r>
            <a:r>
              <a:rPr lang="en-GB" altLang="en-US" b="1" dirty="0">
                <a:solidFill>
                  <a:srgbClr val="FF0000"/>
                </a:solidFill>
                <a:sym typeface="+mn-ea"/>
              </a:rPr>
              <a:t>bbaa</a:t>
            </a:r>
            <a:r>
              <a:rPr lang="en-US" altLang="en-US" b="1" dirty="0">
                <a:solidFill>
                  <a:srgbClr val="FF0000"/>
                </a:solidFill>
                <a:sym typeface="+mn-ea"/>
              </a:rPr>
              <a:t>)</a:t>
            </a:r>
            <a:r>
              <a:rPr lang="en-GB" altLang="en-US" b="1" dirty="0">
                <a:solidFill>
                  <a:srgbClr val="FF0000"/>
                </a:solidFill>
                <a:sym typeface="+mn-ea"/>
              </a:rPr>
              <a:t> :</a:t>
            </a:r>
            <a:endParaRPr lang="en-GB" altLang="en-US" b="1" dirty="0">
              <a:solidFill>
                <a:srgbClr val="FF0000"/>
              </a:solidFill>
              <a:sym typeface="+mn-ea"/>
            </a:endParaRPr>
          </a:p>
          <a:p>
            <a:pPr lvl="1"/>
            <a:r>
              <a:rPr lang="el-GR" altLang="en-US" dirty="0">
                <a:sym typeface="+mn-ea"/>
              </a:rPr>
              <a:t>δ*</a:t>
            </a:r>
            <a:r>
              <a:rPr lang="en-US" altLang="en-US" dirty="0">
                <a:sym typeface="+mn-ea"/>
              </a:rPr>
              <a:t>(q0,</a:t>
            </a:r>
            <a:r>
              <a:rPr lang="en-US" altLang="en-US" dirty="0">
                <a:cs typeface="Arial" panose="020B0604020202020204" pitchFamily="34" charset="0"/>
                <a:sym typeface="+mn-ea"/>
              </a:rPr>
              <a:t>€</a:t>
            </a:r>
            <a:r>
              <a:rPr lang="en-US" altLang="en-US" dirty="0">
                <a:sym typeface="+mn-ea"/>
              </a:rPr>
              <a:t>)</a:t>
            </a:r>
            <a:r>
              <a:rPr lang="en-GB" altLang="en-US" dirty="0">
                <a:sym typeface="+mn-ea"/>
              </a:rPr>
              <a:t> = </a:t>
            </a:r>
            <a:r>
              <a:rPr lang="en-US" altLang="en-US" dirty="0">
                <a:sym typeface="+mn-ea"/>
              </a:rPr>
              <a:t>q0</a:t>
            </a:r>
            <a:r>
              <a:rPr lang="en-GB" altLang="en-US" dirty="0">
                <a:sym typeface="+mn-ea"/>
              </a:rPr>
              <a:t> </a:t>
            </a:r>
            <a:r>
              <a:rPr lang="en-GB" altLang="en-US" dirty="0">
                <a:cs typeface="Arial" panose="020B0604020202020204" pitchFamily="34" charset="0"/>
                <a:sym typeface="+mn-ea"/>
              </a:rPr>
              <a:t>→</a:t>
            </a:r>
            <a:r>
              <a:rPr lang="en-GB" altLang="en-US" dirty="0">
                <a:sym typeface="+mn-ea"/>
              </a:rPr>
              <a:t> By Basis</a:t>
            </a:r>
            <a:endParaRPr lang="en-GB" altLang="en-US" dirty="0">
              <a:sym typeface="+mn-ea"/>
            </a:endParaRPr>
          </a:p>
          <a:p>
            <a:pPr lvl="1"/>
            <a:r>
              <a:rPr lang="en-GB" altLang="en-US" dirty="0">
                <a:sym typeface="+mn-ea"/>
              </a:rPr>
              <a:t>By Induction :</a:t>
            </a:r>
            <a:endParaRPr lang="en-GB" altLang="en-US" dirty="0">
              <a:sym typeface="+mn-ea"/>
            </a:endParaRPr>
          </a:p>
          <a:p>
            <a:pPr lvl="2"/>
            <a:r>
              <a:rPr lang="el-GR" altLang="en-US" dirty="0">
                <a:sym typeface="+mn-ea"/>
              </a:rPr>
              <a:t>δ*</a:t>
            </a:r>
            <a:r>
              <a:rPr lang="en-US" altLang="en-US" dirty="0">
                <a:sym typeface="+mn-ea"/>
              </a:rPr>
              <a:t>(q0,</a:t>
            </a:r>
            <a:r>
              <a:rPr lang="en-GB" altLang="en-US" dirty="0">
                <a:sym typeface="+mn-ea"/>
              </a:rPr>
              <a:t>b</a:t>
            </a:r>
            <a:r>
              <a:rPr lang="en-US" altLang="en-US" dirty="0">
                <a:sym typeface="+mn-ea"/>
              </a:rPr>
              <a:t>)</a:t>
            </a:r>
            <a:r>
              <a:rPr lang="en-GB" altLang="en-US" dirty="0">
                <a:sym typeface="+mn-ea"/>
              </a:rPr>
              <a:t> =</a:t>
            </a:r>
            <a:r>
              <a:rPr lang="el-GR" altLang="en-US" dirty="0">
                <a:sym typeface="+mn-ea"/>
              </a:rPr>
              <a:t>δ</a:t>
            </a:r>
            <a:r>
              <a:rPr lang="en-US" altLang="en-US" dirty="0">
                <a:sym typeface="+mn-ea"/>
              </a:rPr>
              <a:t>(</a:t>
            </a:r>
            <a:r>
              <a:rPr lang="el-GR" altLang="en-US" dirty="0">
                <a:sym typeface="+mn-ea"/>
              </a:rPr>
              <a:t>δ*</a:t>
            </a:r>
            <a:r>
              <a:rPr lang="en-US" altLang="en-US" dirty="0">
                <a:sym typeface="+mn-ea"/>
              </a:rPr>
              <a:t>(q0,</a:t>
            </a:r>
            <a:r>
              <a:rPr lang="en-US" altLang="en-US" dirty="0">
                <a:cs typeface="Arial" panose="020B0604020202020204" pitchFamily="34" charset="0"/>
                <a:sym typeface="+mn-ea"/>
              </a:rPr>
              <a:t>€</a:t>
            </a:r>
            <a:r>
              <a:rPr lang="en-US" altLang="en-US" dirty="0">
                <a:sym typeface="+mn-ea"/>
              </a:rPr>
              <a:t>)</a:t>
            </a:r>
            <a:r>
              <a:rPr lang="en-GB" altLang="en-US" dirty="0">
                <a:sym typeface="+mn-ea"/>
              </a:rPr>
              <a:t>,b) = </a:t>
            </a:r>
            <a:r>
              <a:rPr lang="el-GR" altLang="en-US" dirty="0">
                <a:sym typeface="+mn-ea"/>
              </a:rPr>
              <a:t>δ</a:t>
            </a:r>
            <a:r>
              <a:rPr lang="en-GB" altLang="el-GR" dirty="0">
                <a:sym typeface="+mn-ea"/>
              </a:rPr>
              <a:t>(</a:t>
            </a:r>
            <a:r>
              <a:rPr lang="en-GB" altLang="en-US" dirty="0">
                <a:sym typeface="+mn-ea"/>
              </a:rPr>
              <a:t>q0, b) = q0</a:t>
            </a:r>
            <a:endParaRPr lang="en-GB" altLang="en-US" dirty="0">
              <a:sym typeface="+mn-ea"/>
            </a:endParaRPr>
          </a:p>
          <a:p>
            <a:pPr lvl="2"/>
            <a:r>
              <a:rPr lang="el-GR" altLang="en-US" dirty="0">
                <a:sym typeface="+mn-ea"/>
              </a:rPr>
              <a:t>δ*</a:t>
            </a:r>
            <a:r>
              <a:rPr lang="en-US" altLang="en-US" dirty="0">
                <a:sym typeface="+mn-ea"/>
              </a:rPr>
              <a:t>(q0,</a:t>
            </a:r>
            <a:r>
              <a:rPr lang="en-GB" altLang="en-US" dirty="0">
                <a:sym typeface="+mn-ea"/>
              </a:rPr>
              <a:t>bb</a:t>
            </a:r>
            <a:r>
              <a:rPr lang="en-US" altLang="en-US" dirty="0">
                <a:sym typeface="+mn-ea"/>
              </a:rPr>
              <a:t>)</a:t>
            </a:r>
            <a:r>
              <a:rPr lang="en-GB" altLang="en-US" dirty="0">
                <a:sym typeface="+mn-ea"/>
              </a:rPr>
              <a:t> =</a:t>
            </a:r>
            <a:r>
              <a:rPr lang="el-GR" altLang="en-US" dirty="0">
                <a:sym typeface="+mn-ea"/>
              </a:rPr>
              <a:t>δ</a:t>
            </a:r>
            <a:r>
              <a:rPr lang="en-US" altLang="en-US" dirty="0">
                <a:sym typeface="+mn-ea"/>
              </a:rPr>
              <a:t>(</a:t>
            </a:r>
            <a:r>
              <a:rPr lang="el-GR" altLang="en-US" dirty="0">
                <a:sym typeface="+mn-ea"/>
              </a:rPr>
              <a:t>δ*</a:t>
            </a:r>
            <a:r>
              <a:rPr lang="en-US" altLang="en-US" dirty="0">
                <a:sym typeface="+mn-ea"/>
              </a:rPr>
              <a:t>(q0,</a:t>
            </a:r>
            <a:r>
              <a:rPr lang="en-GB" altLang="en-US" dirty="0">
                <a:sym typeface="+mn-ea"/>
              </a:rPr>
              <a:t>b</a:t>
            </a:r>
            <a:r>
              <a:rPr lang="en-US" altLang="en-US" dirty="0">
                <a:sym typeface="+mn-ea"/>
              </a:rPr>
              <a:t>)</a:t>
            </a:r>
            <a:r>
              <a:rPr lang="en-GB" altLang="en-US" dirty="0">
                <a:sym typeface="+mn-ea"/>
              </a:rPr>
              <a:t>,b) =</a:t>
            </a:r>
            <a:r>
              <a:rPr lang="el-GR" altLang="en-US" dirty="0">
                <a:sym typeface="+mn-ea"/>
              </a:rPr>
              <a:t>δ</a:t>
            </a:r>
            <a:r>
              <a:rPr lang="en-GB" altLang="el-GR" dirty="0">
                <a:sym typeface="+mn-ea"/>
              </a:rPr>
              <a:t>(</a:t>
            </a:r>
            <a:r>
              <a:rPr lang="en-GB" altLang="en-US" dirty="0">
                <a:sym typeface="+mn-ea"/>
              </a:rPr>
              <a:t>q0,b) = q0</a:t>
            </a:r>
            <a:endParaRPr lang="en-GB" altLang="en-US" dirty="0">
              <a:sym typeface="+mn-ea"/>
            </a:endParaRPr>
          </a:p>
          <a:p>
            <a:pPr lvl="2"/>
            <a:r>
              <a:rPr lang="el-GR" altLang="en-US" dirty="0">
                <a:sym typeface="+mn-ea"/>
              </a:rPr>
              <a:t>δ*</a:t>
            </a:r>
            <a:r>
              <a:rPr lang="en-US" altLang="en-US" dirty="0">
                <a:sym typeface="+mn-ea"/>
              </a:rPr>
              <a:t>(q0,</a:t>
            </a:r>
            <a:r>
              <a:rPr lang="en-GB" altLang="en-US" dirty="0">
                <a:sym typeface="+mn-ea"/>
              </a:rPr>
              <a:t>bba</a:t>
            </a:r>
            <a:r>
              <a:rPr lang="en-US" altLang="en-US" dirty="0">
                <a:sym typeface="+mn-ea"/>
              </a:rPr>
              <a:t>)</a:t>
            </a:r>
            <a:r>
              <a:rPr lang="en-GB" altLang="en-US" dirty="0">
                <a:sym typeface="+mn-ea"/>
              </a:rPr>
              <a:t> =</a:t>
            </a:r>
            <a:r>
              <a:rPr lang="el-GR" altLang="en-US" dirty="0">
                <a:sym typeface="+mn-ea"/>
              </a:rPr>
              <a:t>δ</a:t>
            </a:r>
            <a:r>
              <a:rPr lang="en-US" altLang="en-US" dirty="0">
                <a:sym typeface="+mn-ea"/>
              </a:rPr>
              <a:t>(</a:t>
            </a:r>
            <a:r>
              <a:rPr lang="el-GR" altLang="en-US" dirty="0">
                <a:sym typeface="+mn-ea"/>
              </a:rPr>
              <a:t>δ*</a:t>
            </a:r>
            <a:r>
              <a:rPr lang="en-US" altLang="en-US" dirty="0">
                <a:sym typeface="+mn-ea"/>
              </a:rPr>
              <a:t>(q0,</a:t>
            </a:r>
            <a:r>
              <a:rPr lang="en-GB" altLang="en-US" dirty="0">
                <a:sym typeface="+mn-ea"/>
              </a:rPr>
              <a:t>bb</a:t>
            </a:r>
            <a:r>
              <a:rPr lang="en-US" altLang="en-US" dirty="0">
                <a:sym typeface="+mn-ea"/>
              </a:rPr>
              <a:t>)</a:t>
            </a:r>
            <a:r>
              <a:rPr lang="en-GB" altLang="en-US" dirty="0">
                <a:sym typeface="+mn-ea"/>
              </a:rPr>
              <a:t>,a) =</a:t>
            </a:r>
            <a:r>
              <a:rPr lang="el-GR" altLang="en-US" dirty="0">
                <a:sym typeface="+mn-ea"/>
              </a:rPr>
              <a:t>δ</a:t>
            </a:r>
            <a:r>
              <a:rPr lang="en-GB" altLang="el-GR" dirty="0">
                <a:sym typeface="+mn-ea"/>
              </a:rPr>
              <a:t>(</a:t>
            </a:r>
            <a:r>
              <a:rPr lang="en-GB" altLang="en-US" dirty="0">
                <a:sym typeface="+mn-ea"/>
              </a:rPr>
              <a:t>q0,a) = q1</a:t>
            </a:r>
            <a:endParaRPr lang="en-GB" altLang="en-US" dirty="0">
              <a:sym typeface="+mn-ea"/>
            </a:endParaRPr>
          </a:p>
          <a:p>
            <a:pPr lvl="2"/>
            <a:r>
              <a:rPr lang="el-GR" altLang="en-US" dirty="0">
                <a:sym typeface="+mn-ea"/>
              </a:rPr>
              <a:t>δ*</a:t>
            </a:r>
            <a:r>
              <a:rPr lang="en-US" altLang="en-US" dirty="0">
                <a:sym typeface="+mn-ea"/>
              </a:rPr>
              <a:t>(q0,</a:t>
            </a:r>
            <a:r>
              <a:rPr lang="en-GB" altLang="en-US" dirty="0">
                <a:sym typeface="+mn-ea"/>
              </a:rPr>
              <a:t>bbaa</a:t>
            </a:r>
            <a:r>
              <a:rPr lang="en-US" altLang="en-US" dirty="0">
                <a:sym typeface="+mn-ea"/>
              </a:rPr>
              <a:t>)</a:t>
            </a:r>
            <a:r>
              <a:rPr lang="en-GB" altLang="en-US" dirty="0">
                <a:sym typeface="+mn-ea"/>
              </a:rPr>
              <a:t> =</a:t>
            </a:r>
            <a:r>
              <a:rPr lang="el-GR" altLang="en-US" dirty="0">
                <a:sym typeface="+mn-ea"/>
              </a:rPr>
              <a:t>δ</a:t>
            </a:r>
            <a:r>
              <a:rPr lang="en-US" altLang="en-US" dirty="0">
                <a:sym typeface="+mn-ea"/>
              </a:rPr>
              <a:t>(</a:t>
            </a:r>
            <a:r>
              <a:rPr lang="el-GR" altLang="en-US" dirty="0">
                <a:sym typeface="+mn-ea"/>
              </a:rPr>
              <a:t>δ*</a:t>
            </a:r>
            <a:r>
              <a:rPr lang="en-US" altLang="en-US" dirty="0">
                <a:sym typeface="+mn-ea"/>
              </a:rPr>
              <a:t>(q0,</a:t>
            </a:r>
            <a:r>
              <a:rPr lang="en-GB" altLang="en-US" dirty="0">
                <a:sym typeface="+mn-ea"/>
              </a:rPr>
              <a:t>bba</a:t>
            </a:r>
            <a:r>
              <a:rPr lang="en-US" altLang="en-US" dirty="0">
                <a:sym typeface="+mn-ea"/>
              </a:rPr>
              <a:t>)</a:t>
            </a:r>
            <a:r>
              <a:rPr lang="en-GB" altLang="en-US" dirty="0">
                <a:sym typeface="+mn-ea"/>
              </a:rPr>
              <a:t>,a) =</a:t>
            </a:r>
            <a:r>
              <a:rPr lang="el-GR" altLang="en-US" dirty="0">
                <a:sym typeface="+mn-ea"/>
              </a:rPr>
              <a:t>δ</a:t>
            </a:r>
            <a:r>
              <a:rPr lang="en-GB" altLang="el-GR" dirty="0">
                <a:sym typeface="+mn-ea"/>
              </a:rPr>
              <a:t>(</a:t>
            </a:r>
            <a:r>
              <a:rPr lang="en-GB" altLang="en-US" dirty="0">
                <a:sym typeface="+mn-ea"/>
              </a:rPr>
              <a:t>q1,a) = q1</a:t>
            </a:r>
            <a:endParaRPr lang="en-GB" altLang="en-US" dirty="0">
              <a:sym typeface="+mn-ea"/>
            </a:endParaRPr>
          </a:p>
          <a:p>
            <a:pPr lvl="2"/>
            <a:endParaRPr lang="en-GB" altLang="en-US" dirty="0">
              <a:sym typeface="+mn-ea"/>
            </a:endParaRPr>
          </a:p>
          <a:p>
            <a:r>
              <a:rPr lang="en-GB" altLang="en-US" dirty="0">
                <a:cs typeface="Arial" panose="020B0604020202020204" pitchFamily="34" charset="0"/>
                <a:sym typeface="+mn-ea"/>
              </a:rPr>
              <a:t>The string w = bbaa is</a:t>
            </a:r>
            <a:r>
              <a:rPr lang="en-GB" altLang="en-US" b="1" dirty="0">
                <a:solidFill>
                  <a:srgbClr val="FF0000"/>
                </a:solidFill>
                <a:cs typeface="Arial" panose="020B0604020202020204" pitchFamily="34" charset="0"/>
                <a:sym typeface="+mn-ea"/>
              </a:rPr>
              <a:t> v</a:t>
            </a:r>
            <a:r>
              <a:rPr lang="en-GB" altLang="en-US" b="1" dirty="0">
                <a:solidFill>
                  <a:srgbClr val="FF0000"/>
                </a:solidFill>
                <a:cs typeface="Arial" panose="020B0604020202020204" pitchFamily="34" charset="0"/>
                <a:sym typeface="+mn-ea"/>
              </a:rPr>
              <a:t>alid as DFA remains in q1 and is a final state</a:t>
            </a:r>
            <a:endParaRPr lang="en-GB" altLang="en-US" b="1" dirty="0">
              <a:solidFill>
                <a:srgbClr val="FF0000"/>
              </a:solidFill>
              <a:cs typeface="Arial" panose="020B0604020202020204" pitchFamily="34" charset="0"/>
              <a:sym typeface="+mn-ea"/>
            </a:endParaRPr>
          </a:p>
          <a:p>
            <a:endParaRPr lang="en-GB" altLang="en-US" dirty="0">
              <a:sym typeface="+mn-ea"/>
            </a:endParaRPr>
          </a:p>
          <a:p>
            <a:endParaRPr lang="en-GB" altLang="en-US" dirty="0">
              <a:sym typeface="+mn-ea"/>
            </a:endParaRPr>
          </a:p>
        </p:txBody>
      </p:sp>
      <p:sp>
        <p:nvSpPr>
          <p:cNvPr id="3" name="Text Box 2"/>
          <p:cNvSpPr txBox="1"/>
          <p:nvPr/>
        </p:nvSpPr>
        <p:spPr>
          <a:xfrm>
            <a:off x="2921000" y="6009005"/>
            <a:ext cx="3048000" cy="368300"/>
          </a:xfrm>
          <a:prstGeom prst="rect">
            <a:avLst/>
          </a:prstGeom>
          <a:noFill/>
        </p:spPr>
        <p:txBody>
          <a:bodyPr wrap="square" rtlCol="0">
            <a:spAutoFit/>
          </a:bodyPr>
          <a:p>
            <a:r>
              <a:rPr lang="en-IN" altLang="en-US"/>
              <a:t>Exercise problems </a:t>
            </a:r>
            <a:endParaRPr lang="en-IN" altLang="en-US"/>
          </a:p>
        </p:txBody>
      </p:sp>
      <p:sp>
        <p:nvSpPr>
          <p:cNvPr id="2" name="Footer Placeholder 1"/>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452120" y="1028700"/>
            <a:ext cx="8150225" cy="3138170"/>
          </a:xfrm>
          <a:prstGeom prst="rect">
            <a:avLst/>
          </a:prstGeom>
          <a:noFill/>
        </p:spPr>
        <p:txBody>
          <a:bodyPr wrap="square" rtlCol="0" anchor="t">
            <a:spAutoFit/>
          </a:bodyPr>
          <a:p>
            <a:pPr lvl="1"/>
            <a:r>
              <a:rPr lang="en-GB" altLang="el-GR" b="1" dirty="0">
                <a:solidFill>
                  <a:srgbClr val="FF0000"/>
                </a:solidFill>
                <a:sym typeface="+mn-ea"/>
              </a:rPr>
              <a:t>Example -2 - Computation of </a:t>
            </a:r>
            <a:r>
              <a:rPr lang="el-GR" altLang="en-US" b="1" dirty="0">
                <a:solidFill>
                  <a:srgbClr val="FF0000"/>
                </a:solidFill>
                <a:sym typeface="+mn-ea"/>
              </a:rPr>
              <a:t>δ*</a:t>
            </a:r>
            <a:r>
              <a:rPr lang="en-US" altLang="en-US" b="1" dirty="0">
                <a:solidFill>
                  <a:srgbClr val="FF0000"/>
                </a:solidFill>
                <a:sym typeface="+mn-ea"/>
              </a:rPr>
              <a:t>(q0,</a:t>
            </a:r>
            <a:r>
              <a:rPr lang="en-GB" altLang="en-US" b="1" dirty="0">
                <a:solidFill>
                  <a:srgbClr val="FF0000"/>
                </a:solidFill>
                <a:sym typeface="+mn-ea"/>
              </a:rPr>
              <a:t>abbab</a:t>
            </a:r>
            <a:r>
              <a:rPr lang="en-US" altLang="en-US" b="1" dirty="0">
                <a:solidFill>
                  <a:srgbClr val="FF0000"/>
                </a:solidFill>
                <a:sym typeface="+mn-ea"/>
              </a:rPr>
              <a:t>)</a:t>
            </a:r>
            <a:r>
              <a:rPr lang="en-GB" altLang="en-US" b="1" dirty="0">
                <a:solidFill>
                  <a:srgbClr val="FF0000"/>
                </a:solidFill>
                <a:sym typeface="+mn-ea"/>
              </a:rPr>
              <a:t> :</a:t>
            </a:r>
            <a:endParaRPr lang="en-GB" altLang="en-US" b="1" dirty="0">
              <a:solidFill>
                <a:srgbClr val="FF0000"/>
              </a:solidFill>
              <a:sym typeface="+mn-ea"/>
            </a:endParaRPr>
          </a:p>
          <a:p>
            <a:pPr lvl="1"/>
            <a:r>
              <a:rPr lang="el-GR" altLang="en-US" dirty="0">
                <a:sym typeface="+mn-ea"/>
              </a:rPr>
              <a:t>δ*</a:t>
            </a:r>
            <a:r>
              <a:rPr lang="en-US" altLang="en-US" dirty="0">
                <a:sym typeface="+mn-ea"/>
              </a:rPr>
              <a:t>(q0,</a:t>
            </a:r>
            <a:r>
              <a:rPr lang="en-US" altLang="en-US" dirty="0">
                <a:cs typeface="Arial" panose="020B0604020202020204" pitchFamily="34" charset="0"/>
                <a:sym typeface="+mn-ea"/>
              </a:rPr>
              <a:t>€</a:t>
            </a:r>
            <a:r>
              <a:rPr lang="en-US" altLang="en-US" dirty="0">
                <a:sym typeface="+mn-ea"/>
              </a:rPr>
              <a:t>)</a:t>
            </a:r>
            <a:r>
              <a:rPr lang="en-GB" altLang="en-US" dirty="0">
                <a:sym typeface="+mn-ea"/>
              </a:rPr>
              <a:t> = </a:t>
            </a:r>
            <a:r>
              <a:rPr lang="en-US" altLang="en-US" dirty="0">
                <a:sym typeface="+mn-ea"/>
              </a:rPr>
              <a:t>q0</a:t>
            </a:r>
            <a:r>
              <a:rPr lang="en-GB" altLang="en-US" dirty="0">
                <a:sym typeface="+mn-ea"/>
              </a:rPr>
              <a:t> </a:t>
            </a:r>
            <a:r>
              <a:rPr lang="en-GB" altLang="en-US" dirty="0">
                <a:cs typeface="Arial" panose="020B0604020202020204" pitchFamily="34" charset="0"/>
                <a:sym typeface="+mn-ea"/>
              </a:rPr>
              <a:t>→</a:t>
            </a:r>
            <a:r>
              <a:rPr lang="en-GB" altLang="en-US" dirty="0">
                <a:sym typeface="+mn-ea"/>
              </a:rPr>
              <a:t> By Basis</a:t>
            </a:r>
            <a:endParaRPr lang="en-GB" altLang="en-US" dirty="0">
              <a:sym typeface="+mn-ea"/>
            </a:endParaRPr>
          </a:p>
          <a:p>
            <a:pPr lvl="1"/>
            <a:r>
              <a:rPr lang="en-GB" altLang="en-US" dirty="0">
                <a:sym typeface="+mn-ea"/>
              </a:rPr>
              <a:t>By Induction :</a:t>
            </a:r>
            <a:endParaRPr lang="en-GB" altLang="en-US" dirty="0">
              <a:sym typeface="+mn-ea"/>
            </a:endParaRPr>
          </a:p>
          <a:p>
            <a:pPr lvl="2"/>
            <a:r>
              <a:rPr lang="el-GR" altLang="en-US" dirty="0">
                <a:sym typeface="+mn-ea"/>
              </a:rPr>
              <a:t>δ*</a:t>
            </a:r>
            <a:r>
              <a:rPr lang="en-US" altLang="en-US" dirty="0">
                <a:sym typeface="+mn-ea"/>
              </a:rPr>
              <a:t>(q0,</a:t>
            </a:r>
            <a:r>
              <a:rPr lang="en-GB" altLang="en-US" dirty="0">
                <a:sym typeface="+mn-ea"/>
              </a:rPr>
              <a:t>a</a:t>
            </a:r>
            <a:r>
              <a:rPr lang="en-US" altLang="en-US" dirty="0">
                <a:sym typeface="+mn-ea"/>
              </a:rPr>
              <a:t>)</a:t>
            </a:r>
            <a:r>
              <a:rPr lang="en-GB" altLang="en-US" dirty="0">
                <a:sym typeface="+mn-ea"/>
              </a:rPr>
              <a:t> =</a:t>
            </a:r>
            <a:r>
              <a:rPr lang="el-GR" altLang="en-US" dirty="0">
                <a:sym typeface="+mn-ea"/>
              </a:rPr>
              <a:t>δ</a:t>
            </a:r>
            <a:r>
              <a:rPr lang="en-US" altLang="en-US" dirty="0">
                <a:sym typeface="+mn-ea"/>
              </a:rPr>
              <a:t>(</a:t>
            </a:r>
            <a:r>
              <a:rPr lang="el-GR" altLang="en-US" dirty="0">
                <a:sym typeface="+mn-ea"/>
              </a:rPr>
              <a:t>δ*</a:t>
            </a:r>
            <a:r>
              <a:rPr lang="en-US" altLang="en-US" dirty="0">
                <a:sym typeface="+mn-ea"/>
              </a:rPr>
              <a:t>(q0,</a:t>
            </a:r>
            <a:r>
              <a:rPr lang="en-US" altLang="en-US" dirty="0">
                <a:cs typeface="Arial" panose="020B0604020202020204" pitchFamily="34" charset="0"/>
                <a:sym typeface="+mn-ea"/>
              </a:rPr>
              <a:t>€</a:t>
            </a:r>
            <a:r>
              <a:rPr lang="en-US" altLang="en-US" dirty="0">
                <a:sym typeface="+mn-ea"/>
              </a:rPr>
              <a:t>)</a:t>
            </a:r>
            <a:r>
              <a:rPr lang="en-GB" altLang="en-US" dirty="0">
                <a:sym typeface="+mn-ea"/>
              </a:rPr>
              <a:t>,a) = </a:t>
            </a:r>
            <a:r>
              <a:rPr lang="el-GR" altLang="en-US" dirty="0">
                <a:sym typeface="+mn-ea"/>
              </a:rPr>
              <a:t>δ</a:t>
            </a:r>
            <a:r>
              <a:rPr lang="en-GB" altLang="el-GR" dirty="0">
                <a:sym typeface="+mn-ea"/>
              </a:rPr>
              <a:t>(</a:t>
            </a:r>
            <a:r>
              <a:rPr lang="en-GB" altLang="en-US" dirty="0">
                <a:sym typeface="+mn-ea"/>
              </a:rPr>
              <a:t>q0, a) = q1</a:t>
            </a:r>
            <a:endParaRPr lang="en-GB" altLang="en-US" dirty="0">
              <a:sym typeface="+mn-ea"/>
            </a:endParaRPr>
          </a:p>
          <a:p>
            <a:pPr lvl="2"/>
            <a:r>
              <a:rPr lang="el-GR" altLang="en-US" dirty="0">
                <a:sym typeface="+mn-ea"/>
              </a:rPr>
              <a:t>δ*</a:t>
            </a:r>
            <a:r>
              <a:rPr lang="en-US" altLang="en-US" dirty="0">
                <a:sym typeface="+mn-ea"/>
              </a:rPr>
              <a:t>(q0,</a:t>
            </a:r>
            <a:r>
              <a:rPr lang="en-GB" altLang="en-US" dirty="0">
                <a:sym typeface="+mn-ea"/>
              </a:rPr>
              <a:t>ab</a:t>
            </a:r>
            <a:r>
              <a:rPr lang="en-US" altLang="en-US" dirty="0">
                <a:sym typeface="+mn-ea"/>
              </a:rPr>
              <a:t>)</a:t>
            </a:r>
            <a:r>
              <a:rPr lang="en-GB" altLang="en-US" dirty="0">
                <a:sym typeface="+mn-ea"/>
              </a:rPr>
              <a:t> =</a:t>
            </a:r>
            <a:r>
              <a:rPr lang="el-GR" altLang="en-US" dirty="0">
                <a:sym typeface="+mn-ea"/>
              </a:rPr>
              <a:t>δ</a:t>
            </a:r>
            <a:r>
              <a:rPr lang="en-US" altLang="en-US" dirty="0">
                <a:sym typeface="+mn-ea"/>
              </a:rPr>
              <a:t>(</a:t>
            </a:r>
            <a:r>
              <a:rPr lang="el-GR" altLang="en-US" dirty="0">
                <a:sym typeface="+mn-ea"/>
              </a:rPr>
              <a:t>δ*</a:t>
            </a:r>
            <a:r>
              <a:rPr lang="en-US" altLang="en-US" dirty="0">
                <a:sym typeface="+mn-ea"/>
              </a:rPr>
              <a:t>(q0,</a:t>
            </a:r>
            <a:r>
              <a:rPr lang="en-GB" altLang="en-US" dirty="0">
                <a:sym typeface="+mn-ea"/>
              </a:rPr>
              <a:t>a</a:t>
            </a:r>
            <a:r>
              <a:rPr lang="en-US" altLang="en-US" dirty="0">
                <a:sym typeface="+mn-ea"/>
              </a:rPr>
              <a:t>)</a:t>
            </a:r>
            <a:r>
              <a:rPr lang="en-GB" altLang="en-US" dirty="0">
                <a:sym typeface="+mn-ea"/>
              </a:rPr>
              <a:t>,b) =</a:t>
            </a:r>
            <a:r>
              <a:rPr lang="el-GR" altLang="en-US" dirty="0">
                <a:sym typeface="+mn-ea"/>
              </a:rPr>
              <a:t>δ</a:t>
            </a:r>
            <a:r>
              <a:rPr lang="en-GB" altLang="el-GR" dirty="0">
                <a:sym typeface="+mn-ea"/>
              </a:rPr>
              <a:t>(</a:t>
            </a:r>
            <a:r>
              <a:rPr lang="en-GB" altLang="en-US" dirty="0">
                <a:sym typeface="+mn-ea"/>
              </a:rPr>
              <a:t>q1,b) = q0</a:t>
            </a:r>
            <a:endParaRPr lang="en-GB" altLang="en-US" dirty="0">
              <a:sym typeface="+mn-ea"/>
            </a:endParaRPr>
          </a:p>
          <a:p>
            <a:pPr lvl="2"/>
            <a:r>
              <a:rPr lang="el-GR" altLang="en-US" dirty="0">
                <a:sym typeface="+mn-ea"/>
              </a:rPr>
              <a:t>δ*</a:t>
            </a:r>
            <a:r>
              <a:rPr lang="en-US" altLang="en-US" dirty="0">
                <a:sym typeface="+mn-ea"/>
              </a:rPr>
              <a:t>(q0,</a:t>
            </a:r>
            <a:r>
              <a:rPr lang="en-GB" altLang="en-US" dirty="0">
                <a:sym typeface="+mn-ea"/>
              </a:rPr>
              <a:t>abb</a:t>
            </a:r>
            <a:r>
              <a:rPr lang="en-US" altLang="en-US" dirty="0">
                <a:sym typeface="+mn-ea"/>
              </a:rPr>
              <a:t>)</a:t>
            </a:r>
            <a:r>
              <a:rPr lang="en-GB" altLang="en-US" dirty="0">
                <a:sym typeface="+mn-ea"/>
              </a:rPr>
              <a:t> =</a:t>
            </a:r>
            <a:r>
              <a:rPr lang="el-GR" altLang="en-US" dirty="0">
                <a:sym typeface="+mn-ea"/>
              </a:rPr>
              <a:t>δ</a:t>
            </a:r>
            <a:r>
              <a:rPr lang="en-US" altLang="en-US" dirty="0">
                <a:sym typeface="+mn-ea"/>
              </a:rPr>
              <a:t>(</a:t>
            </a:r>
            <a:r>
              <a:rPr lang="el-GR" altLang="en-US" dirty="0">
                <a:sym typeface="+mn-ea"/>
              </a:rPr>
              <a:t>δ*</a:t>
            </a:r>
            <a:r>
              <a:rPr lang="en-US" altLang="en-US" dirty="0">
                <a:sym typeface="+mn-ea"/>
              </a:rPr>
              <a:t>(q0,</a:t>
            </a:r>
            <a:r>
              <a:rPr lang="en-GB" altLang="en-US" dirty="0">
                <a:sym typeface="+mn-ea"/>
              </a:rPr>
              <a:t>ab</a:t>
            </a:r>
            <a:r>
              <a:rPr lang="en-US" altLang="en-US" dirty="0">
                <a:sym typeface="+mn-ea"/>
              </a:rPr>
              <a:t>)</a:t>
            </a:r>
            <a:r>
              <a:rPr lang="en-GB" altLang="en-US" dirty="0">
                <a:sym typeface="+mn-ea"/>
              </a:rPr>
              <a:t>,b) =</a:t>
            </a:r>
            <a:r>
              <a:rPr lang="el-GR" altLang="en-US" dirty="0">
                <a:sym typeface="+mn-ea"/>
              </a:rPr>
              <a:t>δ</a:t>
            </a:r>
            <a:r>
              <a:rPr lang="en-GB" altLang="el-GR" dirty="0">
                <a:sym typeface="+mn-ea"/>
              </a:rPr>
              <a:t>(</a:t>
            </a:r>
            <a:r>
              <a:rPr lang="en-GB" altLang="en-US" dirty="0">
                <a:sym typeface="+mn-ea"/>
              </a:rPr>
              <a:t>q0,b) = q0</a:t>
            </a:r>
            <a:endParaRPr lang="en-GB" altLang="en-US" dirty="0">
              <a:sym typeface="+mn-ea"/>
            </a:endParaRPr>
          </a:p>
          <a:p>
            <a:pPr lvl="2"/>
            <a:r>
              <a:rPr lang="el-GR" altLang="en-US" dirty="0">
                <a:sym typeface="+mn-ea"/>
              </a:rPr>
              <a:t>δ*</a:t>
            </a:r>
            <a:r>
              <a:rPr lang="en-US" altLang="en-US" dirty="0">
                <a:sym typeface="+mn-ea"/>
              </a:rPr>
              <a:t>(q0,</a:t>
            </a:r>
            <a:r>
              <a:rPr lang="en-GB" altLang="en-US" dirty="0">
                <a:sym typeface="+mn-ea"/>
              </a:rPr>
              <a:t>abba</a:t>
            </a:r>
            <a:r>
              <a:rPr lang="en-US" altLang="en-US" dirty="0">
                <a:sym typeface="+mn-ea"/>
              </a:rPr>
              <a:t>)</a:t>
            </a:r>
            <a:r>
              <a:rPr lang="en-GB" altLang="en-US" dirty="0">
                <a:sym typeface="+mn-ea"/>
              </a:rPr>
              <a:t> =</a:t>
            </a:r>
            <a:r>
              <a:rPr lang="el-GR" altLang="en-US" dirty="0">
                <a:sym typeface="+mn-ea"/>
              </a:rPr>
              <a:t>δ</a:t>
            </a:r>
            <a:r>
              <a:rPr lang="en-US" altLang="en-US" dirty="0">
                <a:sym typeface="+mn-ea"/>
              </a:rPr>
              <a:t>(</a:t>
            </a:r>
            <a:r>
              <a:rPr lang="el-GR" altLang="en-US" dirty="0">
                <a:sym typeface="+mn-ea"/>
              </a:rPr>
              <a:t>δ*</a:t>
            </a:r>
            <a:r>
              <a:rPr lang="en-US" altLang="en-US" dirty="0">
                <a:sym typeface="+mn-ea"/>
              </a:rPr>
              <a:t>(q0,</a:t>
            </a:r>
            <a:r>
              <a:rPr lang="en-GB" altLang="en-US" dirty="0">
                <a:sym typeface="+mn-ea"/>
              </a:rPr>
              <a:t>abb</a:t>
            </a:r>
            <a:r>
              <a:rPr lang="en-US" altLang="en-US" dirty="0">
                <a:sym typeface="+mn-ea"/>
              </a:rPr>
              <a:t>)</a:t>
            </a:r>
            <a:r>
              <a:rPr lang="en-GB" altLang="en-US" dirty="0">
                <a:sym typeface="+mn-ea"/>
              </a:rPr>
              <a:t>,a) =</a:t>
            </a:r>
            <a:r>
              <a:rPr lang="el-GR" altLang="en-US" dirty="0">
                <a:sym typeface="+mn-ea"/>
              </a:rPr>
              <a:t>δ</a:t>
            </a:r>
            <a:r>
              <a:rPr lang="en-GB" altLang="el-GR" dirty="0">
                <a:sym typeface="+mn-ea"/>
              </a:rPr>
              <a:t>(</a:t>
            </a:r>
            <a:r>
              <a:rPr lang="en-GB" altLang="en-US" dirty="0">
                <a:sym typeface="+mn-ea"/>
              </a:rPr>
              <a:t>q0,a) = q1</a:t>
            </a:r>
            <a:endParaRPr lang="en-GB" altLang="en-US" dirty="0">
              <a:sym typeface="+mn-ea"/>
            </a:endParaRPr>
          </a:p>
          <a:p>
            <a:pPr lvl="2"/>
            <a:r>
              <a:rPr lang="el-GR" altLang="en-US" dirty="0">
                <a:sym typeface="+mn-ea"/>
              </a:rPr>
              <a:t>δ*</a:t>
            </a:r>
            <a:r>
              <a:rPr lang="en-US" altLang="en-US" dirty="0">
                <a:sym typeface="+mn-ea"/>
              </a:rPr>
              <a:t>(q0,</a:t>
            </a:r>
            <a:r>
              <a:rPr lang="en-GB" altLang="en-US" dirty="0">
                <a:sym typeface="+mn-ea"/>
              </a:rPr>
              <a:t>abbab</a:t>
            </a:r>
            <a:r>
              <a:rPr lang="en-US" altLang="en-US" dirty="0">
                <a:sym typeface="+mn-ea"/>
              </a:rPr>
              <a:t>)</a:t>
            </a:r>
            <a:r>
              <a:rPr lang="en-GB" altLang="en-US" dirty="0">
                <a:sym typeface="+mn-ea"/>
              </a:rPr>
              <a:t> =</a:t>
            </a:r>
            <a:r>
              <a:rPr lang="el-GR" altLang="en-US" dirty="0">
                <a:sym typeface="+mn-ea"/>
              </a:rPr>
              <a:t>δ</a:t>
            </a:r>
            <a:r>
              <a:rPr lang="en-US" altLang="en-US" dirty="0">
                <a:sym typeface="+mn-ea"/>
              </a:rPr>
              <a:t>(</a:t>
            </a:r>
            <a:r>
              <a:rPr lang="el-GR" altLang="en-US" dirty="0">
                <a:sym typeface="+mn-ea"/>
              </a:rPr>
              <a:t>δ*</a:t>
            </a:r>
            <a:r>
              <a:rPr lang="en-US" altLang="en-US" dirty="0">
                <a:sym typeface="+mn-ea"/>
              </a:rPr>
              <a:t>(q0,</a:t>
            </a:r>
            <a:r>
              <a:rPr lang="en-GB" altLang="en-US" dirty="0">
                <a:sym typeface="+mn-ea"/>
              </a:rPr>
              <a:t>abba</a:t>
            </a:r>
            <a:r>
              <a:rPr lang="en-US" altLang="en-US" dirty="0">
                <a:sym typeface="+mn-ea"/>
              </a:rPr>
              <a:t>)</a:t>
            </a:r>
            <a:r>
              <a:rPr lang="en-GB" altLang="en-US" dirty="0">
                <a:sym typeface="+mn-ea"/>
              </a:rPr>
              <a:t>,b) =</a:t>
            </a:r>
            <a:r>
              <a:rPr lang="el-GR" altLang="en-US" dirty="0">
                <a:sym typeface="+mn-ea"/>
              </a:rPr>
              <a:t>δ</a:t>
            </a:r>
            <a:r>
              <a:rPr lang="en-GB" altLang="el-GR" dirty="0">
                <a:sym typeface="+mn-ea"/>
              </a:rPr>
              <a:t>(</a:t>
            </a:r>
            <a:r>
              <a:rPr lang="en-GB" altLang="en-US" dirty="0">
                <a:sym typeface="+mn-ea"/>
              </a:rPr>
              <a:t>q1,b) = q0</a:t>
            </a:r>
            <a:endParaRPr lang="en-GB" altLang="en-US" dirty="0">
              <a:sym typeface="+mn-ea"/>
            </a:endParaRPr>
          </a:p>
          <a:p>
            <a:r>
              <a:rPr lang="en-IN" altLang="en-GB" dirty="0">
                <a:cs typeface="Arial" panose="020B0604020202020204" pitchFamily="34" charset="0"/>
                <a:sym typeface="+mn-ea"/>
              </a:rPr>
              <a:t>       </a:t>
            </a:r>
            <a:r>
              <a:rPr lang="en-GB" altLang="en-US" dirty="0">
                <a:cs typeface="Arial" panose="020B0604020202020204" pitchFamily="34" charset="0"/>
                <a:sym typeface="+mn-ea"/>
              </a:rPr>
              <a:t>The string w = abbab is </a:t>
            </a:r>
            <a:r>
              <a:rPr lang="en-GB" altLang="en-US" b="1" dirty="0">
                <a:solidFill>
                  <a:srgbClr val="FF0000"/>
                </a:solidFill>
                <a:cs typeface="Arial" panose="020B0604020202020204" pitchFamily="34" charset="0"/>
                <a:sym typeface="+mn-ea"/>
              </a:rPr>
              <a:t>invalid as DFA remains in q0 and is not a final state</a:t>
            </a:r>
            <a:endParaRPr lang="en-GB" altLang="en-US" dirty="0">
              <a:cs typeface="Arial" panose="020B0604020202020204" pitchFamily="34" charset="0"/>
              <a:sym typeface="+mn-ea"/>
            </a:endParaRPr>
          </a:p>
          <a:p>
            <a:endParaRPr lang="en-GB" altLang="en-US" dirty="0">
              <a:cs typeface="Arial" panose="020B0604020202020204" pitchFamily="34" charset="0"/>
              <a:sym typeface="+mn-ea"/>
            </a:endParaRPr>
          </a:p>
        </p:txBody>
      </p:sp>
      <p:sp>
        <p:nvSpPr>
          <p:cNvPr id="5" name="Text Box 4"/>
          <p:cNvSpPr txBox="1"/>
          <p:nvPr/>
        </p:nvSpPr>
        <p:spPr>
          <a:xfrm>
            <a:off x="1019175" y="4734560"/>
            <a:ext cx="7268210" cy="645160"/>
          </a:xfrm>
          <a:prstGeom prst="rect">
            <a:avLst/>
          </a:prstGeom>
          <a:noFill/>
        </p:spPr>
        <p:txBody>
          <a:bodyPr wrap="square" rtlCol="0" anchor="t">
            <a:spAutoFit/>
          </a:bodyPr>
          <a:p>
            <a:r>
              <a:rPr lang="en-IN" altLang="en-GB" b="1" dirty="0">
                <a:solidFill>
                  <a:srgbClr val="FF0000"/>
                </a:solidFill>
                <a:cs typeface="Arial" panose="020B0604020202020204" pitchFamily="34" charset="0"/>
                <a:sym typeface="+mn-ea"/>
              </a:rPr>
              <a:t>Exercize problems : 1. </a:t>
            </a:r>
            <a:r>
              <a:rPr lang="en-GB" altLang="el-GR" b="1" dirty="0">
                <a:solidFill>
                  <a:srgbClr val="FF0000"/>
                </a:solidFill>
                <a:sym typeface="+mn-ea"/>
              </a:rPr>
              <a:t>Comput</a:t>
            </a:r>
            <a:r>
              <a:rPr lang="en-IN" altLang="en-GB" b="1" dirty="0">
                <a:solidFill>
                  <a:srgbClr val="FF0000"/>
                </a:solidFill>
                <a:sym typeface="+mn-ea"/>
              </a:rPr>
              <a:t>e</a:t>
            </a:r>
            <a:r>
              <a:rPr lang="en-GB" altLang="el-GR" b="1" dirty="0">
                <a:solidFill>
                  <a:srgbClr val="FF0000"/>
                </a:solidFill>
                <a:sym typeface="+mn-ea"/>
              </a:rPr>
              <a:t> </a:t>
            </a:r>
            <a:r>
              <a:rPr lang="el-GR" altLang="en-US" b="1" dirty="0">
                <a:solidFill>
                  <a:srgbClr val="FF0000"/>
                </a:solidFill>
                <a:sym typeface="+mn-ea"/>
              </a:rPr>
              <a:t>δ*</a:t>
            </a:r>
            <a:r>
              <a:rPr lang="en-US" altLang="en-US" b="1" dirty="0">
                <a:solidFill>
                  <a:srgbClr val="FF0000"/>
                </a:solidFill>
                <a:sym typeface="+mn-ea"/>
              </a:rPr>
              <a:t>(q0,</a:t>
            </a:r>
            <a:r>
              <a:rPr lang="en-IN" altLang="en-US" b="1" dirty="0">
                <a:solidFill>
                  <a:srgbClr val="FF0000"/>
                </a:solidFill>
                <a:sym typeface="+mn-ea"/>
              </a:rPr>
              <a:t>aababb</a:t>
            </a:r>
            <a:r>
              <a:rPr lang="en-US" altLang="en-US" b="1" dirty="0">
                <a:solidFill>
                  <a:srgbClr val="FF0000"/>
                </a:solidFill>
                <a:sym typeface="+mn-ea"/>
              </a:rPr>
              <a:t>)</a:t>
            </a:r>
            <a:r>
              <a:rPr lang="en-GB" altLang="en-US" b="1" dirty="0">
                <a:solidFill>
                  <a:srgbClr val="FF0000"/>
                </a:solidFill>
                <a:sym typeface="+mn-ea"/>
              </a:rPr>
              <a:t> </a:t>
            </a:r>
            <a:endParaRPr lang="en-GB" altLang="en-US" b="1" dirty="0">
              <a:solidFill>
                <a:srgbClr val="FF0000"/>
              </a:solidFill>
              <a:sym typeface="+mn-ea"/>
            </a:endParaRPr>
          </a:p>
          <a:p>
            <a:r>
              <a:rPr lang="en-GB" altLang="en-US" b="1" dirty="0">
                <a:solidFill>
                  <a:srgbClr val="FF0000"/>
                </a:solidFill>
                <a:sym typeface="+mn-ea"/>
              </a:rPr>
              <a:t> </a:t>
            </a:r>
            <a:r>
              <a:rPr lang="en-IN" altLang="en-GB" b="1" dirty="0">
                <a:solidFill>
                  <a:srgbClr val="FF0000"/>
                </a:solidFill>
                <a:sym typeface="+mn-ea"/>
              </a:rPr>
              <a:t>                                  2.</a:t>
            </a:r>
            <a:r>
              <a:rPr lang="en-IN" altLang="en-GB" b="1" dirty="0">
                <a:solidFill>
                  <a:srgbClr val="FF0000"/>
                </a:solidFill>
                <a:cs typeface="Arial" panose="020B0604020202020204" pitchFamily="34" charset="0"/>
                <a:sym typeface="+mn-ea"/>
              </a:rPr>
              <a:t> </a:t>
            </a:r>
            <a:r>
              <a:rPr lang="en-GB" altLang="el-GR" b="1" dirty="0">
                <a:solidFill>
                  <a:srgbClr val="FF0000"/>
                </a:solidFill>
                <a:sym typeface="+mn-ea"/>
              </a:rPr>
              <a:t>Comput</a:t>
            </a:r>
            <a:r>
              <a:rPr lang="en-IN" altLang="en-GB" b="1" dirty="0">
                <a:solidFill>
                  <a:srgbClr val="FF0000"/>
                </a:solidFill>
                <a:sym typeface="+mn-ea"/>
              </a:rPr>
              <a:t>e</a:t>
            </a:r>
            <a:r>
              <a:rPr lang="en-GB" altLang="el-GR" b="1" dirty="0">
                <a:solidFill>
                  <a:srgbClr val="FF0000"/>
                </a:solidFill>
                <a:sym typeface="+mn-ea"/>
              </a:rPr>
              <a:t> </a:t>
            </a:r>
            <a:r>
              <a:rPr lang="el-GR" altLang="en-US" b="1" dirty="0">
                <a:solidFill>
                  <a:srgbClr val="FF0000"/>
                </a:solidFill>
                <a:sym typeface="+mn-ea"/>
              </a:rPr>
              <a:t>δ*</a:t>
            </a:r>
            <a:r>
              <a:rPr lang="en-US" altLang="en-US" b="1" dirty="0">
                <a:solidFill>
                  <a:srgbClr val="FF0000"/>
                </a:solidFill>
                <a:sym typeface="+mn-ea"/>
              </a:rPr>
              <a:t>(q0,</a:t>
            </a:r>
            <a:r>
              <a:rPr lang="en-IN" altLang="en-US" b="1" dirty="0">
                <a:solidFill>
                  <a:srgbClr val="FF0000"/>
                </a:solidFill>
                <a:sym typeface="+mn-ea"/>
              </a:rPr>
              <a:t>aaabaa</a:t>
            </a:r>
            <a:r>
              <a:rPr lang="en-US" altLang="en-US" b="1" dirty="0">
                <a:solidFill>
                  <a:srgbClr val="FF0000"/>
                </a:solidFill>
                <a:sym typeface="+mn-ea"/>
              </a:rPr>
              <a:t>)</a:t>
            </a:r>
            <a:r>
              <a:rPr lang="en-GB" altLang="en-US" b="1" dirty="0">
                <a:solidFill>
                  <a:srgbClr val="FF0000"/>
                </a:solidFill>
                <a:sym typeface="+mn-ea"/>
              </a:rPr>
              <a:t> </a:t>
            </a:r>
            <a:endParaRPr lang="en-GB" altLang="en-US" b="1" dirty="0">
              <a:solidFill>
                <a:srgbClr val="FF0000"/>
              </a:solidFill>
              <a:sym typeface="+mn-ea"/>
            </a:endParaRPr>
          </a:p>
        </p:txBody>
      </p:sp>
      <p:sp>
        <p:nvSpPr>
          <p:cNvPr id="2" name="Footer Placeholder 1"/>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Title 1"/>
          <p:cNvSpPr>
            <a:spLocks noGrp="1"/>
          </p:cNvSpPr>
          <p:nvPr>
            <p:ph type="title"/>
          </p:nvPr>
        </p:nvSpPr>
        <p:spPr/>
        <p:txBody>
          <a:bodyPr vert="horz" wrap="square" lIns="91440" tIns="45720" rIns="91440" bIns="45720" anchor="ctr" anchorCtr="0"/>
          <a:p>
            <a:pPr eaLnBrk="1" hangingPunct="1"/>
            <a:r>
              <a:rPr lang="en-US" altLang="en-US" dirty="0"/>
              <a:t>Language of DFA</a:t>
            </a:r>
            <a:endParaRPr lang="en-US" altLang="en-US" dirty="0"/>
          </a:p>
        </p:txBody>
      </p:sp>
      <p:sp>
        <p:nvSpPr>
          <p:cNvPr id="3" name="Content Placeholder 2"/>
          <p:cNvSpPr>
            <a:spLocks noGrp="1"/>
          </p:cNvSpPr>
          <p:nvPr>
            <p:ph idx="1"/>
          </p:nvPr>
        </p:nvSpPr>
        <p:spPr/>
        <p:txBody>
          <a:bodyPr vert="horz" wrap="square" lIns="91440" tIns="45720" rIns="91440" bIns="45720" numCol="1" rtlCol="0" anchor="t" anchorCtr="0" compatLnSpc="1">
            <a:normAutofit fontScale="82500"/>
          </a:bodyPr>
          <a:lstStyle/>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If A={Q,∑,</a:t>
            </a:r>
            <a:r>
              <a:rPr kumimoji="0" lang="el-GR" sz="3200" b="0" i="0" u="none" strike="noStrike" kern="1200" cap="none" spc="0" normalizeH="0" baseline="0" noProof="0" dirty="0" smtClean="0">
                <a:ln>
                  <a:noFill/>
                </a:ln>
                <a:solidFill>
                  <a:schemeClr val="tx1"/>
                </a:solidFill>
                <a:effectLst/>
                <a:uLnTx/>
                <a:uFillTx/>
                <a:latin typeface="+mn-lt"/>
                <a:ea typeface="+mn-ea"/>
                <a:cs typeface="+mn-cs"/>
              </a:rPr>
              <a:t>δ</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q0, F} is an NFA then</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L(A) = {w | </a:t>
            </a:r>
            <a:r>
              <a:rPr kumimoji="0" lang="el-GR" sz="3200" b="0" i="0" u="none" strike="noStrike" kern="1200" cap="none" spc="0" normalizeH="0" baseline="0" noProof="0" dirty="0" smtClean="0">
                <a:ln>
                  <a:noFill/>
                </a:ln>
                <a:solidFill>
                  <a:schemeClr val="tx1"/>
                </a:solidFill>
                <a:effectLst/>
                <a:uLnTx/>
                <a:uFillTx/>
                <a:latin typeface="+mn-lt"/>
                <a:ea typeface="+mn-ea"/>
                <a:cs typeface="+mn-cs"/>
              </a:rPr>
              <a:t>δ*</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(q0,w) = p </a:t>
            </a:r>
            <a:r>
              <a:rPr kumimoji="0" lang="az-Cyrl-AZ" sz="3200" b="0" i="0" u="none" strike="noStrike" kern="1200" cap="none" spc="0" normalizeH="0" baseline="0" noProof="0" dirty="0" smtClean="0">
                <a:ln>
                  <a:noFill/>
                </a:ln>
                <a:solidFill>
                  <a:schemeClr val="tx1"/>
                </a:solidFill>
                <a:effectLst/>
                <a:uLnTx/>
                <a:uFillTx/>
                <a:latin typeface="+mn-lt"/>
                <a:ea typeface="+mn-ea"/>
                <a:cs typeface="+mn-cs"/>
              </a:rPr>
              <a:t>Є</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F (</a:t>
            </a:r>
            <a:r>
              <a:rPr kumimoji="0" lang="en-US" sz="3200" b="0" i="0" u="none" strike="noStrike" kern="1200" cap="none" spc="0" normalizeH="0" baseline="0" noProof="0" dirty="0" err="1" smtClean="0">
                <a:ln>
                  <a:noFill/>
                </a:ln>
                <a:solidFill>
                  <a:schemeClr val="tx1"/>
                </a:solidFill>
                <a:effectLst/>
                <a:uLnTx/>
                <a:uFillTx/>
                <a:latin typeface="+mn-lt"/>
                <a:ea typeface="+mn-ea"/>
                <a:cs typeface="+mn-cs"/>
              </a:rPr>
              <a:t>i.e</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it is F) }</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that is L(A) is the set of strings w in ∑ * such that </a:t>
            </a:r>
            <a:r>
              <a:rPr kumimoji="0" lang="el-GR" sz="3200" b="0" i="0" u="none" strike="noStrike" kern="1200" cap="none" spc="0" normalizeH="0" baseline="0" noProof="0" dirty="0" smtClean="0">
                <a:ln>
                  <a:noFill/>
                </a:ln>
                <a:solidFill>
                  <a:schemeClr val="tx1"/>
                </a:solidFill>
                <a:effectLst/>
                <a:uLnTx/>
                <a:uFillTx/>
                <a:latin typeface="+mn-lt"/>
                <a:ea typeface="+mn-ea"/>
                <a:cs typeface="+mn-cs"/>
              </a:rPr>
              <a:t>δ</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*(q0,w) contains an accepting state</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3200" b="0" i="0" u="none" strike="noStrike" kern="1200" cap="none" spc="0" normalizeH="0" baseline="0" noProof="0" dirty="0" smtClean="0">
                <a:ln>
                  <a:noFill/>
                </a:ln>
                <a:solidFill>
                  <a:schemeClr val="tx1"/>
                </a:solidFill>
                <a:effectLst/>
                <a:uLnTx/>
                <a:uFillTx/>
                <a:latin typeface="Gill Sans MT" charset="-18"/>
                <a:ea typeface="+mn-ea"/>
                <a:cs typeface="+mn-cs"/>
              </a:rPr>
              <a:t>In other words</a:t>
            </a:r>
            <a:r>
              <a:rPr kumimoji="0" lang="en-IN" altLang="en-US" sz="3200" b="0" i="0" u="none" strike="noStrike" kern="1200" cap="none" spc="0" normalizeH="0" baseline="0" noProof="0" dirty="0" smtClean="0">
                <a:ln>
                  <a:noFill/>
                </a:ln>
                <a:solidFill>
                  <a:schemeClr val="tx1"/>
                </a:solidFill>
                <a:effectLst/>
                <a:uLnTx/>
                <a:uFillTx/>
                <a:latin typeface="Gill Sans MT" charset="-18"/>
                <a:ea typeface="+mn-ea"/>
                <a:cs typeface="+mn-cs"/>
              </a:rPr>
              <a:t> - </a:t>
            </a:r>
            <a:r>
              <a:rPr kumimoji="0" lang="en-US" sz="3200" b="0" i="0" u="none" strike="noStrike" kern="1200" cap="none" spc="0" normalizeH="0" baseline="0" noProof="0" dirty="0" smtClean="0">
                <a:ln>
                  <a:noFill/>
                </a:ln>
                <a:solidFill>
                  <a:schemeClr val="tx1"/>
                </a:solidFill>
                <a:effectLst/>
                <a:uLnTx/>
                <a:uFillTx/>
                <a:latin typeface="Gill Sans MT" charset="-18"/>
                <a:ea typeface="+mn-ea"/>
                <a:cs typeface="+mn-cs"/>
              </a:rPr>
              <a:t>The </a:t>
            </a:r>
            <a:r>
              <a:rPr kumimoji="0" lang="en-US" sz="3200" b="0" i="0" u="none" strike="noStrike" kern="1200" cap="none" spc="0" normalizeH="0" baseline="0" noProof="0" dirty="0" smtClean="0">
                <a:ln>
                  <a:noFill/>
                </a:ln>
                <a:solidFill>
                  <a:schemeClr val="accent2"/>
                </a:solidFill>
                <a:effectLst/>
                <a:uLnTx/>
                <a:uFillTx/>
                <a:latin typeface="Gill Sans MT" charset="-18"/>
                <a:ea typeface="+mn-ea"/>
                <a:cs typeface="+mn-cs"/>
              </a:rPr>
              <a:t>language of a DFA </a:t>
            </a:r>
            <a:r>
              <a:rPr kumimoji="0" lang="en-US" sz="3200" b="0" i="0" u="none" strike="noStrike" kern="1200" cap="none" spc="0" normalizeH="0" baseline="0" noProof="0" dirty="0" smtClean="0">
                <a:ln>
                  <a:noFill/>
                </a:ln>
                <a:solidFill>
                  <a:schemeClr val="tx1"/>
                </a:solidFill>
                <a:effectLst/>
                <a:uLnTx/>
                <a:uFillTx/>
                <a:latin typeface="Garamond" panose="02020404030301010803" pitchFamily="18" charset="0"/>
                <a:ea typeface="+mn-ea"/>
                <a:cs typeface="+mn-cs"/>
              </a:rPr>
              <a:t>(</a:t>
            </a:r>
            <a:r>
              <a:rPr kumimoji="0" lang="en-US" sz="3200" b="0" i="1" u="none" strike="noStrike" kern="1200" cap="none" spc="0" normalizeH="0" baseline="0" noProof="0" dirty="0" smtClean="0">
                <a:ln>
                  <a:noFill/>
                </a:ln>
                <a:solidFill>
                  <a:schemeClr val="tx1"/>
                </a:solidFill>
                <a:effectLst/>
                <a:uLnTx/>
                <a:uFillTx/>
                <a:latin typeface="Garamond" panose="02020404030301010803" pitchFamily="18" charset="0"/>
                <a:ea typeface="+mn-ea"/>
                <a:cs typeface="+mn-cs"/>
              </a:rPr>
              <a:t>Q</a:t>
            </a:r>
            <a:r>
              <a:rPr kumimoji="0" lang="en-US" sz="3200" b="0" i="0" u="none" strike="noStrike" kern="1200" cap="none" spc="0" normalizeH="0" baseline="0" noProof="0" dirty="0" smtClean="0">
                <a:ln>
                  <a:noFill/>
                </a:ln>
                <a:solidFill>
                  <a:schemeClr val="tx1"/>
                </a:solidFill>
                <a:effectLst/>
                <a:uLnTx/>
                <a:uFillTx/>
                <a:latin typeface="Garamond" panose="02020404030301010803" pitchFamily="18" charset="0"/>
                <a:ea typeface="+mn-ea"/>
                <a:cs typeface="+mn-cs"/>
              </a:rPr>
              <a:t>, </a:t>
            </a:r>
            <a:r>
              <a:rPr kumimoji="0" lang="en-US" sz="3200" b="0" i="0" u="none" strike="noStrike" kern="1200" cap="none" spc="0" normalizeH="0" baseline="0" noProof="0" dirty="0" smtClean="0">
                <a:ln>
                  <a:noFill/>
                </a:ln>
                <a:solidFill>
                  <a:schemeClr val="tx1"/>
                </a:solidFill>
                <a:effectLst/>
                <a:uLnTx/>
                <a:uFillTx/>
                <a:latin typeface="Symbol" panose="05050102010706020507" pitchFamily="18" charset="2"/>
                <a:ea typeface="+mn-ea"/>
                <a:cs typeface="+mn-cs"/>
              </a:rPr>
              <a:t>S</a:t>
            </a:r>
            <a:r>
              <a:rPr kumimoji="0" lang="en-US" sz="3200" b="0" i="0" u="none" strike="noStrike" kern="1200" cap="none" spc="0" normalizeH="0" baseline="0" noProof="0" dirty="0" smtClean="0">
                <a:ln>
                  <a:noFill/>
                </a:ln>
                <a:solidFill>
                  <a:schemeClr val="tx1"/>
                </a:solidFill>
                <a:effectLst/>
                <a:uLnTx/>
                <a:uFillTx/>
                <a:latin typeface="Garamond" panose="02020404030301010803" pitchFamily="18" charset="0"/>
                <a:ea typeface="+mn-ea"/>
                <a:cs typeface="+mn-cs"/>
              </a:rPr>
              <a:t>, </a:t>
            </a:r>
            <a:r>
              <a:rPr kumimoji="0" lang="en-US" sz="3200" b="0" i="0" u="none" strike="noStrike" kern="1200" cap="none" spc="0" normalizeH="0" baseline="0" noProof="0" dirty="0" smtClean="0">
                <a:ln>
                  <a:noFill/>
                </a:ln>
                <a:solidFill>
                  <a:schemeClr val="tx1"/>
                </a:solidFill>
                <a:effectLst/>
                <a:uLnTx/>
                <a:uFillTx/>
                <a:latin typeface="Symbol" panose="05050102010706020507" pitchFamily="18" charset="2"/>
                <a:ea typeface="+mn-ea"/>
                <a:cs typeface="+mn-cs"/>
              </a:rPr>
              <a:t>d</a:t>
            </a:r>
            <a:r>
              <a:rPr kumimoji="0" lang="en-US" sz="3200" b="0" i="0" u="none" strike="noStrike" kern="1200" cap="none" spc="0" normalizeH="0" baseline="0" noProof="0" dirty="0" smtClean="0">
                <a:ln>
                  <a:noFill/>
                </a:ln>
                <a:solidFill>
                  <a:schemeClr val="tx1"/>
                </a:solidFill>
                <a:effectLst/>
                <a:uLnTx/>
                <a:uFillTx/>
                <a:latin typeface="Garamond" panose="02020404030301010803" pitchFamily="18" charset="0"/>
                <a:ea typeface="+mn-ea"/>
                <a:cs typeface="+mn-cs"/>
              </a:rPr>
              <a:t>, </a:t>
            </a:r>
            <a:r>
              <a:rPr kumimoji="0" lang="en-US" sz="3200" b="0" i="1" u="none" strike="noStrike" kern="1200" cap="none" spc="0" normalizeH="0" baseline="0" noProof="0" dirty="0" smtClean="0">
                <a:ln>
                  <a:noFill/>
                </a:ln>
                <a:solidFill>
                  <a:schemeClr val="tx1"/>
                </a:solidFill>
                <a:effectLst/>
                <a:uLnTx/>
                <a:uFillTx/>
                <a:latin typeface="Garamond" panose="02020404030301010803" pitchFamily="18" charset="0"/>
                <a:ea typeface="+mn-ea"/>
                <a:cs typeface="+mn-cs"/>
              </a:rPr>
              <a:t>q</a:t>
            </a:r>
            <a:r>
              <a:rPr kumimoji="0" lang="en-US" sz="3200" b="0" i="0" u="none" strike="noStrike" kern="1200" cap="none" spc="0" normalizeH="0" baseline="-25000" noProof="0" dirty="0" smtClean="0">
                <a:ln>
                  <a:noFill/>
                </a:ln>
                <a:solidFill>
                  <a:schemeClr val="tx1"/>
                </a:solidFill>
                <a:effectLst/>
                <a:uLnTx/>
                <a:uFillTx/>
                <a:latin typeface="Garamond" panose="02020404030301010803" pitchFamily="18" charset="0"/>
                <a:ea typeface="+mn-ea"/>
                <a:cs typeface="+mn-cs"/>
              </a:rPr>
              <a:t>0</a:t>
            </a:r>
            <a:r>
              <a:rPr kumimoji="0" lang="en-US" sz="3200" b="0" i="0" u="none" strike="noStrike" kern="1200" cap="none" spc="0" normalizeH="0" baseline="0" noProof="0" dirty="0" smtClean="0">
                <a:ln>
                  <a:noFill/>
                </a:ln>
                <a:solidFill>
                  <a:schemeClr val="tx1"/>
                </a:solidFill>
                <a:effectLst/>
                <a:uLnTx/>
                <a:uFillTx/>
                <a:latin typeface="Garamond" panose="02020404030301010803" pitchFamily="18" charset="0"/>
                <a:ea typeface="+mn-ea"/>
                <a:cs typeface="+mn-cs"/>
              </a:rPr>
              <a:t>, </a:t>
            </a:r>
            <a:r>
              <a:rPr kumimoji="0" lang="en-US" sz="3200" b="0" i="1" u="none" strike="noStrike" kern="1200" cap="none" spc="0" normalizeH="0" baseline="0" noProof="0" dirty="0" smtClean="0">
                <a:ln>
                  <a:noFill/>
                </a:ln>
                <a:solidFill>
                  <a:schemeClr val="tx1"/>
                </a:solidFill>
                <a:effectLst/>
                <a:uLnTx/>
                <a:uFillTx/>
                <a:latin typeface="Garamond" panose="02020404030301010803" pitchFamily="18" charset="0"/>
                <a:ea typeface="+mn-ea"/>
                <a:cs typeface="+mn-cs"/>
              </a:rPr>
              <a:t>F</a:t>
            </a:r>
            <a:r>
              <a:rPr kumimoji="0" lang="en-US" sz="3200" b="0" i="0" u="none" strike="noStrike" kern="1200" cap="none" spc="0" normalizeH="0" baseline="0" noProof="0" dirty="0" smtClean="0">
                <a:ln>
                  <a:noFill/>
                </a:ln>
                <a:solidFill>
                  <a:schemeClr val="tx1"/>
                </a:solidFill>
                <a:effectLst/>
                <a:uLnTx/>
                <a:uFillTx/>
                <a:latin typeface="Garamond" panose="02020404030301010803" pitchFamily="18" charset="0"/>
                <a:ea typeface="+mn-ea"/>
                <a:cs typeface="+mn-cs"/>
              </a:rPr>
              <a:t>)</a:t>
            </a:r>
            <a:r>
              <a:rPr kumimoji="0" lang="en-US" sz="3200" b="0" i="0" u="none" strike="noStrike" kern="1200" cap="none" spc="0" normalizeH="0" baseline="0" noProof="0" dirty="0" smtClean="0">
                <a:ln>
                  <a:noFill/>
                </a:ln>
                <a:solidFill>
                  <a:schemeClr val="tx1"/>
                </a:solidFill>
                <a:effectLst/>
                <a:uLnTx/>
                <a:uFillTx/>
                <a:latin typeface="Gill Sans MT" charset="-18"/>
                <a:ea typeface="+mn-ea"/>
                <a:cs typeface="+mn-cs"/>
              </a:rPr>
              <a:t> is the set of all strings over </a:t>
            </a:r>
            <a:r>
              <a:rPr kumimoji="0" lang="en-US" sz="3200" b="0" i="0" u="none" strike="noStrike" kern="1200" cap="none" spc="0" normalizeH="0" baseline="0" noProof="0" dirty="0" smtClean="0">
                <a:ln>
                  <a:noFill/>
                </a:ln>
                <a:solidFill>
                  <a:schemeClr val="tx1"/>
                </a:solidFill>
                <a:effectLst/>
                <a:uLnTx/>
                <a:uFillTx/>
                <a:latin typeface="Symbol" panose="05050102010706020507" pitchFamily="18" charset="2"/>
                <a:ea typeface="+mn-ea"/>
                <a:cs typeface="+mn-cs"/>
              </a:rPr>
              <a:t>S</a:t>
            </a:r>
            <a:r>
              <a:rPr kumimoji="0" lang="en-US" sz="3200" b="0" i="0" u="none" strike="noStrike" kern="1200" cap="none" spc="0" normalizeH="0" baseline="0" noProof="0" dirty="0" smtClean="0">
                <a:ln>
                  <a:noFill/>
                </a:ln>
                <a:solidFill>
                  <a:schemeClr val="tx1"/>
                </a:solidFill>
                <a:effectLst/>
                <a:uLnTx/>
                <a:uFillTx/>
                <a:latin typeface="Gill Sans MT" charset="-18"/>
                <a:ea typeface="+mn-ea"/>
                <a:cs typeface="+mn-cs"/>
              </a:rPr>
              <a:t> that, starting from </a:t>
            </a:r>
            <a:r>
              <a:rPr kumimoji="0" lang="en-US" sz="3200" b="0" i="1" u="none" strike="noStrike" kern="1200" cap="none" spc="0" normalizeH="0" baseline="0" noProof="0" dirty="0" smtClean="0">
                <a:ln>
                  <a:noFill/>
                </a:ln>
                <a:solidFill>
                  <a:schemeClr val="tx1"/>
                </a:solidFill>
                <a:effectLst/>
                <a:uLnTx/>
                <a:uFillTx/>
                <a:latin typeface="Garamond" panose="02020404030301010803" pitchFamily="18" charset="0"/>
                <a:ea typeface="+mn-ea"/>
                <a:cs typeface="+mn-cs"/>
              </a:rPr>
              <a:t>q</a:t>
            </a:r>
            <a:r>
              <a:rPr kumimoji="0" lang="en-US" sz="3200" b="0" i="0" u="none" strike="noStrike" kern="1200" cap="none" spc="0" normalizeH="0" baseline="-25000" noProof="0" dirty="0" smtClean="0">
                <a:ln>
                  <a:noFill/>
                </a:ln>
                <a:solidFill>
                  <a:schemeClr val="tx1"/>
                </a:solidFill>
                <a:effectLst/>
                <a:uLnTx/>
                <a:uFillTx/>
                <a:latin typeface="Garamond" panose="02020404030301010803" pitchFamily="18" charset="0"/>
                <a:ea typeface="+mn-ea"/>
                <a:cs typeface="+mn-cs"/>
              </a:rPr>
              <a:t>0</a:t>
            </a:r>
            <a:r>
              <a:rPr kumimoji="0" lang="en-US" sz="3200" b="0" i="0" u="none" strike="noStrike" kern="1200" cap="none" spc="0" normalizeH="0" baseline="0" noProof="0" dirty="0" smtClean="0">
                <a:ln>
                  <a:noFill/>
                </a:ln>
                <a:solidFill>
                  <a:schemeClr val="tx1"/>
                </a:solidFill>
                <a:effectLst/>
                <a:uLnTx/>
                <a:uFillTx/>
                <a:latin typeface="Gill Sans MT" charset="-18"/>
                <a:ea typeface="+mn-ea"/>
                <a:cs typeface="+mn-cs"/>
              </a:rPr>
              <a:t> and following the transitions as the string is read left</a:t>
            </a:r>
            <a:r>
              <a:rPr kumimoji="0" lang="en-IN" altLang="en-US" sz="3200" b="0" i="0" u="none" strike="noStrike" kern="1200" cap="none" spc="0" normalizeH="0" baseline="0" noProof="0" dirty="0" smtClean="0">
                <a:ln>
                  <a:noFill/>
                </a:ln>
                <a:solidFill>
                  <a:schemeClr val="tx1"/>
                </a:solidFill>
                <a:effectLst/>
                <a:uLnTx/>
                <a:uFillTx/>
                <a:latin typeface="Gill Sans MT" charset="-18"/>
                <a:ea typeface="+mn-ea"/>
                <a:cs typeface="+mn-cs"/>
              </a:rPr>
              <a:t> </a:t>
            </a:r>
            <a:r>
              <a:rPr kumimoji="0" lang="en-US" sz="3200" b="0" i="0" u="none" strike="noStrike" kern="1200" cap="none" spc="0" normalizeH="0" baseline="0" noProof="0" dirty="0" smtClean="0">
                <a:ln>
                  <a:noFill/>
                </a:ln>
                <a:solidFill>
                  <a:schemeClr val="tx1"/>
                </a:solidFill>
                <a:effectLst/>
                <a:uLnTx/>
                <a:uFillTx/>
                <a:latin typeface="Gill Sans MT" charset="-18"/>
                <a:ea typeface="+mn-ea"/>
                <a:cs typeface="+mn-cs"/>
              </a:rPr>
              <a:t>to right, will reach some accepting state.</a:t>
            </a:r>
            <a:endParaRPr kumimoji="0" lang="en-US" sz="3200" b="0" i="0" u="none" strike="noStrike" kern="1200" cap="none" spc="0" normalizeH="0" baseline="0" noProof="0" dirty="0" smtClean="0">
              <a:ln>
                <a:noFill/>
              </a:ln>
              <a:solidFill>
                <a:schemeClr val="tx1"/>
              </a:solidFill>
              <a:effectLst/>
              <a:uLnTx/>
              <a:uFillTx/>
              <a:latin typeface="Gill Sans MT" charset="-18"/>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2" name="Footer Placeholder 1"/>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25" name="Text Box 53"/>
          <p:cNvSpPr txBox="1"/>
          <p:nvPr/>
        </p:nvSpPr>
        <p:spPr>
          <a:xfrm>
            <a:off x="1066800" y="5661025"/>
            <a:ext cx="6443663" cy="523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zh-TW" sz="2800" dirty="0">
                <a:latin typeface="Gill Sans MT" pitchFamily="34" charset="0"/>
                <a:ea typeface="PMingLiU"/>
              </a:rPr>
              <a:t>What are the languages of these automata?</a:t>
            </a:r>
            <a:endParaRPr lang="en-US" altLang="zh-TW" sz="2400" dirty="0">
              <a:latin typeface="Gill Sans MT" pitchFamily="34" charset="0"/>
              <a:ea typeface="PMingLiU"/>
            </a:endParaRPr>
          </a:p>
        </p:txBody>
      </p:sp>
      <p:sp>
        <p:nvSpPr>
          <p:cNvPr id="13326" name="Rectangle 54"/>
          <p:cNvSpPr>
            <a:spLocks noGrp="1"/>
          </p:cNvSpPr>
          <p:nvPr>
            <p:ph type="title"/>
          </p:nvPr>
        </p:nvSpPr>
        <p:spPr/>
        <p:txBody>
          <a:bodyPr vert="horz" wrap="square" lIns="91440" tIns="45720" rIns="91440" bIns="45720" anchor="ctr" anchorCtr="0"/>
          <a:p>
            <a:pPr eaLnBrk="1" hangingPunct="1"/>
            <a:r>
              <a:rPr lang="en-US" altLang="en-US" dirty="0">
                <a:ea typeface="MS PGothic" panose="020B0600070205080204" pitchFamily="34" charset="-128"/>
              </a:rPr>
              <a:t>Examples</a:t>
            </a:r>
            <a:endParaRPr lang="en-US" altLang="en-US" dirty="0">
              <a:ea typeface="MS PGothic" panose="020B0600070205080204" pitchFamily="34" charset="-128"/>
            </a:endParaRPr>
          </a:p>
        </p:txBody>
      </p:sp>
      <p:sp>
        <p:nvSpPr>
          <p:cNvPr id="13327" name="Oval 10"/>
          <p:cNvSpPr/>
          <p:nvPr/>
        </p:nvSpPr>
        <p:spPr>
          <a:xfrm>
            <a:off x="6307138" y="1524000"/>
            <a:ext cx="381000" cy="381000"/>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1800" dirty="0"/>
          </a:p>
        </p:txBody>
      </p:sp>
      <p:grpSp>
        <p:nvGrpSpPr>
          <p:cNvPr id="4" name="Group 3"/>
          <p:cNvGrpSpPr/>
          <p:nvPr/>
        </p:nvGrpSpPr>
        <p:grpSpPr>
          <a:xfrm>
            <a:off x="1224280" y="1981200"/>
            <a:ext cx="2366010" cy="1113790"/>
            <a:chOff x="1928" y="3120"/>
            <a:chExt cx="3726" cy="1754"/>
          </a:xfrm>
        </p:grpSpPr>
        <p:sp>
          <p:nvSpPr>
            <p:cNvPr id="13315" name="Line 11"/>
            <p:cNvSpPr/>
            <p:nvPr/>
          </p:nvSpPr>
          <p:spPr>
            <a:xfrm>
              <a:off x="1928" y="4298"/>
              <a:ext cx="275" cy="0"/>
            </a:xfrm>
            <a:prstGeom prst="line">
              <a:avLst/>
            </a:prstGeom>
            <a:ln w="9525" cap="flat" cmpd="sng">
              <a:solidFill>
                <a:schemeClr val="tx1"/>
              </a:solidFill>
              <a:prstDash val="solid"/>
              <a:headEnd type="none" w="med" len="med"/>
              <a:tailEnd type="triangle" w="med" len="med"/>
            </a:ln>
          </p:spPr>
        </p:sp>
        <p:sp>
          <p:nvSpPr>
            <p:cNvPr id="13321" name="Text Box 39"/>
            <p:cNvSpPr txBox="1"/>
            <p:nvPr/>
          </p:nvSpPr>
          <p:spPr>
            <a:xfrm>
              <a:off x="2573" y="3120"/>
              <a:ext cx="460" cy="578"/>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en-US" sz="1800" i="1" dirty="0">
                  <a:latin typeface="Garamond" panose="02020404030301010803" pitchFamily="18" charset="0"/>
                </a:rPr>
                <a:t>b</a:t>
              </a:r>
              <a:endParaRPr lang="en-US" altLang="zh-TW" sz="1800" dirty="0">
                <a:latin typeface="Garamond" panose="02020404030301010803" pitchFamily="18" charset="0"/>
                <a:ea typeface="PMingLiU"/>
              </a:endParaRPr>
            </a:p>
          </p:txBody>
        </p:sp>
        <p:sp>
          <p:nvSpPr>
            <p:cNvPr id="13322" name="Text Box 40"/>
            <p:cNvSpPr txBox="1"/>
            <p:nvPr/>
          </p:nvSpPr>
          <p:spPr>
            <a:xfrm>
              <a:off x="5180" y="3148"/>
              <a:ext cx="475" cy="582"/>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en-US" sz="1800" i="1" dirty="0">
                  <a:latin typeface="Garamond" panose="02020404030301010803" pitchFamily="18" charset="0"/>
                </a:rPr>
                <a:t>a</a:t>
              </a:r>
              <a:endParaRPr lang="en-US" altLang="zh-TW" sz="1800" dirty="0">
                <a:latin typeface="Garamond" panose="02020404030301010803" pitchFamily="18" charset="0"/>
                <a:ea typeface="PMingLiU"/>
              </a:endParaRPr>
            </a:p>
          </p:txBody>
        </p:sp>
        <p:sp>
          <p:nvSpPr>
            <p:cNvPr id="13324" name="Text Box 42"/>
            <p:cNvSpPr txBox="1"/>
            <p:nvPr/>
          </p:nvSpPr>
          <p:spPr>
            <a:xfrm>
              <a:off x="3548" y="4298"/>
              <a:ext cx="460" cy="577"/>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en-US" sz="1800" i="1" dirty="0">
                  <a:latin typeface="Garamond" panose="02020404030301010803" pitchFamily="18" charset="0"/>
                </a:rPr>
                <a:t>b</a:t>
              </a:r>
              <a:endParaRPr lang="en-US" altLang="zh-TW" sz="1800" dirty="0">
                <a:latin typeface="Garamond" panose="02020404030301010803" pitchFamily="18" charset="0"/>
                <a:ea typeface="PMingLiU"/>
              </a:endParaRPr>
            </a:p>
          </p:txBody>
        </p:sp>
        <p:grpSp>
          <p:nvGrpSpPr>
            <p:cNvPr id="3" name="Group 2"/>
            <p:cNvGrpSpPr/>
            <p:nvPr/>
          </p:nvGrpSpPr>
          <p:grpSpPr>
            <a:xfrm>
              <a:off x="2153" y="3498"/>
              <a:ext cx="3270" cy="1092"/>
              <a:chOff x="2153" y="3498"/>
              <a:chExt cx="3270" cy="1092"/>
            </a:xfrm>
          </p:grpSpPr>
          <p:sp>
            <p:nvSpPr>
              <p:cNvPr id="13314" name="Oval 10"/>
              <p:cNvSpPr/>
              <p:nvPr/>
            </p:nvSpPr>
            <p:spPr>
              <a:xfrm>
                <a:off x="2203" y="3990"/>
                <a:ext cx="600" cy="600"/>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1800" dirty="0"/>
              </a:p>
            </p:txBody>
          </p:sp>
          <p:sp>
            <p:nvSpPr>
              <p:cNvPr id="13316" name="Rectangle 13"/>
              <p:cNvSpPr/>
              <p:nvPr/>
            </p:nvSpPr>
            <p:spPr>
              <a:xfrm>
                <a:off x="2213" y="3885"/>
                <a:ext cx="580" cy="578"/>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zh-TW" sz="1800" dirty="0">
                    <a:latin typeface="Garamond" panose="02020404030301010803" pitchFamily="18" charset="0"/>
                    <a:ea typeface="PMingLiU"/>
                    <a:sym typeface="Symbol" panose="05050102010706020507" pitchFamily="18" charset="2"/>
                  </a:rPr>
                  <a:t>q</a:t>
                </a:r>
                <a:r>
                  <a:rPr lang="en-US" altLang="zh-TW" sz="1800" baseline="-25000" dirty="0">
                    <a:latin typeface="Garamond" panose="02020404030301010803" pitchFamily="18" charset="0"/>
                    <a:ea typeface="PMingLiU"/>
                    <a:sym typeface="Symbol" panose="05050102010706020507" pitchFamily="18" charset="2"/>
                  </a:rPr>
                  <a:t>0</a:t>
                </a:r>
                <a:endParaRPr lang="en-US" altLang="zh-TW" sz="1800" baseline="-25000" dirty="0">
                  <a:latin typeface="Garamond" panose="02020404030301010803" pitchFamily="18" charset="0"/>
                  <a:ea typeface="PMingLiU"/>
                  <a:sym typeface="Symbol" panose="05050102010706020507" pitchFamily="18" charset="2"/>
                </a:endParaRPr>
              </a:p>
            </p:txBody>
          </p:sp>
          <p:sp>
            <p:nvSpPr>
              <p:cNvPr id="13317" name="Rectangle 14"/>
              <p:cNvSpPr/>
              <p:nvPr/>
            </p:nvSpPr>
            <p:spPr>
              <a:xfrm>
                <a:off x="4843" y="3885"/>
                <a:ext cx="580" cy="578"/>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zh-TW" sz="1800" dirty="0">
                    <a:latin typeface="Garamond" panose="02020404030301010803" pitchFamily="18" charset="0"/>
                    <a:ea typeface="PMingLiU"/>
                    <a:sym typeface="Symbol" panose="05050102010706020507" pitchFamily="18" charset="2"/>
                  </a:rPr>
                  <a:t>q</a:t>
                </a:r>
                <a:r>
                  <a:rPr lang="en-US" altLang="zh-TW" sz="1800" baseline="-25000" dirty="0">
                    <a:latin typeface="Garamond" panose="02020404030301010803" pitchFamily="18" charset="0"/>
                    <a:ea typeface="PMingLiU"/>
                    <a:sym typeface="Symbol" panose="05050102010706020507" pitchFamily="18" charset="2"/>
                  </a:rPr>
                  <a:t>1</a:t>
                </a:r>
                <a:endParaRPr lang="en-US" altLang="zh-TW" sz="1800" baseline="-25000" dirty="0">
                  <a:latin typeface="Garamond" panose="02020404030301010803" pitchFamily="18" charset="0"/>
                  <a:ea typeface="PMingLiU"/>
                  <a:sym typeface="Symbol" panose="05050102010706020507" pitchFamily="18" charset="2"/>
                </a:endParaRPr>
              </a:p>
            </p:txBody>
          </p:sp>
          <p:sp>
            <p:nvSpPr>
              <p:cNvPr id="13318" name="Line 35"/>
              <p:cNvSpPr/>
              <p:nvPr/>
            </p:nvSpPr>
            <p:spPr>
              <a:xfrm>
                <a:off x="2793" y="4178"/>
                <a:ext cx="2040" cy="0"/>
              </a:xfrm>
              <a:prstGeom prst="line">
                <a:avLst/>
              </a:prstGeom>
              <a:ln w="9525" cap="flat" cmpd="sng">
                <a:solidFill>
                  <a:schemeClr val="tx1"/>
                </a:solidFill>
                <a:prstDash val="solid"/>
                <a:headEnd type="none" w="med" len="med"/>
                <a:tailEnd type="triangle" w="med" len="med"/>
              </a:ln>
            </p:spPr>
          </p:sp>
          <p:sp>
            <p:nvSpPr>
              <p:cNvPr id="13319" name="Line 36"/>
              <p:cNvSpPr/>
              <p:nvPr/>
            </p:nvSpPr>
            <p:spPr>
              <a:xfrm flipH="1">
                <a:off x="2780" y="4405"/>
                <a:ext cx="2000" cy="0"/>
              </a:xfrm>
              <a:prstGeom prst="line">
                <a:avLst/>
              </a:prstGeom>
              <a:ln w="9525" cap="flat" cmpd="sng">
                <a:solidFill>
                  <a:schemeClr val="tx1"/>
                </a:solidFill>
                <a:prstDash val="solid"/>
                <a:headEnd type="none" w="med" len="med"/>
                <a:tailEnd type="triangle" w="med" len="med"/>
              </a:ln>
            </p:spPr>
          </p:sp>
          <p:sp>
            <p:nvSpPr>
              <p:cNvPr id="13320" name="Freeform 37"/>
              <p:cNvSpPr/>
              <p:nvPr/>
            </p:nvSpPr>
            <p:spPr>
              <a:xfrm>
                <a:off x="2153" y="3498"/>
                <a:ext cx="560" cy="517"/>
              </a:xfrm>
              <a:custGeom>
                <a:avLst/>
                <a:gdLst>
                  <a:gd name="txL" fmla="*/ 0 w 320"/>
                  <a:gd name="txT" fmla="*/ 0 h 296"/>
                  <a:gd name="txR" fmla="*/ 320 w 320"/>
                  <a:gd name="txB" fmla="*/ 296 h 296"/>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320" h="296">
                    <a:moveTo>
                      <a:pt x="112" y="296"/>
                    </a:moveTo>
                    <a:cubicBezTo>
                      <a:pt x="72" y="268"/>
                      <a:pt x="32" y="240"/>
                      <a:pt x="16" y="200"/>
                    </a:cubicBezTo>
                    <a:cubicBezTo>
                      <a:pt x="0" y="160"/>
                      <a:pt x="0" y="88"/>
                      <a:pt x="16" y="56"/>
                    </a:cubicBezTo>
                    <a:cubicBezTo>
                      <a:pt x="32" y="24"/>
                      <a:pt x="80" y="16"/>
                      <a:pt x="112" y="8"/>
                    </a:cubicBezTo>
                    <a:cubicBezTo>
                      <a:pt x="144" y="0"/>
                      <a:pt x="176" y="0"/>
                      <a:pt x="208" y="8"/>
                    </a:cubicBezTo>
                    <a:cubicBezTo>
                      <a:pt x="240" y="16"/>
                      <a:pt x="288" y="24"/>
                      <a:pt x="304" y="56"/>
                    </a:cubicBezTo>
                    <a:cubicBezTo>
                      <a:pt x="320" y="88"/>
                      <a:pt x="312" y="160"/>
                      <a:pt x="304" y="200"/>
                    </a:cubicBezTo>
                    <a:cubicBezTo>
                      <a:pt x="296" y="240"/>
                      <a:pt x="276" y="268"/>
                      <a:pt x="256" y="296"/>
                    </a:cubicBezTo>
                  </a:path>
                </a:pathLst>
              </a:custGeom>
              <a:noFill/>
              <a:ln w="9525" cap="flat" cmpd="sng">
                <a:solidFill>
                  <a:schemeClr val="tx1">
                    <a:alpha val="100000"/>
                  </a:schemeClr>
                </a:solidFill>
                <a:prstDash val="solid"/>
                <a:round/>
                <a:headEnd type="none" w="med" len="med"/>
                <a:tailEnd type="triangle" w="med" len="med"/>
              </a:ln>
            </p:spPr>
            <p:txBody>
              <a:bodyPr/>
              <a:p>
                <a:endParaRPr lang="en-US"/>
              </a:p>
            </p:txBody>
          </p:sp>
          <p:sp>
            <p:nvSpPr>
              <p:cNvPr id="13323" name="Text Box 41"/>
              <p:cNvSpPr txBox="1"/>
              <p:nvPr/>
            </p:nvSpPr>
            <p:spPr>
              <a:xfrm>
                <a:off x="3553" y="3653"/>
                <a:ext cx="475" cy="582"/>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en-US" sz="1800" i="1" dirty="0">
                    <a:latin typeface="Garamond" panose="02020404030301010803" pitchFamily="18" charset="0"/>
                  </a:rPr>
                  <a:t>a</a:t>
                </a:r>
                <a:endParaRPr lang="en-US" altLang="zh-TW" sz="1800" dirty="0">
                  <a:latin typeface="Garamond" panose="02020404030301010803" pitchFamily="18" charset="0"/>
                  <a:ea typeface="PMingLiU"/>
                </a:endParaRPr>
              </a:p>
            </p:txBody>
          </p:sp>
          <p:sp>
            <p:nvSpPr>
              <p:cNvPr id="13328" name="Oval 10"/>
              <p:cNvSpPr/>
              <p:nvPr/>
            </p:nvSpPr>
            <p:spPr>
              <a:xfrm>
                <a:off x="4820" y="3978"/>
                <a:ext cx="600" cy="600"/>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1800" dirty="0"/>
              </a:p>
            </p:txBody>
          </p:sp>
          <p:sp>
            <p:nvSpPr>
              <p:cNvPr id="13329" name="Oval 10"/>
              <p:cNvSpPr/>
              <p:nvPr/>
            </p:nvSpPr>
            <p:spPr>
              <a:xfrm>
                <a:off x="4900" y="4070"/>
                <a:ext cx="428" cy="42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1800" dirty="0"/>
              </a:p>
            </p:txBody>
          </p:sp>
          <p:sp>
            <p:nvSpPr>
              <p:cNvPr id="13330" name="Freeform 37"/>
              <p:cNvSpPr/>
              <p:nvPr/>
            </p:nvSpPr>
            <p:spPr>
              <a:xfrm>
                <a:off x="4768" y="3498"/>
                <a:ext cx="560" cy="517"/>
              </a:xfrm>
              <a:custGeom>
                <a:avLst/>
                <a:gdLst>
                  <a:gd name="txL" fmla="*/ 0 w 320"/>
                  <a:gd name="txT" fmla="*/ 0 h 296"/>
                  <a:gd name="txR" fmla="*/ 320 w 320"/>
                  <a:gd name="txB" fmla="*/ 296 h 296"/>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320" h="296">
                    <a:moveTo>
                      <a:pt x="112" y="296"/>
                    </a:moveTo>
                    <a:cubicBezTo>
                      <a:pt x="72" y="268"/>
                      <a:pt x="32" y="240"/>
                      <a:pt x="16" y="200"/>
                    </a:cubicBezTo>
                    <a:cubicBezTo>
                      <a:pt x="0" y="160"/>
                      <a:pt x="0" y="88"/>
                      <a:pt x="16" y="56"/>
                    </a:cubicBezTo>
                    <a:cubicBezTo>
                      <a:pt x="32" y="24"/>
                      <a:pt x="80" y="16"/>
                      <a:pt x="112" y="8"/>
                    </a:cubicBezTo>
                    <a:cubicBezTo>
                      <a:pt x="144" y="0"/>
                      <a:pt x="176" y="0"/>
                      <a:pt x="208" y="8"/>
                    </a:cubicBezTo>
                    <a:cubicBezTo>
                      <a:pt x="240" y="16"/>
                      <a:pt x="288" y="24"/>
                      <a:pt x="304" y="56"/>
                    </a:cubicBezTo>
                    <a:cubicBezTo>
                      <a:pt x="320" y="88"/>
                      <a:pt x="312" y="160"/>
                      <a:pt x="304" y="200"/>
                    </a:cubicBezTo>
                    <a:cubicBezTo>
                      <a:pt x="296" y="240"/>
                      <a:pt x="276" y="268"/>
                      <a:pt x="256" y="296"/>
                    </a:cubicBezTo>
                  </a:path>
                </a:pathLst>
              </a:custGeom>
              <a:noFill/>
              <a:ln w="9525" cap="flat" cmpd="sng">
                <a:solidFill>
                  <a:schemeClr val="tx1">
                    <a:alpha val="100000"/>
                  </a:schemeClr>
                </a:solidFill>
                <a:prstDash val="solid"/>
                <a:round/>
                <a:headEnd type="none" w="med" len="med"/>
                <a:tailEnd type="triangle" w="med" len="med"/>
              </a:ln>
            </p:spPr>
            <p:txBody>
              <a:bodyPr/>
              <a:p>
                <a:endParaRPr lang="en-US"/>
              </a:p>
            </p:txBody>
          </p:sp>
        </p:grpSp>
      </p:grpSp>
      <p:sp>
        <p:nvSpPr>
          <p:cNvPr id="13331" name="Oval 10"/>
          <p:cNvSpPr/>
          <p:nvPr/>
        </p:nvSpPr>
        <p:spPr>
          <a:xfrm>
            <a:off x="5621338" y="2286000"/>
            <a:ext cx="381000" cy="381000"/>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1800" dirty="0"/>
          </a:p>
        </p:txBody>
      </p:sp>
      <p:sp>
        <p:nvSpPr>
          <p:cNvPr id="13332" name="Oval 10"/>
          <p:cNvSpPr/>
          <p:nvPr/>
        </p:nvSpPr>
        <p:spPr>
          <a:xfrm>
            <a:off x="5621338" y="3200400"/>
            <a:ext cx="381000" cy="381000"/>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1800" dirty="0"/>
          </a:p>
        </p:txBody>
      </p:sp>
      <p:sp>
        <p:nvSpPr>
          <p:cNvPr id="13333" name="Freeform 59"/>
          <p:cNvSpPr/>
          <p:nvPr/>
        </p:nvSpPr>
        <p:spPr>
          <a:xfrm>
            <a:off x="5621338" y="2667000"/>
            <a:ext cx="152400" cy="533400"/>
          </a:xfrm>
          <a:custGeom>
            <a:avLst/>
            <a:gdLst>
              <a:gd name="txL" fmla="*/ 0 w 149577"/>
              <a:gd name="txT" fmla="*/ 0 h 668867"/>
              <a:gd name="txR" fmla="*/ 149577 w 149577"/>
              <a:gd name="txB" fmla="*/ 668867 h 668867"/>
            </a:gdLst>
            <a:ahLst/>
            <a:cxnLst>
              <a:cxn ang="0">
                <a:pos x="156060" y="0"/>
              </a:cxn>
              <a:cxn ang="0">
                <a:pos x="7613" y="10646"/>
              </a:cxn>
              <a:cxn ang="0">
                <a:pos x="201738" y="17895"/>
              </a:cxn>
            </a:cxnLst>
            <a:rect l="txL" t="txT" r="txR" b="txB"/>
            <a:pathLst>
              <a:path w="149577" h="668867">
                <a:moveTo>
                  <a:pt x="115710" y="0"/>
                </a:moveTo>
                <a:cubicBezTo>
                  <a:pt x="57855" y="143227"/>
                  <a:pt x="0" y="286455"/>
                  <a:pt x="5644" y="397933"/>
                </a:cubicBezTo>
                <a:cubicBezTo>
                  <a:pt x="11289" y="509411"/>
                  <a:pt x="149577" y="668867"/>
                  <a:pt x="149577" y="668867"/>
                </a:cubicBezTo>
              </a:path>
            </a:pathLst>
          </a:custGeom>
          <a:noFill/>
          <a:ln w="9525" cap="flat" cmpd="sng">
            <a:solidFill>
              <a:schemeClr val="tx1">
                <a:alpha val="100000"/>
              </a:schemeClr>
            </a:solidFill>
            <a:prstDash val="solid"/>
            <a:round/>
            <a:headEnd type="none" w="med" len="med"/>
            <a:tailEnd type="triangle" w="med" len="med"/>
          </a:ln>
        </p:spPr>
        <p:txBody>
          <a:bodyPr/>
          <a:p>
            <a:endParaRPr lang="en-US"/>
          </a:p>
        </p:txBody>
      </p:sp>
      <p:sp>
        <p:nvSpPr>
          <p:cNvPr id="13334" name="Freeform 60"/>
          <p:cNvSpPr/>
          <p:nvPr/>
        </p:nvSpPr>
        <p:spPr>
          <a:xfrm flipH="1" flipV="1">
            <a:off x="5859463" y="2659063"/>
            <a:ext cx="152400" cy="533400"/>
          </a:xfrm>
          <a:custGeom>
            <a:avLst/>
            <a:gdLst>
              <a:gd name="txL" fmla="*/ 0 w 149577"/>
              <a:gd name="txT" fmla="*/ 0 h 668867"/>
              <a:gd name="txR" fmla="*/ 149577 w 149577"/>
              <a:gd name="txB" fmla="*/ 668867 h 668867"/>
            </a:gdLst>
            <a:ahLst/>
            <a:cxnLst>
              <a:cxn ang="0">
                <a:pos x="156060" y="0"/>
              </a:cxn>
              <a:cxn ang="0">
                <a:pos x="7613" y="10646"/>
              </a:cxn>
              <a:cxn ang="0">
                <a:pos x="201738" y="17895"/>
              </a:cxn>
            </a:cxnLst>
            <a:rect l="txL" t="txT" r="txR" b="txB"/>
            <a:pathLst>
              <a:path w="149577" h="668867">
                <a:moveTo>
                  <a:pt x="115710" y="0"/>
                </a:moveTo>
                <a:cubicBezTo>
                  <a:pt x="57855" y="143227"/>
                  <a:pt x="0" y="286455"/>
                  <a:pt x="5644" y="397933"/>
                </a:cubicBezTo>
                <a:cubicBezTo>
                  <a:pt x="11289" y="509411"/>
                  <a:pt x="149577" y="668867"/>
                  <a:pt x="149577" y="668867"/>
                </a:cubicBezTo>
              </a:path>
            </a:pathLst>
          </a:custGeom>
          <a:noFill/>
          <a:ln w="9525" cap="flat" cmpd="sng">
            <a:solidFill>
              <a:schemeClr val="tx1">
                <a:alpha val="100000"/>
              </a:schemeClr>
            </a:solidFill>
            <a:prstDash val="solid"/>
            <a:round/>
            <a:headEnd type="none" w="med" len="med"/>
            <a:tailEnd type="triangle" w="med" len="med"/>
          </a:ln>
        </p:spPr>
        <p:txBody>
          <a:bodyPr/>
          <a:p>
            <a:endParaRPr lang="en-US"/>
          </a:p>
        </p:txBody>
      </p:sp>
      <p:sp>
        <p:nvSpPr>
          <p:cNvPr id="13335" name="Freeform 37"/>
          <p:cNvSpPr/>
          <p:nvPr/>
        </p:nvSpPr>
        <p:spPr>
          <a:xfrm rot="-5400000">
            <a:off x="5378450" y="2381250"/>
            <a:ext cx="252413" cy="233363"/>
          </a:xfrm>
          <a:custGeom>
            <a:avLst/>
            <a:gdLst>
              <a:gd name="txL" fmla="*/ 0 w 320"/>
              <a:gd name="txT" fmla="*/ 0 h 296"/>
              <a:gd name="txR" fmla="*/ 320 w 320"/>
              <a:gd name="txB" fmla="*/ 296 h 296"/>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320" h="296">
                <a:moveTo>
                  <a:pt x="112" y="296"/>
                </a:moveTo>
                <a:cubicBezTo>
                  <a:pt x="72" y="268"/>
                  <a:pt x="32" y="240"/>
                  <a:pt x="16" y="200"/>
                </a:cubicBezTo>
                <a:cubicBezTo>
                  <a:pt x="0" y="160"/>
                  <a:pt x="0" y="88"/>
                  <a:pt x="16" y="56"/>
                </a:cubicBezTo>
                <a:cubicBezTo>
                  <a:pt x="32" y="24"/>
                  <a:pt x="80" y="16"/>
                  <a:pt x="112" y="8"/>
                </a:cubicBezTo>
                <a:cubicBezTo>
                  <a:pt x="144" y="0"/>
                  <a:pt x="176" y="0"/>
                  <a:pt x="208" y="8"/>
                </a:cubicBezTo>
                <a:cubicBezTo>
                  <a:pt x="240" y="16"/>
                  <a:pt x="288" y="24"/>
                  <a:pt x="304" y="56"/>
                </a:cubicBezTo>
                <a:cubicBezTo>
                  <a:pt x="320" y="88"/>
                  <a:pt x="312" y="160"/>
                  <a:pt x="304" y="200"/>
                </a:cubicBezTo>
                <a:cubicBezTo>
                  <a:pt x="296" y="240"/>
                  <a:pt x="276" y="268"/>
                  <a:pt x="256" y="296"/>
                </a:cubicBezTo>
              </a:path>
            </a:pathLst>
          </a:custGeom>
          <a:noFill/>
          <a:ln w="9525" cap="flat" cmpd="sng">
            <a:solidFill>
              <a:schemeClr val="tx1">
                <a:alpha val="100000"/>
              </a:schemeClr>
            </a:solidFill>
            <a:prstDash val="solid"/>
            <a:round/>
            <a:headEnd type="none" w="med" len="med"/>
            <a:tailEnd type="triangle" w="med" len="med"/>
          </a:ln>
        </p:spPr>
        <p:txBody>
          <a:bodyPr/>
          <a:p>
            <a:endParaRPr lang="en-US"/>
          </a:p>
        </p:txBody>
      </p:sp>
      <p:sp>
        <p:nvSpPr>
          <p:cNvPr id="13336" name="Freeform 37"/>
          <p:cNvSpPr/>
          <p:nvPr/>
        </p:nvSpPr>
        <p:spPr>
          <a:xfrm rot="-5400000">
            <a:off x="5375275" y="3313113"/>
            <a:ext cx="252413" cy="233362"/>
          </a:xfrm>
          <a:custGeom>
            <a:avLst/>
            <a:gdLst>
              <a:gd name="txL" fmla="*/ 0 w 320"/>
              <a:gd name="txT" fmla="*/ 0 h 296"/>
              <a:gd name="txR" fmla="*/ 320 w 320"/>
              <a:gd name="txB" fmla="*/ 296 h 296"/>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320" h="296">
                <a:moveTo>
                  <a:pt x="112" y="296"/>
                </a:moveTo>
                <a:cubicBezTo>
                  <a:pt x="72" y="268"/>
                  <a:pt x="32" y="240"/>
                  <a:pt x="16" y="200"/>
                </a:cubicBezTo>
                <a:cubicBezTo>
                  <a:pt x="0" y="160"/>
                  <a:pt x="0" y="88"/>
                  <a:pt x="16" y="56"/>
                </a:cubicBezTo>
                <a:cubicBezTo>
                  <a:pt x="32" y="24"/>
                  <a:pt x="80" y="16"/>
                  <a:pt x="112" y="8"/>
                </a:cubicBezTo>
                <a:cubicBezTo>
                  <a:pt x="144" y="0"/>
                  <a:pt x="176" y="0"/>
                  <a:pt x="208" y="8"/>
                </a:cubicBezTo>
                <a:cubicBezTo>
                  <a:pt x="240" y="16"/>
                  <a:pt x="288" y="24"/>
                  <a:pt x="304" y="56"/>
                </a:cubicBezTo>
                <a:cubicBezTo>
                  <a:pt x="320" y="88"/>
                  <a:pt x="312" y="160"/>
                  <a:pt x="304" y="200"/>
                </a:cubicBezTo>
                <a:cubicBezTo>
                  <a:pt x="296" y="240"/>
                  <a:pt x="276" y="268"/>
                  <a:pt x="256" y="296"/>
                </a:cubicBezTo>
              </a:path>
            </a:pathLst>
          </a:custGeom>
          <a:noFill/>
          <a:ln w="9525" cap="flat" cmpd="sng">
            <a:solidFill>
              <a:schemeClr val="tx1">
                <a:alpha val="100000"/>
              </a:schemeClr>
            </a:solidFill>
            <a:prstDash val="solid"/>
            <a:round/>
            <a:headEnd type="none" w="med" len="med"/>
            <a:tailEnd type="triangle" w="med" len="med"/>
          </a:ln>
        </p:spPr>
        <p:txBody>
          <a:bodyPr/>
          <a:p>
            <a:endParaRPr lang="en-US"/>
          </a:p>
        </p:txBody>
      </p:sp>
      <p:sp>
        <p:nvSpPr>
          <p:cNvPr id="13337" name="Oval 10"/>
          <p:cNvSpPr/>
          <p:nvPr/>
        </p:nvSpPr>
        <p:spPr>
          <a:xfrm>
            <a:off x="6992938" y="2286000"/>
            <a:ext cx="381000" cy="381000"/>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1800" dirty="0"/>
          </a:p>
        </p:txBody>
      </p:sp>
      <p:sp>
        <p:nvSpPr>
          <p:cNvPr id="13338" name="Oval 10"/>
          <p:cNvSpPr/>
          <p:nvPr/>
        </p:nvSpPr>
        <p:spPr>
          <a:xfrm>
            <a:off x="6992938" y="3200400"/>
            <a:ext cx="381000" cy="381000"/>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1800" dirty="0"/>
          </a:p>
        </p:txBody>
      </p:sp>
      <p:sp>
        <p:nvSpPr>
          <p:cNvPr id="13339" name="Freeform 65"/>
          <p:cNvSpPr/>
          <p:nvPr/>
        </p:nvSpPr>
        <p:spPr>
          <a:xfrm>
            <a:off x="6992938" y="2667000"/>
            <a:ext cx="152400" cy="533400"/>
          </a:xfrm>
          <a:custGeom>
            <a:avLst/>
            <a:gdLst>
              <a:gd name="txL" fmla="*/ 0 w 149577"/>
              <a:gd name="txT" fmla="*/ 0 h 668867"/>
              <a:gd name="txR" fmla="*/ 149577 w 149577"/>
              <a:gd name="txB" fmla="*/ 668867 h 668867"/>
            </a:gdLst>
            <a:ahLst/>
            <a:cxnLst>
              <a:cxn ang="0">
                <a:pos x="156060" y="0"/>
              </a:cxn>
              <a:cxn ang="0">
                <a:pos x="7613" y="10646"/>
              </a:cxn>
              <a:cxn ang="0">
                <a:pos x="201738" y="17895"/>
              </a:cxn>
            </a:cxnLst>
            <a:rect l="txL" t="txT" r="txR" b="txB"/>
            <a:pathLst>
              <a:path w="149577" h="668867">
                <a:moveTo>
                  <a:pt x="115710" y="0"/>
                </a:moveTo>
                <a:cubicBezTo>
                  <a:pt x="57855" y="143227"/>
                  <a:pt x="0" y="286455"/>
                  <a:pt x="5644" y="397933"/>
                </a:cubicBezTo>
                <a:cubicBezTo>
                  <a:pt x="11289" y="509411"/>
                  <a:pt x="149577" y="668867"/>
                  <a:pt x="149577" y="668867"/>
                </a:cubicBezTo>
              </a:path>
            </a:pathLst>
          </a:custGeom>
          <a:noFill/>
          <a:ln w="9525" cap="flat" cmpd="sng">
            <a:solidFill>
              <a:schemeClr val="tx1">
                <a:alpha val="100000"/>
              </a:schemeClr>
            </a:solidFill>
            <a:prstDash val="solid"/>
            <a:round/>
            <a:headEnd type="none" w="med" len="med"/>
            <a:tailEnd type="triangle" w="med" len="med"/>
          </a:ln>
        </p:spPr>
        <p:txBody>
          <a:bodyPr/>
          <a:p>
            <a:endParaRPr lang="en-US"/>
          </a:p>
        </p:txBody>
      </p:sp>
      <p:sp>
        <p:nvSpPr>
          <p:cNvPr id="13340" name="Freeform 66"/>
          <p:cNvSpPr/>
          <p:nvPr/>
        </p:nvSpPr>
        <p:spPr>
          <a:xfrm flipH="1" flipV="1">
            <a:off x="7231063" y="2659063"/>
            <a:ext cx="152400" cy="533400"/>
          </a:xfrm>
          <a:custGeom>
            <a:avLst/>
            <a:gdLst>
              <a:gd name="txL" fmla="*/ 0 w 149577"/>
              <a:gd name="txT" fmla="*/ 0 h 668867"/>
              <a:gd name="txR" fmla="*/ 149577 w 149577"/>
              <a:gd name="txB" fmla="*/ 668867 h 668867"/>
            </a:gdLst>
            <a:ahLst/>
            <a:cxnLst>
              <a:cxn ang="0">
                <a:pos x="156060" y="0"/>
              </a:cxn>
              <a:cxn ang="0">
                <a:pos x="7613" y="10646"/>
              </a:cxn>
              <a:cxn ang="0">
                <a:pos x="201738" y="17895"/>
              </a:cxn>
            </a:cxnLst>
            <a:rect l="txL" t="txT" r="txR" b="txB"/>
            <a:pathLst>
              <a:path w="149577" h="668867">
                <a:moveTo>
                  <a:pt x="115710" y="0"/>
                </a:moveTo>
                <a:cubicBezTo>
                  <a:pt x="57855" y="143227"/>
                  <a:pt x="0" y="286455"/>
                  <a:pt x="5644" y="397933"/>
                </a:cubicBezTo>
                <a:cubicBezTo>
                  <a:pt x="11289" y="509411"/>
                  <a:pt x="149577" y="668867"/>
                  <a:pt x="149577" y="668867"/>
                </a:cubicBezTo>
              </a:path>
            </a:pathLst>
          </a:custGeom>
          <a:noFill/>
          <a:ln w="9525" cap="flat" cmpd="sng">
            <a:solidFill>
              <a:schemeClr val="tx1">
                <a:alpha val="100000"/>
              </a:schemeClr>
            </a:solidFill>
            <a:prstDash val="solid"/>
            <a:round/>
            <a:headEnd type="none" w="med" len="med"/>
            <a:tailEnd type="triangle" w="med" len="med"/>
          </a:ln>
        </p:spPr>
        <p:txBody>
          <a:bodyPr/>
          <a:p>
            <a:endParaRPr lang="en-US"/>
          </a:p>
        </p:txBody>
      </p:sp>
      <p:sp>
        <p:nvSpPr>
          <p:cNvPr id="13341" name="Freeform 37"/>
          <p:cNvSpPr/>
          <p:nvPr/>
        </p:nvSpPr>
        <p:spPr>
          <a:xfrm rot="5400000" flipH="1">
            <a:off x="7369175" y="2381250"/>
            <a:ext cx="252413" cy="233363"/>
          </a:xfrm>
          <a:custGeom>
            <a:avLst/>
            <a:gdLst>
              <a:gd name="txL" fmla="*/ 0 w 320"/>
              <a:gd name="txT" fmla="*/ 0 h 296"/>
              <a:gd name="txR" fmla="*/ 320 w 320"/>
              <a:gd name="txB" fmla="*/ 296 h 296"/>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320" h="296">
                <a:moveTo>
                  <a:pt x="112" y="296"/>
                </a:moveTo>
                <a:cubicBezTo>
                  <a:pt x="72" y="268"/>
                  <a:pt x="32" y="240"/>
                  <a:pt x="16" y="200"/>
                </a:cubicBezTo>
                <a:cubicBezTo>
                  <a:pt x="0" y="160"/>
                  <a:pt x="0" y="88"/>
                  <a:pt x="16" y="56"/>
                </a:cubicBezTo>
                <a:cubicBezTo>
                  <a:pt x="32" y="24"/>
                  <a:pt x="80" y="16"/>
                  <a:pt x="112" y="8"/>
                </a:cubicBezTo>
                <a:cubicBezTo>
                  <a:pt x="144" y="0"/>
                  <a:pt x="176" y="0"/>
                  <a:pt x="208" y="8"/>
                </a:cubicBezTo>
                <a:cubicBezTo>
                  <a:pt x="240" y="16"/>
                  <a:pt x="288" y="24"/>
                  <a:pt x="304" y="56"/>
                </a:cubicBezTo>
                <a:cubicBezTo>
                  <a:pt x="320" y="88"/>
                  <a:pt x="312" y="160"/>
                  <a:pt x="304" y="200"/>
                </a:cubicBezTo>
                <a:cubicBezTo>
                  <a:pt x="296" y="240"/>
                  <a:pt x="276" y="268"/>
                  <a:pt x="256" y="296"/>
                </a:cubicBezTo>
              </a:path>
            </a:pathLst>
          </a:custGeom>
          <a:noFill/>
          <a:ln w="9525" cap="flat" cmpd="sng">
            <a:solidFill>
              <a:schemeClr val="tx1">
                <a:alpha val="100000"/>
              </a:schemeClr>
            </a:solidFill>
            <a:prstDash val="solid"/>
            <a:round/>
            <a:headEnd type="none" w="med" len="med"/>
            <a:tailEnd type="triangle" w="med" len="med"/>
          </a:ln>
        </p:spPr>
        <p:txBody>
          <a:bodyPr/>
          <a:p>
            <a:endParaRPr lang="en-US"/>
          </a:p>
        </p:txBody>
      </p:sp>
      <p:sp>
        <p:nvSpPr>
          <p:cNvPr id="13342" name="Freeform 37"/>
          <p:cNvSpPr/>
          <p:nvPr/>
        </p:nvSpPr>
        <p:spPr>
          <a:xfrm rot="5400000" flipH="1">
            <a:off x="7364413" y="3313113"/>
            <a:ext cx="252412" cy="233362"/>
          </a:xfrm>
          <a:custGeom>
            <a:avLst/>
            <a:gdLst>
              <a:gd name="txL" fmla="*/ 0 w 320"/>
              <a:gd name="txT" fmla="*/ 0 h 296"/>
              <a:gd name="txR" fmla="*/ 320 w 320"/>
              <a:gd name="txB" fmla="*/ 296 h 296"/>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320" h="296">
                <a:moveTo>
                  <a:pt x="112" y="296"/>
                </a:moveTo>
                <a:cubicBezTo>
                  <a:pt x="72" y="268"/>
                  <a:pt x="32" y="240"/>
                  <a:pt x="16" y="200"/>
                </a:cubicBezTo>
                <a:cubicBezTo>
                  <a:pt x="0" y="160"/>
                  <a:pt x="0" y="88"/>
                  <a:pt x="16" y="56"/>
                </a:cubicBezTo>
                <a:cubicBezTo>
                  <a:pt x="32" y="24"/>
                  <a:pt x="80" y="16"/>
                  <a:pt x="112" y="8"/>
                </a:cubicBezTo>
                <a:cubicBezTo>
                  <a:pt x="144" y="0"/>
                  <a:pt x="176" y="0"/>
                  <a:pt x="208" y="8"/>
                </a:cubicBezTo>
                <a:cubicBezTo>
                  <a:pt x="240" y="16"/>
                  <a:pt x="288" y="24"/>
                  <a:pt x="304" y="56"/>
                </a:cubicBezTo>
                <a:cubicBezTo>
                  <a:pt x="320" y="88"/>
                  <a:pt x="312" y="160"/>
                  <a:pt x="304" y="200"/>
                </a:cubicBezTo>
                <a:cubicBezTo>
                  <a:pt x="296" y="240"/>
                  <a:pt x="276" y="268"/>
                  <a:pt x="256" y="296"/>
                </a:cubicBezTo>
              </a:path>
            </a:pathLst>
          </a:custGeom>
          <a:noFill/>
          <a:ln w="9525" cap="flat" cmpd="sng">
            <a:solidFill>
              <a:schemeClr val="tx1">
                <a:alpha val="100000"/>
              </a:schemeClr>
            </a:solidFill>
            <a:prstDash val="solid"/>
            <a:round/>
            <a:headEnd type="none" w="med" len="med"/>
            <a:tailEnd type="triangle" w="med" len="med"/>
          </a:ln>
        </p:spPr>
        <p:txBody>
          <a:bodyPr/>
          <a:p>
            <a:endParaRPr lang="en-US"/>
          </a:p>
        </p:txBody>
      </p:sp>
      <p:sp>
        <p:nvSpPr>
          <p:cNvPr id="13343" name="Line 35"/>
          <p:cNvSpPr/>
          <p:nvPr/>
        </p:nvSpPr>
        <p:spPr>
          <a:xfrm flipH="1">
            <a:off x="5849938" y="1887538"/>
            <a:ext cx="533400" cy="398462"/>
          </a:xfrm>
          <a:prstGeom prst="line">
            <a:avLst/>
          </a:prstGeom>
          <a:ln w="9525" cap="flat" cmpd="sng">
            <a:solidFill>
              <a:schemeClr val="tx1"/>
            </a:solidFill>
            <a:prstDash val="solid"/>
            <a:headEnd type="none" w="med" len="med"/>
            <a:tailEnd type="triangle" w="med" len="med"/>
          </a:ln>
        </p:spPr>
      </p:sp>
      <p:sp>
        <p:nvSpPr>
          <p:cNvPr id="13344" name="Line 35"/>
          <p:cNvSpPr/>
          <p:nvPr/>
        </p:nvSpPr>
        <p:spPr>
          <a:xfrm>
            <a:off x="6629400" y="1897063"/>
            <a:ext cx="533400" cy="381000"/>
          </a:xfrm>
          <a:prstGeom prst="line">
            <a:avLst/>
          </a:prstGeom>
          <a:ln w="9525" cap="flat" cmpd="sng">
            <a:solidFill>
              <a:schemeClr val="tx1"/>
            </a:solidFill>
            <a:prstDash val="solid"/>
            <a:headEnd type="none" w="med" len="med"/>
            <a:tailEnd type="triangle" w="med" len="med"/>
          </a:ln>
        </p:spPr>
      </p:sp>
      <p:sp>
        <p:nvSpPr>
          <p:cNvPr id="13345" name="Line 35"/>
          <p:cNvSpPr/>
          <p:nvPr/>
        </p:nvSpPr>
        <p:spPr>
          <a:xfrm flipH="1">
            <a:off x="6494463" y="1371600"/>
            <a:ext cx="7937" cy="160338"/>
          </a:xfrm>
          <a:prstGeom prst="line">
            <a:avLst/>
          </a:prstGeom>
          <a:ln w="9525" cap="flat" cmpd="sng">
            <a:solidFill>
              <a:schemeClr val="tx1"/>
            </a:solidFill>
            <a:prstDash val="solid"/>
            <a:headEnd type="none" w="med" len="med"/>
            <a:tailEnd type="triangle" w="med" len="med"/>
          </a:ln>
        </p:spPr>
      </p:sp>
      <p:sp>
        <p:nvSpPr>
          <p:cNvPr id="13346" name="Oval 10"/>
          <p:cNvSpPr/>
          <p:nvPr/>
        </p:nvSpPr>
        <p:spPr>
          <a:xfrm>
            <a:off x="5681663" y="2336800"/>
            <a:ext cx="269875" cy="271463"/>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1800" dirty="0"/>
          </a:p>
        </p:txBody>
      </p:sp>
      <p:sp>
        <p:nvSpPr>
          <p:cNvPr id="13347" name="Oval 10"/>
          <p:cNvSpPr/>
          <p:nvPr/>
        </p:nvSpPr>
        <p:spPr>
          <a:xfrm>
            <a:off x="7043738" y="2344738"/>
            <a:ext cx="271462" cy="271462"/>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1800" dirty="0"/>
          </a:p>
        </p:txBody>
      </p:sp>
      <p:sp>
        <p:nvSpPr>
          <p:cNvPr id="13348" name="Rectangle 13"/>
          <p:cNvSpPr/>
          <p:nvPr/>
        </p:nvSpPr>
        <p:spPr>
          <a:xfrm>
            <a:off x="6319838" y="1473200"/>
            <a:ext cx="36830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zh-TW" sz="1800" dirty="0">
                <a:latin typeface="Garamond" panose="02020404030301010803" pitchFamily="18" charset="0"/>
                <a:ea typeface="PMingLiU"/>
                <a:sym typeface="Symbol" panose="05050102010706020507" pitchFamily="18" charset="2"/>
              </a:rPr>
              <a:t>q</a:t>
            </a:r>
            <a:r>
              <a:rPr lang="en-US" altLang="zh-TW" sz="1800" baseline="-25000" dirty="0">
                <a:latin typeface="Garamond" panose="02020404030301010803" pitchFamily="18" charset="0"/>
                <a:ea typeface="PMingLiU"/>
                <a:sym typeface="Symbol" panose="05050102010706020507" pitchFamily="18" charset="2"/>
              </a:rPr>
              <a:t>0</a:t>
            </a:r>
            <a:endParaRPr lang="en-US" altLang="zh-TW" sz="1800" baseline="-25000" dirty="0">
              <a:latin typeface="Garamond" panose="02020404030301010803" pitchFamily="18" charset="0"/>
              <a:ea typeface="PMingLiU"/>
              <a:sym typeface="Symbol" panose="05050102010706020507" pitchFamily="18" charset="2"/>
            </a:endParaRPr>
          </a:p>
        </p:txBody>
      </p:sp>
      <p:sp>
        <p:nvSpPr>
          <p:cNvPr id="13349" name="Rectangle 13"/>
          <p:cNvSpPr/>
          <p:nvPr/>
        </p:nvSpPr>
        <p:spPr>
          <a:xfrm>
            <a:off x="5621338" y="2224088"/>
            <a:ext cx="368300"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zh-TW" sz="1800" dirty="0">
                <a:latin typeface="Garamond" panose="02020404030301010803" pitchFamily="18" charset="0"/>
                <a:ea typeface="PMingLiU"/>
                <a:sym typeface="Symbol" panose="05050102010706020507" pitchFamily="18" charset="2"/>
              </a:rPr>
              <a:t>q</a:t>
            </a:r>
            <a:r>
              <a:rPr lang="en-US" altLang="zh-TW" sz="1800" baseline="-25000" dirty="0">
                <a:latin typeface="Garamond" panose="02020404030301010803" pitchFamily="18" charset="0"/>
                <a:ea typeface="PMingLiU"/>
                <a:sym typeface="Symbol" panose="05050102010706020507" pitchFamily="18" charset="2"/>
              </a:rPr>
              <a:t>1</a:t>
            </a:r>
            <a:endParaRPr lang="en-US" altLang="zh-TW" sz="1800" baseline="-25000" dirty="0">
              <a:latin typeface="Garamond" panose="02020404030301010803" pitchFamily="18" charset="0"/>
              <a:ea typeface="PMingLiU"/>
              <a:sym typeface="Symbol" panose="05050102010706020507" pitchFamily="18" charset="2"/>
            </a:endParaRPr>
          </a:p>
        </p:txBody>
      </p:sp>
      <p:sp>
        <p:nvSpPr>
          <p:cNvPr id="13350" name="Rectangle 13"/>
          <p:cNvSpPr/>
          <p:nvPr/>
        </p:nvSpPr>
        <p:spPr>
          <a:xfrm>
            <a:off x="5621338" y="3138488"/>
            <a:ext cx="368300"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zh-TW" sz="1800" dirty="0">
                <a:latin typeface="Garamond" panose="02020404030301010803" pitchFamily="18" charset="0"/>
                <a:ea typeface="PMingLiU"/>
                <a:sym typeface="Symbol" panose="05050102010706020507" pitchFamily="18" charset="2"/>
              </a:rPr>
              <a:t>q</a:t>
            </a:r>
            <a:r>
              <a:rPr lang="en-US" altLang="zh-TW" sz="1800" baseline="-25000" dirty="0">
                <a:latin typeface="Garamond" panose="02020404030301010803" pitchFamily="18" charset="0"/>
                <a:ea typeface="PMingLiU"/>
                <a:sym typeface="Symbol" panose="05050102010706020507" pitchFamily="18" charset="2"/>
              </a:rPr>
              <a:t>2</a:t>
            </a:r>
            <a:endParaRPr lang="en-US" altLang="zh-TW" sz="1800" baseline="-25000" dirty="0">
              <a:latin typeface="Garamond" panose="02020404030301010803" pitchFamily="18" charset="0"/>
              <a:ea typeface="PMingLiU"/>
              <a:sym typeface="Symbol" panose="05050102010706020507" pitchFamily="18" charset="2"/>
            </a:endParaRPr>
          </a:p>
        </p:txBody>
      </p:sp>
      <p:sp>
        <p:nvSpPr>
          <p:cNvPr id="13351" name="Rectangle 13"/>
          <p:cNvSpPr/>
          <p:nvPr/>
        </p:nvSpPr>
        <p:spPr>
          <a:xfrm>
            <a:off x="7005638" y="2227263"/>
            <a:ext cx="368300"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zh-TW" sz="1800" dirty="0">
                <a:latin typeface="Garamond" panose="02020404030301010803" pitchFamily="18" charset="0"/>
                <a:ea typeface="PMingLiU"/>
                <a:sym typeface="Symbol" panose="05050102010706020507" pitchFamily="18" charset="2"/>
              </a:rPr>
              <a:t>q</a:t>
            </a:r>
            <a:r>
              <a:rPr lang="en-US" altLang="zh-TW" sz="1800" baseline="-25000" dirty="0">
                <a:latin typeface="Garamond" panose="02020404030301010803" pitchFamily="18" charset="0"/>
                <a:ea typeface="PMingLiU"/>
                <a:sym typeface="Symbol" panose="05050102010706020507" pitchFamily="18" charset="2"/>
              </a:rPr>
              <a:t>3</a:t>
            </a:r>
            <a:endParaRPr lang="en-US" altLang="zh-TW" sz="1800" baseline="-25000" dirty="0">
              <a:latin typeface="Garamond" panose="02020404030301010803" pitchFamily="18" charset="0"/>
              <a:ea typeface="PMingLiU"/>
              <a:sym typeface="Symbol" panose="05050102010706020507" pitchFamily="18" charset="2"/>
            </a:endParaRPr>
          </a:p>
        </p:txBody>
      </p:sp>
      <p:sp>
        <p:nvSpPr>
          <p:cNvPr id="13352" name="Rectangle 13"/>
          <p:cNvSpPr/>
          <p:nvPr/>
        </p:nvSpPr>
        <p:spPr>
          <a:xfrm>
            <a:off x="7010400" y="3138488"/>
            <a:ext cx="368300"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zh-TW" sz="1800" dirty="0">
                <a:latin typeface="Garamond" panose="02020404030301010803" pitchFamily="18" charset="0"/>
                <a:ea typeface="PMingLiU"/>
                <a:sym typeface="Symbol" panose="05050102010706020507" pitchFamily="18" charset="2"/>
              </a:rPr>
              <a:t>q</a:t>
            </a:r>
            <a:r>
              <a:rPr lang="en-US" altLang="zh-TW" sz="1800" baseline="-25000" dirty="0">
                <a:latin typeface="Garamond" panose="02020404030301010803" pitchFamily="18" charset="0"/>
                <a:ea typeface="PMingLiU"/>
                <a:sym typeface="Symbol" panose="05050102010706020507" pitchFamily="18" charset="2"/>
              </a:rPr>
              <a:t>4</a:t>
            </a:r>
            <a:endParaRPr lang="en-US" altLang="zh-TW" sz="1800" baseline="-25000" dirty="0">
              <a:latin typeface="Garamond" panose="02020404030301010803" pitchFamily="18" charset="0"/>
              <a:ea typeface="PMingLiU"/>
              <a:sym typeface="Symbol" panose="05050102010706020507" pitchFamily="18" charset="2"/>
            </a:endParaRPr>
          </a:p>
        </p:txBody>
      </p:sp>
      <p:sp>
        <p:nvSpPr>
          <p:cNvPr id="13353" name="TextBox 79"/>
          <p:cNvSpPr txBox="1"/>
          <p:nvPr/>
        </p:nvSpPr>
        <p:spPr>
          <a:xfrm>
            <a:off x="5876925" y="1795463"/>
            <a:ext cx="354013" cy="338137"/>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en-US" sz="1600" i="1" dirty="0"/>
              <a:t>a</a:t>
            </a:r>
            <a:endParaRPr lang="en-US" altLang="en-US" sz="1600" i="1" dirty="0"/>
          </a:p>
        </p:txBody>
      </p:sp>
      <p:sp>
        <p:nvSpPr>
          <p:cNvPr id="13354" name="TextBox 80"/>
          <p:cNvSpPr txBox="1"/>
          <p:nvPr/>
        </p:nvSpPr>
        <p:spPr>
          <a:xfrm>
            <a:off x="5148263" y="2303463"/>
            <a:ext cx="354012" cy="338137"/>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en-US" sz="1600" i="1" dirty="0"/>
              <a:t>a</a:t>
            </a:r>
            <a:endParaRPr lang="en-US" altLang="en-US" sz="1600" i="1" dirty="0"/>
          </a:p>
        </p:txBody>
      </p:sp>
      <p:sp>
        <p:nvSpPr>
          <p:cNvPr id="13355" name="TextBox 81"/>
          <p:cNvSpPr txBox="1"/>
          <p:nvPr/>
        </p:nvSpPr>
        <p:spPr>
          <a:xfrm>
            <a:off x="5978525" y="2684463"/>
            <a:ext cx="354013" cy="338137"/>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en-US" sz="1600" i="1" dirty="0"/>
              <a:t>a</a:t>
            </a:r>
            <a:endParaRPr lang="en-US" altLang="en-US" sz="1600" i="1" dirty="0"/>
          </a:p>
        </p:txBody>
      </p:sp>
      <p:sp>
        <p:nvSpPr>
          <p:cNvPr id="13356" name="TextBox 82"/>
          <p:cNvSpPr txBox="1"/>
          <p:nvPr/>
        </p:nvSpPr>
        <p:spPr>
          <a:xfrm>
            <a:off x="6757988" y="2692400"/>
            <a:ext cx="354012" cy="3381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en-US" sz="1600" i="1" dirty="0"/>
              <a:t>a</a:t>
            </a:r>
            <a:endParaRPr lang="en-US" altLang="en-US" sz="1600" i="1" dirty="0"/>
          </a:p>
        </p:txBody>
      </p:sp>
      <p:sp>
        <p:nvSpPr>
          <p:cNvPr id="13357" name="TextBox 83"/>
          <p:cNvSpPr txBox="1"/>
          <p:nvPr/>
        </p:nvSpPr>
        <p:spPr>
          <a:xfrm>
            <a:off x="7570788" y="3200400"/>
            <a:ext cx="354012" cy="3381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en-US" sz="1600" i="1" dirty="0"/>
              <a:t>a</a:t>
            </a:r>
            <a:endParaRPr lang="en-US" altLang="en-US" sz="1600" i="1" dirty="0"/>
          </a:p>
        </p:txBody>
      </p:sp>
      <p:sp>
        <p:nvSpPr>
          <p:cNvPr id="13358" name="TextBox 84"/>
          <p:cNvSpPr txBox="1"/>
          <p:nvPr/>
        </p:nvSpPr>
        <p:spPr>
          <a:xfrm>
            <a:off x="7561263" y="2286000"/>
            <a:ext cx="354012" cy="3381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en-US" sz="1600" i="1" dirty="0"/>
              <a:t>b</a:t>
            </a:r>
            <a:endParaRPr lang="en-US" altLang="en-US" sz="1600" i="1" dirty="0"/>
          </a:p>
        </p:txBody>
      </p:sp>
      <p:sp>
        <p:nvSpPr>
          <p:cNvPr id="13359" name="TextBox 85"/>
          <p:cNvSpPr txBox="1"/>
          <p:nvPr/>
        </p:nvSpPr>
        <p:spPr>
          <a:xfrm>
            <a:off x="6799263" y="1770063"/>
            <a:ext cx="354012" cy="338137"/>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en-US" sz="1600" i="1" dirty="0"/>
              <a:t>b</a:t>
            </a:r>
            <a:endParaRPr lang="en-US" altLang="en-US" sz="1600" i="1" dirty="0"/>
          </a:p>
        </p:txBody>
      </p:sp>
      <p:sp>
        <p:nvSpPr>
          <p:cNvPr id="13360" name="TextBox 86"/>
          <p:cNvSpPr txBox="1"/>
          <p:nvPr/>
        </p:nvSpPr>
        <p:spPr>
          <a:xfrm>
            <a:off x="7324725" y="2692400"/>
            <a:ext cx="354013" cy="3381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en-US" sz="1600" i="1" dirty="0"/>
              <a:t>b</a:t>
            </a:r>
            <a:endParaRPr lang="en-US" altLang="en-US" sz="1600" i="1" dirty="0"/>
          </a:p>
        </p:txBody>
      </p:sp>
      <p:sp>
        <p:nvSpPr>
          <p:cNvPr id="13361" name="TextBox 87"/>
          <p:cNvSpPr txBox="1"/>
          <p:nvPr/>
        </p:nvSpPr>
        <p:spPr>
          <a:xfrm>
            <a:off x="5392738" y="2667000"/>
            <a:ext cx="355600" cy="3381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en-US" sz="1600" i="1" dirty="0"/>
              <a:t>b</a:t>
            </a:r>
            <a:endParaRPr lang="en-US" altLang="en-US" sz="1600" i="1" dirty="0"/>
          </a:p>
        </p:txBody>
      </p:sp>
      <p:sp>
        <p:nvSpPr>
          <p:cNvPr id="13362" name="TextBox 88"/>
          <p:cNvSpPr txBox="1"/>
          <p:nvPr/>
        </p:nvSpPr>
        <p:spPr>
          <a:xfrm>
            <a:off x="5156200" y="3200400"/>
            <a:ext cx="354013" cy="3381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en-US" sz="1600" i="1" dirty="0"/>
              <a:t>b</a:t>
            </a:r>
            <a:endParaRPr lang="en-US" altLang="en-US" sz="1600" i="1" dirty="0"/>
          </a:p>
        </p:txBody>
      </p:sp>
      <p:sp>
        <p:nvSpPr>
          <p:cNvPr id="13363" name="Oval 10"/>
          <p:cNvSpPr/>
          <p:nvPr/>
        </p:nvSpPr>
        <p:spPr>
          <a:xfrm>
            <a:off x="2846388" y="4724400"/>
            <a:ext cx="381000" cy="381000"/>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1800" dirty="0"/>
          </a:p>
        </p:txBody>
      </p:sp>
      <p:sp>
        <p:nvSpPr>
          <p:cNvPr id="13364" name="Line 11"/>
          <p:cNvSpPr/>
          <p:nvPr/>
        </p:nvSpPr>
        <p:spPr>
          <a:xfrm>
            <a:off x="2671763" y="4919663"/>
            <a:ext cx="174625" cy="0"/>
          </a:xfrm>
          <a:prstGeom prst="line">
            <a:avLst/>
          </a:prstGeom>
          <a:ln w="9525" cap="flat" cmpd="sng">
            <a:solidFill>
              <a:schemeClr val="tx1"/>
            </a:solidFill>
            <a:prstDash val="solid"/>
            <a:headEnd type="none" w="med" len="med"/>
            <a:tailEnd type="triangle" w="med" len="med"/>
          </a:ln>
        </p:spPr>
      </p:sp>
      <p:sp>
        <p:nvSpPr>
          <p:cNvPr id="13365" name="Rectangle 13"/>
          <p:cNvSpPr/>
          <p:nvPr/>
        </p:nvSpPr>
        <p:spPr>
          <a:xfrm>
            <a:off x="2852738" y="4657725"/>
            <a:ext cx="36830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zh-TW" sz="1800" dirty="0">
                <a:latin typeface="Garamond" panose="02020404030301010803" pitchFamily="18" charset="0"/>
                <a:ea typeface="PMingLiU"/>
                <a:sym typeface="Symbol" panose="05050102010706020507" pitchFamily="18" charset="2"/>
              </a:rPr>
              <a:t>q</a:t>
            </a:r>
            <a:r>
              <a:rPr lang="en-US" altLang="zh-TW" sz="1800" baseline="-25000" dirty="0">
                <a:latin typeface="Garamond" panose="02020404030301010803" pitchFamily="18" charset="0"/>
                <a:ea typeface="PMingLiU"/>
                <a:sym typeface="Symbol" panose="05050102010706020507" pitchFamily="18" charset="2"/>
              </a:rPr>
              <a:t>0</a:t>
            </a:r>
            <a:endParaRPr lang="en-US" altLang="zh-TW" sz="1800" baseline="-25000" dirty="0">
              <a:latin typeface="Garamond" panose="02020404030301010803" pitchFamily="18" charset="0"/>
              <a:ea typeface="PMingLiU"/>
              <a:sym typeface="Symbol" panose="05050102010706020507" pitchFamily="18" charset="2"/>
            </a:endParaRPr>
          </a:p>
        </p:txBody>
      </p:sp>
      <p:sp>
        <p:nvSpPr>
          <p:cNvPr id="13366" name="Rectangle 14"/>
          <p:cNvSpPr/>
          <p:nvPr/>
        </p:nvSpPr>
        <p:spPr>
          <a:xfrm>
            <a:off x="4446588" y="4657725"/>
            <a:ext cx="36830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zh-TW" sz="1800" dirty="0">
                <a:latin typeface="Garamond" panose="02020404030301010803" pitchFamily="18" charset="0"/>
                <a:ea typeface="PMingLiU"/>
                <a:sym typeface="Symbol" panose="05050102010706020507" pitchFamily="18" charset="2"/>
              </a:rPr>
              <a:t>q</a:t>
            </a:r>
            <a:r>
              <a:rPr lang="en-US" altLang="zh-TW" sz="1800" baseline="-25000" dirty="0">
                <a:latin typeface="Garamond" panose="02020404030301010803" pitchFamily="18" charset="0"/>
                <a:ea typeface="PMingLiU"/>
                <a:sym typeface="Symbol" panose="05050102010706020507" pitchFamily="18" charset="2"/>
              </a:rPr>
              <a:t>1</a:t>
            </a:r>
            <a:endParaRPr lang="en-US" altLang="zh-TW" sz="1800" baseline="-25000" dirty="0">
              <a:latin typeface="Garamond" panose="02020404030301010803" pitchFamily="18" charset="0"/>
              <a:ea typeface="PMingLiU"/>
              <a:sym typeface="Symbol" panose="05050102010706020507" pitchFamily="18" charset="2"/>
            </a:endParaRPr>
          </a:p>
        </p:txBody>
      </p:sp>
      <p:sp>
        <p:nvSpPr>
          <p:cNvPr id="13367" name="Line 35"/>
          <p:cNvSpPr/>
          <p:nvPr/>
        </p:nvSpPr>
        <p:spPr>
          <a:xfrm flipV="1">
            <a:off x="3230563" y="4899025"/>
            <a:ext cx="1214437" cy="6350"/>
          </a:xfrm>
          <a:prstGeom prst="line">
            <a:avLst/>
          </a:prstGeom>
          <a:ln w="9525" cap="flat" cmpd="sng">
            <a:solidFill>
              <a:schemeClr val="tx1"/>
            </a:solidFill>
            <a:prstDash val="solid"/>
            <a:headEnd type="none" w="med" len="med"/>
            <a:tailEnd type="triangle" w="med" len="med"/>
          </a:ln>
        </p:spPr>
      </p:sp>
      <p:sp>
        <p:nvSpPr>
          <p:cNvPr id="13368" name="Freeform 37"/>
          <p:cNvSpPr/>
          <p:nvPr/>
        </p:nvSpPr>
        <p:spPr>
          <a:xfrm>
            <a:off x="2814638" y="4411663"/>
            <a:ext cx="355600" cy="328612"/>
          </a:xfrm>
          <a:custGeom>
            <a:avLst/>
            <a:gdLst>
              <a:gd name="txL" fmla="*/ 0 w 320"/>
              <a:gd name="txT" fmla="*/ 0 h 296"/>
              <a:gd name="txR" fmla="*/ 320 w 320"/>
              <a:gd name="txB" fmla="*/ 296 h 296"/>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320" h="296">
                <a:moveTo>
                  <a:pt x="112" y="296"/>
                </a:moveTo>
                <a:cubicBezTo>
                  <a:pt x="72" y="268"/>
                  <a:pt x="32" y="240"/>
                  <a:pt x="16" y="200"/>
                </a:cubicBezTo>
                <a:cubicBezTo>
                  <a:pt x="0" y="160"/>
                  <a:pt x="0" y="88"/>
                  <a:pt x="16" y="56"/>
                </a:cubicBezTo>
                <a:cubicBezTo>
                  <a:pt x="32" y="24"/>
                  <a:pt x="80" y="16"/>
                  <a:pt x="112" y="8"/>
                </a:cubicBezTo>
                <a:cubicBezTo>
                  <a:pt x="144" y="0"/>
                  <a:pt x="176" y="0"/>
                  <a:pt x="208" y="8"/>
                </a:cubicBezTo>
                <a:cubicBezTo>
                  <a:pt x="240" y="16"/>
                  <a:pt x="288" y="24"/>
                  <a:pt x="304" y="56"/>
                </a:cubicBezTo>
                <a:cubicBezTo>
                  <a:pt x="320" y="88"/>
                  <a:pt x="312" y="160"/>
                  <a:pt x="304" y="200"/>
                </a:cubicBezTo>
                <a:cubicBezTo>
                  <a:pt x="296" y="240"/>
                  <a:pt x="276" y="268"/>
                  <a:pt x="256" y="296"/>
                </a:cubicBezTo>
              </a:path>
            </a:pathLst>
          </a:custGeom>
          <a:noFill/>
          <a:ln w="9525" cap="flat" cmpd="sng">
            <a:solidFill>
              <a:schemeClr val="tx1">
                <a:alpha val="100000"/>
              </a:schemeClr>
            </a:solidFill>
            <a:prstDash val="solid"/>
            <a:round/>
            <a:headEnd type="none" w="med" len="med"/>
            <a:tailEnd type="triangle" w="med" len="med"/>
          </a:ln>
        </p:spPr>
        <p:txBody>
          <a:bodyPr/>
          <a:p>
            <a:endParaRPr lang="en-US"/>
          </a:p>
        </p:txBody>
      </p:sp>
      <p:sp>
        <p:nvSpPr>
          <p:cNvPr id="13369" name="Text Box 39"/>
          <p:cNvSpPr txBox="1"/>
          <p:nvPr/>
        </p:nvSpPr>
        <p:spPr>
          <a:xfrm>
            <a:off x="3081338" y="4171950"/>
            <a:ext cx="29210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zh-TW" sz="1800" dirty="0">
                <a:latin typeface="Garamond" panose="02020404030301010803" pitchFamily="18" charset="0"/>
                <a:ea typeface="PMingLiU"/>
              </a:rPr>
              <a:t>0</a:t>
            </a:r>
            <a:endParaRPr lang="en-US" altLang="zh-TW" sz="1800" dirty="0">
              <a:latin typeface="Garamond" panose="02020404030301010803" pitchFamily="18" charset="0"/>
              <a:ea typeface="PMingLiU"/>
            </a:endParaRPr>
          </a:p>
        </p:txBody>
      </p:sp>
      <p:sp>
        <p:nvSpPr>
          <p:cNvPr id="13370" name="Text Box 40"/>
          <p:cNvSpPr txBox="1"/>
          <p:nvPr/>
        </p:nvSpPr>
        <p:spPr>
          <a:xfrm>
            <a:off x="4660900" y="4187825"/>
            <a:ext cx="29210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zh-TW" sz="1800" dirty="0">
                <a:latin typeface="Garamond" panose="02020404030301010803" pitchFamily="18" charset="0"/>
                <a:ea typeface="PMingLiU"/>
              </a:rPr>
              <a:t>1</a:t>
            </a:r>
            <a:endParaRPr lang="en-US" altLang="zh-TW" sz="1800" dirty="0">
              <a:latin typeface="Garamond" panose="02020404030301010803" pitchFamily="18" charset="0"/>
              <a:ea typeface="PMingLiU"/>
            </a:endParaRPr>
          </a:p>
        </p:txBody>
      </p:sp>
      <p:sp>
        <p:nvSpPr>
          <p:cNvPr id="13371" name="Text Box 41"/>
          <p:cNvSpPr txBox="1"/>
          <p:nvPr/>
        </p:nvSpPr>
        <p:spPr>
          <a:xfrm>
            <a:off x="3703638" y="4565650"/>
            <a:ext cx="29210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zh-TW" sz="1800" dirty="0">
                <a:latin typeface="Garamond" panose="02020404030301010803" pitchFamily="18" charset="0"/>
                <a:ea typeface="PMingLiU"/>
              </a:rPr>
              <a:t>1</a:t>
            </a:r>
            <a:endParaRPr lang="en-US" altLang="zh-TW" sz="1800" dirty="0">
              <a:latin typeface="Garamond" panose="02020404030301010803" pitchFamily="18" charset="0"/>
              <a:ea typeface="PMingLiU"/>
            </a:endParaRPr>
          </a:p>
        </p:txBody>
      </p:sp>
      <p:sp>
        <p:nvSpPr>
          <p:cNvPr id="13372" name="Oval 10"/>
          <p:cNvSpPr/>
          <p:nvPr/>
        </p:nvSpPr>
        <p:spPr>
          <a:xfrm>
            <a:off x="4432300" y="4716463"/>
            <a:ext cx="381000" cy="381000"/>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1800" dirty="0"/>
          </a:p>
        </p:txBody>
      </p:sp>
      <p:sp>
        <p:nvSpPr>
          <p:cNvPr id="13373" name="Oval 10"/>
          <p:cNvSpPr/>
          <p:nvPr/>
        </p:nvSpPr>
        <p:spPr>
          <a:xfrm>
            <a:off x="4483100" y="4775200"/>
            <a:ext cx="271463" cy="271463"/>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1800" dirty="0"/>
          </a:p>
        </p:txBody>
      </p:sp>
      <p:sp>
        <p:nvSpPr>
          <p:cNvPr id="13374" name="Freeform 37"/>
          <p:cNvSpPr/>
          <p:nvPr/>
        </p:nvSpPr>
        <p:spPr>
          <a:xfrm>
            <a:off x="4398963" y="4411663"/>
            <a:ext cx="355600" cy="328612"/>
          </a:xfrm>
          <a:custGeom>
            <a:avLst/>
            <a:gdLst>
              <a:gd name="txL" fmla="*/ 0 w 320"/>
              <a:gd name="txT" fmla="*/ 0 h 296"/>
              <a:gd name="txR" fmla="*/ 320 w 320"/>
              <a:gd name="txB" fmla="*/ 296 h 296"/>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320" h="296">
                <a:moveTo>
                  <a:pt x="112" y="296"/>
                </a:moveTo>
                <a:cubicBezTo>
                  <a:pt x="72" y="268"/>
                  <a:pt x="32" y="240"/>
                  <a:pt x="16" y="200"/>
                </a:cubicBezTo>
                <a:cubicBezTo>
                  <a:pt x="0" y="160"/>
                  <a:pt x="0" y="88"/>
                  <a:pt x="16" y="56"/>
                </a:cubicBezTo>
                <a:cubicBezTo>
                  <a:pt x="32" y="24"/>
                  <a:pt x="80" y="16"/>
                  <a:pt x="112" y="8"/>
                </a:cubicBezTo>
                <a:cubicBezTo>
                  <a:pt x="144" y="0"/>
                  <a:pt x="176" y="0"/>
                  <a:pt x="208" y="8"/>
                </a:cubicBezTo>
                <a:cubicBezTo>
                  <a:pt x="240" y="16"/>
                  <a:pt x="288" y="24"/>
                  <a:pt x="304" y="56"/>
                </a:cubicBezTo>
                <a:cubicBezTo>
                  <a:pt x="320" y="88"/>
                  <a:pt x="312" y="160"/>
                  <a:pt x="304" y="200"/>
                </a:cubicBezTo>
                <a:cubicBezTo>
                  <a:pt x="296" y="240"/>
                  <a:pt x="276" y="268"/>
                  <a:pt x="256" y="296"/>
                </a:cubicBezTo>
              </a:path>
            </a:pathLst>
          </a:custGeom>
          <a:noFill/>
          <a:ln w="9525" cap="flat" cmpd="sng">
            <a:solidFill>
              <a:schemeClr val="tx1">
                <a:alpha val="100000"/>
              </a:schemeClr>
            </a:solidFill>
            <a:prstDash val="solid"/>
            <a:round/>
            <a:headEnd type="none" w="med" len="med"/>
            <a:tailEnd type="triangle" w="med" len="med"/>
          </a:ln>
        </p:spPr>
        <p:txBody>
          <a:bodyPr/>
          <a:p>
            <a:endParaRPr lang="en-US"/>
          </a:p>
        </p:txBody>
      </p:sp>
      <p:sp>
        <p:nvSpPr>
          <p:cNvPr id="13375" name="Oval 10"/>
          <p:cNvSpPr/>
          <p:nvPr/>
        </p:nvSpPr>
        <p:spPr>
          <a:xfrm>
            <a:off x="2903538" y="4778375"/>
            <a:ext cx="271462" cy="269875"/>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1800" dirty="0"/>
          </a:p>
        </p:txBody>
      </p:sp>
      <p:sp>
        <p:nvSpPr>
          <p:cNvPr id="13376" name="Line 35"/>
          <p:cNvSpPr/>
          <p:nvPr/>
        </p:nvSpPr>
        <p:spPr>
          <a:xfrm flipV="1">
            <a:off x="4818063" y="4905375"/>
            <a:ext cx="1214437" cy="4763"/>
          </a:xfrm>
          <a:prstGeom prst="line">
            <a:avLst/>
          </a:prstGeom>
          <a:ln w="9525" cap="flat" cmpd="sng">
            <a:solidFill>
              <a:schemeClr val="tx1"/>
            </a:solidFill>
            <a:prstDash val="solid"/>
            <a:headEnd type="none" w="med" len="med"/>
            <a:tailEnd type="triangle" w="med" len="med"/>
          </a:ln>
        </p:spPr>
      </p:sp>
      <p:sp>
        <p:nvSpPr>
          <p:cNvPr id="13377" name="Text Box 41"/>
          <p:cNvSpPr txBox="1"/>
          <p:nvPr/>
        </p:nvSpPr>
        <p:spPr>
          <a:xfrm>
            <a:off x="5194300" y="4564063"/>
            <a:ext cx="292100"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zh-TW" sz="1800" dirty="0">
                <a:latin typeface="Garamond" panose="02020404030301010803" pitchFamily="18" charset="0"/>
                <a:ea typeface="PMingLiU"/>
              </a:rPr>
              <a:t>0</a:t>
            </a:r>
            <a:endParaRPr lang="en-US" altLang="zh-TW" sz="1800" dirty="0">
              <a:latin typeface="Garamond" panose="02020404030301010803" pitchFamily="18" charset="0"/>
              <a:ea typeface="PMingLiU"/>
            </a:endParaRPr>
          </a:p>
        </p:txBody>
      </p:sp>
      <p:sp>
        <p:nvSpPr>
          <p:cNvPr id="13378" name="Oval 10"/>
          <p:cNvSpPr/>
          <p:nvPr/>
        </p:nvSpPr>
        <p:spPr>
          <a:xfrm>
            <a:off x="6019800" y="4692650"/>
            <a:ext cx="381000" cy="381000"/>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endParaRPr lang="en-US" altLang="en-US" sz="1800" dirty="0"/>
          </a:p>
        </p:txBody>
      </p:sp>
      <p:sp>
        <p:nvSpPr>
          <p:cNvPr id="13379" name="Rectangle 13"/>
          <p:cNvSpPr/>
          <p:nvPr/>
        </p:nvSpPr>
        <p:spPr>
          <a:xfrm>
            <a:off x="6019800" y="4630738"/>
            <a:ext cx="368300"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zh-TW" sz="1800" dirty="0">
                <a:latin typeface="Garamond" panose="02020404030301010803" pitchFamily="18" charset="0"/>
                <a:ea typeface="PMingLiU"/>
                <a:sym typeface="Symbol" panose="05050102010706020507" pitchFamily="18" charset="2"/>
              </a:rPr>
              <a:t>q</a:t>
            </a:r>
            <a:r>
              <a:rPr lang="en-US" altLang="zh-TW" sz="1800" baseline="-25000" dirty="0">
                <a:latin typeface="Garamond" panose="02020404030301010803" pitchFamily="18" charset="0"/>
                <a:ea typeface="PMingLiU"/>
                <a:sym typeface="Symbol" panose="05050102010706020507" pitchFamily="18" charset="2"/>
              </a:rPr>
              <a:t>2</a:t>
            </a:r>
            <a:endParaRPr lang="en-US" altLang="zh-TW" sz="1800" baseline="-25000" dirty="0">
              <a:latin typeface="Garamond" panose="02020404030301010803" pitchFamily="18" charset="0"/>
              <a:ea typeface="PMingLiU"/>
              <a:sym typeface="Symbol" panose="05050102010706020507" pitchFamily="18" charset="2"/>
            </a:endParaRPr>
          </a:p>
        </p:txBody>
      </p:sp>
      <p:sp>
        <p:nvSpPr>
          <p:cNvPr id="13380" name="Freeform 37"/>
          <p:cNvSpPr/>
          <p:nvPr/>
        </p:nvSpPr>
        <p:spPr>
          <a:xfrm>
            <a:off x="6011863" y="4386263"/>
            <a:ext cx="355600" cy="328612"/>
          </a:xfrm>
          <a:custGeom>
            <a:avLst/>
            <a:gdLst>
              <a:gd name="txL" fmla="*/ 0 w 320"/>
              <a:gd name="txT" fmla="*/ 0 h 296"/>
              <a:gd name="txR" fmla="*/ 320 w 320"/>
              <a:gd name="txB" fmla="*/ 296 h 296"/>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320" h="296">
                <a:moveTo>
                  <a:pt x="112" y="296"/>
                </a:moveTo>
                <a:cubicBezTo>
                  <a:pt x="72" y="268"/>
                  <a:pt x="32" y="240"/>
                  <a:pt x="16" y="200"/>
                </a:cubicBezTo>
                <a:cubicBezTo>
                  <a:pt x="0" y="160"/>
                  <a:pt x="0" y="88"/>
                  <a:pt x="16" y="56"/>
                </a:cubicBezTo>
                <a:cubicBezTo>
                  <a:pt x="32" y="24"/>
                  <a:pt x="80" y="16"/>
                  <a:pt x="112" y="8"/>
                </a:cubicBezTo>
                <a:cubicBezTo>
                  <a:pt x="144" y="0"/>
                  <a:pt x="176" y="0"/>
                  <a:pt x="208" y="8"/>
                </a:cubicBezTo>
                <a:cubicBezTo>
                  <a:pt x="240" y="16"/>
                  <a:pt x="288" y="24"/>
                  <a:pt x="304" y="56"/>
                </a:cubicBezTo>
                <a:cubicBezTo>
                  <a:pt x="320" y="88"/>
                  <a:pt x="312" y="160"/>
                  <a:pt x="304" y="200"/>
                </a:cubicBezTo>
                <a:cubicBezTo>
                  <a:pt x="296" y="240"/>
                  <a:pt x="276" y="268"/>
                  <a:pt x="256" y="296"/>
                </a:cubicBezTo>
              </a:path>
            </a:pathLst>
          </a:custGeom>
          <a:noFill/>
          <a:ln w="9525" cap="flat" cmpd="sng">
            <a:solidFill>
              <a:schemeClr val="tx1">
                <a:alpha val="100000"/>
              </a:schemeClr>
            </a:solidFill>
            <a:prstDash val="solid"/>
            <a:round/>
            <a:headEnd type="none" w="med" len="med"/>
            <a:tailEnd type="triangle" w="med" len="med"/>
          </a:ln>
        </p:spPr>
        <p:txBody>
          <a:bodyPr/>
          <a:p>
            <a:endParaRPr lang="en-US"/>
          </a:p>
        </p:txBody>
      </p:sp>
      <p:sp>
        <p:nvSpPr>
          <p:cNvPr id="13381" name="Text Box 40"/>
          <p:cNvSpPr txBox="1"/>
          <p:nvPr/>
        </p:nvSpPr>
        <p:spPr>
          <a:xfrm>
            <a:off x="6324600" y="4191000"/>
            <a:ext cx="520700" cy="369888"/>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zh-TW" sz="1800" dirty="0">
                <a:latin typeface="Garamond" panose="02020404030301010803" pitchFamily="18" charset="0"/>
                <a:ea typeface="PMingLiU"/>
              </a:rPr>
              <a:t>0, 1</a:t>
            </a:r>
            <a:endParaRPr lang="en-US" altLang="zh-TW" sz="1800" dirty="0">
              <a:latin typeface="Garamond" panose="02020404030301010803" pitchFamily="18" charset="0"/>
              <a:ea typeface="PMingLiU"/>
            </a:endParaRPr>
          </a:p>
        </p:txBody>
      </p:sp>
      <p:sp>
        <p:nvSpPr>
          <p:cNvPr id="13382" name="Rectangle 110"/>
          <p:cNvSpPr/>
          <p:nvPr/>
        </p:nvSpPr>
        <p:spPr>
          <a:xfrm>
            <a:off x="2901950" y="1447800"/>
            <a:ext cx="1136650" cy="3698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en-US" sz="1800" dirty="0">
                <a:latin typeface="Symbol" panose="05050102010706020507" pitchFamily="18" charset="2"/>
              </a:rPr>
              <a:t>S</a:t>
            </a:r>
            <a:r>
              <a:rPr lang="en-US" altLang="en-US" sz="1800" dirty="0"/>
              <a:t> </a:t>
            </a:r>
            <a:r>
              <a:rPr lang="en-US" altLang="en-US" sz="1800" dirty="0">
                <a:latin typeface="Garamond" panose="02020404030301010803" pitchFamily="18" charset="0"/>
              </a:rPr>
              <a:t>= {</a:t>
            </a:r>
            <a:r>
              <a:rPr lang="en-US" altLang="en-US" sz="1800" i="1" dirty="0">
                <a:latin typeface="Garamond" panose="02020404030301010803" pitchFamily="18" charset="0"/>
              </a:rPr>
              <a:t>a</a:t>
            </a:r>
            <a:r>
              <a:rPr lang="en-US" altLang="en-US" sz="1800" dirty="0">
                <a:latin typeface="Garamond" panose="02020404030301010803" pitchFamily="18" charset="0"/>
              </a:rPr>
              <a:t>, </a:t>
            </a:r>
            <a:r>
              <a:rPr lang="en-US" altLang="en-US" sz="1800" i="1" dirty="0">
                <a:latin typeface="Garamond" panose="02020404030301010803" pitchFamily="18" charset="0"/>
              </a:rPr>
              <a:t>b</a:t>
            </a:r>
            <a:r>
              <a:rPr lang="en-US" altLang="en-US" sz="1800" dirty="0">
                <a:latin typeface="Garamond" panose="02020404030301010803" pitchFamily="18" charset="0"/>
              </a:rPr>
              <a:t>}</a:t>
            </a:r>
            <a:endParaRPr lang="en-US" altLang="en-US" sz="1800" dirty="0"/>
          </a:p>
        </p:txBody>
      </p:sp>
      <p:sp>
        <p:nvSpPr>
          <p:cNvPr id="13383" name="Rectangle 111"/>
          <p:cNvSpPr/>
          <p:nvPr/>
        </p:nvSpPr>
        <p:spPr>
          <a:xfrm>
            <a:off x="7321550" y="1447800"/>
            <a:ext cx="1136650" cy="3698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en-US" sz="1800" dirty="0">
                <a:latin typeface="Symbol" panose="05050102010706020507" pitchFamily="18" charset="2"/>
              </a:rPr>
              <a:t>S</a:t>
            </a:r>
            <a:r>
              <a:rPr lang="en-US" altLang="en-US" sz="1800" dirty="0"/>
              <a:t> </a:t>
            </a:r>
            <a:r>
              <a:rPr lang="en-US" altLang="en-US" sz="1800" dirty="0">
                <a:latin typeface="Garamond" panose="02020404030301010803" pitchFamily="18" charset="0"/>
              </a:rPr>
              <a:t>= {</a:t>
            </a:r>
            <a:r>
              <a:rPr lang="en-US" altLang="en-US" sz="1800" i="1" dirty="0">
                <a:latin typeface="Garamond" panose="02020404030301010803" pitchFamily="18" charset="0"/>
              </a:rPr>
              <a:t>a</a:t>
            </a:r>
            <a:r>
              <a:rPr lang="en-US" altLang="en-US" sz="1800" dirty="0">
                <a:latin typeface="Garamond" panose="02020404030301010803" pitchFamily="18" charset="0"/>
              </a:rPr>
              <a:t>, </a:t>
            </a:r>
            <a:r>
              <a:rPr lang="en-US" altLang="en-US" sz="1800" i="1" dirty="0">
                <a:latin typeface="Garamond" panose="02020404030301010803" pitchFamily="18" charset="0"/>
              </a:rPr>
              <a:t>b</a:t>
            </a:r>
            <a:r>
              <a:rPr lang="en-US" altLang="en-US" sz="1800" dirty="0">
                <a:latin typeface="Garamond" panose="02020404030301010803" pitchFamily="18" charset="0"/>
              </a:rPr>
              <a:t>}</a:t>
            </a:r>
            <a:endParaRPr lang="en-US" altLang="en-US" sz="1800" dirty="0"/>
          </a:p>
        </p:txBody>
      </p:sp>
      <p:sp>
        <p:nvSpPr>
          <p:cNvPr id="13384" name="Rectangle 110"/>
          <p:cNvSpPr/>
          <p:nvPr/>
        </p:nvSpPr>
        <p:spPr>
          <a:xfrm>
            <a:off x="6711950" y="4876800"/>
            <a:ext cx="1136650" cy="3698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en-US" sz="1800" dirty="0">
                <a:latin typeface="Symbol" panose="05050102010706020507" pitchFamily="18" charset="2"/>
              </a:rPr>
              <a:t>S</a:t>
            </a:r>
            <a:r>
              <a:rPr lang="en-US" altLang="en-US" sz="1800" dirty="0"/>
              <a:t> </a:t>
            </a:r>
            <a:r>
              <a:rPr lang="en-US" altLang="en-US" sz="1800" dirty="0">
                <a:latin typeface="Garamond" panose="02020404030301010803" pitchFamily="18" charset="0"/>
              </a:rPr>
              <a:t>= {0, 1}</a:t>
            </a:r>
            <a:endParaRPr lang="en-US" altLang="en-US" sz="1800" dirty="0"/>
          </a:p>
        </p:txBody>
      </p:sp>
      <p:sp>
        <p:nvSpPr>
          <p:cNvPr id="2" name="Footer Placeholder 1"/>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274955"/>
            <a:ext cx="8229600" cy="611505"/>
          </a:xfrm>
        </p:spPr>
        <p:txBody>
          <a:bodyPr/>
          <a:p>
            <a:pPr algn="l"/>
            <a:r>
              <a:rPr lang="en-IN" altLang="en-US"/>
              <a:t>Examples on Design Of DFA</a:t>
            </a:r>
            <a:endParaRPr lang="en-IN" altLang="en-US"/>
          </a:p>
        </p:txBody>
      </p:sp>
      <p:sp>
        <p:nvSpPr>
          <p:cNvPr id="3" name="Content Placeholder 2"/>
          <p:cNvSpPr>
            <a:spLocks noGrp="1"/>
          </p:cNvSpPr>
          <p:nvPr>
            <p:ph idx="1"/>
          </p:nvPr>
        </p:nvSpPr>
        <p:spPr>
          <a:xfrm>
            <a:off x="283210" y="1066800"/>
            <a:ext cx="8684260" cy="5567680"/>
          </a:xfrm>
        </p:spPr>
        <p:txBody>
          <a:bodyPr/>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en-US" noProof="0" dirty="0" smtClean="0">
                <a:ln>
                  <a:noFill/>
                </a:ln>
                <a:effectLst/>
                <a:uLnTx/>
                <a:uFillTx/>
                <a:latin typeface="+mj-lt"/>
                <a:ea typeface="+mj-ea"/>
                <a:cs typeface="+mj-cs"/>
                <a:sym typeface="+mn-ea"/>
              </a:rPr>
              <a:t>Design the DFA for the following languages on the Alphabet ∑={a, b}</a:t>
            </a:r>
            <a:endParaRPr kumimoji="0" lang="en-US" b="0" i="0" u="none" strike="noStrike" kern="1200" cap="none" spc="0" normalizeH="0" baseline="0" noProof="0" dirty="0" smtClean="0">
              <a:ln>
                <a:noFill/>
              </a:ln>
              <a:effectLst/>
              <a:uLnTx/>
              <a:uFillTx/>
              <a:latin typeface="+mj-lt"/>
              <a:ea typeface="+mj-ea"/>
              <a:cs typeface="+mj-cs"/>
            </a:endParaRPr>
          </a:p>
          <a:p>
            <a:pPr marL="0" marR="0" lvl="0" indent="4572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en-US" noProof="0" dirty="0" smtClean="0">
                <a:ln>
                  <a:noFill/>
                </a:ln>
                <a:effectLst/>
                <a:uLnTx/>
                <a:uFillTx/>
                <a:latin typeface="+mj-lt"/>
                <a:ea typeface="+mj-ea"/>
                <a:cs typeface="+mj-cs"/>
                <a:sym typeface="+mn-ea"/>
              </a:rPr>
              <a:t>1. Set of all strings that starts with prefix ‘ab’.</a:t>
            </a:r>
            <a:endParaRPr kumimoji="0" lang="en-US" b="0" i="0" u="none" strike="noStrike" kern="1200" cap="none" spc="0" normalizeH="0" baseline="0" noProof="0" dirty="0" smtClean="0">
              <a:ln>
                <a:noFill/>
              </a:ln>
              <a:effectLst/>
              <a:uLnTx/>
              <a:uFillTx/>
              <a:latin typeface="+mj-lt"/>
              <a:ea typeface="+mj-ea"/>
              <a:cs typeface="+mj-cs"/>
            </a:endParaRPr>
          </a:p>
          <a:p>
            <a:pPr marL="0" marR="0" lvl="0" indent="4572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en-US" noProof="0" dirty="0" smtClean="0">
                <a:ln>
                  <a:noFill/>
                </a:ln>
                <a:effectLst/>
                <a:uLnTx/>
                <a:uFillTx/>
                <a:latin typeface="+mj-lt"/>
                <a:ea typeface="+mj-ea"/>
                <a:cs typeface="+mj-cs"/>
                <a:sym typeface="+mn-ea"/>
              </a:rPr>
              <a:t>2. Set of all strings that contains exactly one ‘a’.</a:t>
            </a:r>
            <a:endParaRPr kumimoji="0" lang="en-US" b="0" i="0" u="none" strike="noStrike" kern="1200" cap="none" spc="0" normalizeH="0" baseline="0" noProof="0" dirty="0" smtClean="0">
              <a:ln>
                <a:noFill/>
              </a:ln>
              <a:effectLst/>
              <a:uLnTx/>
              <a:uFillTx/>
              <a:latin typeface="+mj-lt"/>
              <a:ea typeface="+mj-ea"/>
              <a:cs typeface="+mj-cs"/>
            </a:endParaRPr>
          </a:p>
          <a:p>
            <a:pPr marL="0" marR="0" lvl="0" indent="4572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en-US" noProof="0" dirty="0" smtClean="0">
                <a:ln>
                  <a:noFill/>
                </a:ln>
                <a:effectLst/>
                <a:uLnTx/>
                <a:uFillTx/>
                <a:latin typeface="+mj-lt"/>
                <a:ea typeface="+mj-ea"/>
                <a:cs typeface="+mj-cs"/>
                <a:sym typeface="+mn-ea"/>
              </a:rPr>
              <a:t>3a.  Set of all strings that contains at least one ‘a’.</a:t>
            </a:r>
            <a:endParaRPr kumimoji="0" lang="en-US" b="0" i="0" u="none" strike="noStrike" kern="1200" cap="none" spc="0" normalizeH="0" baseline="0" noProof="0" dirty="0" smtClean="0">
              <a:ln>
                <a:noFill/>
              </a:ln>
              <a:effectLst/>
              <a:uLnTx/>
              <a:uFillTx/>
              <a:latin typeface="+mj-lt"/>
              <a:ea typeface="+mj-ea"/>
              <a:cs typeface="+mj-cs"/>
            </a:endParaRPr>
          </a:p>
          <a:p>
            <a:pPr marL="0" marR="0" lvl="0" indent="4572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en-US" noProof="0" dirty="0" smtClean="0">
                <a:ln>
                  <a:noFill/>
                </a:ln>
                <a:effectLst/>
                <a:uLnTx/>
                <a:uFillTx/>
                <a:latin typeface="+mj-lt"/>
                <a:ea typeface="+mj-ea"/>
                <a:cs typeface="+mj-cs"/>
                <a:sym typeface="+mn-ea"/>
              </a:rPr>
              <a:t>3b.  Set of all strings having substring ‘aa’.</a:t>
            </a:r>
            <a:endParaRPr kumimoji="0" lang="en-US" b="0" i="0" u="none" strike="noStrike" kern="1200" cap="none" spc="0" normalizeH="0" baseline="0" noProof="0" dirty="0" smtClean="0">
              <a:ln>
                <a:noFill/>
              </a:ln>
              <a:effectLst/>
              <a:uLnTx/>
              <a:uFillTx/>
              <a:latin typeface="+mj-lt"/>
              <a:ea typeface="+mj-ea"/>
              <a:cs typeface="+mj-cs"/>
            </a:endParaRPr>
          </a:p>
          <a:p>
            <a:pPr marL="0" marR="0" lvl="0" indent="4572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en-US" noProof="0" dirty="0" smtClean="0">
                <a:ln>
                  <a:noFill/>
                </a:ln>
                <a:effectLst/>
                <a:uLnTx/>
                <a:uFillTx/>
                <a:latin typeface="+mj-lt"/>
                <a:ea typeface="+mj-ea"/>
                <a:cs typeface="+mj-cs"/>
                <a:sym typeface="+mn-ea"/>
              </a:rPr>
              <a:t>4  Set of all strings that contains not more than three a’s</a:t>
            </a:r>
            <a:endParaRPr lang="en-US" noProof="0" dirty="0" smtClean="0">
              <a:ln>
                <a:noFill/>
              </a:ln>
              <a:effectLst/>
              <a:uLnTx/>
              <a:uFillTx/>
              <a:latin typeface="+mj-lt"/>
              <a:ea typeface="+mj-ea"/>
              <a:cs typeface="+mj-cs"/>
              <a:sym typeface="+mn-ea"/>
            </a:endParaRPr>
          </a:p>
          <a:p>
            <a:pPr marL="0" marR="0" lvl="0" indent="4572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en-US" noProof="0" dirty="0" smtClean="0">
                <a:ln>
                  <a:noFill/>
                </a:ln>
                <a:effectLst/>
                <a:uLnTx/>
                <a:uFillTx/>
                <a:sym typeface="+mn-ea"/>
              </a:rPr>
              <a:t>5. Set of all strings of </a:t>
            </a:r>
            <a:r>
              <a:rPr lang="en-US" noProof="0" dirty="0" err="1" smtClean="0">
                <a:ln>
                  <a:noFill/>
                </a:ln>
                <a:effectLst/>
                <a:uLnTx/>
                <a:uFillTx/>
                <a:sym typeface="+mn-ea"/>
              </a:rPr>
              <a:t>a’s</a:t>
            </a:r>
            <a:r>
              <a:rPr lang="en-US" noProof="0" dirty="0" smtClean="0">
                <a:ln>
                  <a:noFill/>
                </a:ln>
                <a:effectLst/>
                <a:uLnTx/>
                <a:uFillTx/>
                <a:sym typeface="+mn-ea"/>
              </a:rPr>
              <a:t> and </a:t>
            </a:r>
            <a:r>
              <a:rPr lang="en-US" noProof="0" dirty="0" err="1" smtClean="0">
                <a:ln>
                  <a:noFill/>
                </a:ln>
                <a:effectLst/>
                <a:uLnTx/>
                <a:uFillTx/>
                <a:sym typeface="+mn-ea"/>
              </a:rPr>
              <a:t>b’s</a:t>
            </a:r>
            <a:r>
              <a:rPr lang="en-US" noProof="0" dirty="0" smtClean="0">
                <a:ln>
                  <a:noFill/>
                </a:ln>
                <a:effectLst/>
                <a:uLnTx/>
                <a:uFillTx/>
                <a:sym typeface="+mn-ea"/>
              </a:rPr>
              <a:t> ending with substring ‘</a:t>
            </a:r>
            <a:r>
              <a:rPr lang="en-US" noProof="0" dirty="0" err="1" smtClean="0">
                <a:ln>
                  <a:noFill/>
                </a:ln>
                <a:effectLst/>
                <a:uLnTx/>
                <a:uFillTx/>
                <a:sym typeface="+mn-ea"/>
              </a:rPr>
              <a:t>abb</a:t>
            </a:r>
            <a:r>
              <a:rPr lang="en-US" noProof="0" dirty="0" smtClean="0">
                <a:ln>
                  <a:noFill/>
                </a:ln>
                <a:effectLst/>
                <a:uLnTx/>
                <a:uFillTx/>
                <a:sym typeface="+mn-ea"/>
              </a:rPr>
              <a:t>’.</a:t>
            </a:r>
            <a:endParaRPr kumimoji="0" lang="en-US" b="0" i="0" u="none" strike="noStrike" kern="1200" cap="none" spc="0" normalizeH="0" baseline="0" noProof="0" dirty="0" smtClean="0">
              <a:ln>
                <a:noFill/>
              </a:ln>
              <a:solidFill>
                <a:schemeClr val="tx1"/>
              </a:solidFill>
              <a:effectLst/>
              <a:uLnTx/>
              <a:uFillTx/>
              <a:latin typeface="+mn-lt"/>
              <a:ea typeface="+mn-ea"/>
              <a:cs typeface="+mn-cs"/>
            </a:endParaRPr>
          </a:p>
          <a:p>
            <a:pPr marL="0" marR="0" lvl="0" indent="4572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en-US" b="0" i="0" u="none" strike="noStrike" kern="1200" cap="none" spc="0" normalizeH="0" noProof="0" dirty="0" smtClean="0">
              <a:ln>
                <a:noFill/>
              </a:ln>
              <a:effectLst/>
              <a:uLnTx/>
              <a:uFillTx/>
              <a:latin typeface="+mj-lt"/>
              <a:ea typeface="+mj-ea"/>
              <a:cs typeface="+mj-cs"/>
            </a:endParaRPr>
          </a:p>
          <a:p>
            <a:pPr marR="0" lvl="0" indent="-457200" algn="l" defTabSz="914400" rtl="0" eaLnBrk="1" fontAlgn="auto" latinLnBrk="0" hangingPunct="1">
              <a:lnSpc>
                <a:spcPct val="100000"/>
              </a:lnSpc>
              <a:spcBef>
                <a:spcPct val="20000"/>
              </a:spcBef>
              <a:spcAft>
                <a:spcPts val="0"/>
              </a:spcAft>
              <a:buClrTx/>
              <a:buSzTx/>
              <a:buFont typeface="Arial" panose="020B0604020202020204" pitchFamily="34" charset="0"/>
              <a:defRPr/>
            </a:pPr>
            <a:endParaRPr kumimoji="0" lang="en-US" b="0" i="0" u="none" strike="noStrike" kern="1200" cap="none" spc="0" normalizeH="0" noProof="0" dirty="0" smtClean="0">
              <a:ln>
                <a:noFill/>
              </a:ln>
              <a:effectLst/>
              <a:uLnTx/>
              <a:uFillTx/>
              <a:latin typeface="+mj-lt"/>
              <a:ea typeface="+mj-ea"/>
              <a:cs typeface="+mj-cs"/>
            </a:endParaRPr>
          </a:p>
          <a:p>
            <a:pPr marL="514350" marR="0" lvl="0" indent="-51435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en-US" b="0" i="0" u="none" strike="noStrike" kern="1200" cap="none" spc="0" normalizeH="0" baseline="30000" noProof="0" dirty="0" smtClean="0">
              <a:ln>
                <a:noFill/>
              </a:ln>
              <a:solidFill>
                <a:schemeClr val="tx1">
                  <a:tint val="75000"/>
                </a:schemeClr>
              </a:solidFill>
              <a:effectLst/>
              <a:uLnTx/>
              <a:uFillTx/>
              <a:latin typeface="+mn-lt"/>
              <a:ea typeface="+mn-ea"/>
              <a:cs typeface="+mn-cs"/>
            </a:endParaRPr>
          </a:p>
          <a:p>
            <a:endParaRPr lang="en-US"/>
          </a:p>
        </p:txBody>
      </p:sp>
      <p:sp>
        <p:nvSpPr>
          <p:cNvPr id="4" name="Footer Placeholder 3"/>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57200" y="762000"/>
            <a:ext cx="8229600" cy="4525963"/>
          </a:xfrm>
        </p:spPr>
        <p:txBody>
          <a:bodyPr/>
          <a:p>
            <a:pPr marL="514350" marR="0" lvl="0" indent="-51435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en-US" noProof="0" dirty="0" smtClean="0">
                <a:ln>
                  <a:noFill/>
                </a:ln>
                <a:effectLst/>
                <a:uLnTx/>
                <a:uFillTx/>
                <a:sym typeface="+mn-ea"/>
              </a:rPr>
              <a:t>6. Set of all strings of </a:t>
            </a:r>
            <a:r>
              <a:rPr lang="en-US" noProof="0" dirty="0" err="1" smtClean="0">
                <a:ln>
                  <a:noFill/>
                </a:ln>
                <a:effectLst/>
                <a:uLnTx/>
                <a:uFillTx/>
                <a:sym typeface="+mn-ea"/>
              </a:rPr>
              <a:t>a’s</a:t>
            </a:r>
            <a:r>
              <a:rPr lang="en-US" noProof="0" dirty="0" smtClean="0">
                <a:ln>
                  <a:noFill/>
                </a:ln>
                <a:effectLst/>
                <a:uLnTx/>
                <a:uFillTx/>
                <a:sym typeface="+mn-ea"/>
              </a:rPr>
              <a:t> and </a:t>
            </a:r>
            <a:r>
              <a:rPr lang="en-US" noProof="0" dirty="0" err="1" smtClean="0">
                <a:ln>
                  <a:noFill/>
                </a:ln>
                <a:effectLst/>
                <a:uLnTx/>
                <a:uFillTx/>
                <a:sym typeface="+mn-ea"/>
              </a:rPr>
              <a:t>b’s</a:t>
            </a:r>
            <a:r>
              <a:rPr lang="en-US" noProof="0" smtClean="0">
                <a:ln>
                  <a:noFill/>
                </a:ln>
                <a:effectLst/>
                <a:uLnTx/>
                <a:uFillTx/>
                <a:sym typeface="+mn-ea"/>
              </a:rPr>
              <a:t>  not ending </a:t>
            </a:r>
            <a:r>
              <a:rPr lang="en-US" noProof="0" dirty="0" smtClean="0">
                <a:ln>
                  <a:noFill/>
                </a:ln>
                <a:effectLst/>
                <a:uLnTx/>
                <a:uFillTx/>
                <a:sym typeface="+mn-ea"/>
              </a:rPr>
              <a:t>with substring ‘</a:t>
            </a:r>
            <a:r>
              <a:rPr lang="en-US" noProof="0" dirty="0" err="1" smtClean="0">
                <a:ln>
                  <a:noFill/>
                </a:ln>
                <a:effectLst/>
                <a:uLnTx/>
                <a:uFillTx/>
                <a:sym typeface="+mn-ea"/>
              </a:rPr>
              <a:t>abb</a:t>
            </a:r>
            <a:r>
              <a:rPr lang="en-US" noProof="0" dirty="0" smtClean="0">
                <a:ln>
                  <a:noFill/>
                </a:ln>
                <a:effectLst/>
                <a:uLnTx/>
                <a:uFillTx/>
                <a:sym typeface="+mn-ea"/>
              </a:rPr>
              <a:t>’.</a:t>
            </a:r>
            <a:endParaRPr kumimoji="0" lang="en-US"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en-US" noProof="0" dirty="0" smtClean="0">
                <a:ln>
                  <a:noFill/>
                </a:ln>
                <a:effectLst/>
                <a:uLnTx/>
                <a:uFillTx/>
                <a:sym typeface="+mn-ea"/>
              </a:rPr>
              <a:t>7. L={ w : |w| mod 3 = 0 }</a:t>
            </a:r>
            <a:endParaRPr kumimoji="0" lang="en-US"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en-US" noProof="0" dirty="0" smtClean="0">
                <a:ln>
                  <a:noFill/>
                </a:ln>
                <a:effectLst/>
                <a:uLnTx/>
                <a:uFillTx/>
                <a:sym typeface="+mn-ea"/>
              </a:rPr>
              <a:t>8. L={ w : |w| mod 5 &lt;&gt; 0 }</a:t>
            </a:r>
            <a:endParaRPr kumimoji="0" lang="en-US"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en-US" noProof="0" dirty="0" smtClean="0">
                <a:ln>
                  <a:noFill/>
                </a:ln>
                <a:effectLst/>
                <a:uLnTx/>
                <a:uFillTx/>
                <a:sym typeface="+mn-ea"/>
              </a:rPr>
              <a:t>9. L={ </a:t>
            </a:r>
            <a:r>
              <a:rPr lang="en-US" noProof="0" dirty="0" err="1" smtClean="0">
                <a:ln>
                  <a:noFill/>
                </a:ln>
                <a:effectLst/>
                <a:uLnTx/>
                <a:uFillTx/>
                <a:sym typeface="+mn-ea"/>
              </a:rPr>
              <a:t>awa</a:t>
            </a:r>
            <a:r>
              <a:rPr lang="en-US" noProof="0" dirty="0" smtClean="0">
                <a:ln>
                  <a:noFill/>
                </a:ln>
                <a:effectLst/>
                <a:uLnTx/>
                <a:uFillTx/>
                <a:sym typeface="+mn-ea"/>
              </a:rPr>
              <a:t> : w</a:t>
            </a:r>
            <a:r>
              <a:rPr lang="az-Cyrl-AZ" noProof="0" dirty="0" smtClean="0">
                <a:ln>
                  <a:noFill/>
                </a:ln>
                <a:effectLst/>
                <a:uLnTx/>
                <a:uFillTx/>
                <a:sym typeface="+mn-ea"/>
              </a:rPr>
              <a:t>Є</a:t>
            </a:r>
            <a:r>
              <a:rPr lang="en-US" noProof="0" dirty="0" smtClean="0">
                <a:ln>
                  <a:noFill/>
                </a:ln>
                <a:effectLst/>
                <a:uLnTx/>
                <a:uFillTx/>
                <a:sym typeface="+mn-ea"/>
              </a:rPr>
              <a:t> {a, b}* }</a:t>
            </a:r>
            <a:endParaRPr kumimoji="0" lang="en-US"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en-US" noProof="0" dirty="0" smtClean="0">
                <a:ln>
                  <a:noFill/>
                </a:ln>
                <a:effectLst/>
                <a:uLnTx/>
                <a:uFillTx/>
                <a:sym typeface="+mn-ea"/>
              </a:rPr>
              <a:t>10. L={ aw1aaw2a : w1,w2 </a:t>
            </a:r>
            <a:r>
              <a:rPr lang="az-Cyrl-AZ" noProof="0" dirty="0" smtClean="0">
                <a:ln>
                  <a:noFill/>
                </a:ln>
                <a:effectLst/>
                <a:uLnTx/>
                <a:uFillTx/>
                <a:sym typeface="+mn-ea"/>
              </a:rPr>
              <a:t>Є</a:t>
            </a:r>
            <a:r>
              <a:rPr lang="en-US" noProof="0" dirty="0" smtClean="0">
                <a:ln>
                  <a:noFill/>
                </a:ln>
                <a:effectLst/>
                <a:uLnTx/>
                <a:uFillTx/>
                <a:sym typeface="+mn-ea"/>
              </a:rPr>
              <a:t> {a, b}* }</a:t>
            </a:r>
            <a:endParaRPr kumimoji="0" lang="en-US"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en-US" noProof="0" dirty="0" smtClean="0">
                <a:ln>
                  <a:noFill/>
                </a:ln>
                <a:effectLst/>
                <a:uLnTx/>
                <a:uFillTx/>
                <a:sym typeface="+mn-ea"/>
              </a:rPr>
              <a:t>11. L={ ab</a:t>
            </a:r>
            <a:r>
              <a:rPr lang="en-US" baseline="30000" noProof="0" dirty="0" smtClean="0">
                <a:ln>
                  <a:noFill/>
                </a:ln>
                <a:effectLst/>
                <a:uLnTx/>
                <a:uFillTx/>
                <a:sym typeface="+mn-ea"/>
              </a:rPr>
              <a:t>5</a:t>
            </a:r>
            <a:r>
              <a:rPr lang="en-US" noProof="0" dirty="0" smtClean="0">
                <a:ln>
                  <a:noFill/>
                </a:ln>
                <a:effectLst/>
                <a:uLnTx/>
                <a:uFillTx/>
                <a:sym typeface="+mn-ea"/>
              </a:rPr>
              <a:t>wb</a:t>
            </a:r>
            <a:r>
              <a:rPr lang="en-US" baseline="30000" noProof="0" dirty="0" smtClean="0">
                <a:ln>
                  <a:noFill/>
                </a:ln>
                <a:effectLst/>
                <a:uLnTx/>
                <a:uFillTx/>
                <a:sym typeface="+mn-ea"/>
              </a:rPr>
              <a:t>4</a:t>
            </a:r>
            <a:r>
              <a:rPr lang="en-US" noProof="0" dirty="0" smtClean="0">
                <a:ln>
                  <a:noFill/>
                </a:ln>
                <a:effectLst/>
                <a:uLnTx/>
                <a:uFillTx/>
                <a:sym typeface="+mn-ea"/>
              </a:rPr>
              <a:t> : w</a:t>
            </a:r>
            <a:r>
              <a:rPr lang="az-Cyrl-AZ" noProof="0" dirty="0" smtClean="0">
                <a:ln>
                  <a:noFill/>
                </a:ln>
                <a:effectLst/>
                <a:uLnTx/>
                <a:uFillTx/>
                <a:sym typeface="+mn-ea"/>
              </a:rPr>
              <a:t>Є</a:t>
            </a:r>
            <a:r>
              <a:rPr lang="en-US" noProof="0" dirty="0" smtClean="0">
                <a:ln>
                  <a:noFill/>
                </a:ln>
                <a:effectLst/>
                <a:uLnTx/>
                <a:uFillTx/>
                <a:sym typeface="+mn-ea"/>
              </a:rPr>
              <a:t> {a, b}* }</a:t>
            </a:r>
            <a:endParaRPr kumimoji="0" lang="en-US"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en-US" altLang="en-US" dirty="0">
                <a:sym typeface="+mn-ea"/>
              </a:rPr>
              <a:t>12. Set of all strings of a’s and b’s having three consecutive a’s.</a:t>
            </a:r>
            <a:endParaRPr lang="en-US" altLang="en-US" dirty="0"/>
          </a:p>
          <a:p>
            <a:endParaRPr lang="en-US"/>
          </a:p>
        </p:txBody>
      </p:sp>
      <p:sp>
        <p:nvSpPr>
          <p:cNvPr id="2" name="Footer Placeholder 1"/>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57200" y="838200"/>
            <a:ext cx="8229600" cy="4525963"/>
          </a:xfrm>
        </p:spPr>
        <p:txBody>
          <a:bodyPr/>
          <a:p>
            <a:pPr eaLnBrk="1" hangingPunct="1">
              <a:buNone/>
            </a:pPr>
            <a:r>
              <a:rPr lang="en-US" altLang="en-US" dirty="0">
                <a:sym typeface="+mn-ea"/>
              </a:rPr>
              <a:t>13. Set of all strings of a’s and b’s ending with ‘ab’ or ‘ba’.</a:t>
            </a:r>
            <a:endParaRPr lang="en-US" altLang="en-US" dirty="0"/>
          </a:p>
          <a:p>
            <a:pPr eaLnBrk="1" hangingPunct="1">
              <a:buNone/>
            </a:pPr>
            <a:r>
              <a:rPr lang="en-US" altLang="en-US" dirty="0">
                <a:sym typeface="+mn-ea"/>
              </a:rPr>
              <a:t>14. L= { w : n</a:t>
            </a:r>
            <a:r>
              <a:rPr lang="en-US" altLang="en-US" baseline="-25000" dirty="0">
                <a:sym typeface="+mn-ea"/>
              </a:rPr>
              <a:t>a</a:t>
            </a:r>
            <a:r>
              <a:rPr lang="en-US" altLang="en-US" dirty="0">
                <a:sym typeface="+mn-ea"/>
              </a:rPr>
              <a:t>(w) =2, n</a:t>
            </a:r>
            <a:r>
              <a:rPr lang="en-US" altLang="en-US" baseline="-25000" dirty="0">
                <a:sym typeface="+mn-ea"/>
              </a:rPr>
              <a:t>b</a:t>
            </a:r>
            <a:r>
              <a:rPr lang="en-US" altLang="en-US" dirty="0">
                <a:sym typeface="+mn-ea"/>
              </a:rPr>
              <a:t>(w)&gt;=3</a:t>
            </a:r>
            <a:r>
              <a:rPr lang="en-IN" altLang="en-US" dirty="0">
                <a:sym typeface="+mn-ea"/>
              </a:rPr>
              <a:t>, where w belongs to </a:t>
            </a:r>
            <a:r>
              <a:rPr lang="en-IN" altLang="en-US" dirty="0">
                <a:latin typeface="Arial" panose="020B0604020202020204" pitchFamily="34" charset="0"/>
                <a:cs typeface="Arial" panose="020B0604020202020204" pitchFamily="34" charset="0"/>
                <a:sym typeface="+mn-ea"/>
              </a:rPr>
              <a:t>∑ * and ∑ ={a,b} </a:t>
            </a:r>
            <a:r>
              <a:rPr lang="en-US" altLang="en-US" dirty="0">
                <a:sym typeface="+mn-ea"/>
              </a:rPr>
              <a:t>}</a:t>
            </a:r>
            <a:endParaRPr lang="en-US" altLang="en-US" dirty="0"/>
          </a:p>
          <a:p>
            <a:pPr eaLnBrk="1" hangingPunct="1">
              <a:buNone/>
            </a:pPr>
            <a:r>
              <a:rPr lang="en-US" altLang="en-US" dirty="0">
                <a:sym typeface="+mn-ea"/>
              </a:rPr>
              <a:t>15. L= { w : |w|mod 3 &gt;= |w| mod 2</a:t>
            </a:r>
            <a:r>
              <a:rPr lang="en-IN" altLang="en-US" dirty="0">
                <a:sym typeface="+mn-ea"/>
              </a:rPr>
              <a:t>, </a:t>
            </a:r>
            <a:r>
              <a:rPr lang="en-IN" altLang="en-US" dirty="0">
                <a:sym typeface="+mn-ea"/>
              </a:rPr>
              <a:t>where w belongs to </a:t>
            </a:r>
            <a:r>
              <a:rPr lang="en-IN" altLang="en-US" dirty="0">
                <a:latin typeface="Arial" panose="020B0604020202020204" pitchFamily="34" charset="0"/>
                <a:cs typeface="Arial" panose="020B0604020202020204" pitchFamily="34" charset="0"/>
                <a:sym typeface="+mn-ea"/>
              </a:rPr>
              <a:t>∑ * and ∑ ={a,b} </a:t>
            </a:r>
            <a:r>
              <a:rPr lang="en-US" altLang="en-US" dirty="0">
                <a:sym typeface="+mn-ea"/>
              </a:rPr>
              <a:t>}</a:t>
            </a:r>
            <a:r>
              <a:rPr lang="en-US" altLang="en-US" dirty="0">
                <a:sym typeface="+mn-ea"/>
              </a:rPr>
              <a:t> }</a:t>
            </a:r>
            <a:endParaRPr lang="en-US" altLang="en-US" dirty="0"/>
          </a:p>
          <a:p>
            <a:pPr eaLnBrk="1" hangingPunct="1">
              <a:buNone/>
            </a:pPr>
            <a:r>
              <a:rPr lang="en-US" altLang="en-US" dirty="0">
                <a:sym typeface="+mn-ea"/>
              </a:rPr>
              <a:t>1</a:t>
            </a:r>
            <a:r>
              <a:rPr lang="en-IN" altLang="en-US" dirty="0">
                <a:sym typeface="+mn-ea"/>
              </a:rPr>
              <a:t>6</a:t>
            </a:r>
            <a:r>
              <a:rPr lang="en-US" altLang="en-US" dirty="0">
                <a:sym typeface="+mn-ea"/>
              </a:rPr>
              <a:t>. L= { w : n</a:t>
            </a:r>
            <a:r>
              <a:rPr lang="en-US" altLang="en-US" baseline="-25000" dirty="0">
                <a:sym typeface="+mn-ea"/>
              </a:rPr>
              <a:t>a</a:t>
            </a:r>
            <a:r>
              <a:rPr lang="en-US" altLang="en-US" dirty="0">
                <a:sym typeface="+mn-ea"/>
              </a:rPr>
              <a:t>(w)</a:t>
            </a:r>
            <a:r>
              <a:rPr lang="en-IN" altLang="en-US" dirty="0">
                <a:sym typeface="+mn-ea"/>
              </a:rPr>
              <a:t> mod</a:t>
            </a:r>
            <a:r>
              <a:rPr lang="en-US" altLang="en-US" dirty="0">
                <a:sym typeface="+mn-ea"/>
              </a:rPr>
              <a:t> =2, n</a:t>
            </a:r>
            <a:r>
              <a:rPr lang="en-US" altLang="en-US" baseline="-25000" dirty="0">
                <a:sym typeface="+mn-ea"/>
              </a:rPr>
              <a:t>b</a:t>
            </a:r>
            <a:r>
              <a:rPr lang="en-US" altLang="en-US" dirty="0">
                <a:sym typeface="+mn-ea"/>
              </a:rPr>
              <a:t>(w)</a:t>
            </a:r>
            <a:r>
              <a:rPr lang="en-IN" altLang="en-US" dirty="0">
                <a:sym typeface="+mn-ea"/>
              </a:rPr>
              <a:t> mod 2, where w belongs to </a:t>
            </a:r>
            <a:r>
              <a:rPr lang="en-IN" altLang="en-US" dirty="0">
                <a:latin typeface="Arial" panose="020B0604020202020204" pitchFamily="34" charset="0"/>
                <a:cs typeface="Arial" panose="020B0604020202020204" pitchFamily="34" charset="0"/>
                <a:sym typeface="+mn-ea"/>
              </a:rPr>
              <a:t>∑ * and ∑ ={a,b} </a:t>
            </a:r>
            <a:r>
              <a:rPr lang="en-US" altLang="en-US" dirty="0">
                <a:sym typeface="+mn-ea"/>
              </a:rPr>
              <a:t>} }</a:t>
            </a:r>
            <a:endParaRPr lang="en-US" altLang="en-US" dirty="0"/>
          </a:p>
          <a:p>
            <a:endParaRPr lang="en-US"/>
          </a:p>
          <a:p>
            <a:pPr marL="0" indent="0">
              <a:buNone/>
            </a:pPr>
            <a:endParaRPr lang="en-US"/>
          </a:p>
          <a:p>
            <a:pPr marL="0" indent="0">
              <a:buNone/>
            </a:pPr>
            <a:endParaRPr lang="en-US"/>
          </a:p>
        </p:txBody>
      </p:sp>
      <p:sp>
        <p:nvSpPr>
          <p:cNvPr id="2" name="Footer Placeholder 1"/>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vert="horz" wrap="square" lIns="91440" tIns="45720" rIns="91440" bIns="45720" numCol="1" rtlCol="0" anchor="ctr" anchorCtr="0" compatLnSpc="1">
            <a:normAutofit fontScale="90000"/>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4400" b="0" i="0" u="none" strike="noStrike" kern="1200" cap="none" spc="0" normalizeH="0" baseline="0" noProof="0" dirty="0" smtClean="0">
                <a:ln>
                  <a:noFill/>
                </a:ln>
                <a:solidFill>
                  <a:schemeClr val="tx1"/>
                </a:solidFill>
                <a:effectLst/>
                <a:uLnTx/>
                <a:uFillTx/>
                <a:latin typeface="+mj-lt"/>
                <a:ea typeface="+mj-ea"/>
                <a:cs typeface="+mj-cs"/>
              </a:rPr>
              <a:t>Non Deterministic Finite Automata(NFA)</a:t>
            </a:r>
            <a:endParaRPr kumimoji="0" lang="en-US" sz="4400" b="0" i="0" u="none" strike="noStrike" kern="1200" cap="none" spc="0" normalizeH="0" baseline="0" noProof="0" dirty="0">
              <a:ln>
                <a:noFill/>
              </a:ln>
              <a:solidFill>
                <a:schemeClr val="tx1"/>
              </a:solidFill>
              <a:effectLst/>
              <a:uLnTx/>
              <a:uFillTx/>
              <a:latin typeface="+mj-lt"/>
              <a:ea typeface="+mj-ea"/>
              <a:cs typeface="+mj-cs"/>
            </a:endParaRPr>
          </a:p>
        </p:txBody>
      </p:sp>
      <p:sp>
        <p:nvSpPr>
          <p:cNvPr id="3" name="Content Placeholder 2"/>
          <p:cNvSpPr>
            <a:spLocks noGrp="1"/>
          </p:cNvSpPr>
          <p:nvPr>
            <p:ph idx="1"/>
          </p:nvPr>
        </p:nvSpPr>
        <p:spPr/>
        <p:txBody>
          <a:bodyPr vert="horz" wrap="square" lIns="91440" tIns="45720" rIns="91440" bIns="45720" numCol="1" rtlCol="0" anchor="t" anchorCtr="0" compatLnSpc="1">
            <a:normAutofit fontScale="77500" lnSpcReduction="20000"/>
          </a:bodyPr>
          <a:lstStyle/>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Introduction and Why study NFA ?</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Formal Definition</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Processing of a string </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Extended Transition Function </a:t>
            </a:r>
            <a:r>
              <a:rPr kumimoji="0" lang="el-GR" sz="3200" b="0" i="0" u="none" strike="noStrike" kern="1200" cap="none" spc="0" normalizeH="0" baseline="0" noProof="0" dirty="0" smtClean="0">
                <a:ln>
                  <a:noFill/>
                </a:ln>
                <a:solidFill>
                  <a:schemeClr val="tx1"/>
                </a:solidFill>
                <a:effectLst/>
                <a:uLnTx/>
                <a:uFillTx/>
                <a:latin typeface="+mn-lt"/>
                <a:ea typeface="+mn-ea"/>
                <a:cs typeface="+mn-cs"/>
              </a:rPr>
              <a:t>δ</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Languages of an NFA</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Design of NFA for some languages</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Equivalence of Deterministic and Non Deterministic Finite Automata</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Conversion of NFA to DFA using subset construction Scheme by Lazy evaluation</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Wingdings" panose="05000000000000000000" pitchFamily="2" charset="2"/>
              <a:buChar char="Ø"/>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Algorithm</a:t>
            </a:r>
            <a:endParaRPr kumimoji="0" lang="en-US" sz="28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Wingdings" panose="05000000000000000000" pitchFamily="2" charset="2"/>
              <a:buChar char="Ø"/>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Examples	</a:t>
            </a:r>
            <a:endParaRPr kumimoji="0" lang="en-US" sz="2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4" name="Footer Placeholder 3"/>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Title 1"/>
          <p:cNvSpPr>
            <a:spLocks noGrp="1"/>
          </p:cNvSpPr>
          <p:nvPr>
            <p:ph type="title"/>
          </p:nvPr>
        </p:nvSpPr>
        <p:spPr/>
        <p:txBody>
          <a:bodyPr vert="horz" wrap="square" lIns="91440" tIns="45720" rIns="91440" bIns="45720" anchor="ctr" anchorCtr="0"/>
          <a:p>
            <a:pPr eaLnBrk="1" hangingPunct="1"/>
            <a:r>
              <a:rPr lang="en-US" altLang="en-US" dirty="0"/>
              <a:t>Introduction</a:t>
            </a:r>
            <a:endParaRPr lang="en-US" altLang="en-US" dirty="0"/>
          </a:p>
        </p:txBody>
      </p:sp>
      <p:sp>
        <p:nvSpPr>
          <p:cNvPr id="3" name="Content Placeholder 2"/>
          <p:cNvSpPr>
            <a:spLocks noGrp="1"/>
          </p:cNvSpPr>
          <p:nvPr>
            <p:ph idx="1"/>
          </p:nvPr>
        </p:nvSpPr>
        <p:spPr/>
        <p:txBody>
          <a:bodyPr vert="horz" wrap="square" lIns="91440" tIns="45720" rIns="91440" bIns="45720" numCol="1" rtlCol="0" anchor="t" anchorCtr="0" compatLnSpc="1">
            <a:normAutofit fontScale="85000" lnSpcReduction="10000"/>
          </a:bodyPr>
          <a:lstStyle/>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Why NFA ?</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In order to construct a DFA for some languages we have the following difficulties.</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1. Construction  is difficult.</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2. DFA cannot guess about its inputs</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3. At any point of time the DFA is in only one state and does not have the power to be in several states.</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4. Not an efficient mechanism to describe some complicated languages concisely.</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These difficulties can be overcome by using NFA</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2" name="Footer Placeholder 1"/>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Title 1"/>
          <p:cNvSpPr>
            <a:spLocks noGrp="1"/>
          </p:cNvSpPr>
          <p:nvPr>
            <p:ph type="title"/>
          </p:nvPr>
        </p:nvSpPr>
        <p:spPr/>
        <p:txBody>
          <a:bodyPr vert="horz" wrap="square" lIns="91440" tIns="45720" rIns="91440" bIns="45720" anchor="ctr" anchorCtr="0"/>
          <a:p>
            <a:pPr eaLnBrk="1" hangingPunct="1"/>
            <a:r>
              <a:rPr lang="en-US" altLang="en-US" dirty="0"/>
              <a:t>Formal Definition</a:t>
            </a:r>
            <a:endParaRPr lang="en-US" altLang="en-US" dirty="0"/>
          </a:p>
        </p:txBody>
      </p:sp>
      <p:sp>
        <p:nvSpPr>
          <p:cNvPr id="3" name="Content Placeholder 2"/>
          <p:cNvSpPr>
            <a:spLocks noGrp="1"/>
          </p:cNvSpPr>
          <p:nvPr>
            <p:ph idx="1"/>
          </p:nvPr>
        </p:nvSpPr>
        <p:spPr/>
        <p:txBody>
          <a:bodyPr vert="horz" wrap="square" lIns="91440" tIns="45720" rIns="91440" bIns="45720" numCol="1" rtlCol="0" anchor="t" anchorCtr="0" compatLnSpc="1">
            <a:normAutofit fontScale="70000" lnSpcReduction="20000"/>
          </a:bodyPr>
          <a:lstStyle/>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The Non Deterministic  Automata (NFA) is defined as 5-tuple or quintuple indicating five components:</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 { Q, ∑, </a:t>
            </a:r>
            <a:r>
              <a:rPr kumimoji="0" lang="el-GR" sz="3200" b="0" i="0" u="none" strike="noStrike" kern="1200" cap="none" spc="0" normalizeH="0" baseline="0" noProof="0" dirty="0" smtClean="0">
                <a:ln>
                  <a:noFill/>
                </a:ln>
                <a:solidFill>
                  <a:schemeClr val="tx1"/>
                </a:solidFill>
                <a:effectLst/>
                <a:uLnTx/>
                <a:uFillTx/>
                <a:latin typeface="+mn-lt"/>
                <a:ea typeface="+mn-ea"/>
                <a:cs typeface="+mn-cs"/>
              </a:rPr>
              <a:t>δ</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q</a:t>
            </a:r>
            <a:r>
              <a:rPr kumimoji="0" lang="en-US" sz="3200" b="0" i="0" u="none" strike="noStrike" kern="1200" cap="none" spc="0" normalizeH="0" baseline="-25000" noProof="0" dirty="0" smtClean="0">
                <a:ln>
                  <a:noFill/>
                </a:ln>
                <a:solidFill>
                  <a:schemeClr val="tx1"/>
                </a:solidFill>
                <a:effectLst/>
                <a:uLnTx/>
                <a:uFillTx/>
                <a:latin typeface="+mn-lt"/>
                <a:ea typeface="+mn-ea"/>
                <a:cs typeface="+mn-cs"/>
              </a:rPr>
              <a:t>0</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F}</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Where:</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1.Q is a finite set of states.</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2. ∑ is a finite set of input symbols.</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3. </a:t>
            </a:r>
            <a:r>
              <a:rPr kumimoji="0" lang="el-GR" sz="3200" b="0" i="0" u="none" strike="noStrike" kern="1200" cap="none" spc="0" normalizeH="0" baseline="0" noProof="0" dirty="0" smtClean="0">
                <a:ln>
                  <a:noFill/>
                </a:ln>
                <a:solidFill>
                  <a:schemeClr val="tx1"/>
                </a:solidFill>
                <a:effectLst/>
                <a:uLnTx/>
                <a:uFillTx/>
                <a:latin typeface="+mn-lt"/>
                <a:ea typeface="+mn-ea"/>
                <a:cs typeface="+mn-cs"/>
              </a:rPr>
              <a:t>δ</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is the transition function that takes a state     </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in Q  and an input symbol in ∑ as arguments   </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and returns  a subset of Q </a:t>
            </a:r>
            <a:r>
              <a:rPr kumimoji="0" lang="en-US" sz="3200" b="0" i="0" u="none" strike="noStrike" kern="1200" cap="none" spc="0" normalizeH="0" baseline="0" noProof="0" dirty="0" err="1" smtClean="0">
                <a:ln>
                  <a:noFill/>
                </a:ln>
                <a:solidFill>
                  <a:schemeClr val="tx1"/>
                </a:solidFill>
                <a:effectLst/>
                <a:uLnTx/>
                <a:uFillTx/>
                <a:latin typeface="+mn-lt"/>
                <a:ea typeface="+mn-ea"/>
                <a:cs typeface="+mn-cs"/>
              </a:rPr>
              <a:t>i.e</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a set of states.</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r>
              <a:rPr kumimoji="0" lang="el-GR" sz="3200" b="0" i="0" u="none" strike="noStrike" kern="1200" cap="none" spc="0" normalizeH="0" baseline="0" noProof="0" dirty="0" smtClean="0">
                <a:ln>
                  <a:noFill/>
                </a:ln>
                <a:solidFill>
                  <a:schemeClr val="tx1"/>
                </a:solidFill>
                <a:effectLst/>
                <a:uLnTx/>
                <a:uFillTx/>
                <a:latin typeface="+mn-lt"/>
                <a:ea typeface="+mn-ea"/>
                <a:cs typeface="+mn-cs"/>
              </a:rPr>
              <a:t>δ</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 Q x ∑ → 2</a:t>
            </a:r>
            <a:r>
              <a:rPr kumimoji="0" lang="en-US" sz="3200" b="0" i="0" u="none" strike="noStrike" kern="1200" cap="none" spc="0" normalizeH="0" baseline="30000" noProof="0" dirty="0" smtClean="0">
                <a:ln>
                  <a:noFill/>
                </a:ln>
                <a:solidFill>
                  <a:schemeClr val="tx1"/>
                </a:solidFill>
                <a:effectLst/>
                <a:uLnTx/>
                <a:uFillTx/>
                <a:latin typeface="+mn-lt"/>
                <a:ea typeface="+mn-ea"/>
                <a:cs typeface="+mn-cs"/>
              </a:rPr>
              <a:t>Q</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4. q</a:t>
            </a:r>
            <a:r>
              <a:rPr kumimoji="0" lang="en-US" sz="3200" b="0" i="0" u="none" strike="noStrike" kern="1200" cap="none" spc="0" normalizeH="0" baseline="-25000" noProof="0" dirty="0" smtClean="0">
                <a:ln>
                  <a:noFill/>
                </a:ln>
                <a:solidFill>
                  <a:schemeClr val="tx1"/>
                </a:solidFill>
                <a:effectLst/>
                <a:uLnTx/>
                <a:uFillTx/>
                <a:latin typeface="+mn-lt"/>
                <a:ea typeface="+mn-ea"/>
                <a:cs typeface="+mn-cs"/>
              </a:rPr>
              <a:t>0</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is the start state that belongs to Q</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5. F is a subset of Q, is the set of final (or accepting) states.</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2" name="Footer Placeholder 1"/>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transition advClick="0">
    <p:fade thruBlk="1"/>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Title 1"/>
          <p:cNvSpPr>
            <a:spLocks noGrp="1"/>
          </p:cNvSpPr>
          <p:nvPr>
            <p:ph type="title"/>
          </p:nvPr>
        </p:nvSpPr>
        <p:spPr/>
        <p:txBody>
          <a:bodyPr vert="horz" wrap="square" lIns="91440" tIns="45720" rIns="91440" bIns="45720" anchor="ctr" anchorCtr="0"/>
          <a:p>
            <a:pPr eaLnBrk="1" hangingPunct="1"/>
            <a:r>
              <a:rPr lang="en-US" altLang="en-US" dirty="0"/>
              <a:t>Processing of string by an NFA</a:t>
            </a:r>
            <a:endParaRPr lang="en-US" altLang="en-US" dirty="0"/>
          </a:p>
        </p:txBody>
      </p:sp>
      <p:sp>
        <p:nvSpPr>
          <p:cNvPr id="20483" name="Content Placeholder 2"/>
          <p:cNvSpPr>
            <a:spLocks noGrp="1"/>
          </p:cNvSpPr>
          <p:nvPr>
            <p:ph idx="1"/>
          </p:nvPr>
        </p:nvSpPr>
        <p:spPr/>
        <p:txBody>
          <a:bodyPr vert="horz" wrap="square" lIns="91440" tIns="45720" rIns="91440" bIns="45720" anchor="t" anchorCtr="0"/>
          <a:p>
            <a:pPr algn="just" eaLnBrk="1" hangingPunct="1"/>
            <a:r>
              <a:rPr lang="en-US" altLang="en-US" dirty="0"/>
              <a:t> Suppose </a:t>
            </a:r>
            <a:r>
              <a:rPr lang="en-IN" altLang="en-US" b="1" dirty="0">
                <a:solidFill>
                  <a:srgbClr val="FF0000"/>
                </a:solidFill>
              </a:rPr>
              <a:t>w=</a:t>
            </a:r>
            <a:r>
              <a:rPr lang="en-US" altLang="en-US" b="1" dirty="0">
                <a:solidFill>
                  <a:srgbClr val="FF0000"/>
                </a:solidFill>
              </a:rPr>
              <a:t>a1,a2,….an</a:t>
            </a:r>
            <a:r>
              <a:rPr lang="en-US" altLang="en-US" dirty="0"/>
              <a:t> is the string to be processed  then NFA starts with </a:t>
            </a:r>
            <a:r>
              <a:rPr lang="en-US" altLang="en-US" b="1" dirty="0">
                <a:solidFill>
                  <a:srgbClr val="00B0F0"/>
                </a:solidFill>
              </a:rPr>
              <a:t>start state q0</a:t>
            </a:r>
            <a:r>
              <a:rPr lang="en-US" altLang="en-US" dirty="0"/>
              <a:t> and </a:t>
            </a:r>
            <a:r>
              <a:rPr lang="en-US" altLang="en-US" b="1" dirty="0">
                <a:solidFill>
                  <a:srgbClr val="FF0000"/>
                </a:solidFill>
              </a:rPr>
              <a:t>a1 the first character</a:t>
            </a:r>
            <a:r>
              <a:rPr lang="en-US" altLang="en-US" dirty="0"/>
              <a:t> and consults the </a:t>
            </a:r>
            <a:r>
              <a:rPr lang="en-US" altLang="en-US" b="1" dirty="0">
                <a:solidFill>
                  <a:srgbClr val="00B0F0"/>
                </a:solidFill>
              </a:rPr>
              <a:t>transition  function δ</a:t>
            </a:r>
            <a:r>
              <a:rPr lang="en-US" altLang="en-US" dirty="0"/>
              <a:t> and takes </a:t>
            </a:r>
            <a:r>
              <a:rPr lang="en-US" altLang="en-US" b="1" dirty="0">
                <a:solidFill>
                  <a:srgbClr val="FF0000"/>
                </a:solidFill>
              </a:rPr>
              <a:t>all possible transition</a:t>
            </a:r>
            <a:r>
              <a:rPr lang="en-IN" altLang="en-US" b="1" dirty="0">
                <a:solidFill>
                  <a:srgbClr val="FF0000"/>
                </a:solidFill>
              </a:rPr>
              <a:t>s</a:t>
            </a:r>
            <a:r>
              <a:rPr lang="en-US" altLang="en-US" dirty="0"/>
              <a:t> and</a:t>
            </a:r>
            <a:r>
              <a:rPr lang="en-US" altLang="en-US" b="1" dirty="0">
                <a:solidFill>
                  <a:srgbClr val="00B0F0"/>
                </a:solidFill>
              </a:rPr>
              <a:t> stays in multiple states. </a:t>
            </a:r>
            <a:endParaRPr lang="en-US" altLang="en-US" dirty="0"/>
          </a:p>
          <a:p>
            <a:pPr algn="just" eaLnBrk="1" hangingPunct="1"/>
            <a:r>
              <a:rPr lang="en-US" altLang="en-US" dirty="0"/>
              <a:t>This is continued for </a:t>
            </a:r>
            <a:r>
              <a:rPr lang="en-US" altLang="en-US" b="1" dirty="0">
                <a:solidFill>
                  <a:srgbClr val="FF0000"/>
                </a:solidFill>
              </a:rPr>
              <a:t>all the inputs</a:t>
            </a:r>
            <a:r>
              <a:rPr lang="en-US" altLang="en-US" dirty="0"/>
              <a:t> for </a:t>
            </a:r>
            <a:r>
              <a:rPr lang="en-US" altLang="en-US" b="1" dirty="0">
                <a:solidFill>
                  <a:srgbClr val="00B0F0"/>
                </a:solidFill>
              </a:rPr>
              <a:t>each state </a:t>
            </a:r>
            <a:r>
              <a:rPr lang="en-US" altLang="en-US" dirty="0"/>
              <a:t> and finally the </a:t>
            </a:r>
            <a:r>
              <a:rPr lang="en-US" altLang="en-US" b="1" dirty="0">
                <a:solidFill>
                  <a:srgbClr val="FF0000"/>
                </a:solidFill>
              </a:rPr>
              <a:t>set of states</a:t>
            </a:r>
            <a:r>
              <a:rPr lang="en-US" altLang="en-US" dirty="0"/>
              <a:t> in which NFA stays contains </a:t>
            </a:r>
            <a:r>
              <a:rPr lang="en-US" altLang="en-US" b="1" dirty="0">
                <a:solidFill>
                  <a:srgbClr val="00B0F0"/>
                </a:solidFill>
              </a:rPr>
              <a:t>at least on final state</a:t>
            </a:r>
            <a:r>
              <a:rPr lang="en-US" altLang="en-US" dirty="0"/>
              <a:t> then the</a:t>
            </a:r>
            <a:r>
              <a:rPr lang="en-US" altLang="en-US" b="1" dirty="0">
                <a:solidFill>
                  <a:srgbClr val="FF0000"/>
                </a:solidFill>
              </a:rPr>
              <a:t> input is accepted</a:t>
            </a:r>
            <a:r>
              <a:rPr lang="en-IN" altLang="en-US" b="1" dirty="0">
                <a:solidFill>
                  <a:srgbClr val="FF0000"/>
                </a:solidFill>
              </a:rPr>
              <a:t>, </a:t>
            </a:r>
            <a:r>
              <a:rPr lang="en-US" altLang="en-US" b="1" dirty="0">
                <a:solidFill>
                  <a:srgbClr val="00B0F0"/>
                </a:solidFill>
              </a:rPr>
              <a:t>otherwise rejected.</a:t>
            </a:r>
            <a:r>
              <a:rPr lang="en-US" altLang="en-US" dirty="0"/>
              <a:t> </a:t>
            </a:r>
            <a:endParaRPr lang="en-US" altLang="en-US" dirty="0"/>
          </a:p>
        </p:txBody>
      </p:sp>
      <p:sp>
        <p:nvSpPr>
          <p:cNvPr id="2" name="Footer Placeholder 1"/>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Title 1"/>
          <p:cNvSpPr>
            <a:spLocks noGrp="1"/>
          </p:cNvSpPr>
          <p:nvPr>
            <p:ph type="title"/>
          </p:nvPr>
        </p:nvSpPr>
        <p:spPr/>
        <p:txBody>
          <a:bodyPr vert="horz" wrap="square" lIns="91440" tIns="45720" rIns="91440" bIns="45720" anchor="ctr" anchorCtr="0"/>
          <a:p>
            <a:pPr eaLnBrk="1" hangingPunct="1"/>
            <a:r>
              <a:rPr lang="en-US" altLang="en-US" dirty="0"/>
              <a:t>Extended Transition Function </a:t>
            </a:r>
            <a:r>
              <a:rPr lang="el-GR" altLang="en-US" dirty="0"/>
              <a:t>δ</a:t>
            </a:r>
            <a:r>
              <a:rPr lang="en-US" altLang="en-US" dirty="0"/>
              <a:t> *</a:t>
            </a:r>
            <a:endParaRPr lang="en-US" altLang="en-US" dirty="0"/>
          </a:p>
        </p:txBody>
      </p:sp>
      <p:sp>
        <p:nvSpPr>
          <p:cNvPr id="3" name="Content Placeholder 2"/>
          <p:cNvSpPr>
            <a:spLocks noGrp="1"/>
          </p:cNvSpPr>
          <p:nvPr>
            <p:ph idx="1"/>
          </p:nvPr>
        </p:nvSpPr>
        <p:spPr/>
        <p:txBody>
          <a:bodyPr vert="horz" wrap="square" lIns="91440" tIns="45720" rIns="91440" bIns="45720" numCol="1" rtlCol="0" anchor="t" anchorCtr="0" compatLnSpc="1"/>
          <a:p>
            <a:pPr eaLnBrk="1" hangingPunct="1">
              <a:lnSpc>
                <a:spcPct val="80000"/>
              </a:lnSpc>
            </a:pPr>
            <a:r>
              <a:rPr sz="2500" dirty="0"/>
              <a:t>The extended transition function </a:t>
            </a:r>
            <a:r>
              <a:rPr lang="el-GR" altLang="x-none" sz="2500" dirty="0"/>
              <a:t>δ</a:t>
            </a:r>
            <a:r>
              <a:rPr sz="2500" dirty="0"/>
              <a:t>* for NFA is an extension of Transition function </a:t>
            </a:r>
            <a:r>
              <a:rPr lang="el-GR" altLang="x-none" sz="2500" dirty="0"/>
              <a:t>δ</a:t>
            </a:r>
            <a:r>
              <a:rPr sz="2500" dirty="0"/>
              <a:t> of NFA and is defined as follows</a:t>
            </a:r>
            <a:endParaRPr sz="2500" dirty="0"/>
          </a:p>
          <a:p>
            <a:pPr eaLnBrk="1" hangingPunct="1">
              <a:lnSpc>
                <a:spcPct val="80000"/>
              </a:lnSpc>
              <a:buNone/>
            </a:pPr>
            <a:r>
              <a:rPr sz="2500" dirty="0"/>
              <a:t>Basis : </a:t>
            </a:r>
            <a:r>
              <a:rPr lang="el-GR" altLang="x-none" sz="2500" dirty="0"/>
              <a:t>δ</a:t>
            </a:r>
            <a:r>
              <a:rPr sz="2500" dirty="0"/>
              <a:t>*(q,</a:t>
            </a:r>
            <a:r>
              <a:rPr lang="az-Cyrl-AZ" altLang="x-none" sz="2500" dirty="0"/>
              <a:t>Є</a:t>
            </a:r>
            <a:r>
              <a:rPr sz="2500" dirty="0"/>
              <a:t>) = {q} that is without reading any  input symbols      </a:t>
            </a:r>
            <a:endParaRPr sz="2500" dirty="0"/>
          </a:p>
          <a:p>
            <a:pPr eaLnBrk="1" hangingPunct="1">
              <a:lnSpc>
                <a:spcPct val="80000"/>
              </a:lnSpc>
              <a:buNone/>
            </a:pPr>
            <a:r>
              <a:rPr sz="2500" dirty="0"/>
              <a:t>             NFA is still in same state q.</a:t>
            </a:r>
            <a:endParaRPr sz="2500" dirty="0"/>
          </a:p>
          <a:p>
            <a:pPr eaLnBrk="1" hangingPunct="1">
              <a:lnSpc>
                <a:spcPct val="80000"/>
              </a:lnSpc>
              <a:buNone/>
            </a:pPr>
            <a:r>
              <a:rPr sz="2500" dirty="0"/>
              <a:t>Induction: Suppose w is of the form w=xa where a is the final  </a:t>
            </a:r>
            <a:endParaRPr sz="2500" dirty="0"/>
          </a:p>
          <a:p>
            <a:pPr eaLnBrk="1" hangingPunct="1">
              <a:lnSpc>
                <a:spcPct val="80000"/>
              </a:lnSpc>
              <a:buNone/>
            </a:pPr>
            <a:r>
              <a:rPr sz="2500" dirty="0"/>
              <a:t>                    symbol of w and x is the rest of w. </a:t>
            </a:r>
            <a:endParaRPr sz="2500" dirty="0"/>
          </a:p>
          <a:p>
            <a:pPr eaLnBrk="1" hangingPunct="1">
              <a:lnSpc>
                <a:spcPct val="80000"/>
              </a:lnSpc>
              <a:buNone/>
            </a:pPr>
            <a:r>
              <a:rPr sz="2500" dirty="0"/>
              <a:t>                    Then </a:t>
            </a:r>
            <a:r>
              <a:rPr lang="el-GR" altLang="x-none" sz="2500" dirty="0"/>
              <a:t>δ</a:t>
            </a:r>
            <a:r>
              <a:rPr sz="2500" dirty="0"/>
              <a:t>*(q, w)=</a:t>
            </a:r>
            <a:r>
              <a:rPr lang="el-GR" altLang="x-none" sz="2500" dirty="0"/>
              <a:t> δ</a:t>
            </a:r>
            <a:r>
              <a:rPr sz="2500" dirty="0"/>
              <a:t>(</a:t>
            </a:r>
            <a:r>
              <a:rPr lang="el-GR" altLang="x-none" sz="2500" dirty="0"/>
              <a:t>δ</a:t>
            </a:r>
            <a:r>
              <a:rPr sz="2500" dirty="0"/>
              <a:t>*(q, x),a)</a:t>
            </a:r>
            <a:endParaRPr sz="2500" dirty="0"/>
          </a:p>
          <a:p>
            <a:pPr eaLnBrk="1" hangingPunct="1">
              <a:lnSpc>
                <a:spcPct val="80000"/>
              </a:lnSpc>
              <a:buNone/>
            </a:pPr>
            <a:r>
              <a:rPr sz="2500" dirty="0"/>
              <a:t>                    If </a:t>
            </a:r>
            <a:r>
              <a:rPr lang="el-GR" altLang="x-none" sz="2500" dirty="0"/>
              <a:t>δ</a:t>
            </a:r>
            <a:r>
              <a:rPr sz="2500" dirty="0"/>
              <a:t>*(q, x) ={p1, p2,……..pk} then</a:t>
            </a:r>
            <a:endParaRPr sz="2500" dirty="0"/>
          </a:p>
          <a:p>
            <a:pPr eaLnBrk="1" hangingPunct="1">
              <a:lnSpc>
                <a:spcPct val="80000"/>
              </a:lnSpc>
              <a:buNone/>
            </a:pPr>
            <a:r>
              <a:rPr sz="2500" dirty="0"/>
              <a:t>                                                  </a:t>
            </a:r>
            <a:r>
              <a:rPr sz="2500" baseline="-25000" dirty="0"/>
              <a:t>k</a:t>
            </a:r>
            <a:endParaRPr sz="2500" baseline="-25000" dirty="0"/>
          </a:p>
          <a:p>
            <a:pPr eaLnBrk="1" hangingPunct="1">
              <a:lnSpc>
                <a:spcPct val="80000"/>
              </a:lnSpc>
              <a:buNone/>
            </a:pPr>
            <a:r>
              <a:rPr sz="2500" dirty="0"/>
              <a:t>     </a:t>
            </a:r>
            <a:r>
              <a:rPr lang="el-GR" altLang="x-none" sz="2500" dirty="0"/>
              <a:t>δ</a:t>
            </a:r>
            <a:r>
              <a:rPr sz="2500" dirty="0"/>
              <a:t>*(q, w)=</a:t>
            </a:r>
            <a:r>
              <a:rPr lang="el-GR" altLang="x-none" sz="2500" dirty="0"/>
              <a:t> δ</a:t>
            </a:r>
            <a:r>
              <a:rPr sz="2500" dirty="0"/>
              <a:t>(</a:t>
            </a:r>
            <a:r>
              <a:rPr lang="el-GR" altLang="x-none" sz="2500" dirty="0"/>
              <a:t>δ</a:t>
            </a:r>
            <a:r>
              <a:rPr sz="2500" dirty="0"/>
              <a:t>*(q, x),a) = </a:t>
            </a:r>
            <a:r>
              <a:rPr sz="2500" dirty="0">
                <a:latin typeface="Times New Roman" panose="02020603050405020304" pitchFamily="18" charset="0"/>
                <a:cs typeface="Times New Roman" panose="02020603050405020304" pitchFamily="18" charset="0"/>
              </a:rPr>
              <a:t>Ụ </a:t>
            </a:r>
            <a:r>
              <a:rPr lang="el-GR" altLang="x-none" sz="2500" dirty="0">
                <a:latin typeface="Times New Roman" panose="02020603050405020304" pitchFamily="18" charset="0"/>
                <a:cs typeface="Times New Roman" panose="02020603050405020304" pitchFamily="18" charset="0"/>
              </a:rPr>
              <a:t>δ</a:t>
            </a:r>
            <a:r>
              <a:rPr sz="2500" dirty="0">
                <a:latin typeface="Times New Roman" panose="02020603050405020304" pitchFamily="18" charset="0"/>
                <a:cs typeface="Times New Roman" panose="02020603050405020304" pitchFamily="18" charset="0"/>
              </a:rPr>
              <a:t>(pi, a) = {r1,r2</a:t>
            </a:r>
            <a:r>
              <a:rPr sz="2500" dirty="0">
                <a:latin typeface="Times New Roman" panose="02020603050405020304" pitchFamily="18" charset="0"/>
                <a:ea typeface="Times New Roman" panose="02020603050405020304" pitchFamily="18" charset="0"/>
              </a:rPr>
              <a:t>…</a:t>
            </a:r>
            <a:r>
              <a:rPr sz="2500" dirty="0">
                <a:latin typeface="Times New Roman" panose="02020603050405020304" pitchFamily="18" charset="0"/>
                <a:cs typeface="Times New Roman" panose="02020603050405020304" pitchFamily="18" charset="0"/>
              </a:rPr>
              <a:t>.rm}</a:t>
            </a:r>
            <a:endParaRPr sz="2500" dirty="0">
              <a:latin typeface="Times New Roman" panose="02020603050405020304" pitchFamily="18" charset="0"/>
              <a:cs typeface="Times New Roman" panose="02020603050405020304" pitchFamily="18" charset="0"/>
            </a:endParaRPr>
          </a:p>
          <a:p>
            <a:pPr eaLnBrk="1" hangingPunct="1">
              <a:lnSpc>
                <a:spcPct val="80000"/>
              </a:lnSpc>
              <a:buNone/>
            </a:pPr>
            <a:r>
              <a:rPr sz="2500" dirty="0">
                <a:latin typeface="Times New Roman" panose="02020603050405020304" pitchFamily="18" charset="0"/>
                <a:cs typeface="Times New Roman" panose="02020603050405020304" pitchFamily="18" charset="0"/>
              </a:rPr>
              <a:t>                                             </a:t>
            </a:r>
            <a:r>
              <a:rPr sz="2500" baseline="30000" dirty="0">
                <a:latin typeface="Times New Roman" panose="02020603050405020304" pitchFamily="18" charset="0"/>
                <a:cs typeface="Times New Roman" panose="02020603050405020304" pitchFamily="18" charset="0"/>
              </a:rPr>
              <a:t>i=1</a:t>
            </a:r>
            <a:endParaRPr sz="2500" baseline="30000" dirty="0"/>
          </a:p>
          <a:p>
            <a:pPr eaLnBrk="1" hangingPunct="1">
              <a:lnSpc>
                <a:spcPct val="80000"/>
              </a:lnSpc>
              <a:buNone/>
            </a:pPr>
            <a:endParaRPr sz="2500" dirty="0"/>
          </a:p>
        </p:txBody>
      </p:sp>
      <p:sp>
        <p:nvSpPr>
          <p:cNvPr id="2" name="Footer Placeholder 1"/>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Content Placeholder 5"/>
          <p:cNvPicPr>
            <a:picLocks noChangeAspect="1"/>
          </p:cNvPicPr>
          <p:nvPr>
            <p:ph idx="1"/>
          </p:nvPr>
        </p:nvPicPr>
        <p:blipFill>
          <a:blip r:embed="rId1"/>
          <a:srcRect l="36745" t="43771" r="41473" b="46128"/>
          <a:stretch>
            <a:fillRect/>
          </a:stretch>
        </p:blipFill>
        <p:spPr>
          <a:xfrm>
            <a:off x="138430" y="60325"/>
            <a:ext cx="7672070" cy="1005205"/>
          </a:xfrm>
          <a:prstGeom prst="rect">
            <a:avLst/>
          </a:prstGeom>
        </p:spPr>
      </p:pic>
      <p:sp>
        <p:nvSpPr>
          <p:cNvPr id="8" name="Text Box 7"/>
          <p:cNvSpPr txBox="1"/>
          <p:nvPr/>
        </p:nvSpPr>
        <p:spPr>
          <a:xfrm>
            <a:off x="202565" y="1042670"/>
            <a:ext cx="8748395" cy="3648710"/>
          </a:xfrm>
          <a:prstGeom prst="rect">
            <a:avLst/>
          </a:prstGeom>
          <a:noFill/>
        </p:spPr>
        <p:txBody>
          <a:bodyPr wrap="square" rtlCol="0">
            <a:noAutofit/>
          </a:bodyPr>
          <a:p>
            <a:r>
              <a:rPr lang="en-GB" sz="2400" b="1" dirty="0">
                <a:solidFill>
                  <a:schemeClr val="accent1"/>
                </a:solidFill>
                <a:effectLst>
                  <a:outerShdw blurRad="38100" dist="25400" dir="5400000" algn="ctr" rotWithShape="0">
                    <a:srgbClr val="6E747A">
                      <a:alpha val="43000"/>
                    </a:srgbClr>
                  </a:outerShdw>
                </a:effectLst>
                <a:sym typeface="+mn-ea"/>
              </a:rPr>
              <a:t>Use of E</a:t>
            </a:r>
            <a:r>
              <a:rPr sz="2400" b="1" dirty="0">
                <a:solidFill>
                  <a:schemeClr val="accent1"/>
                </a:solidFill>
                <a:effectLst>
                  <a:outerShdw blurRad="38100" dist="25400" dir="5400000" algn="ctr" rotWithShape="0">
                    <a:srgbClr val="6E747A">
                      <a:alpha val="43000"/>
                    </a:srgbClr>
                  </a:outerShdw>
                </a:effectLst>
                <a:sym typeface="+mn-ea"/>
              </a:rPr>
              <a:t>xtended transition function </a:t>
            </a:r>
            <a:r>
              <a:rPr lang="el-GR" altLang="x-none" sz="2400" b="1" dirty="0">
                <a:solidFill>
                  <a:schemeClr val="accent1"/>
                </a:solidFill>
                <a:effectLst>
                  <a:outerShdw blurRad="38100" dist="25400" dir="5400000" algn="ctr" rotWithShape="0">
                    <a:srgbClr val="6E747A">
                      <a:alpha val="43000"/>
                    </a:srgbClr>
                  </a:outerShdw>
                </a:effectLst>
                <a:sym typeface="+mn-ea"/>
              </a:rPr>
              <a:t>δ</a:t>
            </a:r>
            <a:r>
              <a:rPr sz="2400" b="1" dirty="0">
                <a:solidFill>
                  <a:schemeClr val="accent1"/>
                </a:solidFill>
                <a:effectLst>
                  <a:outerShdw blurRad="38100" dist="25400" dir="5400000" algn="ctr" rotWithShape="0">
                    <a:srgbClr val="6E747A">
                      <a:alpha val="43000"/>
                    </a:srgbClr>
                  </a:outerShdw>
                </a:effectLst>
                <a:sym typeface="+mn-ea"/>
              </a:rPr>
              <a:t>*</a:t>
            </a:r>
            <a:r>
              <a:rPr lang="en-GB" altLang="en-US" sz="2400" b="1" dirty="0">
                <a:solidFill>
                  <a:schemeClr val="accent1"/>
                </a:solidFill>
                <a:effectLst>
                  <a:outerShdw blurRad="38100" dist="25400" dir="5400000" algn="ctr" rotWithShape="0">
                    <a:srgbClr val="6E747A">
                      <a:alpha val="43000"/>
                    </a:srgbClr>
                  </a:outerShdw>
                </a:effectLst>
                <a:sym typeface="+mn-ea"/>
              </a:rPr>
              <a:t> to validate the inputs</a:t>
            </a:r>
            <a:r>
              <a:rPr lang="en-IN" altLang="en-GB" sz="2400" b="1" dirty="0">
                <a:solidFill>
                  <a:schemeClr val="accent1"/>
                </a:solidFill>
                <a:effectLst>
                  <a:outerShdw blurRad="38100" dist="25400" dir="5400000" algn="ctr" rotWithShape="0">
                    <a:srgbClr val="6E747A">
                      <a:alpha val="43000"/>
                    </a:srgbClr>
                  </a:outerShdw>
                </a:effectLst>
                <a:sym typeface="+mn-ea"/>
              </a:rPr>
              <a:t> :</a:t>
            </a:r>
            <a:endParaRPr lang="en-IN" altLang="en-GB" sz="2400" b="1" dirty="0">
              <a:solidFill>
                <a:schemeClr val="accent1"/>
              </a:solidFill>
              <a:effectLst>
                <a:outerShdw blurRad="38100" dist="25400" dir="5400000" algn="ctr" rotWithShape="0">
                  <a:srgbClr val="6E747A">
                    <a:alpha val="43000"/>
                  </a:srgbClr>
                </a:outerShdw>
              </a:effectLst>
              <a:sym typeface="+mn-ea"/>
            </a:endParaRPr>
          </a:p>
          <a:p>
            <a:endParaRPr lang="en-US"/>
          </a:p>
          <a:p>
            <a:pPr lvl="1"/>
            <a:r>
              <a:rPr lang="en-GB" altLang="el-GR" b="1" dirty="0">
                <a:solidFill>
                  <a:srgbClr val="FF0000"/>
                </a:solidFill>
                <a:sym typeface="+mn-ea"/>
              </a:rPr>
              <a:t>Example -1 - Computation of </a:t>
            </a:r>
            <a:r>
              <a:rPr lang="el-GR" altLang="en-US" b="1" dirty="0">
                <a:solidFill>
                  <a:srgbClr val="FF0000"/>
                </a:solidFill>
                <a:sym typeface="+mn-ea"/>
              </a:rPr>
              <a:t>δ*</a:t>
            </a:r>
            <a:r>
              <a:rPr lang="en-US" altLang="en-US" b="1" dirty="0">
                <a:solidFill>
                  <a:srgbClr val="FF0000"/>
                </a:solidFill>
                <a:sym typeface="+mn-ea"/>
              </a:rPr>
              <a:t>(q0,</a:t>
            </a:r>
            <a:r>
              <a:rPr lang="en-GB" altLang="en-US" b="1" dirty="0">
                <a:solidFill>
                  <a:srgbClr val="FF0000"/>
                </a:solidFill>
                <a:sym typeface="+mn-ea"/>
              </a:rPr>
              <a:t>001</a:t>
            </a:r>
            <a:r>
              <a:rPr lang="en-US" altLang="en-US" b="1" dirty="0">
                <a:solidFill>
                  <a:srgbClr val="FF0000"/>
                </a:solidFill>
                <a:sym typeface="+mn-ea"/>
              </a:rPr>
              <a:t>)</a:t>
            </a:r>
            <a:r>
              <a:rPr lang="en-GB" altLang="en-US" b="1" dirty="0">
                <a:solidFill>
                  <a:srgbClr val="FF0000"/>
                </a:solidFill>
                <a:sym typeface="+mn-ea"/>
              </a:rPr>
              <a:t> :</a:t>
            </a:r>
            <a:endParaRPr lang="en-GB" altLang="en-US" b="1" dirty="0">
              <a:solidFill>
                <a:srgbClr val="FF0000"/>
              </a:solidFill>
              <a:sym typeface="+mn-ea"/>
            </a:endParaRPr>
          </a:p>
          <a:p>
            <a:pPr lvl="1"/>
            <a:r>
              <a:rPr lang="el-GR" altLang="en-US" dirty="0">
                <a:sym typeface="+mn-ea"/>
              </a:rPr>
              <a:t>δ*</a:t>
            </a:r>
            <a:r>
              <a:rPr lang="en-US" altLang="en-US" dirty="0">
                <a:sym typeface="+mn-ea"/>
              </a:rPr>
              <a:t>(q0,</a:t>
            </a:r>
            <a:r>
              <a:rPr lang="en-US" altLang="en-US" dirty="0">
                <a:cs typeface="Arial" panose="020B0604020202020204" pitchFamily="34" charset="0"/>
                <a:sym typeface="+mn-ea"/>
              </a:rPr>
              <a:t>€</a:t>
            </a:r>
            <a:r>
              <a:rPr lang="en-US" altLang="en-US" dirty="0">
                <a:sym typeface="+mn-ea"/>
              </a:rPr>
              <a:t>)</a:t>
            </a:r>
            <a:r>
              <a:rPr lang="en-GB" altLang="en-US" dirty="0">
                <a:sym typeface="+mn-ea"/>
              </a:rPr>
              <a:t> = </a:t>
            </a:r>
            <a:r>
              <a:rPr lang="en-US" altLang="en-US" dirty="0">
                <a:sym typeface="+mn-ea"/>
              </a:rPr>
              <a:t>q0</a:t>
            </a:r>
            <a:r>
              <a:rPr lang="en-GB" altLang="en-US" dirty="0">
                <a:sym typeface="+mn-ea"/>
              </a:rPr>
              <a:t> </a:t>
            </a:r>
            <a:r>
              <a:rPr lang="en-GB" altLang="en-US" dirty="0">
                <a:cs typeface="Arial" panose="020B0604020202020204" pitchFamily="34" charset="0"/>
                <a:sym typeface="+mn-ea"/>
              </a:rPr>
              <a:t>→</a:t>
            </a:r>
            <a:r>
              <a:rPr lang="en-GB" altLang="en-US" dirty="0">
                <a:sym typeface="+mn-ea"/>
              </a:rPr>
              <a:t> By Basis</a:t>
            </a:r>
            <a:endParaRPr lang="en-GB" altLang="en-US" dirty="0">
              <a:sym typeface="+mn-ea"/>
            </a:endParaRPr>
          </a:p>
          <a:p>
            <a:pPr lvl="1"/>
            <a:r>
              <a:rPr lang="el-GR" altLang="en-US" dirty="0">
                <a:sym typeface="+mn-ea"/>
              </a:rPr>
              <a:t>δ*</a:t>
            </a:r>
            <a:r>
              <a:rPr lang="en-US" altLang="en-US" dirty="0">
                <a:sym typeface="+mn-ea"/>
              </a:rPr>
              <a:t>(q0,</a:t>
            </a:r>
            <a:r>
              <a:rPr lang="en-GB" altLang="en-US" dirty="0">
                <a:sym typeface="+mn-ea"/>
              </a:rPr>
              <a:t>0</a:t>
            </a:r>
            <a:r>
              <a:rPr lang="en-US" altLang="en-US" dirty="0">
                <a:sym typeface="+mn-ea"/>
              </a:rPr>
              <a:t>)</a:t>
            </a:r>
            <a:r>
              <a:rPr lang="en-GB" altLang="en-US" dirty="0">
                <a:sym typeface="+mn-ea"/>
              </a:rPr>
              <a:t> =</a:t>
            </a:r>
            <a:r>
              <a:rPr lang="el-GR" altLang="en-US" dirty="0">
                <a:sym typeface="+mn-ea"/>
              </a:rPr>
              <a:t>δ</a:t>
            </a:r>
            <a:r>
              <a:rPr lang="en-US" altLang="en-US" dirty="0">
                <a:sym typeface="+mn-ea"/>
              </a:rPr>
              <a:t>(</a:t>
            </a:r>
            <a:r>
              <a:rPr lang="el-GR" altLang="en-US" dirty="0">
                <a:sym typeface="+mn-ea"/>
              </a:rPr>
              <a:t>δ*</a:t>
            </a:r>
            <a:r>
              <a:rPr lang="en-US" altLang="en-US" dirty="0">
                <a:sym typeface="+mn-ea"/>
              </a:rPr>
              <a:t>(q0,</a:t>
            </a:r>
            <a:r>
              <a:rPr lang="en-US" altLang="en-US" dirty="0">
                <a:cs typeface="Arial" panose="020B0604020202020204" pitchFamily="34" charset="0"/>
                <a:sym typeface="+mn-ea"/>
              </a:rPr>
              <a:t>€</a:t>
            </a:r>
            <a:r>
              <a:rPr lang="en-US" altLang="en-US" dirty="0">
                <a:sym typeface="+mn-ea"/>
              </a:rPr>
              <a:t>)</a:t>
            </a:r>
            <a:r>
              <a:rPr lang="en-GB" altLang="en-US" dirty="0">
                <a:sym typeface="+mn-ea"/>
              </a:rPr>
              <a:t>,0) = </a:t>
            </a:r>
            <a:r>
              <a:rPr lang="el-GR" altLang="en-US" dirty="0">
                <a:sym typeface="+mn-ea"/>
              </a:rPr>
              <a:t>δ</a:t>
            </a:r>
            <a:r>
              <a:rPr lang="en-US" altLang="en-US" dirty="0">
                <a:sym typeface="+mn-ea"/>
              </a:rPr>
              <a:t>(q0,</a:t>
            </a:r>
            <a:r>
              <a:rPr lang="en-GB" altLang="en-US" dirty="0">
                <a:sym typeface="+mn-ea"/>
              </a:rPr>
              <a:t>0</a:t>
            </a:r>
            <a:r>
              <a:rPr lang="en-US" altLang="en-US" dirty="0">
                <a:sym typeface="+mn-ea"/>
              </a:rPr>
              <a:t>)</a:t>
            </a:r>
            <a:r>
              <a:rPr lang="en-GB" altLang="en-US" dirty="0">
                <a:sym typeface="+mn-ea"/>
              </a:rPr>
              <a:t>= {q0,q1} </a:t>
            </a:r>
            <a:r>
              <a:rPr lang="en-GB" altLang="en-US" dirty="0">
                <a:cs typeface="Arial" panose="020B0604020202020204" pitchFamily="34" charset="0"/>
                <a:sym typeface="+mn-ea"/>
              </a:rPr>
              <a:t>← By</a:t>
            </a:r>
            <a:r>
              <a:rPr lang="en-GB" altLang="en-US" dirty="0">
                <a:sym typeface="+mn-ea"/>
              </a:rPr>
              <a:t> induction </a:t>
            </a:r>
            <a:endParaRPr lang="en-GB" altLang="en-US" dirty="0">
              <a:sym typeface="+mn-ea"/>
            </a:endParaRPr>
          </a:p>
          <a:p>
            <a:pPr lvl="1"/>
            <a:r>
              <a:rPr lang="el-GR" altLang="en-US" dirty="0">
                <a:sym typeface="+mn-ea"/>
              </a:rPr>
              <a:t>δ*</a:t>
            </a:r>
            <a:r>
              <a:rPr lang="en-US" altLang="en-US" dirty="0">
                <a:sym typeface="+mn-ea"/>
              </a:rPr>
              <a:t>(q0,</a:t>
            </a:r>
            <a:r>
              <a:rPr lang="en-GB" altLang="en-US" dirty="0">
                <a:sym typeface="+mn-ea"/>
              </a:rPr>
              <a:t>00</a:t>
            </a:r>
            <a:r>
              <a:rPr lang="en-US" altLang="en-US" dirty="0">
                <a:sym typeface="+mn-ea"/>
              </a:rPr>
              <a:t>)</a:t>
            </a:r>
            <a:r>
              <a:rPr lang="en-GB" altLang="en-US" dirty="0">
                <a:sym typeface="+mn-ea"/>
              </a:rPr>
              <a:t> = </a:t>
            </a:r>
            <a:r>
              <a:rPr lang="el-GR" altLang="en-US" dirty="0">
                <a:sym typeface="+mn-ea"/>
              </a:rPr>
              <a:t>δ</a:t>
            </a:r>
            <a:r>
              <a:rPr lang="en-US" altLang="en-US" dirty="0">
                <a:sym typeface="+mn-ea"/>
              </a:rPr>
              <a:t>(</a:t>
            </a:r>
            <a:r>
              <a:rPr lang="el-GR" altLang="en-US" dirty="0">
                <a:sym typeface="+mn-ea"/>
              </a:rPr>
              <a:t>δ*</a:t>
            </a:r>
            <a:r>
              <a:rPr lang="en-US" altLang="en-US" dirty="0">
                <a:sym typeface="+mn-ea"/>
              </a:rPr>
              <a:t>(q0,</a:t>
            </a:r>
            <a:r>
              <a:rPr lang="en-GB" altLang="en-US" dirty="0">
                <a:sym typeface="+mn-ea"/>
              </a:rPr>
              <a:t>0</a:t>
            </a:r>
            <a:r>
              <a:rPr lang="en-US" altLang="en-US" dirty="0">
                <a:sym typeface="+mn-ea"/>
              </a:rPr>
              <a:t>)</a:t>
            </a:r>
            <a:r>
              <a:rPr lang="en-GB" altLang="en-US" dirty="0">
                <a:sym typeface="+mn-ea"/>
              </a:rPr>
              <a:t>,0) = </a:t>
            </a:r>
            <a:r>
              <a:rPr lang="el-GR" altLang="en-US" dirty="0">
                <a:sym typeface="+mn-ea"/>
              </a:rPr>
              <a:t>δ</a:t>
            </a:r>
            <a:r>
              <a:rPr lang="en-US" altLang="en-US" dirty="0">
                <a:sym typeface="+mn-ea"/>
              </a:rPr>
              <a:t>(</a:t>
            </a:r>
            <a:r>
              <a:rPr lang="en-GB" altLang="en-US" dirty="0">
                <a:sym typeface="+mn-ea"/>
              </a:rPr>
              <a:t>{q0,q1},0)</a:t>
            </a:r>
            <a:endParaRPr lang="en-GB" altLang="en-US" dirty="0">
              <a:sym typeface="+mn-ea"/>
            </a:endParaRPr>
          </a:p>
          <a:p>
            <a:pPr lvl="1"/>
            <a:r>
              <a:rPr lang="en-GB" altLang="en-US" dirty="0">
                <a:sym typeface="+mn-ea"/>
              </a:rPr>
              <a:t>                                        = </a:t>
            </a:r>
            <a:r>
              <a:rPr lang="el-GR" altLang="en-US" dirty="0">
                <a:sym typeface="+mn-ea"/>
              </a:rPr>
              <a:t>δ</a:t>
            </a:r>
            <a:r>
              <a:rPr lang="en-US" altLang="en-US" dirty="0">
                <a:sym typeface="+mn-ea"/>
              </a:rPr>
              <a:t>(</a:t>
            </a:r>
            <a:r>
              <a:rPr lang="en-GB" altLang="en-US" dirty="0">
                <a:sym typeface="+mn-ea"/>
              </a:rPr>
              <a:t>q0,0) </a:t>
            </a:r>
            <a:r>
              <a:rPr lang="en-GB" altLang="en-US" dirty="0">
                <a:cs typeface="Arial" panose="020B0604020202020204" pitchFamily="34" charset="0"/>
                <a:sym typeface="+mn-ea"/>
              </a:rPr>
              <a:t>Ụ </a:t>
            </a:r>
            <a:r>
              <a:rPr lang="el-GR" altLang="en-US" dirty="0">
                <a:sym typeface="+mn-ea"/>
              </a:rPr>
              <a:t>δ</a:t>
            </a:r>
            <a:r>
              <a:rPr lang="en-US" altLang="en-US" dirty="0">
                <a:sym typeface="+mn-ea"/>
              </a:rPr>
              <a:t>(</a:t>
            </a:r>
            <a:r>
              <a:rPr lang="en-GB" altLang="en-US" dirty="0">
                <a:sym typeface="+mn-ea"/>
              </a:rPr>
              <a:t>q1,0)</a:t>
            </a:r>
            <a:endParaRPr lang="en-GB" altLang="en-US" dirty="0">
              <a:sym typeface="+mn-ea"/>
            </a:endParaRPr>
          </a:p>
          <a:p>
            <a:pPr lvl="1"/>
            <a:r>
              <a:rPr lang="en-GB" altLang="en-US" dirty="0">
                <a:cs typeface="Arial" panose="020B0604020202020204" pitchFamily="34" charset="0"/>
                <a:sym typeface="+mn-ea"/>
              </a:rPr>
              <a:t>                                        = {q0,q1} Ụ {q2}</a:t>
            </a:r>
            <a:endParaRPr lang="en-GB" altLang="en-US" dirty="0">
              <a:cs typeface="Arial" panose="020B0604020202020204" pitchFamily="34" charset="0"/>
              <a:sym typeface="+mn-ea"/>
            </a:endParaRPr>
          </a:p>
          <a:p>
            <a:pPr lvl="1"/>
            <a:r>
              <a:rPr lang="en-GB" altLang="en-US" dirty="0">
                <a:cs typeface="Arial" panose="020B0604020202020204" pitchFamily="34" charset="0"/>
                <a:sym typeface="+mn-ea"/>
              </a:rPr>
              <a:t>                                        = {q0,q1,q2}</a:t>
            </a:r>
            <a:endParaRPr lang="en-GB" altLang="en-US" dirty="0">
              <a:cs typeface="Arial" panose="020B0604020202020204" pitchFamily="34" charset="0"/>
              <a:sym typeface="+mn-ea"/>
            </a:endParaRPr>
          </a:p>
          <a:p>
            <a:pPr lvl="1"/>
            <a:r>
              <a:rPr lang="el-GR" altLang="en-US" dirty="0">
                <a:sym typeface="+mn-ea"/>
              </a:rPr>
              <a:t>δ*</a:t>
            </a:r>
            <a:r>
              <a:rPr lang="en-US" altLang="en-US" dirty="0">
                <a:sym typeface="+mn-ea"/>
              </a:rPr>
              <a:t>(q0,</a:t>
            </a:r>
            <a:r>
              <a:rPr lang="en-GB" altLang="en-US" dirty="0">
                <a:sym typeface="+mn-ea"/>
              </a:rPr>
              <a:t>001</a:t>
            </a:r>
            <a:r>
              <a:rPr lang="en-US" altLang="en-US" dirty="0">
                <a:sym typeface="+mn-ea"/>
              </a:rPr>
              <a:t>)</a:t>
            </a:r>
            <a:r>
              <a:rPr lang="en-GB" altLang="en-US" dirty="0">
                <a:sym typeface="+mn-ea"/>
              </a:rPr>
              <a:t> = </a:t>
            </a:r>
            <a:r>
              <a:rPr lang="el-GR" altLang="en-US" dirty="0">
                <a:sym typeface="+mn-ea"/>
              </a:rPr>
              <a:t>δ</a:t>
            </a:r>
            <a:r>
              <a:rPr lang="en-US" altLang="en-US" dirty="0">
                <a:sym typeface="+mn-ea"/>
              </a:rPr>
              <a:t>(</a:t>
            </a:r>
            <a:r>
              <a:rPr lang="el-GR" altLang="en-US" dirty="0">
                <a:sym typeface="+mn-ea"/>
              </a:rPr>
              <a:t>δ*</a:t>
            </a:r>
            <a:r>
              <a:rPr lang="en-US" altLang="en-US" dirty="0">
                <a:sym typeface="+mn-ea"/>
              </a:rPr>
              <a:t>(q0,</a:t>
            </a:r>
            <a:r>
              <a:rPr lang="en-GB" altLang="en-US" dirty="0">
                <a:sym typeface="+mn-ea"/>
              </a:rPr>
              <a:t>00</a:t>
            </a:r>
            <a:r>
              <a:rPr lang="en-US" altLang="en-US" dirty="0">
                <a:sym typeface="+mn-ea"/>
              </a:rPr>
              <a:t>)</a:t>
            </a:r>
            <a:r>
              <a:rPr lang="en-GB" altLang="en-US" dirty="0">
                <a:sym typeface="+mn-ea"/>
              </a:rPr>
              <a:t>,1) =  </a:t>
            </a:r>
            <a:r>
              <a:rPr lang="el-GR" altLang="en-US" dirty="0">
                <a:sym typeface="+mn-ea"/>
              </a:rPr>
              <a:t>δ</a:t>
            </a:r>
            <a:r>
              <a:rPr lang="en-US" altLang="en-US" dirty="0">
                <a:sym typeface="+mn-ea"/>
              </a:rPr>
              <a:t>(</a:t>
            </a:r>
            <a:r>
              <a:rPr lang="en-GB" altLang="en-US" dirty="0">
                <a:sym typeface="+mn-ea"/>
              </a:rPr>
              <a:t>{q0,q1,q2},1)</a:t>
            </a:r>
            <a:endParaRPr lang="en-GB" altLang="en-US" dirty="0">
              <a:sym typeface="+mn-ea"/>
            </a:endParaRPr>
          </a:p>
          <a:p>
            <a:pPr lvl="1"/>
            <a:r>
              <a:rPr lang="en-GB" altLang="en-US" dirty="0">
                <a:cs typeface="Arial" panose="020B0604020202020204" pitchFamily="34" charset="0"/>
                <a:sym typeface="+mn-ea"/>
              </a:rPr>
              <a:t>                                            = </a:t>
            </a:r>
            <a:r>
              <a:rPr lang="el-GR" altLang="en-US" dirty="0">
                <a:sym typeface="+mn-ea"/>
              </a:rPr>
              <a:t>δ</a:t>
            </a:r>
            <a:r>
              <a:rPr lang="en-US" altLang="en-US" dirty="0">
                <a:sym typeface="+mn-ea"/>
              </a:rPr>
              <a:t>(</a:t>
            </a:r>
            <a:r>
              <a:rPr lang="en-GB" altLang="en-US" dirty="0">
                <a:sym typeface="+mn-ea"/>
              </a:rPr>
              <a:t>q0,1) </a:t>
            </a:r>
            <a:r>
              <a:rPr lang="en-GB" altLang="en-US" dirty="0">
                <a:cs typeface="Arial" panose="020B0604020202020204" pitchFamily="34" charset="0"/>
                <a:sym typeface="+mn-ea"/>
              </a:rPr>
              <a:t>Ụ </a:t>
            </a:r>
            <a:r>
              <a:rPr lang="el-GR" altLang="en-US" dirty="0">
                <a:sym typeface="+mn-ea"/>
              </a:rPr>
              <a:t>δ</a:t>
            </a:r>
            <a:r>
              <a:rPr lang="en-US" altLang="en-US" dirty="0">
                <a:sym typeface="+mn-ea"/>
              </a:rPr>
              <a:t>(</a:t>
            </a:r>
            <a:r>
              <a:rPr lang="en-GB" altLang="en-US" dirty="0">
                <a:sym typeface="+mn-ea"/>
              </a:rPr>
              <a:t>q1,1) </a:t>
            </a:r>
            <a:r>
              <a:rPr lang="en-GB" altLang="en-US" dirty="0">
                <a:cs typeface="Arial" panose="020B0604020202020204" pitchFamily="34" charset="0"/>
                <a:sym typeface="+mn-ea"/>
              </a:rPr>
              <a:t>Ụ </a:t>
            </a:r>
            <a:r>
              <a:rPr lang="el-GR" altLang="en-US" dirty="0">
                <a:sym typeface="+mn-ea"/>
              </a:rPr>
              <a:t>δ</a:t>
            </a:r>
            <a:r>
              <a:rPr lang="en-US" altLang="en-US" dirty="0">
                <a:sym typeface="+mn-ea"/>
              </a:rPr>
              <a:t>(</a:t>
            </a:r>
            <a:r>
              <a:rPr lang="en-GB" altLang="en-US" dirty="0">
                <a:sym typeface="+mn-ea"/>
              </a:rPr>
              <a:t>q2,1)</a:t>
            </a:r>
            <a:endParaRPr lang="en-GB" altLang="en-US" dirty="0">
              <a:sym typeface="+mn-ea"/>
            </a:endParaRPr>
          </a:p>
          <a:p>
            <a:pPr lvl="1"/>
            <a:r>
              <a:rPr lang="en-GB" altLang="en-US" dirty="0">
                <a:cs typeface="Arial" panose="020B0604020202020204" pitchFamily="34" charset="0"/>
                <a:sym typeface="+mn-ea"/>
              </a:rPr>
              <a:t>                                            = {q0,q1} Ụ {q2} </a:t>
            </a:r>
            <a:r>
              <a:rPr lang="en-GB" altLang="en-US" dirty="0">
                <a:cs typeface="Arial" panose="020B0604020202020204" pitchFamily="34" charset="0"/>
                <a:sym typeface="+mn-ea"/>
              </a:rPr>
              <a:t>Ụ { q2}</a:t>
            </a:r>
            <a:endParaRPr lang="en-GB" altLang="en-US" dirty="0">
              <a:cs typeface="Arial" panose="020B0604020202020204" pitchFamily="34" charset="0"/>
              <a:sym typeface="+mn-ea"/>
            </a:endParaRPr>
          </a:p>
          <a:p>
            <a:pPr lvl="1"/>
            <a:r>
              <a:rPr lang="en-GB" altLang="en-US" dirty="0">
                <a:cs typeface="Arial" panose="020B0604020202020204" pitchFamily="34" charset="0"/>
                <a:sym typeface="+mn-ea"/>
              </a:rPr>
              <a:t>                                            = {q0,q1,q2} </a:t>
            </a:r>
            <a:endParaRPr lang="en-GB" altLang="en-US" dirty="0">
              <a:cs typeface="Arial" panose="020B0604020202020204" pitchFamily="34" charset="0"/>
              <a:sym typeface="+mn-ea"/>
            </a:endParaRPr>
          </a:p>
          <a:p>
            <a:r>
              <a:rPr lang="en-GB" altLang="en-US" dirty="0">
                <a:cs typeface="Arial" panose="020B0604020202020204" pitchFamily="34" charset="0"/>
                <a:sym typeface="+mn-ea"/>
              </a:rPr>
              <a:t>   The string </a:t>
            </a:r>
            <a:r>
              <a:rPr lang="en-GB" altLang="en-US" b="1" dirty="0">
                <a:solidFill>
                  <a:srgbClr val="FF0000"/>
                </a:solidFill>
                <a:cs typeface="Arial" panose="020B0604020202020204" pitchFamily="34" charset="0"/>
                <a:sym typeface="+mn-ea"/>
              </a:rPr>
              <a:t>w = 001  is valid as NFA </a:t>
            </a:r>
            <a:r>
              <a:rPr lang="en-GB" altLang="en-US" dirty="0">
                <a:cs typeface="Arial" panose="020B0604020202020204" pitchFamily="34" charset="0"/>
                <a:sym typeface="+mn-ea"/>
              </a:rPr>
              <a:t>remains in {q0,q1,q2} and contains </a:t>
            </a:r>
            <a:r>
              <a:rPr lang="en-GB" altLang="en-US" b="1" dirty="0">
                <a:solidFill>
                  <a:srgbClr val="FF0000"/>
                </a:solidFill>
                <a:cs typeface="Arial" panose="020B0604020202020204" pitchFamily="34" charset="0"/>
                <a:sym typeface="+mn-ea"/>
              </a:rPr>
              <a:t> q1, the final state</a:t>
            </a:r>
            <a:endParaRPr lang="en-GB" altLang="en-US" b="1" dirty="0">
              <a:solidFill>
                <a:srgbClr val="FF0000"/>
              </a:solidFill>
              <a:cs typeface="Arial" panose="020B0604020202020204" pitchFamily="34" charset="0"/>
              <a:sym typeface="+mn-ea"/>
            </a:endParaRPr>
          </a:p>
          <a:p>
            <a:endParaRPr lang="en-GB" altLang="en-US" b="1" dirty="0">
              <a:solidFill>
                <a:srgbClr val="FF0000"/>
              </a:solidFill>
              <a:cs typeface="Arial" panose="020B0604020202020204" pitchFamily="34" charset="0"/>
              <a:sym typeface="+mn-ea"/>
            </a:endParaRPr>
          </a:p>
          <a:p>
            <a:endParaRPr lang="en-GB" altLang="en-US" b="1" dirty="0">
              <a:solidFill>
                <a:srgbClr val="FF0000"/>
              </a:solidFill>
              <a:cs typeface="Arial" panose="020B0604020202020204" pitchFamily="34" charset="0"/>
              <a:sym typeface="+mn-ea"/>
            </a:endParaRPr>
          </a:p>
        </p:txBody>
      </p:sp>
      <p:sp>
        <p:nvSpPr>
          <p:cNvPr id="2" name="Footer Placeholder 1"/>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Text Box 8"/>
          <p:cNvSpPr txBox="1"/>
          <p:nvPr/>
        </p:nvSpPr>
        <p:spPr>
          <a:xfrm>
            <a:off x="278765" y="351155"/>
            <a:ext cx="8737600" cy="4674870"/>
          </a:xfrm>
          <a:prstGeom prst="rect">
            <a:avLst/>
          </a:prstGeom>
          <a:noFill/>
        </p:spPr>
        <p:txBody>
          <a:bodyPr wrap="square" rtlCol="0">
            <a:noAutofit/>
          </a:bodyPr>
          <a:p>
            <a:endParaRPr lang="en-GB" altLang="el-GR" b="1" dirty="0">
              <a:solidFill>
                <a:srgbClr val="FF0000"/>
              </a:solidFill>
              <a:sym typeface="+mn-ea"/>
            </a:endParaRPr>
          </a:p>
          <a:p>
            <a:endParaRPr lang="en-GB" altLang="el-GR" b="1" dirty="0">
              <a:solidFill>
                <a:srgbClr val="FF0000"/>
              </a:solidFill>
              <a:sym typeface="+mn-ea"/>
            </a:endParaRPr>
          </a:p>
          <a:p>
            <a:r>
              <a:rPr lang="en-GB" altLang="el-GR" b="1" dirty="0">
                <a:solidFill>
                  <a:srgbClr val="FF0000"/>
                </a:solidFill>
                <a:sym typeface="+mn-ea"/>
              </a:rPr>
              <a:t>Example -2 - Computation of </a:t>
            </a:r>
            <a:r>
              <a:rPr lang="el-GR" altLang="en-US" b="1" dirty="0">
                <a:solidFill>
                  <a:srgbClr val="FF0000"/>
                </a:solidFill>
                <a:sym typeface="+mn-ea"/>
              </a:rPr>
              <a:t>δ*</a:t>
            </a:r>
            <a:r>
              <a:rPr lang="en-US" altLang="en-US" b="1" dirty="0">
                <a:solidFill>
                  <a:srgbClr val="FF0000"/>
                </a:solidFill>
                <a:sym typeface="+mn-ea"/>
              </a:rPr>
              <a:t>(q0,</a:t>
            </a:r>
            <a:r>
              <a:rPr lang="en-GB" altLang="en-US" b="1" dirty="0">
                <a:solidFill>
                  <a:srgbClr val="FF0000"/>
                </a:solidFill>
                <a:sym typeface="+mn-ea"/>
              </a:rPr>
              <a:t>111</a:t>
            </a:r>
            <a:r>
              <a:rPr lang="en-US" altLang="en-US" b="1" dirty="0">
                <a:solidFill>
                  <a:srgbClr val="FF0000"/>
                </a:solidFill>
                <a:sym typeface="+mn-ea"/>
              </a:rPr>
              <a:t>)</a:t>
            </a:r>
            <a:r>
              <a:rPr lang="en-GB" altLang="en-US" b="1" dirty="0">
                <a:solidFill>
                  <a:srgbClr val="FF0000"/>
                </a:solidFill>
                <a:sym typeface="+mn-ea"/>
              </a:rPr>
              <a:t> :</a:t>
            </a:r>
            <a:endParaRPr lang="en-GB" altLang="en-US" dirty="0">
              <a:sym typeface="+mn-ea"/>
            </a:endParaRPr>
          </a:p>
          <a:p>
            <a:pPr lvl="1"/>
            <a:r>
              <a:rPr lang="el-GR" altLang="en-US" dirty="0">
                <a:sym typeface="+mn-ea"/>
              </a:rPr>
              <a:t>δ*</a:t>
            </a:r>
            <a:r>
              <a:rPr lang="en-US" altLang="en-US" dirty="0">
                <a:sym typeface="+mn-ea"/>
              </a:rPr>
              <a:t>(q0,</a:t>
            </a:r>
            <a:r>
              <a:rPr lang="en-US" altLang="en-US" dirty="0">
                <a:cs typeface="Arial" panose="020B0604020202020204" pitchFamily="34" charset="0"/>
                <a:sym typeface="+mn-ea"/>
              </a:rPr>
              <a:t>€</a:t>
            </a:r>
            <a:r>
              <a:rPr lang="en-US" altLang="en-US" dirty="0">
                <a:sym typeface="+mn-ea"/>
              </a:rPr>
              <a:t>)</a:t>
            </a:r>
            <a:r>
              <a:rPr lang="en-GB" altLang="en-US" dirty="0">
                <a:sym typeface="+mn-ea"/>
              </a:rPr>
              <a:t> = </a:t>
            </a:r>
            <a:r>
              <a:rPr lang="en-US" altLang="en-US" dirty="0">
                <a:sym typeface="+mn-ea"/>
              </a:rPr>
              <a:t>q0</a:t>
            </a:r>
            <a:r>
              <a:rPr lang="en-GB" altLang="en-US" dirty="0">
                <a:sym typeface="+mn-ea"/>
              </a:rPr>
              <a:t> </a:t>
            </a:r>
            <a:r>
              <a:rPr lang="en-GB" altLang="en-US" dirty="0">
                <a:cs typeface="Arial" panose="020B0604020202020204" pitchFamily="34" charset="0"/>
                <a:sym typeface="+mn-ea"/>
              </a:rPr>
              <a:t>→</a:t>
            </a:r>
            <a:r>
              <a:rPr lang="en-GB" altLang="en-US" dirty="0">
                <a:sym typeface="+mn-ea"/>
              </a:rPr>
              <a:t> By Basis</a:t>
            </a:r>
            <a:endParaRPr lang="en-GB" altLang="en-US" dirty="0">
              <a:sym typeface="+mn-ea"/>
            </a:endParaRPr>
          </a:p>
          <a:p>
            <a:pPr lvl="1"/>
            <a:r>
              <a:rPr lang="el-GR" altLang="en-US" dirty="0">
                <a:sym typeface="+mn-ea"/>
              </a:rPr>
              <a:t>δ*</a:t>
            </a:r>
            <a:r>
              <a:rPr lang="en-US" altLang="en-US" dirty="0">
                <a:sym typeface="+mn-ea"/>
              </a:rPr>
              <a:t>(q0,</a:t>
            </a:r>
            <a:r>
              <a:rPr lang="en-GB" altLang="en-US" dirty="0">
                <a:sym typeface="+mn-ea"/>
              </a:rPr>
              <a:t>1</a:t>
            </a:r>
            <a:r>
              <a:rPr lang="en-US" altLang="en-US" dirty="0">
                <a:sym typeface="+mn-ea"/>
              </a:rPr>
              <a:t>)</a:t>
            </a:r>
            <a:r>
              <a:rPr lang="en-GB" altLang="en-US" dirty="0">
                <a:sym typeface="+mn-ea"/>
              </a:rPr>
              <a:t> =</a:t>
            </a:r>
            <a:r>
              <a:rPr lang="el-GR" altLang="en-US" dirty="0">
                <a:sym typeface="+mn-ea"/>
              </a:rPr>
              <a:t>δ</a:t>
            </a:r>
            <a:r>
              <a:rPr lang="en-US" altLang="en-US" dirty="0">
                <a:sym typeface="+mn-ea"/>
              </a:rPr>
              <a:t>(</a:t>
            </a:r>
            <a:r>
              <a:rPr lang="el-GR" altLang="en-US" dirty="0">
                <a:sym typeface="+mn-ea"/>
              </a:rPr>
              <a:t>δ*</a:t>
            </a:r>
            <a:r>
              <a:rPr lang="en-US" altLang="en-US" dirty="0">
                <a:sym typeface="+mn-ea"/>
              </a:rPr>
              <a:t>(q0,</a:t>
            </a:r>
            <a:r>
              <a:rPr lang="en-US" altLang="en-US" dirty="0">
                <a:cs typeface="Arial" panose="020B0604020202020204" pitchFamily="34" charset="0"/>
                <a:sym typeface="+mn-ea"/>
              </a:rPr>
              <a:t>€</a:t>
            </a:r>
            <a:r>
              <a:rPr lang="en-US" altLang="en-US" dirty="0">
                <a:sym typeface="+mn-ea"/>
              </a:rPr>
              <a:t>)</a:t>
            </a:r>
            <a:r>
              <a:rPr lang="en-GB" altLang="en-US" dirty="0">
                <a:sym typeface="+mn-ea"/>
              </a:rPr>
              <a:t>,1) = </a:t>
            </a:r>
            <a:r>
              <a:rPr lang="el-GR" altLang="en-US" dirty="0">
                <a:sym typeface="+mn-ea"/>
              </a:rPr>
              <a:t>δ</a:t>
            </a:r>
            <a:r>
              <a:rPr lang="en-US" altLang="en-US" dirty="0">
                <a:sym typeface="+mn-ea"/>
              </a:rPr>
              <a:t>(q0,</a:t>
            </a:r>
            <a:r>
              <a:rPr lang="en-GB" altLang="en-US" dirty="0">
                <a:sym typeface="+mn-ea"/>
              </a:rPr>
              <a:t>1</a:t>
            </a:r>
            <a:r>
              <a:rPr lang="en-US" altLang="en-US" dirty="0">
                <a:sym typeface="+mn-ea"/>
              </a:rPr>
              <a:t>)</a:t>
            </a:r>
            <a:r>
              <a:rPr lang="en-GB" altLang="en-US" dirty="0">
                <a:sym typeface="+mn-ea"/>
              </a:rPr>
              <a:t>= {q1}    </a:t>
            </a:r>
            <a:r>
              <a:rPr lang="en-GB" altLang="en-US" dirty="0">
                <a:cs typeface="Arial" panose="020B0604020202020204" pitchFamily="34" charset="0"/>
                <a:sym typeface="+mn-ea"/>
              </a:rPr>
              <a:t>← By</a:t>
            </a:r>
            <a:r>
              <a:rPr lang="en-GB" altLang="en-US" dirty="0">
                <a:sym typeface="+mn-ea"/>
              </a:rPr>
              <a:t> induction </a:t>
            </a:r>
            <a:endParaRPr lang="en-GB" altLang="en-US" dirty="0">
              <a:sym typeface="+mn-ea"/>
            </a:endParaRPr>
          </a:p>
          <a:p>
            <a:pPr lvl="1"/>
            <a:r>
              <a:rPr lang="el-GR" altLang="en-US" dirty="0">
                <a:sym typeface="+mn-ea"/>
              </a:rPr>
              <a:t>δ*</a:t>
            </a:r>
            <a:r>
              <a:rPr lang="en-US" altLang="en-US" dirty="0">
                <a:sym typeface="+mn-ea"/>
              </a:rPr>
              <a:t>(q0,</a:t>
            </a:r>
            <a:r>
              <a:rPr lang="en-GB" altLang="en-US" dirty="0">
                <a:sym typeface="+mn-ea"/>
              </a:rPr>
              <a:t>11</a:t>
            </a:r>
            <a:r>
              <a:rPr lang="en-US" altLang="en-US" dirty="0">
                <a:sym typeface="+mn-ea"/>
              </a:rPr>
              <a:t>)</a:t>
            </a:r>
            <a:r>
              <a:rPr lang="en-GB" altLang="en-US" dirty="0">
                <a:sym typeface="+mn-ea"/>
              </a:rPr>
              <a:t> = </a:t>
            </a:r>
            <a:r>
              <a:rPr lang="el-GR" altLang="en-US" dirty="0">
                <a:sym typeface="+mn-ea"/>
              </a:rPr>
              <a:t>δ</a:t>
            </a:r>
            <a:r>
              <a:rPr lang="en-US" altLang="en-US" dirty="0">
                <a:sym typeface="+mn-ea"/>
              </a:rPr>
              <a:t>(</a:t>
            </a:r>
            <a:r>
              <a:rPr lang="el-GR" altLang="en-US" dirty="0">
                <a:sym typeface="+mn-ea"/>
              </a:rPr>
              <a:t>δ*</a:t>
            </a:r>
            <a:r>
              <a:rPr lang="en-US" altLang="en-US" dirty="0">
                <a:sym typeface="+mn-ea"/>
              </a:rPr>
              <a:t>(q0,</a:t>
            </a:r>
            <a:r>
              <a:rPr lang="en-GB" altLang="en-US" dirty="0">
                <a:sym typeface="+mn-ea"/>
              </a:rPr>
              <a:t>1</a:t>
            </a:r>
            <a:r>
              <a:rPr lang="en-US" altLang="en-US" dirty="0">
                <a:sym typeface="+mn-ea"/>
              </a:rPr>
              <a:t>)</a:t>
            </a:r>
            <a:r>
              <a:rPr lang="en-GB" altLang="en-US" dirty="0">
                <a:sym typeface="+mn-ea"/>
              </a:rPr>
              <a:t>,1) = </a:t>
            </a:r>
            <a:r>
              <a:rPr lang="el-GR" altLang="en-US" dirty="0">
                <a:sym typeface="+mn-ea"/>
              </a:rPr>
              <a:t>δ</a:t>
            </a:r>
            <a:r>
              <a:rPr lang="en-US" altLang="en-US" dirty="0">
                <a:sym typeface="+mn-ea"/>
              </a:rPr>
              <a:t>(</a:t>
            </a:r>
            <a:r>
              <a:rPr lang="en-GB" altLang="en-US" dirty="0">
                <a:sym typeface="+mn-ea"/>
              </a:rPr>
              <a:t>{q1},1) = {q2}</a:t>
            </a:r>
            <a:endParaRPr lang="en-GB" altLang="en-US" dirty="0">
              <a:sym typeface="+mn-ea"/>
            </a:endParaRPr>
          </a:p>
          <a:p>
            <a:pPr lvl="1"/>
            <a:r>
              <a:rPr lang="el-GR" altLang="en-US" dirty="0">
                <a:sym typeface="+mn-ea"/>
              </a:rPr>
              <a:t>δ*</a:t>
            </a:r>
            <a:r>
              <a:rPr lang="en-US" altLang="en-US" dirty="0">
                <a:sym typeface="+mn-ea"/>
              </a:rPr>
              <a:t>(q0,</a:t>
            </a:r>
            <a:r>
              <a:rPr lang="en-GB" altLang="en-US" dirty="0">
                <a:sym typeface="+mn-ea"/>
              </a:rPr>
              <a:t>111</a:t>
            </a:r>
            <a:r>
              <a:rPr lang="en-US" altLang="en-US" dirty="0">
                <a:sym typeface="+mn-ea"/>
              </a:rPr>
              <a:t>)</a:t>
            </a:r>
            <a:r>
              <a:rPr lang="en-GB" altLang="en-US" dirty="0">
                <a:sym typeface="+mn-ea"/>
              </a:rPr>
              <a:t> = </a:t>
            </a:r>
            <a:r>
              <a:rPr lang="el-GR" altLang="en-US" dirty="0">
                <a:sym typeface="+mn-ea"/>
              </a:rPr>
              <a:t>δ</a:t>
            </a:r>
            <a:r>
              <a:rPr lang="en-US" altLang="en-US" dirty="0">
                <a:sym typeface="+mn-ea"/>
              </a:rPr>
              <a:t>(</a:t>
            </a:r>
            <a:r>
              <a:rPr lang="el-GR" altLang="en-US" dirty="0">
                <a:sym typeface="+mn-ea"/>
              </a:rPr>
              <a:t>δ*</a:t>
            </a:r>
            <a:r>
              <a:rPr lang="en-US" altLang="en-US" dirty="0">
                <a:sym typeface="+mn-ea"/>
              </a:rPr>
              <a:t>(q0,</a:t>
            </a:r>
            <a:r>
              <a:rPr lang="en-GB" altLang="en-US" dirty="0">
                <a:sym typeface="+mn-ea"/>
              </a:rPr>
              <a:t>11</a:t>
            </a:r>
            <a:r>
              <a:rPr lang="en-US" altLang="en-US" dirty="0">
                <a:sym typeface="+mn-ea"/>
              </a:rPr>
              <a:t>)</a:t>
            </a:r>
            <a:r>
              <a:rPr lang="en-GB" altLang="en-US" dirty="0">
                <a:sym typeface="+mn-ea"/>
              </a:rPr>
              <a:t>,1) =  </a:t>
            </a:r>
            <a:r>
              <a:rPr lang="el-GR" altLang="en-US" dirty="0">
                <a:sym typeface="+mn-ea"/>
              </a:rPr>
              <a:t>δ</a:t>
            </a:r>
            <a:r>
              <a:rPr lang="en-US" altLang="en-US" dirty="0">
                <a:sym typeface="+mn-ea"/>
              </a:rPr>
              <a:t>(</a:t>
            </a:r>
            <a:r>
              <a:rPr lang="en-GB" altLang="en-US" dirty="0">
                <a:sym typeface="+mn-ea"/>
              </a:rPr>
              <a:t>{q2},1) = {q2]</a:t>
            </a:r>
            <a:endParaRPr lang="en-GB" altLang="en-US" dirty="0">
              <a:sym typeface="+mn-ea"/>
            </a:endParaRPr>
          </a:p>
          <a:p>
            <a:r>
              <a:rPr lang="en-GB" altLang="en-US" dirty="0">
                <a:cs typeface="Arial" panose="020B0604020202020204" pitchFamily="34" charset="0"/>
                <a:sym typeface="+mn-ea"/>
              </a:rPr>
              <a:t> The string</a:t>
            </a:r>
            <a:r>
              <a:rPr lang="en-GB" altLang="en-US" b="1" dirty="0">
                <a:solidFill>
                  <a:srgbClr val="FF0000"/>
                </a:solidFill>
                <a:cs typeface="Arial" panose="020B0604020202020204" pitchFamily="34" charset="0"/>
                <a:sym typeface="+mn-ea"/>
              </a:rPr>
              <a:t> w = 111  is invalid as NFA</a:t>
            </a:r>
            <a:r>
              <a:rPr lang="en-GB" altLang="en-US" dirty="0">
                <a:cs typeface="Arial" panose="020B0604020202020204" pitchFamily="34" charset="0"/>
                <a:sym typeface="+mn-ea"/>
              </a:rPr>
              <a:t> remains in {q2} and </a:t>
            </a:r>
            <a:r>
              <a:rPr lang="en-GB" altLang="en-US" b="1" dirty="0">
                <a:solidFill>
                  <a:srgbClr val="FF0000"/>
                </a:solidFill>
                <a:cs typeface="Arial" panose="020B0604020202020204" pitchFamily="34" charset="0"/>
                <a:sym typeface="+mn-ea"/>
              </a:rPr>
              <a:t>does not contains  q1, the final state.</a:t>
            </a:r>
            <a:endParaRPr lang="en-GB" altLang="en-US" b="1" dirty="0">
              <a:solidFill>
                <a:srgbClr val="FF0000"/>
              </a:solidFill>
              <a:cs typeface="Arial" panose="020B0604020202020204" pitchFamily="34" charset="0"/>
              <a:sym typeface="+mn-ea"/>
            </a:endParaRPr>
          </a:p>
          <a:p>
            <a:endParaRPr lang="en-GB" altLang="en-US" b="1" dirty="0">
              <a:solidFill>
                <a:srgbClr val="FF0000"/>
              </a:solidFill>
              <a:cs typeface="Arial" panose="020B0604020202020204" pitchFamily="34" charset="0"/>
              <a:sym typeface="+mn-ea"/>
            </a:endParaRPr>
          </a:p>
          <a:p>
            <a:r>
              <a:rPr lang="en-IN" altLang="en-GB" b="1" dirty="0">
                <a:solidFill>
                  <a:srgbClr val="FF0000"/>
                </a:solidFill>
                <a:cs typeface="Arial" panose="020B0604020202020204" pitchFamily="34" charset="0"/>
                <a:sym typeface="+mn-ea"/>
              </a:rPr>
              <a:t>Exercize problems : 1. </a:t>
            </a:r>
            <a:r>
              <a:rPr lang="en-GB" altLang="el-GR" b="1" dirty="0">
                <a:solidFill>
                  <a:srgbClr val="FF0000"/>
                </a:solidFill>
                <a:sym typeface="+mn-ea"/>
              </a:rPr>
              <a:t>Comput</a:t>
            </a:r>
            <a:r>
              <a:rPr lang="en-IN" altLang="en-GB" b="1" dirty="0">
                <a:solidFill>
                  <a:srgbClr val="FF0000"/>
                </a:solidFill>
                <a:sym typeface="+mn-ea"/>
              </a:rPr>
              <a:t>e</a:t>
            </a:r>
            <a:r>
              <a:rPr lang="en-GB" altLang="el-GR" b="1" dirty="0">
                <a:solidFill>
                  <a:srgbClr val="FF0000"/>
                </a:solidFill>
                <a:sym typeface="+mn-ea"/>
              </a:rPr>
              <a:t> </a:t>
            </a:r>
            <a:r>
              <a:rPr lang="el-GR" altLang="en-US" b="1" dirty="0">
                <a:solidFill>
                  <a:srgbClr val="FF0000"/>
                </a:solidFill>
                <a:sym typeface="+mn-ea"/>
              </a:rPr>
              <a:t>δ*</a:t>
            </a:r>
            <a:r>
              <a:rPr lang="en-US" altLang="en-US" b="1" dirty="0">
                <a:solidFill>
                  <a:srgbClr val="FF0000"/>
                </a:solidFill>
                <a:sym typeface="+mn-ea"/>
              </a:rPr>
              <a:t>(q0,</a:t>
            </a:r>
            <a:r>
              <a:rPr lang="en-IN" altLang="en-US" b="1" dirty="0">
                <a:solidFill>
                  <a:srgbClr val="FF0000"/>
                </a:solidFill>
                <a:sym typeface="+mn-ea"/>
              </a:rPr>
              <a:t>0010</a:t>
            </a:r>
            <a:r>
              <a:rPr lang="en-GB" altLang="en-US" b="1" dirty="0">
                <a:solidFill>
                  <a:srgbClr val="FF0000"/>
                </a:solidFill>
                <a:sym typeface="+mn-ea"/>
              </a:rPr>
              <a:t>111</a:t>
            </a:r>
            <a:r>
              <a:rPr lang="en-US" altLang="en-US" b="1" dirty="0">
                <a:solidFill>
                  <a:srgbClr val="FF0000"/>
                </a:solidFill>
                <a:sym typeface="+mn-ea"/>
              </a:rPr>
              <a:t>)</a:t>
            </a:r>
            <a:r>
              <a:rPr lang="en-GB" altLang="en-US" b="1" dirty="0">
                <a:solidFill>
                  <a:srgbClr val="FF0000"/>
                </a:solidFill>
                <a:sym typeface="+mn-ea"/>
              </a:rPr>
              <a:t> </a:t>
            </a:r>
            <a:endParaRPr lang="en-GB" altLang="en-US" b="1" dirty="0">
              <a:solidFill>
                <a:srgbClr val="FF0000"/>
              </a:solidFill>
              <a:sym typeface="+mn-ea"/>
            </a:endParaRPr>
          </a:p>
          <a:p>
            <a:r>
              <a:rPr lang="en-GB" altLang="en-US" b="1" dirty="0">
                <a:solidFill>
                  <a:srgbClr val="FF0000"/>
                </a:solidFill>
                <a:sym typeface="+mn-ea"/>
              </a:rPr>
              <a:t> </a:t>
            </a:r>
            <a:r>
              <a:rPr lang="en-IN" altLang="en-GB" b="1" dirty="0">
                <a:solidFill>
                  <a:srgbClr val="FF0000"/>
                </a:solidFill>
                <a:sym typeface="+mn-ea"/>
              </a:rPr>
              <a:t>                                  2.</a:t>
            </a:r>
            <a:r>
              <a:rPr lang="en-IN" altLang="en-GB" b="1" dirty="0">
                <a:solidFill>
                  <a:srgbClr val="FF0000"/>
                </a:solidFill>
                <a:cs typeface="Arial" panose="020B0604020202020204" pitchFamily="34" charset="0"/>
                <a:sym typeface="+mn-ea"/>
              </a:rPr>
              <a:t> </a:t>
            </a:r>
            <a:r>
              <a:rPr lang="en-GB" altLang="el-GR" b="1" dirty="0">
                <a:solidFill>
                  <a:srgbClr val="FF0000"/>
                </a:solidFill>
                <a:sym typeface="+mn-ea"/>
              </a:rPr>
              <a:t>Comput</a:t>
            </a:r>
            <a:r>
              <a:rPr lang="en-IN" altLang="en-GB" b="1" dirty="0">
                <a:solidFill>
                  <a:srgbClr val="FF0000"/>
                </a:solidFill>
                <a:sym typeface="+mn-ea"/>
              </a:rPr>
              <a:t>e</a:t>
            </a:r>
            <a:r>
              <a:rPr lang="en-GB" altLang="el-GR" b="1" dirty="0">
                <a:solidFill>
                  <a:srgbClr val="FF0000"/>
                </a:solidFill>
                <a:sym typeface="+mn-ea"/>
              </a:rPr>
              <a:t> </a:t>
            </a:r>
            <a:r>
              <a:rPr lang="el-GR" altLang="en-US" b="1" dirty="0">
                <a:solidFill>
                  <a:srgbClr val="FF0000"/>
                </a:solidFill>
                <a:sym typeface="+mn-ea"/>
              </a:rPr>
              <a:t>δ*</a:t>
            </a:r>
            <a:r>
              <a:rPr lang="en-US" altLang="en-US" b="1" dirty="0">
                <a:solidFill>
                  <a:srgbClr val="FF0000"/>
                </a:solidFill>
                <a:sym typeface="+mn-ea"/>
              </a:rPr>
              <a:t>(q0,</a:t>
            </a:r>
            <a:r>
              <a:rPr lang="en-IN" altLang="en-US" b="1" dirty="0">
                <a:solidFill>
                  <a:srgbClr val="FF0000"/>
                </a:solidFill>
                <a:sym typeface="+mn-ea"/>
              </a:rPr>
              <a:t>00010</a:t>
            </a:r>
            <a:r>
              <a:rPr lang="en-US" altLang="en-US" b="1" dirty="0">
                <a:solidFill>
                  <a:srgbClr val="FF0000"/>
                </a:solidFill>
                <a:sym typeface="+mn-ea"/>
              </a:rPr>
              <a:t>)</a:t>
            </a:r>
            <a:r>
              <a:rPr lang="en-GB" altLang="en-US" b="1" dirty="0">
                <a:solidFill>
                  <a:srgbClr val="FF0000"/>
                </a:solidFill>
                <a:sym typeface="+mn-ea"/>
              </a:rPr>
              <a:t> </a:t>
            </a:r>
            <a:endParaRPr lang="en-GB" altLang="en-US" b="1" dirty="0">
              <a:solidFill>
                <a:srgbClr val="FF0000"/>
              </a:solidFill>
              <a:cs typeface="Arial" panose="020B0604020202020204" pitchFamily="34" charset="0"/>
              <a:sym typeface="+mn-ea"/>
            </a:endParaRPr>
          </a:p>
          <a:p>
            <a:endParaRPr lang="en-GB" altLang="en-US" b="1" dirty="0">
              <a:solidFill>
                <a:srgbClr val="FF0000"/>
              </a:solidFill>
              <a:cs typeface="Arial" panose="020B0604020202020204" pitchFamily="34" charset="0"/>
              <a:sym typeface="+mn-ea"/>
            </a:endParaRPr>
          </a:p>
          <a:p>
            <a:endParaRPr lang="en-GB" altLang="en-US" dirty="0">
              <a:cs typeface="Arial" panose="020B0604020202020204" pitchFamily="34" charset="0"/>
              <a:sym typeface="+mn-ea"/>
            </a:endParaRPr>
          </a:p>
          <a:p>
            <a:endParaRPr lang="en-GB" altLang="en-US" dirty="0">
              <a:cs typeface="Arial" panose="020B0604020202020204" pitchFamily="34" charset="0"/>
              <a:sym typeface="+mn-ea"/>
            </a:endParaRPr>
          </a:p>
        </p:txBody>
      </p:sp>
      <p:sp>
        <p:nvSpPr>
          <p:cNvPr id="2" name="Footer Placeholder 1"/>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vert="horz" wrap="square" lIns="91440" tIns="45720" rIns="91440" bIns="45720" numCol="1" rtlCol="0" anchor="ctr" anchorCtr="0" compatLnSpc="1">
            <a:normAutofit fontScale="90000"/>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4400" b="0" i="0" u="none" strike="noStrike" kern="1200" cap="none" spc="0" normalizeH="0" baseline="0" noProof="0" dirty="0" smtClean="0">
                <a:ln>
                  <a:noFill/>
                </a:ln>
                <a:solidFill>
                  <a:schemeClr val="tx1"/>
                </a:solidFill>
                <a:effectLst/>
                <a:uLnTx/>
                <a:uFillTx/>
                <a:latin typeface="+mj-lt"/>
                <a:ea typeface="+mj-ea"/>
                <a:cs typeface="+mj-cs"/>
              </a:rPr>
              <a:t>Languages of an NFA</a:t>
            </a:r>
            <a:br>
              <a:rPr kumimoji="0" lang="en-US" sz="4400" b="0" i="0" u="none" strike="noStrike" kern="1200" cap="none" spc="0" normalizeH="0" baseline="0" noProof="0" dirty="0" smtClean="0">
                <a:ln>
                  <a:noFill/>
                </a:ln>
                <a:solidFill>
                  <a:schemeClr val="tx1"/>
                </a:solidFill>
                <a:effectLst/>
                <a:uLnTx/>
                <a:uFillTx/>
                <a:latin typeface="+mj-lt"/>
                <a:ea typeface="+mj-ea"/>
                <a:cs typeface="+mj-cs"/>
              </a:rPr>
            </a:br>
            <a:endParaRPr kumimoji="0" lang="en-US" sz="4400" b="0" i="0" u="none" strike="noStrike" kern="1200" cap="none" spc="0" normalizeH="0" baseline="0" noProof="0" dirty="0">
              <a:ln>
                <a:noFill/>
              </a:ln>
              <a:solidFill>
                <a:schemeClr val="tx1"/>
              </a:solidFill>
              <a:effectLst/>
              <a:uLnTx/>
              <a:uFillTx/>
              <a:latin typeface="+mj-lt"/>
              <a:ea typeface="+mj-ea"/>
              <a:cs typeface="+mj-cs"/>
            </a:endParaRPr>
          </a:p>
        </p:txBody>
      </p:sp>
      <p:sp>
        <p:nvSpPr>
          <p:cNvPr id="22531" name="Content Placeholder 2"/>
          <p:cNvSpPr>
            <a:spLocks noGrp="1"/>
          </p:cNvSpPr>
          <p:nvPr>
            <p:ph idx="1"/>
          </p:nvPr>
        </p:nvSpPr>
        <p:spPr/>
        <p:txBody>
          <a:bodyPr vert="horz" wrap="square" lIns="91440" tIns="45720" rIns="91440" bIns="45720" anchor="t" anchorCtr="0"/>
          <a:p>
            <a:pPr eaLnBrk="1" hangingPunct="1"/>
            <a:r>
              <a:rPr lang="en-US" altLang="en-US" dirty="0"/>
              <a:t>If A={Q,∑,</a:t>
            </a:r>
            <a:r>
              <a:rPr lang="el-GR" altLang="en-US" dirty="0"/>
              <a:t>δ</a:t>
            </a:r>
            <a:r>
              <a:rPr lang="en-US" altLang="en-US" dirty="0"/>
              <a:t>, q0, F} is an NFA then</a:t>
            </a:r>
            <a:endParaRPr lang="en-US" altLang="en-US" dirty="0"/>
          </a:p>
          <a:p>
            <a:pPr eaLnBrk="1" hangingPunct="1">
              <a:buNone/>
            </a:pPr>
            <a:r>
              <a:rPr lang="en-US" altLang="en-US" dirty="0"/>
              <a:t>         L(A) = {w | </a:t>
            </a:r>
            <a:r>
              <a:rPr lang="el-GR" altLang="en-US" dirty="0"/>
              <a:t>δ*</a:t>
            </a:r>
            <a:r>
              <a:rPr lang="en-US" altLang="en-US" dirty="0"/>
              <a:t>(q0,w) </a:t>
            </a:r>
            <a:r>
              <a:rPr lang="az-Cyrl-AZ" altLang="en-US" dirty="0"/>
              <a:t>П</a:t>
            </a:r>
            <a:r>
              <a:rPr lang="en-US" altLang="en-US" dirty="0"/>
              <a:t> F&lt;&gt; </a:t>
            </a:r>
            <a:r>
              <a:rPr lang="el-GR" altLang="en-US" dirty="0"/>
              <a:t>φ</a:t>
            </a:r>
            <a:r>
              <a:rPr lang="en-US" altLang="en-US" dirty="0"/>
              <a:t> }</a:t>
            </a:r>
            <a:endParaRPr lang="en-US" altLang="en-US" dirty="0"/>
          </a:p>
          <a:p>
            <a:pPr eaLnBrk="1" hangingPunct="1">
              <a:buNone/>
            </a:pPr>
            <a:r>
              <a:rPr lang="en-US" altLang="en-US" dirty="0"/>
              <a:t>   that is L(A) is the set of strings w in ∑ * such that </a:t>
            </a:r>
            <a:r>
              <a:rPr lang="el-GR" altLang="en-US" dirty="0"/>
              <a:t>δ</a:t>
            </a:r>
            <a:r>
              <a:rPr lang="en-US" altLang="en-US" dirty="0"/>
              <a:t>*(q0,w) contains at least one accepting state</a:t>
            </a:r>
            <a:endParaRPr lang="en-US" altLang="en-US" dirty="0"/>
          </a:p>
        </p:txBody>
      </p:sp>
      <p:sp>
        <p:nvSpPr>
          <p:cNvPr id="3" name="Footer Placeholder 2"/>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304800" y="685800"/>
            <a:ext cx="8610600" cy="61722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en-US" altLang="en-US" sz="3200" b="0" i="0" u="none" strike="noStrike" kern="1200" cap="none" spc="0" normalizeH="0" baseline="0" noProof="0" dirty="0" smtClean="0">
                <a:ln>
                  <a:noFill/>
                </a:ln>
                <a:solidFill>
                  <a:schemeClr val="tx1"/>
                </a:solidFill>
                <a:effectLst/>
                <a:uLnTx/>
                <a:uFillTx/>
                <a:latin typeface="+mn-lt"/>
                <a:ea typeface="+mn-ea"/>
                <a:cs typeface="+mn-cs"/>
              </a:rPr>
              <a:t>Design the NFA’s to recognize the following sets of strings</a:t>
            </a:r>
            <a:endParaRPr kumimoji="0" lang="en-US" altLang="en-US" sz="3200" b="0"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r>
              <a:rPr kumimoji="0" lang="en-US" altLang="en-US" sz="3200" b="0" i="0" u="none" strike="noStrike" kern="1200" cap="none" spc="0" normalizeH="0" baseline="0" noProof="0" dirty="0" smtClean="0">
                <a:ln>
                  <a:noFill/>
                </a:ln>
                <a:solidFill>
                  <a:schemeClr val="tx1"/>
                </a:solidFill>
                <a:effectLst/>
                <a:uLnTx/>
                <a:uFillTx/>
                <a:latin typeface="+mn-lt"/>
                <a:ea typeface="+mn-ea"/>
                <a:cs typeface="+mn-cs"/>
              </a:rPr>
              <a:t>    </a:t>
            </a:r>
            <a:r>
              <a:rPr kumimoji="0" lang="en-US" altLang="en-US" sz="2800" b="0" i="0" u="none" strike="noStrike" kern="1200" cap="none" spc="0" normalizeH="0" baseline="0" noProof="0" dirty="0" smtClean="0">
                <a:ln>
                  <a:noFill/>
                </a:ln>
                <a:solidFill>
                  <a:schemeClr val="tx1"/>
                </a:solidFill>
                <a:effectLst/>
                <a:uLnTx/>
                <a:uFillTx/>
                <a:latin typeface="+mn-lt"/>
                <a:ea typeface="+mn-ea"/>
                <a:cs typeface="+mn-cs"/>
              </a:rPr>
              <a:t>a.  </a:t>
            </a:r>
            <a:r>
              <a:rPr kumimoji="0" lang="en-US" altLang="en-US" sz="2800" b="0" i="0" u="none" strike="noStrike" kern="1200" cap="none" spc="0" normalizeH="0" baseline="0" noProof="0" dirty="0" err="1" smtClean="0">
                <a:ln>
                  <a:noFill/>
                </a:ln>
                <a:solidFill>
                  <a:schemeClr val="tx1"/>
                </a:solidFill>
                <a:effectLst/>
                <a:uLnTx/>
                <a:uFillTx/>
                <a:latin typeface="+mn-lt"/>
                <a:ea typeface="+mn-ea"/>
                <a:cs typeface="+mn-cs"/>
              </a:rPr>
              <a:t>abc</a:t>
            </a:r>
            <a:r>
              <a:rPr kumimoji="0" lang="en-US" altLang="en-US" sz="2800" b="0" i="0" u="none" strike="noStrike" kern="1200" cap="none" spc="0" normalizeH="0" baseline="0" noProof="0" dirty="0" smtClean="0">
                <a:ln>
                  <a:noFill/>
                </a:ln>
                <a:solidFill>
                  <a:schemeClr val="tx1"/>
                </a:solidFill>
                <a:effectLst/>
                <a:uLnTx/>
                <a:uFillTx/>
                <a:latin typeface="+mn-lt"/>
                <a:ea typeface="+mn-ea"/>
                <a:cs typeface="+mn-cs"/>
              </a:rPr>
              <a:t>, </a:t>
            </a:r>
            <a:r>
              <a:rPr kumimoji="0" lang="en-US" altLang="en-US" sz="2800" b="0" i="0" u="none" strike="noStrike" kern="1200" cap="none" spc="0" normalizeH="0" baseline="0" noProof="0" dirty="0" err="1" smtClean="0">
                <a:ln>
                  <a:noFill/>
                </a:ln>
                <a:solidFill>
                  <a:schemeClr val="tx1"/>
                </a:solidFill>
                <a:effectLst/>
                <a:uLnTx/>
                <a:uFillTx/>
                <a:latin typeface="+mn-lt"/>
                <a:ea typeface="+mn-ea"/>
                <a:cs typeface="+mn-cs"/>
              </a:rPr>
              <a:t>abd</a:t>
            </a:r>
            <a:r>
              <a:rPr kumimoji="0" lang="en-US" altLang="en-US" sz="2800" b="0" i="0" u="none" strike="noStrike" kern="1200" cap="none" spc="0" normalizeH="0" baseline="0" noProof="0" dirty="0" smtClean="0">
                <a:ln>
                  <a:noFill/>
                </a:ln>
                <a:solidFill>
                  <a:schemeClr val="tx1"/>
                </a:solidFill>
                <a:effectLst/>
                <a:uLnTx/>
                <a:uFillTx/>
                <a:latin typeface="+mn-lt"/>
                <a:ea typeface="+mn-ea"/>
                <a:cs typeface="+mn-cs"/>
              </a:rPr>
              <a:t>, and </a:t>
            </a:r>
            <a:r>
              <a:rPr kumimoji="0" lang="en-US" altLang="en-US" sz="2800" b="0" i="0" u="none" strike="noStrike" kern="1200" cap="none" spc="0" normalizeH="0" baseline="0" noProof="0" dirty="0" err="1" smtClean="0">
                <a:ln>
                  <a:noFill/>
                </a:ln>
                <a:solidFill>
                  <a:schemeClr val="tx1"/>
                </a:solidFill>
                <a:effectLst/>
                <a:uLnTx/>
                <a:uFillTx/>
                <a:latin typeface="+mn-lt"/>
                <a:ea typeface="+mn-ea"/>
                <a:cs typeface="+mn-cs"/>
              </a:rPr>
              <a:t>aacd</a:t>
            </a:r>
            <a:r>
              <a:rPr kumimoji="0" lang="en-US" altLang="en-US" sz="2800" b="0" i="0" u="none" strike="noStrike" kern="1200" cap="none" spc="0" normalizeH="0" baseline="0" noProof="0" dirty="0" smtClean="0">
                <a:ln>
                  <a:noFill/>
                </a:ln>
                <a:solidFill>
                  <a:schemeClr val="tx1"/>
                </a:solidFill>
                <a:effectLst/>
                <a:uLnTx/>
                <a:uFillTx/>
                <a:latin typeface="+mn-lt"/>
                <a:ea typeface="+mn-ea"/>
                <a:cs typeface="+mn-cs"/>
              </a:rPr>
              <a:t>  {∑={</a:t>
            </a:r>
            <a:r>
              <a:rPr kumimoji="0" lang="en-US" altLang="en-US" sz="2800" b="0" i="0" u="none" strike="noStrike" kern="1200" cap="none" spc="0" normalizeH="0" baseline="0" noProof="0" dirty="0" err="1" smtClean="0">
                <a:ln>
                  <a:noFill/>
                </a:ln>
                <a:solidFill>
                  <a:schemeClr val="tx1"/>
                </a:solidFill>
                <a:effectLst/>
                <a:uLnTx/>
                <a:uFillTx/>
                <a:latin typeface="+mn-lt"/>
                <a:ea typeface="+mn-ea"/>
                <a:cs typeface="+mn-cs"/>
              </a:rPr>
              <a:t>a,b,c,d</a:t>
            </a:r>
            <a:r>
              <a:rPr kumimoji="0" lang="en-US" altLang="en-US" sz="2800" b="0" i="0" u="none" strike="noStrike" kern="1200" cap="none" spc="0" normalizeH="0" baseline="0" noProof="0" dirty="0" smtClean="0">
                <a:ln>
                  <a:noFill/>
                </a:ln>
                <a:solidFill>
                  <a:schemeClr val="tx1"/>
                </a:solidFill>
                <a:effectLst/>
                <a:uLnTx/>
                <a:uFillTx/>
                <a:latin typeface="+mn-lt"/>
                <a:ea typeface="+mn-ea"/>
                <a:cs typeface="+mn-cs"/>
              </a:rPr>
              <a:t>}}</a:t>
            </a:r>
            <a:endParaRPr kumimoji="0" lang="en-US" altLang="en-US" sz="2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r>
              <a:rPr kumimoji="0" lang="en-US" altLang="en-US" sz="2800" b="0" i="0" u="none" strike="noStrike" kern="1200" cap="none" spc="0" normalizeH="0" baseline="0" noProof="0" dirty="0" smtClean="0">
                <a:ln>
                  <a:noFill/>
                </a:ln>
                <a:solidFill>
                  <a:schemeClr val="tx1"/>
                </a:solidFill>
                <a:effectLst/>
                <a:uLnTx/>
                <a:uFillTx/>
                <a:latin typeface="+mn-lt"/>
                <a:ea typeface="+mn-ea"/>
                <a:cs typeface="+mn-cs"/>
              </a:rPr>
              <a:t>    b. 0101, 101 and 011   {∑={0,1}}</a:t>
            </a:r>
            <a:endParaRPr kumimoji="0" lang="en-US" altLang="en-US" sz="2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r>
              <a:rPr kumimoji="0" lang="en-US" altLang="en-US" sz="2800" b="0" i="0" u="none" strike="noStrike" kern="1200" cap="none" spc="0" normalizeH="0" baseline="0" noProof="0" dirty="0" smtClean="0">
                <a:ln>
                  <a:noFill/>
                </a:ln>
                <a:solidFill>
                  <a:schemeClr val="tx1"/>
                </a:solidFill>
                <a:effectLst/>
                <a:uLnTx/>
                <a:uFillTx/>
                <a:latin typeface="+mn-lt"/>
                <a:ea typeface="+mn-ea"/>
                <a:cs typeface="+mn-cs"/>
              </a:rPr>
              <a:t>    c. </a:t>
            </a:r>
            <a:r>
              <a:rPr kumimoji="0" lang="en-US" altLang="en-US" sz="2800" b="0" i="0" u="none" strike="noStrike" kern="1200" cap="none" spc="0" normalizeH="0" baseline="0" noProof="0" dirty="0" err="1" smtClean="0">
                <a:ln>
                  <a:noFill/>
                </a:ln>
                <a:solidFill>
                  <a:schemeClr val="tx1"/>
                </a:solidFill>
                <a:effectLst/>
                <a:uLnTx/>
                <a:uFillTx/>
                <a:latin typeface="+mn-lt"/>
                <a:ea typeface="+mn-ea"/>
                <a:cs typeface="+mn-cs"/>
              </a:rPr>
              <a:t>ab,bc</a:t>
            </a:r>
            <a:r>
              <a:rPr kumimoji="0" lang="en-US" altLang="en-US" sz="2800" b="0" i="0" u="none" strike="noStrike" kern="1200" cap="none" spc="0" normalizeH="0" baseline="0" noProof="0" dirty="0" smtClean="0">
                <a:ln>
                  <a:noFill/>
                </a:ln>
                <a:solidFill>
                  <a:schemeClr val="tx1"/>
                </a:solidFill>
                <a:effectLst/>
                <a:uLnTx/>
                <a:uFillTx/>
                <a:latin typeface="+mn-lt"/>
                <a:ea typeface="+mn-ea"/>
                <a:cs typeface="+mn-cs"/>
              </a:rPr>
              <a:t> and ca  { ∑={</a:t>
            </a:r>
            <a:r>
              <a:rPr kumimoji="0" lang="en-US" altLang="en-US" sz="2800" b="0" i="0" u="none" strike="noStrike" kern="1200" cap="none" spc="0" normalizeH="0" baseline="0" noProof="0" dirty="0" err="1" smtClean="0">
                <a:ln>
                  <a:noFill/>
                </a:ln>
                <a:solidFill>
                  <a:schemeClr val="tx1"/>
                </a:solidFill>
                <a:effectLst/>
                <a:uLnTx/>
                <a:uFillTx/>
                <a:latin typeface="+mn-lt"/>
                <a:ea typeface="+mn-ea"/>
                <a:cs typeface="+mn-cs"/>
              </a:rPr>
              <a:t>a,b,c</a:t>
            </a:r>
            <a:r>
              <a:rPr kumimoji="0" lang="en-US" altLang="en-US" sz="2800" b="0" i="0" u="none" strike="noStrike" kern="1200" cap="none" spc="0" normalizeH="0" baseline="0" noProof="0" dirty="0" smtClean="0">
                <a:ln>
                  <a:noFill/>
                </a:ln>
                <a:solidFill>
                  <a:schemeClr val="tx1"/>
                </a:solidFill>
                <a:effectLst/>
                <a:uLnTx/>
                <a:uFillTx/>
                <a:latin typeface="+mn-lt"/>
                <a:ea typeface="+mn-ea"/>
                <a:cs typeface="+mn-cs"/>
              </a:rPr>
              <a:t>}}</a:t>
            </a:r>
            <a:endParaRPr kumimoji="0" lang="en-US" altLang="en-US" sz="2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r>
              <a:rPr kumimoji="0" lang="en-US" altLang="en-US" sz="2800" b="0" i="0" u="none" strike="noStrike" kern="1200" cap="none" spc="0" normalizeH="0" baseline="0" noProof="0" dirty="0" smtClean="0">
                <a:ln>
                  <a:noFill/>
                </a:ln>
                <a:solidFill>
                  <a:schemeClr val="tx1"/>
                </a:solidFill>
                <a:effectLst/>
                <a:uLnTx/>
                <a:uFillTx/>
                <a:latin typeface="+mn-lt"/>
                <a:ea typeface="+mn-ea"/>
                <a:cs typeface="+mn-cs"/>
              </a:rPr>
              <a:t>    d. Set of strings of a’s and b’s having prefix ‘a’</a:t>
            </a:r>
            <a:endParaRPr kumimoji="0" lang="en-US" altLang="en-US" sz="2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r>
              <a:rPr kumimoji="0" lang="en-US" altLang="en-US" sz="2800" b="0" i="0" u="none" strike="noStrike" kern="1200" cap="none" spc="0" normalizeH="0" baseline="0" noProof="0" dirty="0">
                <a:ln>
                  <a:noFill/>
                </a:ln>
                <a:solidFill>
                  <a:schemeClr val="tx1"/>
                </a:solidFill>
                <a:effectLst/>
                <a:uLnTx/>
                <a:uFillTx/>
                <a:latin typeface="+mn-lt"/>
                <a:ea typeface="+mn-ea"/>
                <a:cs typeface="+mn-cs"/>
              </a:rPr>
              <a:t> </a:t>
            </a:r>
            <a:r>
              <a:rPr kumimoji="0" lang="en-US" altLang="en-US" sz="2800" b="0" i="0" u="none" strike="noStrike" kern="1200" cap="none" spc="0" normalizeH="0" baseline="0" noProof="0" dirty="0" smtClean="0">
                <a:ln>
                  <a:noFill/>
                </a:ln>
                <a:solidFill>
                  <a:schemeClr val="tx1"/>
                </a:solidFill>
                <a:effectLst/>
                <a:uLnTx/>
                <a:uFillTx/>
                <a:latin typeface="+mn-lt"/>
                <a:ea typeface="+mn-ea"/>
                <a:cs typeface="+mn-cs"/>
              </a:rPr>
              <a:t>  </a:t>
            </a:r>
            <a:r>
              <a:rPr kumimoji="0" lang="en-GB" altLang="en-US" sz="2800" b="0" i="0" u="none" strike="noStrike" kern="1200" cap="none" spc="0" normalizeH="0" baseline="0" noProof="0" dirty="0" smtClean="0">
                <a:ln>
                  <a:noFill/>
                </a:ln>
                <a:solidFill>
                  <a:schemeClr val="tx1"/>
                </a:solidFill>
                <a:effectLst/>
                <a:uLnTx/>
                <a:uFillTx/>
                <a:latin typeface="+mn-lt"/>
                <a:ea typeface="+mn-ea"/>
                <a:cs typeface="+mn-cs"/>
              </a:rPr>
              <a:t> </a:t>
            </a:r>
            <a:r>
              <a:rPr kumimoji="0" lang="en-US" altLang="en-US" sz="2800" b="0" i="0" u="none" strike="noStrike" kern="1200" cap="none" spc="0" normalizeH="0" baseline="0" noProof="0" dirty="0" smtClean="0">
                <a:ln>
                  <a:noFill/>
                </a:ln>
                <a:solidFill>
                  <a:schemeClr val="tx1"/>
                </a:solidFill>
                <a:effectLst/>
                <a:uLnTx/>
                <a:uFillTx/>
                <a:latin typeface="+mn-lt"/>
                <a:ea typeface="+mn-ea"/>
                <a:cs typeface="+mn-cs"/>
              </a:rPr>
              <a:t>e. Set of strings of a’s and b’s having exactly one ‘a’</a:t>
            </a:r>
            <a:endParaRPr kumimoji="0" lang="en-US" altLang="en-US" sz="2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r>
              <a:rPr kumimoji="0" lang="en-US" altLang="en-US" sz="2800" b="0" i="0" u="none" strike="noStrike" kern="1200" cap="none" spc="0" normalizeH="0" baseline="0" noProof="0" dirty="0" smtClean="0">
                <a:ln>
                  <a:noFill/>
                </a:ln>
                <a:solidFill>
                  <a:schemeClr val="tx1"/>
                </a:solidFill>
                <a:effectLst/>
                <a:uLnTx/>
                <a:uFillTx/>
                <a:latin typeface="+mn-lt"/>
                <a:ea typeface="+mn-ea"/>
                <a:cs typeface="+mn-cs"/>
              </a:rPr>
              <a:t>    </a:t>
            </a:r>
            <a:r>
              <a:rPr kumimoji="0" lang="en-US" altLang="en-US" sz="2800" b="0" i="0" u="none" strike="noStrike" kern="1200" cap="none" spc="0" normalizeH="0" baseline="0" noProof="0" dirty="0">
                <a:ln>
                  <a:noFill/>
                </a:ln>
                <a:solidFill>
                  <a:schemeClr val="tx1"/>
                </a:solidFill>
                <a:effectLst/>
                <a:uLnTx/>
                <a:uFillTx/>
                <a:latin typeface="+mn-lt"/>
                <a:ea typeface="+mn-ea"/>
                <a:cs typeface="+mn-cs"/>
              </a:rPr>
              <a:t>f</a:t>
            </a:r>
            <a:r>
              <a:rPr kumimoji="0" lang="en-US" altLang="en-US" sz="2800" b="0" i="0" u="none" strike="noStrike" kern="1200" cap="none" spc="0" normalizeH="0" baseline="0" noProof="0" dirty="0" smtClean="0">
                <a:ln>
                  <a:noFill/>
                </a:ln>
                <a:solidFill>
                  <a:schemeClr val="tx1"/>
                </a:solidFill>
                <a:effectLst/>
                <a:uLnTx/>
                <a:uFillTx/>
                <a:latin typeface="+mn-lt"/>
                <a:ea typeface="+mn-ea"/>
                <a:cs typeface="+mn-cs"/>
              </a:rPr>
              <a:t>. Set of strings a’s and b’s ending with substring ‘</a:t>
            </a:r>
            <a:r>
              <a:rPr kumimoji="0" lang="en-US" altLang="en-US" sz="2800" b="0" i="0" u="none" strike="noStrike" kern="1200" cap="none" spc="0" normalizeH="0" baseline="0" noProof="0" dirty="0" err="1" smtClean="0">
                <a:ln>
                  <a:noFill/>
                </a:ln>
                <a:solidFill>
                  <a:schemeClr val="tx1"/>
                </a:solidFill>
                <a:effectLst/>
                <a:uLnTx/>
                <a:uFillTx/>
                <a:latin typeface="+mn-lt"/>
                <a:ea typeface="+mn-ea"/>
                <a:cs typeface="+mn-cs"/>
              </a:rPr>
              <a:t>abb</a:t>
            </a:r>
            <a:r>
              <a:rPr kumimoji="0" lang="en-US" altLang="en-US" sz="2800" b="0" i="0" u="none" strike="noStrike" kern="1200" cap="none" spc="0" normalizeH="0" baseline="0" noProof="0" dirty="0" smtClean="0">
                <a:ln>
                  <a:noFill/>
                </a:ln>
                <a:solidFill>
                  <a:schemeClr val="tx1"/>
                </a:solidFill>
                <a:effectLst/>
                <a:uLnTx/>
                <a:uFillTx/>
                <a:latin typeface="+mn-lt"/>
                <a:ea typeface="+mn-ea"/>
                <a:cs typeface="+mn-cs"/>
              </a:rPr>
              <a:t>’</a:t>
            </a:r>
            <a:endParaRPr kumimoji="0" lang="en-US" altLang="en-US" sz="2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r>
              <a:rPr kumimoji="0" lang="en-US" altLang="en-US" sz="2800" b="0" i="0" u="none" strike="noStrike" kern="1200" cap="none" spc="0" normalizeH="0" baseline="0" noProof="0" dirty="0" smtClean="0">
                <a:ln>
                  <a:noFill/>
                </a:ln>
                <a:solidFill>
                  <a:schemeClr val="tx1"/>
                </a:solidFill>
                <a:effectLst/>
                <a:uLnTx/>
                <a:uFillTx/>
                <a:latin typeface="+mn-lt"/>
                <a:ea typeface="+mn-ea"/>
                <a:cs typeface="+mn-cs"/>
              </a:rPr>
              <a:t>    g.  L= { w │w</a:t>
            </a:r>
            <a:r>
              <a:rPr kumimoji="0" lang="el-GR" altLang="en-US" sz="2800" b="0" i="0" u="none" strike="noStrike" kern="1200" cap="none" spc="0" normalizeH="0" baseline="0" noProof="0" dirty="0" smtClean="0">
                <a:ln>
                  <a:noFill/>
                </a:ln>
                <a:solidFill>
                  <a:schemeClr val="tx1"/>
                </a:solidFill>
                <a:effectLst/>
                <a:uLnTx/>
                <a:uFillTx/>
                <a:latin typeface="+mn-lt"/>
                <a:ea typeface="+mn-ea"/>
                <a:cs typeface="+mn-cs"/>
              </a:rPr>
              <a:t>ε</a:t>
            </a:r>
            <a:r>
              <a:rPr kumimoji="0" lang="en-IN" altLang="en-US" sz="2800" b="0" i="0" u="none" strike="noStrike" kern="1200" cap="none" spc="0" normalizeH="0" baseline="0" noProof="0" dirty="0" smtClean="0">
                <a:ln>
                  <a:noFill/>
                </a:ln>
                <a:solidFill>
                  <a:schemeClr val="tx1"/>
                </a:solidFill>
                <a:effectLst/>
                <a:uLnTx/>
                <a:uFillTx/>
                <a:latin typeface="+mn-lt"/>
                <a:ea typeface="+mn-ea"/>
                <a:cs typeface="+mn-cs"/>
              </a:rPr>
              <a:t> </a:t>
            </a:r>
            <a:r>
              <a:rPr kumimoji="0" lang="en-IN" altLang="en-US" sz="2800" b="0" i="0" u="none" strike="noStrike" kern="1200" cap="none" spc="0" normalizeH="0" baseline="0" noProof="0" dirty="0" err="1" smtClean="0">
                <a:ln>
                  <a:noFill/>
                </a:ln>
                <a:solidFill>
                  <a:schemeClr val="tx1"/>
                </a:solidFill>
                <a:effectLst/>
                <a:uLnTx/>
                <a:uFillTx/>
                <a:latin typeface="+mn-lt"/>
                <a:ea typeface="+mn-ea"/>
                <a:cs typeface="+mn-cs"/>
              </a:rPr>
              <a:t>abab</a:t>
            </a:r>
            <a:r>
              <a:rPr kumimoji="0" lang="en-IN" altLang="en-US" sz="2800" b="0" i="0" u="none" strike="noStrike" kern="1200" cap="none" spc="0" normalizeH="0" baseline="30000" noProof="0" dirty="0" err="1" smtClean="0">
                <a:ln>
                  <a:noFill/>
                </a:ln>
                <a:solidFill>
                  <a:schemeClr val="tx1"/>
                </a:solidFill>
                <a:effectLst/>
                <a:uLnTx/>
                <a:uFillTx/>
                <a:latin typeface="+mn-lt"/>
                <a:ea typeface="+mn-ea"/>
                <a:cs typeface="+mn-cs"/>
              </a:rPr>
              <a:t>n</a:t>
            </a:r>
            <a:r>
              <a:rPr kumimoji="0" lang="en-IN" altLang="en-US" sz="2800" b="0" i="0" u="none" strike="noStrike" kern="1200" cap="none" spc="0" normalizeH="0" baseline="0" noProof="0" dirty="0" smtClean="0">
                <a:ln>
                  <a:noFill/>
                </a:ln>
                <a:solidFill>
                  <a:schemeClr val="tx1"/>
                </a:solidFill>
                <a:effectLst/>
                <a:uLnTx/>
                <a:uFillTx/>
                <a:latin typeface="+mn-lt"/>
                <a:ea typeface="+mn-ea"/>
                <a:cs typeface="+mn-cs"/>
              </a:rPr>
              <a:t> or </a:t>
            </a:r>
            <a:r>
              <a:rPr kumimoji="0" lang="en-IN" altLang="en-US" sz="2800" b="0" i="0" u="none" strike="noStrike" kern="1200" cap="none" spc="0" normalizeH="0" baseline="0" noProof="0" dirty="0" err="1" smtClean="0">
                <a:ln>
                  <a:noFill/>
                </a:ln>
                <a:solidFill>
                  <a:schemeClr val="tx1"/>
                </a:solidFill>
                <a:effectLst/>
                <a:uLnTx/>
                <a:uFillTx/>
                <a:latin typeface="+mn-lt"/>
                <a:ea typeface="+mn-ea"/>
                <a:cs typeface="+mn-cs"/>
              </a:rPr>
              <a:t>aba</a:t>
            </a:r>
            <a:r>
              <a:rPr kumimoji="0" lang="en-IN" altLang="en-US" sz="2800" b="0" i="0" u="none" strike="noStrike" kern="1200" cap="none" spc="0" normalizeH="0" baseline="30000" noProof="0" dirty="0" err="1" smtClean="0">
                <a:ln>
                  <a:noFill/>
                </a:ln>
                <a:solidFill>
                  <a:schemeClr val="tx1"/>
                </a:solidFill>
                <a:effectLst/>
                <a:uLnTx/>
                <a:uFillTx/>
                <a:latin typeface="+mn-lt"/>
                <a:ea typeface="+mn-ea"/>
                <a:cs typeface="+mn-cs"/>
              </a:rPr>
              <a:t>n</a:t>
            </a:r>
            <a:r>
              <a:rPr kumimoji="0" lang="en-IN" altLang="en-US" sz="2800" b="0" i="0" u="none" strike="noStrike" kern="1200" cap="none" spc="0" normalizeH="0" baseline="0" noProof="0" dirty="0" smtClean="0">
                <a:ln>
                  <a:noFill/>
                </a:ln>
                <a:solidFill>
                  <a:schemeClr val="tx1"/>
                </a:solidFill>
                <a:effectLst/>
                <a:uLnTx/>
                <a:uFillTx/>
                <a:latin typeface="+mn-lt"/>
                <a:ea typeface="+mn-ea"/>
                <a:cs typeface="+mn-cs"/>
              </a:rPr>
              <a:t> for n&gt;=0</a:t>
            </a:r>
            <a:r>
              <a:rPr kumimoji="0" lang="en-US" altLang="en-US" sz="2800" b="0" i="0" u="none" strike="noStrike" kern="1200" cap="none" spc="0" normalizeH="0" baseline="0" noProof="0" dirty="0" smtClean="0">
                <a:ln>
                  <a:noFill/>
                </a:ln>
                <a:solidFill>
                  <a:schemeClr val="tx1"/>
                </a:solidFill>
                <a:effectLst/>
                <a:uLnTx/>
                <a:uFillTx/>
                <a:latin typeface="+mn-lt"/>
                <a:ea typeface="+mn-ea"/>
                <a:cs typeface="+mn-cs"/>
              </a:rPr>
              <a:t>}</a:t>
            </a:r>
            <a:endParaRPr kumimoji="0" lang="en-US" altLang="en-US" sz="28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23555" name="Title 1"/>
          <p:cNvSpPr>
            <a:spLocks noGrp="1"/>
          </p:cNvSpPr>
          <p:nvPr>
            <p:ph type="title"/>
          </p:nvPr>
        </p:nvSpPr>
        <p:spPr>
          <a:xfrm>
            <a:off x="457200" y="274638"/>
            <a:ext cx="8229600" cy="411162"/>
          </a:xfrm>
        </p:spPr>
        <p:txBody>
          <a:bodyPr vert="horz" wrap="square" lIns="91440" tIns="45720" rIns="91440" bIns="45720" anchor="ctr" anchorCtr="0"/>
          <a:p>
            <a:pPr eaLnBrk="1" hangingPunct="1"/>
            <a:r>
              <a:rPr lang="en-US" altLang="en-US" dirty="0"/>
              <a:t>Problems on the design of NFA</a:t>
            </a:r>
            <a:endParaRPr lang="en-US" altLang="en-US" dirty="0"/>
          </a:p>
        </p:txBody>
      </p:sp>
      <p:sp>
        <p:nvSpPr>
          <p:cNvPr id="2" name="Footer Placeholder 1"/>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charRg st="0" end="60"/>
                                            </p:txEl>
                                          </p:spTgt>
                                        </p:tgtEl>
                                        <p:attrNameLst>
                                          <p:attrName>style.visibility</p:attrName>
                                        </p:attrNameLst>
                                      </p:cBhvr>
                                      <p:to>
                                        <p:strVal val="visible"/>
                                      </p:to>
                                    </p:set>
                                    <p:anim calcmode="lin" valueType="num">
                                      <p:cBhvr additive="base">
                                        <p:cTn id="7" dur="500" fill="hold"/>
                                        <p:tgtEl>
                                          <p:spTgt spid="3">
                                            <p:txEl>
                                              <p:charRg st="0" end="6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charRg st="0" end="6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charRg st="60" end="105"/>
                                            </p:txEl>
                                          </p:spTgt>
                                        </p:tgtEl>
                                        <p:attrNameLst>
                                          <p:attrName>style.visibility</p:attrName>
                                        </p:attrNameLst>
                                      </p:cBhvr>
                                      <p:to>
                                        <p:strVal val="visible"/>
                                      </p:to>
                                    </p:set>
                                    <p:anim calcmode="lin" valueType="num">
                                      <p:cBhvr additive="base">
                                        <p:cTn id="13" dur="500" fill="hold"/>
                                        <p:tgtEl>
                                          <p:spTgt spid="3">
                                            <p:txEl>
                                              <p:charRg st="60" end="105"/>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charRg st="60" end="105"/>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charRg st="105" end="145"/>
                                            </p:txEl>
                                          </p:spTgt>
                                        </p:tgtEl>
                                        <p:attrNameLst>
                                          <p:attrName>style.visibility</p:attrName>
                                        </p:attrNameLst>
                                      </p:cBhvr>
                                      <p:to>
                                        <p:strVal val="visible"/>
                                      </p:to>
                                    </p:set>
                                    <p:anim calcmode="lin" valueType="num">
                                      <p:cBhvr additive="base">
                                        <p:cTn id="19" dur="500" fill="hold"/>
                                        <p:tgtEl>
                                          <p:spTgt spid="3">
                                            <p:txEl>
                                              <p:charRg st="105" end="14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charRg st="105" end="14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charRg st="145" end="182"/>
                                            </p:txEl>
                                          </p:spTgt>
                                        </p:tgtEl>
                                        <p:attrNameLst>
                                          <p:attrName>style.visibility</p:attrName>
                                        </p:attrNameLst>
                                      </p:cBhvr>
                                      <p:to>
                                        <p:strVal val="visible"/>
                                      </p:to>
                                    </p:set>
                                    <p:anim calcmode="lin" valueType="num">
                                      <p:cBhvr additive="base">
                                        <p:cTn id="25" dur="500" fill="hold"/>
                                        <p:tgtEl>
                                          <p:spTgt spid="3">
                                            <p:txEl>
                                              <p:charRg st="145" end="18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charRg st="145" end="18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charRg st="182" end="239"/>
                                            </p:txEl>
                                          </p:spTgt>
                                        </p:tgtEl>
                                        <p:attrNameLst>
                                          <p:attrName>style.visibility</p:attrName>
                                        </p:attrNameLst>
                                      </p:cBhvr>
                                      <p:to>
                                        <p:strVal val="visible"/>
                                      </p:to>
                                    </p:set>
                                    <p:anim calcmode="lin" valueType="num">
                                      <p:cBhvr additive="base">
                                        <p:cTn id="31" dur="500" fill="hold"/>
                                        <p:tgtEl>
                                          <p:spTgt spid="3">
                                            <p:txEl>
                                              <p:charRg st="182" end="239"/>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charRg st="182" end="239"/>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charRg st="239" end="301"/>
                                            </p:txEl>
                                          </p:spTgt>
                                        </p:tgtEl>
                                        <p:attrNameLst>
                                          <p:attrName>style.visibility</p:attrName>
                                        </p:attrNameLst>
                                      </p:cBhvr>
                                      <p:to>
                                        <p:strVal val="visible"/>
                                      </p:to>
                                    </p:set>
                                    <p:anim calcmode="lin" valueType="num">
                                      <p:cBhvr additive="base">
                                        <p:cTn id="37" dur="500" fill="hold"/>
                                        <p:tgtEl>
                                          <p:spTgt spid="3">
                                            <p:txEl>
                                              <p:charRg st="239" end="301"/>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charRg st="239" end="301"/>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charRg st="301" end="365"/>
                                            </p:txEl>
                                          </p:spTgt>
                                        </p:tgtEl>
                                        <p:attrNameLst>
                                          <p:attrName>style.visibility</p:attrName>
                                        </p:attrNameLst>
                                      </p:cBhvr>
                                      <p:to>
                                        <p:strVal val="visible"/>
                                      </p:to>
                                    </p:set>
                                    <p:anim calcmode="lin" valueType="num">
                                      <p:cBhvr additive="base">
                                        <p:cTn id="43" dur="500" fill="hold"/>
                                        <p:tgtEl>
                                          <p:spTgt spid="3">
                                            <p:txEl>
                                              <p:charRg st="301" end="36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charRg st="301" end="365"/>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charRg st="365" end="410"/>
                                            </p:txEl>
                                          </p:spTgt>
                                        </p:tgtEl>
                                        <p:attrNameLst>
                                          <p:attrName>style.visibility</p:attrName>
                                        </p:attrNameLst>
                                      </p:cBhvr>
                                      <p:to>
                                        <p:strVal val="visible"/>
                                      </p:to>
                                    </p:set>
                                    <p:anim calcmode="lin" valueType="num">
                                      <p:cBhvr additive="base">
                                        <p:cTn id="49" dur="500" fill="hold"/>
                                        <p:tgtEl>
                                          <p:spTgt spid="3">
                                            <p:txEl>
                                              <p:charRg st="365" end="410"/>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charRg st="365" end="4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vert="horz" wrap="square" lIns="91440" tIns="45720" rIns="91440" bIns="45720" numCol="1" rtlCol="0" anchor="ctr" anchorCtr="0" compatLnSpc="1">
            <a:normAutofit fontScale="90000"/>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4400" b="0" i="0" u="none" strike="noStrike" kern="1200" cap="none" spc="0" normalizeH="0" baseline="0" noProof="0" dirty="0" smtClean="0">
                <a:ln>
                  <a:noFill/>
                </a:ln>
                <a:solidFill>
                  <a:schemeClr val="tx1"/>
                </a:solidFill>
                <a:effectLst/>
                <a:uLnTx/>
                <a:uFillTx/>
                <a:latin typeface="+mj-lt"/>
                <a:ea typeface="+mj-ea"/>
                <a:cs typeface="+mj-cs"/>
              </a:rPr>
              <a:t>Equivalence of Deterministic and Non Deterministic Finite Automata</a:t>
            </a:r>
            <a:br>
              <a:rPr kumimoji="0" lang="en-US" sz="4400" b="0" i="0" u="none" strike="noStrike" kern="1200" cap="none" spc="0" normalizeH="0" baseline="0" noProof="0" dirty="0" smtClean="0">
                <a:ln>
                  <a:noFill/>
                </a:ln>
                <a:solidFill>
                  <a:schemeClr val="tx1"/>
                </a:solidFill>
                <a:effectLst/>
                <a:uLnTx/>
                <a:uFillTx/>
                <a:latin typeface="+mj-lt"/>
                <a:ea typeface="+mj-ea"/>
                <a:cs typeface="+mj-cs"/>
              </a:rPr>
            </a:br>
            <a:endParaRPr kumimoji="0" lang="en-US" sz="4400" b="0" i="0" u="none" strike="noStrike" kern="1200" cap="none" spc="0" normalizeH="0" baseline="0" noProof="0" dirty="0">
              <a:ln>
                <a:noFill/>
              </a:ln>
              <a:solidFill>
                <a:schemeClr val="tx1"/>
              </a:solidFill>
              <a:effectLst/>
              <a:uLnTx/>
              <a:uFillTx/>
              <a:latin typeface="+mj-lt"/>
              <a:ea typeface="+mj-ea"/>
              <a:cs typeface="+mj-cs"/>
            </a:endParaRPr>
          </a:p>
        </p:txBody>
      </p:sp>
      <p:sp>
        <p:nvSpPr>
          <p:cNvPr id="24579" name="Content Placeholder 2"/>
          <p:cNvSpPr>
            <a:spLocks noGrp="1"/>
          </p:cNvSpPr>
          <p:nvPr>
            <p:ph idx="1"/>
          </p:nvPr>
        </p:nvSpPr>
        <p:spPr/>
        <p:txBody>
          <a:bodyPr vert="horz" wrap="square" lIns="91440" tIns="45720" rIns="91440" bIns="45720" anchor="t" anchorCtr="0"/>
          <a:p>
            <a:pPr eaLnBrk="1" hangingPunct="1"/>
            <a:r>
              <a:rPr lang="en-US" altLang="en-US" dirty="0"/>
              <a:t>There are many languages for which a NFA is easier to construct than DFA. It means that every language that can described by some NFA can also be described by DFA.</a:t>
            </a:r>
            <a:endParaRPr lang="en-US" altLang="en-US" dirty="0"/>
          </a:p>
          <a:p>
            <a:pPr eaLnBrk="1" hangingPunct="1"/>
            <a:r>
              <a:rPr lang="en-US" altLang="en-US" dirty="0"/>
              <a:t>We have a subset construction scheme using which any NFA is Converted to an equivalent DFA</a:t>
            </a:r>
            <a:endParaRPr lang="en-US" altLang="en-US" dirty="0"/>
          </a:p>
        </p:txBody>
      </p:sp>
      <p:sp>
        <p:nvSpPr>
          <p:cNvPr id="3" name="Footer Placeholder 2"/>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59385" y="274955"/>
            <a:ext cx="8845550" cy="1143000"/>
          </a:xfrm>
        </p:spPr>
        <p:txBody>
          <a:bodyPr vert="horz" wrap="square" lIns="91440" tIns="45720" rIns="91440" bIns="45720" numCol="1" rtlCol="0" anchor="ctr" anchorCtr="0" compatLnSpc="1">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555" b="0" i="0" u="none" strike="noStrike" kern="1200" cap="none" spc="0" normalizeH="0" baseline="0" noProof="0" dirty="0" smtClean="0">
                <a:ln>
                  <a:noFill/>
                </a:ln>
                <a:solidFill>
                  <a:srgbClr val="FF0000"/>
                </a:solidFill>
                <a:effectLst/>
                <a:uLnTx/>
                <a:uFillTx/>
                <a:latin typeface="+mj-lt"/>
                <a:ea typeface="+mj-ea"/>
                <a:cs typeface="+mj-cs"/>
              </a:rPr>
              <a:t>Conversion of NFA to DFA using Subset Construction Scheme</a:t>
            </a:r>
            <a:endParaRPr kumimoji="0" lang="en-US" sz="3555" b="0" i="0" u="none" strike="noStrike" kern="1200" cap="none" spc="0" normalizeH="0" baseline="0" noProof="0" dirty="0" smtClean="0">
              <a:ln>
                <a:noFill/>
              </a:ln>
              <a:solidFill>
                <a:srgbClr val="FF0000"/>
              </a:solidFill>
              <a:effectLst/>
              <a:uLnTx/>
              <a:uFillTx/>
              <a:latin typeface="+mj-lt"/>
              <a:ea typeface="+mj-ea"/>
              <a:cs typeface="+mj-cs"/>
            </a:endParaRPr>
          </a:p>
        </p:txBody>
      </p:sp>
      <p:sp>
        <p:nvSpPr>
          <p:cNvPr id="25603" name="Content Placeholder 2"/>
          <p:cNvSpPr>
            <a:spLocks noGrp="1"/>
          </p:cNvSpPr>
          <p:nvPr>
            <p:ph idx="1"/>
          </p:nvPr>
        </p:nvSpPr>
        <p:spPr>
          <a:xfrm>
            <a:off x="533400" y="1482725"/>
            <a:ext cx="8229600" cy="4948555"/>
          </a:xfrm>
        </p:spPr>
        <p:txBody>
          <a:bodyPr vert="horz" wrap="square" lIns="91440" tIns="45720" rIns="91440" bIns="45720" anchor="t" anchorCtr="0"/>
          <a:p>
            <a:pPr marL="0" indent="0" algn="l" eaLnBrk="1" hangingPunct="1">
              <a:buNone/>
            </a:pPr>
            <a:r>
              <a:rPr lang="en-US" altLang="en-US" dirty="0"/>
              <a:t>The </a:t>
            </a:r>
            <a:r>
              <a:rPr lang="en-IN" altLang="en-US" dirty="0"/>
              <a:t>Subset Construction </a:t>
            </a:r>
            <a:r>
              <a:rPr lang="en-US" altLang="en-US" dirty="0"/>
              <a:t>Scheme</a:t>
            </a:r>
            <a:r>
              <a:rPr lang="en-IN" altLang="en-US" dirty="0"/>
              <a:t> is a basic version </a:t>
            </a:r>
            <a:r>
              <a:rPr lang="en-US" altLang="en-US" dirty="0"/>
              <a:t> </a:t>
            </a:r>
            <a:r>
              <a:rPr lang="en-IN" altLang="en-US" dirty="0"/>
              <a:t>that </a:t>
            </a:r>
            <a:r>
              <a:rPr lang="en-US" altLang="en-US" dirty="0"/>
              <a:t>starts </a:t>
            </a:r>
            <a:r>
              <a:rPr lang="en-IN" altLang="en-US" dirty="0"/>
              <a:t>with </a:t>
            </a:r>
            <a:r>
              <a:rPr lang="en-US" altLang="en-US" dirty="0"/>
              <a:t>a</a:t>
            </a:r>
            <a:r>
              <a:rPr lang="en-GB" altLang="en-US" dirty="0"/>
              <a:t> given </a:t>
            </a:r>
            <a:r>
              <a:rPr lang="en-US" altLang="en-US" dirty="0"/>
              <a:t> NFA</a:t>
            </a:r>
            <a:r>
              <a:rPr lang="en-IN" altLang="en-US" dirty="0"/>
              <a:t> </a:t>
            </a:r>
            <a:r>
              <a:rPr lang="en-US" altLang="en-US" dirty="0"/>
              <a:t> </a:t>
            </a:r>
            <a:endParaRPr lang="en-US" altLang="en-US" dirty="0"/>
          </a:p>
          <a:p>
            <a:pPr algn="l" eaLnBrk="1" hangingPunct="1">
              <a:buNone/>
            </a:pPr>
            <a:r>
              <a:rPr lang="en-US" altLang="en-US" dirty="0"/>
              <a:t> </a:t>
            </a:r>
            <a:r>
              <a:rPr lang="en-GB" altLang="en-US" dirty="0"/>
              <a:t>    </a:t>
            </a:r>
            <a:r>
              <a:rPr lang="en-US" altLang="en-US" dirty="0"/>
              <a:t>N=(Q</a:t>
            </a:r>
            <a:r>
              <a:rPr lang="en-US" altLang="en-US" baseline="-25000" dirty="0"/>
              <a:t>N</a:t>
            </a:r>
            <a:r>
              <a:rPr lang="en-US" altLang="en-US" dirty="0"/>
              <a:t>,∑,</a:t>
            </a:r>
            <a:r>
              <a:rPr lang="el-GR" altLang="en-US" dirty="0"/>
              <a:t>δ</a:t>
            </a:r>
            <a:r>
              <a:rPr lang="en-US" altLang="en-US" baseline="-25000" dirty="0"/>
              <a:t>N</a:t>
            </a:r>
            <a:r>
              <a:rPr lang="en-US" altLang="en-US" dirty="0"/>
              <a:t>, q</a:t>
            </a:r>
            <a:r>
              <a:rPr lang="en-US" altLang="en-US" baseline="-25000" dirty="0"/>
              <a:t>0</a:t>
            </a:r>
            <a:r>
              <a:rPr lang="en-US" altLang="en-US" dirty="0"/>
              <a:t>, F</a:t>
            </a:r>
            <a:r>
              <a:rPr lang="en-US" altLang="en-US" baseline="-25000" dirty="0"/>
              <a:t>N</a:t>
            </a:r>
            <a:r>
              <a:rPr lang="en-US" altLang="en-US" dirty="0"/>
              <a:t>) and </a:t>
            </a:r>
            <a:r>
              <a:rPr lang="en-GB" altLang="en-US" dirty="0"/>
              <a:t> </a:t>
            </a:r>
            <a:endParaRPr lang="en-GB" altLang="en-US" dirty="0"/>
          </a:p>
          <a:p>
            <a:pPr marL="38735" indent="-38735" algn="l" eaLnBrk="1" hangingPunct="1">
              <a:buNone/>
            </a:pPr>
            <a:r>
              <a:rPr lang="en-GB" altLang="en-US" dirty="0"/>
              <a:t> </a:t>
            </a:r>
            <a:r>
              <a:rPr lang="en-US" altLang="en-US" dirty="0"/>
              <a:t>DFA </a:t>
            </a:r>
            <a:r>
              <a:rPr lang="en-IN" altLang="en-US" dirty="0"/>
              <a:t> </a:t>
            </a:r>
            <a:r>
              <a:rPr lang="en-US" altLang="en-US" dirty="0"/>
              <a:t>D=(Q</a:t>
            </a:r>
            <a:r>
              <a:rPr lang="en-US" altLang="en-US" baseline="-25000" dirty="0"/>
              <a:t>D</a:t>
            </a:r>
            <a:r>
              <a:rPr lang="en-US" altLang="en-US" dirty="0"/>
              <a:t>,∑,</a:t>
            </a:r>
            <a:r>
              <a:rPr lang="el-GR" altLang="en-US" dirty="0"/>
              <a:t>δ</a:t>
            </a:r>
            <a:r>
              <a:rPr lang="en-US" altLang="en-US" baseline="-25000" dirty="0"/>
              <a:t>D</a:t>
            </a:r>
            <a:r>
              <a:rPr lang="en-US" altLang="en-US" dirty="0"/>
              <a:t>, {q</a:t>
            </a:r>
            <a:r>
              <a:rPr lang="en-US" altLang="en-US" baseline="-25000" dirty="0"/>
              <a:t>0</a:t>
            </a:r>
            <a:r>
              <a:rPr lang="en-US" altLang="en-US" dirty="0"/>
              <a:t>}, F</a:t>
            </a:r>
            <a:r>
              <a:rPr lang="en-US" altLang="en-US" baseline="-25000" dirty="0"/>
              <a:t>D</a:t>
            </a:r>
            <a:r>
              <a:rPr lang="en-US" altLang="en-US" dirty="0"/>
              <a:t>) is </a:t>
            </a:r>
            <a:r>
              <a:rPr lang="en-GB" altLang="en-US" dirty="0"/>
              <a:t>to be </a:t>
            </a:r>
            <a:r>
              <a:rPr lang="en-US" altLang="en-US" dirty="0"/>
              <a:t>constructed </a:t>
            </a:r>
            <a:r>
              <a:rPr lang="en-GB" altLang="en-US" dirty="0"/>
              <a:t>in </a:t>
            </a:r>
            <a:r>
              <a:rPr lang="en-US" altLang="en-US" dirty="0"/>
              <a:t>such </a:t>
            </a:r>
            <a:r>
              <a:rPr lang="en-GB" altLang="en-US" dirty="0"/>
              <a:t>way </a:t>
            </a:r>
            <a:r>
              <a:rPr lang="en-US" altLang="en-US" dirty="0"/>
              <a:t>that L(D) = L(N)</a:t>
            </a:r>
            <a:r>
              <a:rPr lang="en-GB" altLang="en-US" dirty="0"/>
              <a:t>. </a:t>
            </a:r>
            <a:endParaRPr lang="en-GB" altLang="en-US" dirty="0"/>
          </a:p>
          <a:p>
            <a:pPr marL="467995" lvl="1" indent="-10795" algn="l" eaLnBrk="1" hangingPunct="1">
              <a:buNone/>
            </a:pPr>
            <a:r>
              <a:rPr lang="en-GB" altLang="en-US" sz="2100" noProof="0" dirty="0" smtClean="0">
                <a:ln>
                  <a:noFill/>
                </a:ln>
                <a:solidFill>
                  <a:srgbClr val="0070C0"/>
                </a:solidFill>
                <a:effectLst/>
                <a:uLnTx/>
                <a:uFillTx/>
                <a:latin typeface="+mj-lt"/>
                <a:ea typeface="+mj-ea"/>
                <a:cs typeface="+mj-cs"/>
                <a:sym typeface="+mn-ea"/>
              </a:rPr>
              <a:t> In this method </a:t>
            </a:r>
            <a:r>
              <a:rPr lang="en-IN" altLang="en-GB" sz="2100" noProof="0" dirty="0" smtClean="0">
                <a:ln>
                  <a:noFill/>
                </a:ln>
                <a:solidFill>
                  <a:srgbClr val="0070C0"/>
                </a:solidFill>
                <a:effectLst/>
                <a:uLnTx/>
                <a:uFillTx/>
                <a:latin typeface="+mj-lt"/>
                <a:ea typeface="+mj-ea"/>
                <a:cs typeface="+mj-cs"/>
                <a:sym typeface="+mn-ea"/>
              </a:rPr>
              <a:t>if there are n states for NFA - N then the number of states for DFA-D is consider to be</a:t>
            </a:r>
            <a:r>
              <a:rPr lang="en-GB" altLang="en-US" sz="2100" noProof="0" dirty="0" smtClean="0">
                <a:ln>
                  <a:noFill/>
                </a:ln>
                <a:solidFill>
                  <a:srgbClr val="0070C0"/>
                </a:solidFill>
                <a:effectLst/>
                <a:uLnTx/>
                <a:uFillTx/>
                <a:latin typeface="+mj-lt"/>
                <a:ea typeface="+mj-ea"/>
                <a:cs typeface="+mj-cs"/>
                <a:sym typeface="+mn-ea"/>
              </a:rPr>
              <a:t> </a:t>
            </a:r>
            <a:r>
              <a:rPr lang="en-GB" altLang="en-US" sz="2100" b="1" noProof="0" dirty="0" smtClean="0">
                <a:ln>
                  <a:noFill/>
                </a:ln>
                <a:solidFill>
                  <a:srgbClr val="0070C0"/>
                </a:solidFill>
                <a:effectLst/>
                <a:uLnTx/>
                <a:uFillTx/>
                <a:latin typeface="+mj-lt"/>
                <a:ea typeface="+mj-ea"/>
                <a:cs typeface="+mj-cs"/>
                <a:sym typeface="+mn-ea"/>
              </a:rPr>
              <a:t>2</a:t>
            </a:r>
            <a:r>
              <a:rPr lang="en-GB" altLang="en-US" sz="2100" b="1" baseline="30000" noProof="0" dirty="0" smtClean="0">
                <a:ln>
                  <a:noFill/>
                </a:ln>
                <a:solidFill>
                  <a:srgbClr val="0070C0"/>
                </a:solidFill>
                <a:effectLst/>
                <a:uLnTx/>
                <a:uFillTx/>
                <a:latin typeface="+mj-lt"/>
                <a:ea typeface="+mj-ea"/>
                <a:cs typeface="+mj-cs"/>
                <a:sym typeface="+mn-ea"/>
              </a:rPr>
              <a:t>N</a:t>
            </a:r>
            <a:r>
              <a:rPr lang="en-GB" altLang="en-US" sz="2100" b="1" noProof="0" dirty="0" smtClean="0">
                <a:ln>
                  <a:noFill/>
                </a:ln>
                <a:solidFill>
                  <a:srgbClr val="0070C0"/>
                </a:solidFill>
                <a:effectLst/>
                <a:uLnTx/>
                <a:uFillTx/>
                <a:latin typeface="+mj-lt"/>
                <a:ea typeface="+mj-ea"/>
                <a:cs typeface="+mj-cs"/>
                <a:sym typeface="+mn-ea"/>
              </a:rPr>
              <a:t> number of states </a:t>
            </a:r>
            <a:r>
              <a:rPr lang="en-GB" altLang="en-US" sz="2100" noProof="0" dirty="0" smtClean="0">
                <a:ln>
                  <a:noFill/>
                </a:ln>
                <a:solidFill>
                  <a:srgbClr val="0070C0"/>
                </a:solidFill>
                <a:effectLst/>
                <a:uLnTx/>
                <a:uFillTx/>
                <a:latin typeface="+mj-lt"/>
                <a:ea typeface="+mj-ea"/>
                <a:cs typeface="+mj-cs"/>
                <a:sym typeface="+mn-ea"/>
              </a:rPr>
              <a:t> </a:t>
            </a:r>
            <a:r>
              <a:rPr lang="en-IN" altLang="en-GB" sz="2100" noProof="0" dirty="0" smtClean="0">
                <a:ln>
                  <a:noFill/>
                </a:ln>
                <a:solidFill>
                  <a:srgbClr val="0070C0"/>
                </a:solidFill>
                <a:effectLst/>
                <a:uLnTx/>
                <a:uFillTx/>
                <a:latin typeface="+mj-lt"/>
                <a:ea typeface="+mj-ea"/>
                <a:cs typeface="+mj-cs"/>
                <a:sym typeface="+mn-ea"/>
              </a:rPr>
              <a:t>and </a:t>
            </a:r>
            <a:r>
              <a:rPr lang="en-GB" altLang="en-US" sz="2100" noProof="0" dirty="0" smtClean="0">
                <a:ln>
                  <a:noFill/>
                </a:ln>
                <a:solidFill>
                  <a:srgbClr val="0070C0"/>
                </a:solidFill>
                <a:effectLst/>
                <a:uLnTx/>
                <a:uFillTx/>
                <a:latin typeface="+mj-lt"/>
                <a:ea typeface="+mj-ea"/>
                <a:cs typeface="+mj-cs"/>
                <a:sym typeface="+mn-ea"/>
              </a:rPr>
              <a:t> </a:t>
            </a:r>
            <a:r>
              <a:rPr lang="el-GR" altLang="x-none" sz="2100" b="1" dirty="0">
                <a:solidFill>
                  <a:srgbClr val="0070C0"/>
                </a:solidFill>
                <a:sym typeface="+mn-ea"/>
              </a:rPr>
              <a:t>δ</a:t>
            </a:r>
            <a:r>
              <a:rPr sz="2100" b="1" baseline="-25000" dirty="0">
                <a:solidFill>
                  <a:srgbClr val="0070C0"/>
                </a:solidFill>
                <a:sym typeface="+mn-ea"/>
              </a:rPr>
              <a:t>D</a:t>
            </a:r>
            <a:r>
              <a:rPr lang="en-GB" sz="2100" b="1" baseline="-25000" dirty="0">
                <a:solidFill>
                  <a:srgbClr val="0070C0"/>
                </a:solidFill>
                <a:sym typeface="+mn-ea"/>
              </a:rPr>
              <a:t> </a:t>
            </a:r>
            <a:r>
              <a:rPr lang="en-GB" altLang="en-US" sz="2100" noProof="0" dirty="0" smtClean="0">
                <a:ln>
                  <a:noFill/>
                </a:ln>
                <a:solidFill>
                  <a:srgbClr val="0070C0"/>
                </a:solidFill>
                <a:effectLst/>
                <a:uLnTx/>
                <a:uFillTx/>
                <a:latin typeface="+mj-lt"/>
                <a:ea typeface="+mj-ea"/>
                <a:cs typeface="+mj-cs"/>
                <a:sym typeface="+mn-ea"/>
              </a:rPr>
              <a:t> </a:t>
            </a:r>
            <a:r>
              <a:rPr lang="en-IN" altLang="en-GB" sz="2100" noProof="0" dirty="0" smtClean="0">
                <a:ln>
                  <a:noFill/>
                </a:ln>
                <a:solidFill>
                  <a:srgbClr val="0070C0"/>
                </a:solidFill>
                <a:effectLst/>
                <a:uLnTx/>
                <a:uFillTx/>
                <a:latin typeface="+mj-lt"/>
                <a:ea typeface="+mj-ea"/>
                <a:cs typeface="+mj-cs"/>
                <a:sym typeface="+mn-ea"/>
              </a:rPr>
              <a:t>is defined for the </a:t>
            </a:r>
            <a:r>
              <a:rPr lang="en-GB" altLang="en-US" sz="2100" noProof="0" dirty="0" smtClean="0">
                <a:ln>
                  <a:noFill/>
                </a:ln>
                <a:solidFill>
                  <a:srgbClr val="0070C0"/>
                </a:solidFill>
                <a:effectLst/>
                <a:uLnTx/>
                <a:uFillTx/>
                <a:latin typeface="+mj-lt"/>
                <a:ea typeface="+mj-ea"/>
                <a:cs typeface="+mj-cs"/>
                <a:sym typeface="+mn-ea"/>
              </a:rPr>
              <a:t> all </a:t>
            </a:r>
            <a:r>
              <a:rPr lang="en-GB" altLang="en-US" sz="2100" b="1" noProof="0" dirty="0" smtClean="0">
                <a:ln>
                  <a:noFill/>
                </a:ln>
                <a:solidFill>
                  <a:srgbClr val="0070C0"/>
                </a:solidFill>
                <a:effectLst/>
                <a:uLnTx/>
                <a:uFillTx/>
                <a:latin typeface="+mj-lt"/>
                <a:ea typeface="+mj-ea"/>
                <a:cs typeface="+mj-cs"/>
                <a:sym typeface="+mn-ea"/>
              </a:rPr>
              <a:t>2</a:t>
            </a:r>
            <a:r>
              <a:rPr lang="en-GB" altLang="en-US" sz="2100" b="1" baseline="30000" noProof="0" dirty="0" smtClean="0">
                <a:ln>
                  <a:noFill/>
                </a:ln>
                <a:solidFill>
                  <a:srgbClr val="0070C0"/>
                </a:solidFill>
                <a:effectLst/>
                <a:uLnTx/>
                <a:uFillTx/>
                <a:latin typeface="+mj-lt"/>
                <a:ea typeface="+mj-ea"/>
                <a:cs typeface="+mj-cs"/>
                <a:sym typeface="+mn-ea"/>
              </a:rPr>
              <a:t>N</a:t>
            </a:r>
            <a:r>
              <a:rPr lang="en-GB" altLang="en-US" sz="2100" b="1" noProof="0" dirty="0" smtClean="0">
                <a:ln>
                  <a:noFill/>
                </a:ln>
                <a:solidFill>
                  <a:srgbClr val="0070C0"/>
                </a:solidFill>
                <a:effectLst/>
                <a:uLnTx/>
                <a:uFillTx/>
                <a:latin typeface="+mj-lt"/>
                <a:ea typeface="+mj-ea"/>
                <a:cs typeface="+mj-cs"/>
                <a:sym typeface="+mn-ea"/>
              </a:rPr>
              <a:t> tnumber of states</a:t>
            </a:r>
            <a:r>
              <a:rPr lang="en-IN" altLang="en-GB" sz="2100" b="1" noProof="0" dirty="0" smtClean="0">
                <a:ln>
                  <a:noFill/>
                </a:ln>
                <a:solidFill>
                  <a:srgbClr val="0070C0"/>
                </a:solidFill>
                <a:effectLst/>
                <a:uLnTx/>
                <a:uFillTx/>
                <a:latin typeface="+mj-lt"/>
                <a:ea typeface="+mj-ea"/>
                <a:cs typeface="+mj-cs"/>
                <a:sym typeface="+mn-ea"/>
              </a:rPr>
              <a:t>. </a:t>
            </a:r>
            <a:endParaRPr kumimoji="0" lang="en-GB" altLang="en-US" b="0" i="0" u="none" strike="noStrike" kern="1200" cap="none" spc="0" normalizeH="0" baseline="0" noProof="0" dirty="0" smtClean="0">
              <a:ln>
                <a:noFill/>
              </a:ln>
              <a:solidFill>
                <a:schemeClr val="tx1"/>
              </a:solidFill>
              <a:effectLst/>
              <a:uLnTx/>
              <a:uFillTx/>
              <a:latin typeface="+mj-lt"/>
              <a:ea typeface="+mj-ea"/>
              <a:cs typeface="+mj-cs"/>
              <a:sym typeface="+mn-ea"/>
            </a:endParaRPr>
          </a:p>
          <a:p>
            <a:pPr algn="l" eaLnBrk="1" hangingPunct="1">
              <a:buNone/>
            </a:pPr>
            <a:r>
              <a:rPr lang="en-GB" altLang="en-US" dirty="0"/>
              <a:t>  The following steps needs to </a:t>
            </a:r>
            <a:r>
              <a:rPr lang="en-IN" altLang="en-GB" dirty="0"/>
              <a:t>be followed </a:t>
            </a:r>
            <a:endParaRPr lang="en-US" altLang="en-US" dirty="0"/>
          </a:p>
          <a:p>
            <a:pPr eaLnBrk="1" hangingPunct="1">
              <a:buNone/>
            </a:pPr>
            <a:r>
              <a:rPr lang="en-US" altLang="en-US" dirty="0"/>
              <a:t>   </a:t>
            </a:r>
            <a:endParaRPr lang="en-US" altLang="en-US" baseline="-25000" dirty="0"/>
          </a:p>
        </p:txBody>
      </p:sp>
      <p:sp>
        <p:nvSpPr>
          <p:cNvPr id="3" name="Footer Placeholder 2"/>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57200" y="304800"/>
            <a:ext cx="8229600" cy="6346825"/>
          </a:xfrm>
        </p:spPr>
        <p:txBody>
          <a:bodyPr vert="horz" wrap="square" lIns="91440" tIns="45720" rIns="91440" bIns="45720" numCol="1" rtlCol="0" anchor="t" anchorCtr="0" compatLnSpc="1"/>
          <a:p>
            <a:pPr eaLnBrk="1" hangingPunct="1">
              <a:lnSpc>
                <a:spcPct val="90000"/>
              </a:lnSpc>
              <a:buNone/>
            </a:pPr>
            <a:r>
              <a:rPr lang="en-US" altLang="en-US" sz="2700" dirty="0">
                <a:sym typeface="+mn-ea"/>
              </a:rPr>
              <a:t>1. Initialize DFA state set </a:t>
            </a:r>
            <a:r>
              <a:rPr lang="en-US" altLang="en-US" sz="2700" b="1" dirty="0">
                <a:solidFill>
                  <a:srgbClr val="FF0000"/>
                </a:solidFill>
                <a:sym typeface="+mn-ea"/>
              </a:rPr>
              <a:t>QD to {q0} </a:t>
            </a:r>
            <a:r>
              <a:rPr lang="en-GB" altLang="en-US" sz="2700" dirty="0">
                <a:sym typeface="+mn-ea"/>
              </a:rPr>
              <a:t>and </a:t>
            </a:r>
            <a:r>
              <a:rPr lang="en-US" altLang="en-US" sz="2700" dirty="0">
                <a:sym typeface="+mn-ea"/>
              </a:rPr>
              <a:t>is the </a:t>
            </a:r>
            <a:r>
              <a:rPr lang="en-US" altLang="en-US" sz="2700" b="1" dirty="0">
                <a:solidFill>
                  <a:srgbClr val="FF0000"/>
                </a:solidFill>
                <a:sym typeface="+mn-ea"/>
              </a:rPr>
              <a:t>start state of DFA D</a:t>
            </a:r>
            <a:r>
              <a:rPr lang="en-US" altLang="en-US" sz="2700" dirty="0">
                <a:sym typeface="+mn-ea"/>
              </a:rPr>
              <a:t> which is the set containing only the </a:t>
            </a:r>
            <a:r>
              <a:rPr lang="en-US" altLang="en-US" sz="2700" b="1" dirty="0">
                <a:solidFill>
                  <a:srgbClr val="FF0000"/>
                </a:solidFill>
                <a:sym typeface="+mn-ea"/>
              </a:rPr>
              <a:t>start state of NFA N.</a:t>
            </a:r>
            <a:endParaRPr lang="en-US" altLang="en-US" sz="2700" b="1" baseline="-25000" dirty="0">
              <a:solidFill>
                <a:srgbClr val="FF0000"/>
              </a:solidFill>
            </a:endParaRPr>
          </a:p>
          <a:p>
            <a:pPr eaLnBrk="1" hangingPunct="1">
              <a:lnSpc>
                <a:spcPct val="90000"/>
              </a:lnSpc>
              <a:buNone/>
            </a:pPr>
            <a:r>
              <a:rPr sz="2700" dirty="0"/>
              <a:t>2.</a:t>
            </a:r>
            <a:r>
              <a:rPr sz="2700" b="1" dirty="0"/>
              <a:t> While</a:t>
            </a:r>
            <a:r>
              <a:rPr sz="2700" dirty="0"/>
              <a:t> (</a:t>
            </a:r>
            <a:r>
              <a:rPr lang="el-GR" altLang="x-none" sz="2700" b="1" dirty="0">
                <a:solidFill>
                  <a:srgbClr val="FF0000"/>
                </a:solidFill>
              </a:rPr>
              <a:t>δ</a:t>
            </a:r>
            <a:r>
              <a:rPr sz="2700" b="1" baseline="-25000" dirty="0">
                <a:solidFill>
                  <a:srgbClr val="FF0000"/>
                </a:solidFill>
              </a:rPr>
              <a:t>D</a:t>
            </a:r>
            <a:r>
              <a:rPr sz="2700" dirty="0"/>
              <a:t> for all DFA state in </a:t>
            </a:r>
            <a:r>
              <a:rPr sz="2700" dirty="0">
                <a:solidFill>
                  <a:srgbClr val="FF0000"/>
                </a:solidFill>
              </a:rPr>
              <a:t>Q</a:t>
            </a:r>
            <a:r>
              <a:rPr sz="2700" baseline="-25000" dirty="0">
                <a:solidFill>
                  <a:srgbClr val="FF0000"/>
                </a:solidFill>
              </a:rPr>
              <a:t>D</a:t>
            </a:r>
            <a:r>
              <a:rPr sz="2700" dirty="0"/>
              <a:t> is not defined) </a:t>
            </a:r>
            <a:r>
              <a:rPr sz="2700" b="1" dirty="0"/>
              <a:t>Do </a:t>
            </a:r>
            <a:endParaRPr sz="2700" b="1" dirty="0"/>
          </a:p>
          <a:p>
            <a:pPr eaLnBrk="1" hangingPunct="1">
              <a:lnSpc>
                <a:spcPct val="90000"/>
              </a:lnSpc>
              <a:buNone/>
            </a:pPr>
            <a:r>
              <a:rPr sz="2700" b="1" dirty="0"/>
              <a:t> </a:t>
            </a:r>
            <a:r>
              <a:rPr lang="en-GB" sz="2700" b="1" dirty="0"/>
              <a:t>    </a:t>
            </a:r>
            <a:r>
              <a:rPr sz="2700" b="1" dirty="0"/>
              <a:t>Begin</a:t>
            </a:r>
            <a:endParaRPr sz="2700" b="1" dirty="0"/>
          </a:p>
          <a:p>
            <a:pPr eaLnBrk="1" hangingPunct="1">
              <a:lnSpc>
                <a:spcPct val="90000"/>
              </a:lnSpc>
              <a:buNone/>
            </a:pPr>
            <a:r>
              <a:rPr sz="2700" b="1" dirty="0"/>
              <a:t>              </a:t>
            </a:r>
            <a:r>
              <a:rPr sz="2700" dirty="0"/>
              <a:t>For each state </a:t>
            </a:r>
            <a:r>
              <a:rPr sz="2700" b="1" dirty="0">
                <a:solidFill>
                  <a:srgbClr val="FF0000"/>
                </a:solidFill>
              </a:rPr>
              <a:t>‘S’ in Q</a:t>
            </a:r>
            <a:r>
              <a:rPr sz="2700" b="1" baseline="-25000" dirty="0">
                <a:solidFill>
                  <a:srgbClr val="FF0000"/>
                </a:solidFill>
              </a:rPr>
              <a:t>D</a:t>
            </a:r>
            <a:r>
              <a:rPr sz="2700" dirty="0"/>
              <a:t> and for each </a:t>
            </a:r>
            <a:r>
              <a:rPr sz="2700" b="1" dirty="0">
                <a:solidFill>
                  <a:srgbClr val="FF0000"/>
                </a:solidFill>
              </a:rPr>
              <a:t>‘a’  in ∑  </a:t>
            </a:r>
            <a:r>
              <a:rPr sz="2700" b="1" dirty="0"/>
              <a:t> </a:t>
            </a:r>
            <a:r>
              <a:rPr sz="2700" dirty="0"/>
              <a:t>find </a:t>
            </a:r>
            <a:r>
              <a:rPr lang="en-GB" sz="2700" dirty="0"/>
              <a:t>	  </a:t>
            </a:r>
            <a:r>
              <a:rPr sz="2700" dirty="0"/>
              <a:t>next state </a:t>
            </a:r>
            <a:r>
              <a:rPr sz="2700" dirty="0">
                <a:solidFill>
                  <a:srgbClr val="FF0000"/>
                </a:solidFill>
              </a:rPr>
              <a:t> </a:t>
            </a:r>
            <a:r>
              <a:rPr sz="2700" dirty="0"/>
              <a:t>by applying transition function </a:t>
            </a:r>
            <a:r>
              <a:rPr lang="el-GR" altLang="x-none" sz="2700" b="1" dirty="0">
                <a:solidFill>
                  <a:srgbClr val="FF0000"/>
                </a:solidFill>
                <a:latin typeface="Times New Roman" panose="02020603050405020304" pitchFamily="18" charset="0"/>
                <a:cs typeface="Times New Roman" panose="02020603050405020304" pitchFamily="18" charset="0"/>
                <a:sym typeface="+mn-ea"/>
              </a:rPr>
              <a:t>δ</a:t>
            </a:r>
            <a:r>
              <a:rPr sz="2700" b="1" baseline="-25000" dirty="0">
                <a:solidFill>
                  <a:srgbClr val="FF0000"/>
                </a:solidFill>
                <a:latin typeface="Times New Roman" panose="02020603050405020304" pitchFamily="18" charset="0"/>
                <a:cs typeface="Times New Roman" panose="02020603050405020304" pitchFamily="18" charset="0"/>
                <a:sym typeface="+mn-ea"/>
              </a:rPr>
              <a:t>N</a:t>
            </a:r>
            <a:r>
              <a:rPr lang="en-GB" sz="2700" b="1" baseline="-25000" dirty="0">
                <a:solidFill>
                  <a:srgbClr val="FF0000"/>
                </a:solidFill>
                <a:latin typeface="Times New Roman" panose="02020603050405020304" pitchFamily="18" charset="0"/>
                <a:cs typeface="Times New Roman" panose="02020603050405020304" pitchFamily="18" charset="0"/>
                <a:sym typeface="+mn-ea"/>
              </a:rPr>
              <a:t>.</a:t>
            </a:r>
            <a:endParaRPr sz="2700" dirty="0"/>
          </a:p>
          <a:p>
            <a:pPr eaLnBrk="1" hangingPunct="1">
              <a:lnSpc>
                <a:spcPct val="90000"/>
              </a:lnSpc>
              <a:buNone/>
            </a:pPr>
            <a:r>
              <a:rPr sz="2700" b="1" dirty="0"/>
              <a:t>        </a:t>
            </a:r>
            <a:r>
              <a:rPr lang="en-GB" sz="2700" b="1" dirty="0"/>
              <a:t>	</a:t>
            </a:r>
            <a:r>
              <a:rPr sz="2700" b="1" dirty="0"/>
              <a:t>   </a:t>
            </a:r>
            <a:r>
              <a:rPr sz="2700" b="1" dirty="0">
                <a:solidFill>
                  <a:srgbClr val="FF0000"/>
                </a:solidFill>
              </a:rPr>
              <a:t>i.e </a:t>
            </a:r>
            <a:r>
              <a:rPr lang="el-GR" altLang="x-none" sz="2700" b="1" dirty="0">
                <a:solidFill>
                  <a:srgbClr val="FF0000"/>
                </a:solidFill>
              </a:rPr>
              <a:t>δ</a:t>
            </a:r>
            <a:r>
              <a:rPr sz="2700" b="1" baseline="-25000" dirty="0">
                <a:solidFill>
                  <a:srgbClr val="FF0000"/>
                </a:solidFill>
              </a:rPr>
              <a:t>D</a:t>
            </a:r>
            <a:r>
              <a:rPr sz="2700" b="1" dirty="0">
                <a:solidFill>
                  <a:srgbClr val="FF0000"/>
                </a:solidFill>
              </a:rPr>
              <a:t>(S, a) =  </a:t>
            </a:r>
            <a:r>
              <a:rPr sz="2700" b="1" dirty="0">
                <a:solidFill>
                  <a:srgbClr val="FF0000"/>
                </a:solidFill>
                <a:latin typeface="Times New Roman" panose="02020603050405020304" pitchFamily="18" charset="0"/>
                <a:cs typeface="Times New Roman" panose="02020603050405020304" pitchFamily="18" charset="0"/>
              </a:rPr>
              <a:t>Ụ </a:t>
            </a:r>
            <a:r>
              <a:rPr lang="el-GR" altLang="x-none" sz="2700" b="1" dirty="0">
                <a:solidFill>
                  <a:srgbClr val="FF0000"/>
                </a:solidFill>
                <a:latin typeface="Times New Roman" panose="02020603050405020304" pitchFamily="18" charset="0"/>
                <a:cs typeface="Times New Roman" panose="02020603050405020304" pitchFamily="18" charset="0"/>
              </a:rPr>
              <a:t>δ</a:t>
            </a:r>
            <a:r>
              <a:rPr sz="2700" b="1" baseline="-25000" dirty="0">
                <a:solidFill>
                  <a:srgbClr val="FF0000"/>
                </a:solidFill>
                <a:latin typeface="Times New Roman" panose="02020603050405020304" pitchFamily="18" charset="0"/>
                <a:cs typeface="Times New Roman" panose="02020603050405020304" pitchFamily="18" charset="0"/>
              </a:rPr>
              <a:t>N</a:t>
            </a:r>
            <a:r>
              <a:rPr sz="2700" b="1" dirty="0">
                <a:solidFill>
                  <a:srgbClr val="FF0000"/>
                </a:solidFill>
                <a:latin typeface="Times New Roman" panose="02020603050405020304" pitchFamily="18" charset="0"/>
                <a:cs typeface="Times New Roman" panose="02020603050405020304" pitchFamily="18" charset="0"/>
              </a:rPr>
              <a:t>(p, a) </a:t>
            </a:r>
            <a:endParaRPr sz="2700" b="1" baseline="-25000" dirty="0">
              <a:solidFill>
                <a:srgbClr val="FF0000"/>
              </a:solidFill>
              <a:latin typeface="Times New Roman" panose="02020603050405020304" pitchFamily="18" charset="0"/>
              <a:cs typeface="Times New Roman" panose="02020603050405020304" pitchFamily="18" charset="0"/>
            </a:endParaRPr>
          </a:p>
          <a:p>
            <a:pPr eaLnBrk="1" hangingPunct="1">
              <a:lnSpc>
                <a:spcPct val="90000"/>
              </a:lnSpc>
              <a:buNone/>
            </a:pPr>
            <a:r>
              <a:rPr sz="2700" b="1" dirty="0">
                <a:solidFill>
                  <a:srgbClr val="FF0000"/>
                </a:solidFill>
              </a:rPr>
              <a:t>                                 </a:t>
            </a:r>
            <a:r>
              <a:rPr sz="2700" b="1" baseline="30000" dirty="0">
                <a:solidFill>
                  <a:srgbClr val="FF0000"/>
                </a:solidFill>
              </a:rPr>
              <a:t>p in S</a:t>
            </a:r>
            <a:endParaRPr sz="2700" b="1" baseline="30000" dirty="0">
              <a:solidFill>
                <a:srgbClr val="FF0000"/>
              </a:solidFill>
            </a:endParaRPr>
          </a:p>
          <a:p>
            <a:pPr eaLnBrk="1" hangingPunct="1">
              <a:lnSpc>
                <a:spcPct val="90000"/>
              </a:lnSpc>
              <a:buNone/>
            </a:pPr>
            <a:r>
              <a:rPr sz="2700" b="1" baseline="30000" dirty="0"/>
              <a:t> </a:t>
            </a:r>
            <a:r>
              <a:rPr lang="en-GB" sz="2700" b="1" baseline="30000" dirty="0"/>
              <a:t>     </a:t>
            </a:r>
            <a:r>
              <a:rPr sz="2700" b="1" dirty="0"/>
              <a:t>  END</a:t>
            </a:r>
            <a:endParaRPr sz="2700" b="1" dirty="0"/>
          </a:p>
          <a:p>
            <a:pPr eaLnBrk="1" hangingPunct="1">
              <a:lnSpc>
                <a:spcPct val="90000"/>
              </a:lnSpc>
              <a:buNone/>
            </a:pPr>
            <a:r>
              <a:rPr lang="en-GB" sz="2700" b="1" dirty="0"/>
              <a:t>3. </a:t>
            </a:r>
            <a:r>
              <a:rPr lang="en-US" altLang="en-US" sz="2700" dirty="0">
                <a:sym typeface="+mn-ea"/>
              </a:rPr>
              <a:t>FD is final states of DFA which contains all sets of NFA’s states that include at least one final state of NFA.</a:t>
            </a:r>
            <a:endParaRPr lang="en-US" altLang="en-US" sz="2700" dirty="0">
              <a:sym typeface="+mn-ea"/>
            </a:endParaRPr>
          </a:p>
          <a:p>
            <a:pPr eaLnBrk="1" hangingPunct="1">
              <a:lnSpc>
                <a:spcPct val="90000"/>
              </a:lnSpc>
              <a:buNone/>
            </a:pPr>
            <a:r>
              <a:rPr lang="en-US" altLang="en-US" sz="2700" dirty="0">
                <a:sym typeface="+mn-ea"/>
              </a:rPr>
              <a:t> </a:t>
            </a:r>
            <a:r>
              <a:rPr lang="en-GB" altLang="en-US" sz="2700" dirty="0">
                <a:sym typeface="+mn-ea"/>
              </a:rPr>
              <a:t>              i.e if </a:t>
            </a:r>
            <a:r>
              <a:rPr lang="en-GB" altLang="en-US" sz="2700" b="1" dirty="0">
                <a:solidFill>
                  <a:srgbClr val="FF0000"/>
                </a:solidFill>
                <a:sym typeface="+mn-ea"/>
              </a:rPr>
              <a:t>State S</a:t>
            </a:r>
            <a:r>
              <a:rPr lang="en-GB" altLang="en-US" sz="2700" dirty="0">
                <a:sym typeface="+mn-ea"/>
              </a:rPr>
              <a:t> in FD then </a:t>
            </a:r>
            <a:r>
              <a:rPr lang="en-GB" altLang="en-US" sz="2700" b="1" dirty="0">
                <a:solidFill>
                  <a:srgbClr val="FF0000"/>
                </a:solidFill>
                <a:sym typeface="+mn-ea"/>
              </a:rPr>
              <a:t>S </a:t>
            </a:r>
            <a:r>
              <a:rPr lang="en-GB" altLang="en-US" sz="2700" b="1" dirty="0">
                <a:solidFill>
                  <a:srgbClr val="FF0000"/>
                </a:solidFill>
                <a:latin typeface="Arial" panose="020B0604020202020204" pitchFamily="34" charset="0"/>
                <a:cs typeface="Arial" panose="020B0604020202020204" pitchFamily="34" charset="0"/>
                <a:sym typeface="+mn-ea"/>
              </a:rPr>
              <a:t>∩ </a:t>
            </a:r>
            <a:r>
              <a:rPr lang="en-GB" altLang="en-US" sz="2700" b="1" dirty="0">
                <a:solidFill>
                  <a:srgbClr val="FF0000"/>
                </a:solidFill>
                <a:sym typeface="+mn-ea"/>
              </a:rPr>
              <a:t>F</a:t>
            </a:r>
            <a:r>
              <a:rPr lang="en-GB" altLang="en-US" sz="2700" b="1" baseline="-25000" dirty="0">
                <a:solidFill>
                  <a:srgbClr val="FF0000"/>
                </a:solidFill>
                <a:sym typeface="+mn-ea"/>
              </a:rPr>
              <a:t>N</a:t>
            </a:r>
            <a:r>
              <a:rPr lang="en-GB" altLang="en-US" sz="2700" b="1" dirty="0">
                <a:solidFill>
                  <a:srgbClr val="FF0000"/>
                </a:solidFill>
                <a:latin typeface="Arial" panose="020B0604020202020204" pitchFamily="34" charset="0"/>
                <a:cs typeface="Arial" panose="020B0604020202020204" pitchFamily="34" charset="0"/>
                <a:sym typeface="+mn-ea"/>
              </a:rPr>
              <a:t> &lt;&gt; Ø</a:t>
            </a:r>
            <a:endParaRPr lang="en-US" altLang="en-US" sz="2700" dirty="0"/>
          </a:p>
          <a:p>
            <a:pPr eaLnBrk="1" hangingPunct="1">
              <a:lnSpc>
                <a:spcPct val="90000"/>
              </a:lnSpc>
              <a:buNone/>
            </a:pPr>
            <a:endParaRPr sz="2700" b="1" dirty="0"/>
          </a:p>
          <a:p>
            <a:pPr eaLnBrk="1" hangingPunct="1">
              <a:lnSpc>
                <a:spcPct val="90000"/>
              </a:lnSpc>
              <a:buNone/>
            </a:pPr>
            <a:r>
              <a:rPr sz="2700" b="1" dirty="0"/>
              <a:t>      </a:t>
            </a:r>
            <a:endParaRPr sz="2700" b="1" dirty="0"/>
          </a:p>
        </p:txBody>
      </p:sp>
      <p:sp>
        <p:nvSpPr>
          <p:cNvPr id="2" name="Footer Placeholder 1"/>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Content Placeholder 2" descr="MMM scan figure(1)"/>
          <p:cNvPicPr>
            <a:picLocks noChangeAspect="1"/>
          </p:cNvPicPr>
          <p:nvPr>
            <p:ph idx="1"/>
          </p:nvPr>
        </p:nvPicPr>
        <p:blipFill>
          <a:blip r:embed="rId1"/>
          <a:stretch>
            <a:fillRect/>
          </a:stretch>
        </p:blipFill>
        <p:spPr>
          <a:xfrm>
            <a:off x="2104390" y="147320"/>
            <a:ext cx="6969760" cy="1607820"/>
          </a:xfrm>
          <a:prstGeom prst="rect">
            <a:avLst/>
          </a:prstGeom>
        </p:spPr>
      </p:pic>
      <p:sp>
        <p:nvSpPr>
          <p:cNvPr id="4" name="Text Box 3"/>
          <p:cNvSpPr txBox="1"/>
          <p:nvPr/>
        </p:nvSpPr>
        <p:spPr>
          <a:xfrm>
            <a:off x="380365" y="1777365"/>
            <a:ext cx="6381750" cy="2077720"/>
          </a:xfrm>
          <a:prstGeom prst="rect">
            <a:avLst/>
          </a:prstGeom>
          <a:noFill/>
        </p:spPr>
        <p:txBody>
          <a:bodyPr wrap="square" rtlCol="0">
            <a:noAutofit/>
          </a:bodyPr>
          <a:p>
            <a:pPr lvl="1" indent="-457200" algn="l"/>
            <a:r>
              <a:rPr lang="en-GB" altLang="en-US" b="1" dirty="0">
                <a:solidFill>
                  <a:srgbClr val="0070C0"/>
                </a:solidFill>
                <a:sym typeface="+mn-ea"/>
              </a:rPr>
              <a:t>Following are NFA componets :</a:t>
            </a:r>
            <a:endParaRPr lang="en-US" altLang="en-US" b="1" dirty="0">
              <a:solidFill>
                <a:srgbClr val="0070C0"/>
              </a:solidFill>
              <a:sym typeface="+mn-ea"/>
            </a:endParaRPr>
          </a:p>
          <a:p>
            <a:pPr lvl="1"/>
            <a:r>
              <a:rPr lang="en-US" altLang="en-US" dirty="0">
                <a:sym typeface="+mn-ea"/>
              </a:rPr>
              <a:t>Q</a:t>
            </a:r>
            <a:r>
              <a:rPr lang="en-US" altLang="en-US" baseline="-25000" dirty="0">
                <a:sym typeface="+mn-ea"/>
              </a:rPr>
              <a:t>N</a:t>
            </a:r>
            <a:r>
              <a:rPr lang="en-GB" altLang="en-US"/>
              <a:t> = { q0, q1, q2 }</a:t>
            </a:r>
            <a:endParaRPr lang="en-GB" altLang="en-US"/>
          </a:p>
          <a:p>
            <a:pPr lvl="1"/>
            <a:r>
              <a:rPr lang="en-GB" altLang="en-US">
                <a:cs typeface="Arial" panose="020B0604020202020204" pitchFamily="34" charset="0"/>
              </a:rPr>
              <a:t>∑   = { 0, 1 } </a:t>
            </a:r>
            <a:endParaRPr lang="en-GB" altLang="en-US">
              <a:cs typeface="Arial" panose="020B0604020202020204" pitchFamily="34" charset="0"/>
            </a:endParaRPr>
          </a:p>
          <a:p>
            <a:pPr lvl="1"/>
            <a:r>
              <a:rPr lang="el-GR" altLang="en-US" dirty="0">
                <a:sym typeface="+mn-ea"/>
              </a:rPr>
              <a:t>δ</a:t>
            </a:r>
            <a:r>
              <a:rPr lang="en-US" altLang="en-US" baseline="-25000" dirty="0">
                <a:sym typeface="+mn-ea"/>
              </a:rPr>
              <a:t>N</a:t>
            </a:r>
            <a:r>
              <a:rPr lang="en-GB" altLang="en-US">
                <a:cs typeface="Arial" panose="020B0604020202020204" pitchFamily="34" charset="0"/>
              </a:rPr>
              <a:t> = { Transition function Refer above Diagram }</a:t>
            </a:r>
            <a:endParaRPr lang="en-GB" altLang="en-US">
              <a:cs typeface="Arial" panose="020B0604020202020204" pitchFamily="34" charset="0"/>
            </a:endParaRPr>
          </a:p>
          <a:p>
            <a:pPr lvl="1"/>
            <a:r>
              <a:rPr lang="en-GB" altLang="en-US">
                <a:cs typeface="Arial" panose="020B0604020202020204" pitchFamily="34" charset="0"/>
              </a:rPr>
              <a:t>q0 = q0</a:t>
            </a:r>
            <a:endParaRPr lang="en-GB" altLang="en-US">
              <a:cs typeface="Arial" panose="020B0604020202020204" pitchFamily="34" charset="0"/>
            </a:endParaRPr>
          </a:p>
          <a:p>
            <a:pPr lvl="1"/>
            <a:r>
              <a:rPr lang="en-US" altLang="en-US" dirty="0">
                <a:sym typeface="+mn-ea"/>
              </a:rPr>
              <a:t>F</a:t>
            </a:r>
            <a:r>
              <a:rPr lang="en-US" altLang="en-US" baseline="-25000" dirty="0">
                <a:sym typeface="+mn-ea"/>
              </a:rPr>
              <a:t>N</a:t>
            </a:r>
            <a:r>
              <a:rPr lang="en-GB" altLang="en-US">
                <a:cs typeface="Arial" panose="020B0604020202020204" pitchFamily="34" charset="0"/>
              </a:rPr>
              <a:t> = {q2}</a:t>
            </a:r>
            <a:endParaRPr lang="en-GB" altLang="en-US">
              <a:cs typeface="Arial" panose="020B0604020202020204" pitchFamily="34" charset="0"/>
            </a:endParaRPr>
          </a:p>
          <a:p>
            <a:endParaRPr lang="en-GB" altLang="en-US">
              <a:cs typeface="Arial" panose="020B0604020202020204" pitchFamily="34" charset="0"/>
            </a:endParaRPr>
          </a:p>
          <a:p>
            <a:endParaRPr lang="en-GB" altLang="en-US">
              <a:cs typeface="Arial" panose="020B0604020202020204" pitchFamily="34" charset="0"/>
            </a:endParaRPr>
          </a:p>
        </p:txBody>
      </p:sp>
      <p:sp>
        <p:nvSpPr>
          <p:cNvPr id="5" name="Text Box 4"/>
          <p:cNvSpPr txBox="1"/>
          <p:nvPr/>
        </p:nvSpPr>
        <p:spPr>
          <a:xfrm>
            <a:off x="351790" y="3533140"/>
            <a:ext cx="8511540" cy="2212975"/>
          </a:xfrm>
          <a:prstGeom prst="rect">
            <a:avLst/>
          </a:prstGeom>
          <a:noFill/>
        </p:spPr>
        <p:txBody>
          <a:bodyPr wrap="square" rtlCol="0">
            <a:noAutofit/>
          </a:bodyPr>
          <a:p>
            <a:r>
              <a:rPr lang="en-GB" altLang="en-US" dirty="0">
                <a:sym typeface="+mn-ea"/>
              </a:rPr>
              <a:t>if N is the number of states for NFA and DFA will have 2</a:t>
            </a:r>
            <a:r>
              <a:rPr lang="en-GB" altLang="en-US" baseline="30000" dirty="0">
                <a:sym typeface="+mn-ea"/>
              </a:rPr>
              <a:t>N</a:t>
            </a:r>
            <a:r>
              <a:rPr lang="en-GB" altLang="en-US" dirty="0">
                <a:sym typeface="+mn-ea"/>
              </a:rPr>
              <a:t> number of states</a:t>
            </a:r>
            <a:endParaRPr lang="en-US" altLang="en-US" dirty="0">
              <a:sym typeface="+mn-ea"/>
            </a:endParaRPr>
          </a:p>
          <a:p>
            <a:r>
              <a:rPr lang="en-GB" altLang="en-US" dirty="0">
                <a:sym typeface="+mn-ea"/>
              </a:rPr>
              <a:t>N=3 hence DFA will have 8 states. </a:t>
            </a:r>
            <a:endParaRPr lang="en-GB" altLang="en-US" dirty="0">
              <a:sym typeface="+mn-ea"/>
            </a:endParaRPr>
          </a:p>
          <a:p>
            <a:r>
              <a:rPr lang="en-GB" altLang="en-US" b="1" dirty="0">
                <a:solidFill>
                  <a:srgbClr val="0070C0"/>
                </a:solidFill>
                <a:sym typeface="+mn-ea"/>
              </a:rPr>
              <a:t>Following are the DFA compoinets :</a:t>
            </a:r>
            <a:endParaRPr lang="en-US" altLang="en-US" dirty="0">
              <a:sym typeface="+mn-ea"/>
            </a:endParaRPr>
          </a:p>
          <a:p>
            <a:pPr lvl="1"/>
            <a:r>
              <a:rPr lang="en-US" altLang="en-US" dirty="0">
                <a:sym typeface="+mn-ea"/>
              </a:rPr>
              <a:t>Q</a:t>
            </a:r>
            <a:r>
              <a:rPr lang="en-GB" altLang="en-US" baseline="-25000" dirty="0">
                <a:sym typeface="+mn-ea"/>
              </a:rPr>
              <a:t>D</a:t>
            </a:r>
            <a:r>
              <a:rPr lang="en-GB" altLang="en-US"/>
              <a:t> = { {</a:t>
            </a:r>
            <a:r>
              <a:rPr lang="en-GB" altLang="en-US">
                <a:cs typeface="Arial" panose="020B0604020202020204" pitchFamily="34" charset="0"/>
              </a:rPr>
              <a:t>Ø</a:t>
            </a:r>
            <a:r>
              <a:rPr lang="en-GB" altLang="en-US"/>
              <a:t>}, {q0}, {q1}, {q2}, {q0,q1}, {q01,q2}, {q1,q2}, {q0,q1,q2} }</a:t>
            </a:r>
            <a:endParaRPr lang="en-GB" altLang="en-US"/>
          </a:p>
          <a:p>
            <a:pPr lvl="1"/>
            <a:r>
              <a:rPr lang="en-GB" altLang="en-US">
                <a:cs typeface="Arial" panose="020B0604020202020204" pitchFamily="34" charset="0"/>
              </a:rPr>
              <a:t>∑   = { 0, 1 } </a:t>
            </a:r>
            <a:endParaRPr lang="en-GB" altLang="en-US">
              <a:cs typeface="Arial" panose="020B0604020202020204" pitchFamily="34" charset="0"/>
            </a:endParaRPr>
          </a:p>
          <a:p>
            <a:pPr lvl="1"/>
            <a:r>
              <a:rPr lang="el-GR" altLang="en-US" dirty="0">
                <a:sym typeface="+mn-ea"/>
              </a:rPr>
              <a:t>δ</a:t>
            </a:r>
            <a:r>
              <a:rPr lang="en-GB" altLang="en-US" baseline="-25000" dirty="0">
                <a:sym typeface="+mn-ea"/>
              </a:rPr>
              <a:t>D</a:t>
            </a:r>
            <a:r>
              <a:rPr lang="en-GB" altLang="en-US">
                <a:cs typeface="Arial" panose="020B0604020202020204" pitchFamily="34" charset="0"/>
              </a:rPr>
              <a:t> = { Obtained by subset construction scheme }</a:t>
            </a:r>
            <a:endParaRPr lang="en-GB" altLang="en-US">
              <a:cs typeface="Arial" panose="020B0604020202020204" pitchFamily="34" charset="0"/>
            </a:endParaRPr>
          </a:p>
          <a:p>
            <a:pPr lvl="1"/>
            <a:r>
              <a:rPr lang="en-GB" altLang="en-US">
                <a:cs typeface="Arial" panose="020B0604020202020204" pitchFamily="34" charset="0"/>
              </a:rPr>
              <a:t>q0 = {q0}</a:t>
            </a:r>
            <a:endParaRPr lang="en-GB" altLang="en-US">
              <a:cs typeface="Arial" panose="020B0604020202020204" pitchFamily="34" charset="0"/>
            </a:endParaRPr>
          </a:p>
          <a:p>
            <a:pPr lvl="1"/>
            <a:r>
              <a:rPr lang="en-US" altLang="en-US" dirty="0">
                <a:sym typeface="+mn-ea"/>
              </a:rPr>
              <a:t>F</a:t>
            </a:r>
            <a:r>
              <a:rPr lang="en-US" altLang="en-US" baseline="-25000" dirty="0">
                <a:sym typeface="+mn-ea"/>
              </a:rPr>
              <a:t>N</a:t>
            </a:r>
            <a:r>
              <a:rPr lang="en-GB" altLang="en-US">
                <a:cs typeface="Arial" panose="020B0604020202020204" pitchFamily="34" charset="0"/>
              </a:rPr>
              <a:t> = { Obtained by subset construction scheme }</a:t>
            </a:r>
            <a:endParaRPr lang="en-GB" altLang="en-US">
              <a:cs typeface="Arial" panose="020B0604020202020204" pitchFamily="34" charset="0"/>
            </a:endParaRPr>
          </a:p>
          <a:p>
            <a:pPr lvl="1"/>
            <a:endParaRPr lang="en-GB" altLang="en-US">
              <a:cs typeface="Arial" panose="020B0604020202020204" pitchFamily="34" charset="0"/>
            </a:endParaRPr>
          </a:p>
          <a:p>
            <a:endParaRPr lang="en-GB" altLang="en-US">
              <a:cs typeface="Arial" panose="020B0604020202020204" pitchFamily="34" charset="0"/>
            </a:endParaRPr>
          </a:p>
        </p:txBody>
      </p:sp>
      <p:sp>
        <p:nvSpPr>
          <p:cNvPr id="8" name="Text Box 7"/>
          <p:cNvSpPr txBox="1"/>
          <p:nvPr/>
        </p:nvSpPr>
        <p:spPr>
          <a:xfrm>
            <a:off x="155575" y="-137160"/>
            <a:ext cx="8477250" cy="519430"/>
          </a:xfrm>
          <a:prstGeom prst="rect">
            <a:avLst/>
          </a:prstGeom>
          <a:noFill/>
        </p:spPr>
        <p:txBody>
          <a:bodyPr wrap="square" rtlCol="0">
            <a:noAutofit/>
          </a:bodyPr>
          <a:p>
            <a:r>
              <a:rPr lang="en-GB" altLang="en-US" sz="2800" b="1">
                <a:solidFill>
                  <a:srgbClr val="0070C0"/>
                </a:solidFill>
              </a:rPr>
              <a:t>Trace of Subset Construction Scheme Algorithm </a:t>
            </a:r>
            <a:endParaRPr lang="en-GB" altLang="en-US" sz="2800" b="1">
              <a:solidFill>
                <a:srgbClr val="0070C0"/>
              </a:solidFill>
            </a:endParaRPr>
          </a:p>
        </p:txBody>
      </p:sp>
      <p:sp>
        <p:nvSpPr>
          <p:cNvPr id="2" name="Footer Placeholder 1"/>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6" name="Content Placeholder 5"/>
          <p:cNvGraphicFramePr/>
          <p:nvPr>
            <p:ph idx="1"/>
          </p:nvPr>
        </p:nvGraphicFramePr>
        <p:xfrm>
          <a:off x="304800" y="381000"/>
          <a:ext cx="8579485" cy="6364605"/>
        </p:xfrm>
        <a:graphic>
          <a:graphicData uri="http://schemas.openxmlformats.org/drawingml/2006/table">
            <a:tbl>
              <a:tblPr firstRow="1" bandRow="1">
                <a:tableStyleId>{5C22544A-7EE6-4342-B048-85BDC9FD1C3A}</a:tableStyleId>
              </a:tblPr>
              <a:tblGrid>
                <a:gridCol w="1207770"/>
                <a:gridCol w="875030"/>
                <a:gridCol w="1242060"/>
                <a:gridCol w="5254625"/>
              </a:tblGrid>
              <a:tr h="402590">
                <a:tc>
                  <a:txBody>
                    <a:bodyPr/>
                    <a:p>
                      <a:pPr>
                        <a:buNone/>
                      </a:pPr>
                      <a:r>
                        <a:rPr lang="el-GR" altLang="x-none" sz="1800" dirty="0">
                          <a:solidFill>
                            <a:srgbClr val="FF0000"/>
                          </a:solidFill>
                          <a:sym typeface="+mn-ea"/>
                        </a:rPr>
                        <a:t>δ</a:t>
                      </a:r>
                      <a:r>
                        <a:rPr sz="1800" baseline="-25000" dirty="0">
                          <a:solidFill>
                            <a:srgbClr val="FF0000"/>
                          </a:solidFill>
                          <a:sym typeface="+mn-ea"/>
                        </a:rPr>
                        <a:t>D</a:t>
                      </a:r>
                      <a:endParaRPr lang="en-US"/>
                    </a:p>
                  </a:txBody>
                  <a:tcPr/>
                </a:tc>
                <a:tc>
                  <a:txBody>
                    <a:bodyPr/>
                    <a:p>
                      <a:pPr>
                        <a:buNone/>
                      </a:pPr>
                      <a:r>
                        <a:rPr lang="en-GB" altLang="en-US"/>
                        <a:t>0</a:t>
                      </a:r>
                      <a:endParaRPr lang="en-GB" altLang="en-US"/>
                    </a:p>
                  </a:txBody>
                  <a:tcPr/>
                </a:tc>
                <a:tc>
                  <a:txBody>
                    <a:bodyPr/>
                    <a:p>
                      <a:pPr>
                        <a:buNone/>
                      </a:pPr>
                      <a:r>
                        <a:rPr lang="en-GB" altLang="en-US"/>
                        <a:t>1</a:t>
                      </a:r>
                      <a:endParaRPr lang="en-GB" altLang="en-US"/>
                    </a:p>
                  </a:txBody>
                  <a:tcPr/>
                </a:tc>
                <a:tc>
                  <a:txBody>
                    <a:bodyPr/>
                    <a:p>
                      <a:pPr>
                        <a:buNone/>
                      </a:pPr>
                      <a:r>
                        <a:rPr lang="el-GR" altLang="x-none" sz="1800" dirty="0">
                          <a:solidFill>
                            <a:srgbClr val="FF0000"/>
                          </a:solidFill>
                          <a:sym typeface="+mn-ea"/>
                        </a:rPr>
                        <a:t>δ</a:t>
                      </a:r>
                      <a:r>
                        <a:rPr sz="1800" baseline="-25000" dirty="0">
                          <a:solidFill>
                            <a:srgbClr val="FF0000"/>
                          </a:solidFill>
                          <a:sym typeface="+mn-ea"/>
                        </a:rPr>
                        <a:t>D</a:t>
                      </a:r>
                      <a:r>
                        <a:rPr lang="en-GB" sz="1800" baseline="-25000" dirty="0">
                          <a:solidFill>
                            <a:srgbClr val="FF0000"/>
                          </a:solidFill>
                          <a:sym typeface="+mn-ea"/>
                        </a:rPr>
                        <a:t> </a:t>
                      </a:r>
                      <a:r>
                        <a:rPr lang="en-GB" altLang="en-US" sz="1800">
                          <a:sym typeface="+mn-ea"/>
                        </a:rPr>
                        <a:t> </a:t>
                      </a:r>
                      <a:r>
                        <a:rPr lang="en-GB" altLang="en-US" sz="1800">
                          <a:latin typeface="Arial" panose="020B0604020202020204" pitchFamily="34" charset="0"/>
                          <a:cs typeface="Arial" panose="020B0604020202020204" pitchFamily="34" charset="0"/>
                          <a:sym typeface="+mn-ea"/>
                        </a:rPr>
                        <a:t>→ C</a:t>
                      </a:r>
                      <a:r>
                        <a:rPr lang="en-GB" altLang="en-US" sz="1800">
                          <a:sym typeface="+mn-ea"/>
                        </a:rPr>
                        <a:t>aclulations for inputs 0 and 1</a:t>
                      </a:r>
                      <a:endParaRPr lang="en-GB" sz="1800" baseline="-25000" dirty="0">
                        <a:solidFill>
                          <a:srgbClr val="FF0000"/>
                        </a:solidFill>
                        <a:sym typeface="+mn-ea"/>
                      </a:endParaRPr>
                    </a:p>
                  </a:txBody>
                  <a:tcPr/>
                </a:tc>
              </a:tr>
              <a:tr h="402590">
                <a:tc>
                  <a:txBody>
                    <a:bodyPr/>
                    <a:p>
                      <a:pPr>
                        <a:buNone/>
                      </a:pPr>
                      <a:r>
                        <a:rPr lang="en-GB" altLang="en-US" sz="1600">
                          <a:highlight>
                            <a:srgbClr val="FF00FF"/>
                          </a:highlight>
                        </a:rPr>
                        <a:t>{</a:t>
                      </a:r>
                      <a:r>
                        <a:rPr lang="en-GB" altLang="en-US" sz="1600">
                          <a:highlight>
                            <a:srgbClr val="FF00FF"/>
                          </a:highlight>
                          <a:latin typeface="Arial" panose="020B0604020202020204" pitchFamily="34" charset="0"/>
                          <a:cs typeface="Arial" panose="020B0604020202020204" pitchFamily="34" charset="0"/>
                        </a:rPr>
                        <a:t>Ø</a:t>
                      </a:r>
                      <a:r>
                        <a:rPr lang="en-GB" altLang="en-US" sz="1600">
                          <a:highlight>
                            <a:srgbClr val="FF00FF"/>
                          </a:highlight>
                        </a:rPr>
                        <a:t>}</a:t>
                      </a:r>
                      <a:endParaRPr lang="en-GB" altLang="en-US" sz="1600">
                        <a:highlight>
                          <a:srgbClr val="FF00FF"/>
                        </a:highlight>
                      </a:endParaRPr>
                    </a:p>
                  </a:txBody>
                  <a:tcPr/>
                </a:tc>
                <a:tc>
                  <a:txBody>
                    <a:bodyPr/>
                    <a:p>
                      <a:pPr>
                        <a:buNone/>
                      </a:pPr>
                      <a:r>
                        <a:rPr lang="en-GB" altLang="en-US" sz="1600">
                          <a:highlight>
                            <a:srgbClr val="FF00FF"/>
                          </a:highlight>
                          <a:sym typeface="+mn-ea"/>
                        </a:rPr>
                        <a:t>{</a:t>
                      </a:r>
                      <a:r>
                        <a:rPr lang="en-GB" altLang="en-US" sz="1600">
                          <a:highlight>
                            <a:srgbClr val="FF00FF"/>
                          </a:highlight>
                          <a:latin typeface="Arial" panose="020B0604020202020204" pitchFamily="34" charset="0"/>
                          <a:cs typeface="Arial" panose="020B0604020202020204" pitchFamily="34" charset="0"/>
                          <a:sym typeface="+mn-ea"/>
                        </a:rPr>
                        <a:t>Ø</a:t>
                      </a:r>
                      <a:r>
                        <a:rPr lang="en-GB" altLang="en-US" sz="1600">
                          <a:highlight>
                            <a:srgbClr val="FF00FF"/>
                          </a:highlight>
                          <a:sym typeface="+mn-ea"/>
                        </a:rPr>
                        <a:t>}</a:t>
                      </a:r>
                      <a:endParaRPr lang="en-GB" altLang="en-US" sz="1600">
                        <a:highlight>
                          <a:srgbClr val="FF00FF"/>
                        </a:highlight>
                        <a:sym typeface="+mn-ea"/>
                      </a:endParaRPr>
                    </a:p>
                  </a:txBody>
                  <a:tcPr/>
                </a:tc>
                <a:tc>
                  <a:txBody>
                    <a:bodyPr/>
                    <a:p>
                      <a:pPr>
                        <a:buNone/>
                      </a:pPr>
                      <a:r>
                        <a:rPr lang="en-GB" altLang="en-US" sz="1600">
                          <a:highlight>
                            <a:srgbClr val="FF00FF"/>
                          </a:highlight>
                          <a:sym typeface="+mn-ea"/>
                        </a:rPr>
                        <a:t>{</a:t>
                      </a:r>
                      <a:r>
                        <a:rPr lang="en-GB" altLang="en-US" sz="1600">
                          <a:highlight>
                            <a:srgbClr val="FF00FF"/>
                          </a:highlight>
                          <a:latin typeface="Arial" panose="020B0604020202020204" pitchFamily="34" charset="0"/>
                          <a:cs typeface="Arial" panose="020B0604020202020204" pitchFamily="34" charset="0"/>
                          <a:sym typeface="+mn-ea"/>
                        </a:rPr>
                        <a:t>Ø</a:t>
                      </a:r>
                      <a:r>
                        <a:rPr lang="en-GB" altLang="en-US" sz="1600">
                          <a:highlight>
                            <a:srgbClr val="FF00FF"/>
                          </a:highlight>
                          <a:sym typeface="+mn-ea"/>
                        </a:rPr>
                        <a:t>}</a:t>
                      </a:r>
                      <a:endParaRPr lang="en-GB" altLang="en-US" sz="1600">
                        <a:highlight>
                          <a:srgbClr val="FF00FF"/>
                        </a:highlight>
                        <a:sym typeface="+mn-ea"/>
                      </a:endParaRPr>
                    </a:p>
                  </a:txBody>
                  <a:tcPr/>
                </a:tc>
                <a:tc>
                  <a:txBody>
                    <a:bodyPr/>
                    <a:p>
                      <a:pPr>
                        <a:buNone/>
                      </a:pPr>
                      <a:r>
                        <a:rPr lang="el-GR" altLang="x-none" sz="1600" b="1" dirty="0">
                          <a:solidFill>
                            <a:srgbClr val="FF0000"/>
                          </a:solidFill>
                          <a:highlight>
                            <a:srgbClr val="FF00FF"/>
                          </a:highlight>
                          <a:sym typeface="+mn-ea"/>
                        </a:rPr>
                        <a:t>δ</a:t>
                      </a:r>
                      <a:r>
                        <a:rPr sz="1600" b="1" baseline="-25000" dirty="0">
                          <a:solidFill>
                            <a:srgbClr val="FF0000"/>
                          </a:solidFill>
                          <a:highlight>
                            <a:srgbClr val="FF00FF"/>
                          </a:highlight>
                          <a:sym typeface="+mn-ea"/>
                        </a:rPr>
                        <a:t>D</a:t>
                      </a:r>
                      <a:r>
                        <a:rPr lang="en-GB" altLang="el-GR" sz="1600" b="1" dirty="0">
                          <a:solidFill>
                            <a:schemeClr val="tx1"/>
                          </a:solidFill>
                          <a:highlight>
                            <a:srgbClr val="FF00FF"/>
                          </a:highlight>
                          <a:latin typeface="Times New Roman" panose="02020603050405020304" pitchFamily="18" charset="0"/>
                          <a:cs typeface="Times New Roman" panose="02020603050405020304" pitchFamily="18" charset="0"/>
                          <a:sym typeface="+mn-ea"/>
                        </a:rPr>
                        <a:t>(</a:t>
                      </a:r>
                      <a:r>
                        <a:rPr lang="en-GB" altLang="en-US" sz="1600">
                          <a:highlight>
                            <a:srgbClr val="FF00FF"/>
                          </a:highlight>
                          <a:sym typeface="+mn-ea"/>
                        </a:rPr>
                        <a:t>{</a:t>
                      </a:r>
                      <a:r>
                        <a:rPr lang="en-GB" altLang="en-US" sz="1600">
                          <a:highlight>
                            <a:srgbClr val="FF00FF"/>
                          </a:highlight>
                          <a:latin typeface="Arial" panose="020B0604020202020204" pitchFamily="34" charset="0"/>
                          <a:cs typeface="Arial" panose="020B0604020202020204" pitchFamily="34" charset="0"/>
                          <a:sym typeface="+mn-ea"/>
                        </a:rPr>
                        <a:t>Ø</a:t>
                      </a:r>
                      <a:r>
                        <a:rPr lang="en-GB" altLang="en-US" sz="1600">
                          <a:highlight>
                            <a:srgbClr val="FF00FF"/>
                          </a:highlight>
                          <a:sym typeface="+mn-ea"/>
                        </a:rPr>
                        <a:t>}</a:t>
                      </a:r>
                      <a:r>
                        <a:rPr lang="en-GB" altLang="el-GR" sz="1600" b="1" dirty="0">
                          <a:solidFill>
                            <a:schemeClr val="tx1"/>
                          </a:solidFill>
                          <a:highlight>
                            <a:srgbClr val="FF00FF"/>
                          </a:highlight>
                          <a:latin typeface="Times New Roman" panose="02020603050405020304" pitchFamily="18" charset="0"/>
                          <a:cs typeface="Times New Roman" panose="02020603050405020304" pitchFamily="18" charset="0"/>
                          <a:sym typeface="+mn-ea"/>
                        </a:rPr>
                        <a:t>, 0) = </a:t>
                      </a:r>
                      <a:r>
                        <a:rPr lang="el-GR" altLang="x-none" sz="1600" b="1" dirty="0">
                          <a:solidFill>
                            <a:srgbClr val="FF0000"/>
                          </a:solidFill>
                          <a:highlight>
                            <a:srgbClr val="FF00FF"/>
                          </a:highlight>
                          <a:latin typeface="Times New Roman" panose="02020603050405020304" pitchFamily="18" charset="0"/>
                          <a:cs typeface="Times New Roman" panose="02020603050405020304" pitchFamily="18" charset="0"/>
                          <a:sym typeface="+mn-ea"/>
                        </a:rPr>
                        <a:t>δ</a:t>
                      </a:r>
                      <a:r>
                        <a:rPr sz="1600" b="1" baseline="-25000" dirty="0">
                          <a:solidFill>
                            <a:srgbClr val="FF0000"/>
                          </a:solidFill>
                          <a:highlight>
                            <a:srgbClr val="FF00FF"/>
                          </a:highlight>
                          <a:latin typeface="Times New Roman" panose="02020603050405020304" pitchFamily="18" charset="0"/>
                          <a:cs typeface="Times New Roman" panose="02020603050405020304" pitchFamily="18" charset="0"/>
                          <a:sym typeface="+mn-ea"/>
                        </a:rPr>
                        <a:t>N</a:t>
                      </a:r>
                      <a:r>
                        <a:rPr lang="en-GB" altLang="en-US" sz="1600">
                          <a:highlight>
                            <a:srgbClr val="FF00FF"/>
                          </a:highlight>
                          <a:sym typeface="+mn-ea"/>
                        </a:rPr>
                        <a:t>({</a:t>
                      </a:r>
                      <a:r>
                        <a:rPr lang="en-GB" altLang="en-US" sz="1600">
                          <a:highlight>
                            <a:srgbClr val="FF00FF"/>
                          </a:highlight>
                          <a:latin typeface="Arial" panose="020B0604020202020204" pitchFamily="34" charset="0"/>
                          <a:cs typeface="Arial" panose="020B0604020202020204" pitchFamily="34" charset="0"/>
                          <a:sym typeface="+mn-ea"/>
                        </a:rPr>
                        <a:t>Ø</a:t>
                      </a:r>
                      <a:r>
                        <a:rPr lang="en-GB" altLang="en-US" sz="1600">
                          <a:highlight>
                            <a:srgbClr val="FF00FF"/>
                          </a:highlight>
                          <a:sym typeface="+mn-ea"/>
                        </a:rPr>
                        <a:t>}, 0) = </a:t>
                      </a:r>
                      <a:r>
                        <a:rPr lang="en-GB" altLang="en-US" sz="1600" b="1">
                          <a:solidFill>
                            <a:srgbClr val="FF0000"/>
                          </a:solidFill>
                          <a:highlight>
                            <a:srgbClr val="FF00FF"/>
                          </a:highlight>
                          <a:sym typeface="+mn-ea"/>
                        </a:rPr>
                        <a:t>{</a:t>
                      </a:r>
                      <a:r>
                        <a:rPr lang="en-GB" altLang="en-US" sz="1600" b="1">
                          <a:solidFill>
                            <a:srgbClr val="FF0000"/>
                          </a:solidFill>
                          <a:highlight>
                            <a:srgbClr val="FF00FF"/>
                          </a:highlight>
                          <a:latin typeface="Arial" panose="020B0604020202020204" pitchFamily="34" charset="0"/>
                          <a:cs typeface="Arial" panose="020B0604020202020204" pitchFamily="34" charset="0"/>
                          <a:sym typeface="+mn-ea"/>
                        </a:rPr>
                        <a:t>Ø</a:t>
                      </a:r>
                      <a:r>
                        <a:rPr lang="en-GB" altLang="en-US" sz="1600" b="1">
                          <a:solidFill>
                            <a:srgbClr val="FF0000"/>
                          </a:solidFill>
                          <a:highlight>
                            <a:srgbClr val="FF00FF"/>
                          </a:highlight>
                          <a:sym typeface="+mn-ea"/>
                        </a:rPr>
                        <a:t>}</a:t>
                      </a:r>
                      <a:r>
                        <a:rPr lang="en-GB" altLang="en-US" sz="1600" b="1">
                          <a:highlight>
                            <a:srgbClr val="FF00FF"/>
                          </a:highlight>
                          <a:sym typeface="+mn-ea"/>
                        </a:rPr>
                        <a:t> </a:t>
                      </a:r>
                      <a:r>
                        <a:rPr lang="en-GB" altLang="en-US" sz="1600">
                          <a:highlight>
                            <a:srgbClr val="FF00FF"/>
                          </a:highlight>
                          <a:sym typeface="+mn-ea"/>
                        </a:rPr>
                        <a:t>and </a:t>
                      </a:r>
                      <a:endParaRPr lang="en-GB" altLang="en-US" sz="1600">
                        <a:highlight>
                          <a:srgbClr val="FF00FF"/>
                        </a:highlight>
                        <a:sym typeface="+mn-ea"/>
                      </a:endParaRPr>
                    </a:p>
                    <a:p>
                      <a:pPr>
                        <a:buNone/>
                      </a:pPr>
                      <a:r>
                        <a:rPr lang="el-GR" altLang="x-none" sz="1600" b="1" dirty="0">
                          <a:solidFill>
                            <a:srgbClr val="FF0000"/>
                          </a:solidFill>
                          <a:highlight>
                            <a:srgbClr val="FF00FF"/>
                          </a:highlight>
                          <a:sym typeface="+mn-ea"/>
                        </a:rPr>
                        <a:t>δ</a:t>
                      </a:r>
                      <a:r>
                        <a:rPr sz="1600" b="1" baseline="-25000" dirty="0">
                          <a:solidFill>
                            <a:srgbClr val="FF0000"/>
                          </a:solidFill>
                          <a:highlight>
                            <a:srgbClr val="FF00FF"/>
                          </a:highlight>
                          <a:sym typeface="+mn-ea"/>
                        </a:rPr>
                        <a:t>D</a:t>
                      </a:r>
                      <a:r>
                        <a:rPr lang="en-GB" altLang="el-GR" sz="1600" b="1" dirty="0">
                          <a:solidFill>
                            <a:schemeClr val="tx1"/>
                          </a:solidFill>
                          <a:highlight>
                            <a:srgbClr val="FF00FF"/>
                          </a:highlight>
                          <a:latin typeface="Times New Roman" panose="02020603050405020304" pitchFamily="18" charset="0"/>
                          <a:cs typeface="Times New Roman" panose="02020603050405020304" pitchFamily="18" charset="0"/>
                          <a:sym typeface="+mn-ea"/>
                        </a:rPr>
                        <a:t>(</a:t>
                      </a:r>
                      <a:r>
                        <a:rPr lang="en-GB" altLang="en-US" sz="1600">
                          <a:highlight>
                            <a:srgbClr val="FF00FF"/>
                          </a:highlight>
                          <a:sym typeface="+mn-ea"/>
                        </a:rPr>
                        <a:t>{</a:t>
                      </a:r>
                      <a:r>
                        <a:rPr lang="en-GB" altLang="en-US" sz="1600">
                          <a:highlight>
                            <a:srgbClr val="FF00FF"/>
                          </a:highlight>
                          <a:latin typeface="Arial" panose="020B0604020202020204" pitchFamily="34" charset="0"/>
                          <a:cs typeface="Arial" panose="020B0604020202020204" pitchFamily="34" charset="0"/>
                          <a:sym typeface="+mn-ea"/>
                        </a:rPr>
                        <a:t>Ø</a:t>
                      </a:r>
                      <a:r>
                        <a:rPr lang="en-GB" altLang="en-US" sz="1600">
                          <a:highlight>
                            <a:srgbClr val="FF00FF"/>
                          </a:highlight>
                          <a:sym typeface="+mn-ea"/>
                        </a:rPr>
                        <a:t>}</a:t>
                      </a:r>
                      <a:r>
                        <a:rPr lang="en-GB" altLang="el-GR" sz="1600" b="1" dirty="0">
                          <a:solidFill>
                            <a:schemeClr val="tx1"/>
                          </a:solidFill>
                          <a:highlight>
                            <a:srgbClr val="FF00FF"/>
                          </a:highlight>
                          <a:latin typeface="Times New Roman" panose="02020603050405020304" pitchFamily="18" charset="0"/>
                          <a:cs typeface="Times New Roman" panose="02020603050405020304" pitchFamily="18" charset="0"/>
                          <a:sym typeface="+mn-ea"/>
                        </a:rPr>
                        <a:t>, 1) = </a:t>
                      </a:r>
                      <a:r>
                        <a:rPr lang="el-GR" altLang="x-none" sz="1600" b="1" dirty="0">
                          <a:solidFill>
                            <a:srgbClr val="FF0000"/>
                          </a:solidFill>
                          <a:highlight>
                            <a:srgbClr val="FF00FF"/>
                          </a:highlight>
                          <a:latin typeface="Times New Roman" panose="02020603050405020304" pitchFamily="18" charset="0"/>
                          <a:cs typeface="Times New Roman" panose="02020603050405020304" pitchFamily="18" charset="0"/>
                          <a:sym typeface="+mn-ea"/>
                        </a:rPr>
                        <a:t>δ</a:t>
                      </a:r>
                      <a:r>
                        <a:rPr sz="1600" b="1" baseline="-25000" dirty="0">
                          <a:solidFill>
                            <a:srgbClr val="FF0000"/>
                          </a:solidFill>
                          <a:highlight>
                            <a:srgbClr val="FF00FF"/>
                          </a:highlight>
                          <a:latin typeface="Times New Roman" panose="02020603050405020304" pitchFamily="18" charset="0"/>
                          <a:cs typeface="Times New Roman" panose="02020603050405020304" pitchFamily="18" charset="0"/>
                          <a:sym typeface="+mn-ea"/>
                        </a:rPr>
                        <a:t>N</a:t>
                      </a:r>
                      <a:r>
                        <a:rPr lang="en-GB" altLang="en-US" sz="1600">
                          <a:highlight>
                            <a:srgbClr val="FF00FF"/>
                          </a:highlight>
                          <a:sym typeface="+mn-ea"/>
                        </a:rPr>
                        <a:t>({</a:t>
                      </a:r>
                      <a:r>
                        <a:rPr lang="en-GB" altLang="en-US" sz="1600">
                          <a:highlight>
                            <a:srgbClr val="FF00FF"/>
                          </a:highlight>
                          <a:latin typeface="Arial" panose="020B0604020202020204" pitchFamily="34" charset="0"/>
                          <a:cs typeface="Arial" panose="020B0604020202020204" pitchFamily="34" charset="0"/>
                          <a:sym typeface="+mn-ea"/>
                        </a:rPr>
                        <a:t>Ø</a:t>
                      </a:r>
                      <a:r>
                        <a:rPr lang="en-GB" altLang="en-US" sz="1600">
                          <a:highlight>
                            <a:srgbClr val="FF00FF"/>
                          </a:highlight>
                          <a:sym typeface="+mn-ea"/>
                        </a:rPr>
                        <a:t>}, 1) = </a:t>
                      </a:r>
                      <a:r>
                        <a:rPr lang="en-GB" altLang="en-US" sz="1600" b="1">
                          <a:solidFill>
                            <a:srgbClr val="FF0000"/>
                          </a:solidFill>
                          <a:highlight>
                            <a:srgbClr val="FF00FF"/>
                          </a:highlight>
                          <a:sym typeface="+mn-ea"/>
                        </a:rPr>
                        <a:t>{</a:t>
                      </a:r>
                      <a:r>
                        <a:rPr lang="en-GB" altLang="en-US" sz="1600" b="1">
                          <a:solidFill>
                            <a:srgbClr val="FF0000"/>
                          </a:solidFill>
                          <a:highlight>
                            <a:srgbClr val="FF00FF"/>
                          </a:highlight>
                          <a:latin typeface="Arial" panose="020B0604020202020204" pitchFamily="34" charset="0"/>
                          <a:cs typeface="Arial" panose="020B0604020202020204" pitchFamily="34" charset="0"/>
                          <a:sym typeface="+mn-ea"/>
                        </a:rPr>
                        <a:t>Ø</a:t>
                      </a:r>
                      <a:r>
                        <a:rPr lang="en-GB" altLang="en-US" sz="1600" b="1">
                          <a:solidFill>
                            <a:srgbClr val="FF0000"/>
                          </a:solidFill>
                          <a:highlight>
                            <a:srgbClr val="FF00FF"/>
                          </a:highlight>
                          <a:sym typeface="+mn-ea"/>
                        </a:rPr>
                        <a:t>}</a:t>
                      </a:r>
                      <a:r>
                        <a:rPr lang="en-GB" altLang="en-US" sz="1600" b="1">
                          <a:highlight>
                            <a:srgbClr val="FF00FF"/>
                          </a:highlight>
                          <a:sym typeface="+mn-ea"/>
                        </a:rPr>
                        <a:t> </a:t>
                      </a:r>
                      <a:endParaRPr lang="en-GB" altLang="en-US" sz="1600" b="1">
                        <a:highlight>
                          <a:srgbClr val="FF00FF"/>
                        </a:highlight>
                        <a:sym typeface="+mn-ea"/>
                      </a:endParaRPr>
                    </a:p>
                  </a:txBody>
                  <a:tcPr/>
                </a:tc>
              </a:tr>
              <a:tr h="612140">
                <a:tc>
                  <a:txBody>
                    <a:bodyPr/>
                    <a:p>
                      <a:pPr>
                        <a:buNone/>
                      </a:pPr>
                      <a:r>
                        <a:rPr lang="en-GB" altLang="en-US" sz="1600" b="1">
                          <a:latin typeface="Arial" panose="020B0604020202020204" pitchFamily="34" charset="0"/>
                          <a:cs typeface="Arial" panose="020B0604020202020204" pitchFamily="34" charset="0"/>
                        </a:rPr>
                        <a:t>→</a:t>
                      </a:r>
                      <a:r>
                        <a:rPr lang="en-GB" altLang="en-US" sz="1600" b="1"/>
                        <a:t>{q0}</a:t>
                      </a:r>
                      <a:endParaRPr lang="en-GB" altLang="en-US" sz="1600" b="1"/>
                    </a:p>
                  </a:txBody>
                  <a:tcPr/>
                </a:tc>
                <a:tc>
                  <a:txBody>
                    <a:bodyPr/>
                    <a:p>
                      <a:pPr>
                        <a:buNone/>
                      </a:pPr>
                      <a:r>
                        <a:rPr lang="en-GB" altLang="en-US" sz="1600">
                          <a:sym typeface="+mn-ea"/>
                        </a:rPr>
                        <a:t>{q0}</a:t>
                      </a:r>
                      <a:endParaRPr lang="en-GB" altLang="en-US" sz="1600"/>
                    </a:p>
                    <a:p>
                      <a:pPr>
                        <a:buNone/>
                      </a:pPr>
                      <a:endParaRPr lang="en-GB" altLang="en-US" sz="1600"/>
                    </a:p>
                  </a:txBody>
                  <a:tcPr/>
                </a:tc>
                <a:tc>
                  <a:txBody>
                    <a:bodyPr/>
                    <a:p>
                      <a:pPr>
                        <a:buNone/>
                      </a:pPr>
                      <a:r>
                        <a:rPr lang="en-GB" altLang="en-US" sz="1600">
                          <a:sym typeface="+mn-ea"/>
                        </a:rPr>
                        <a:t>{q0,q1}</a:t>
                      </a:r>
                      <a:endParaRPr lang="en-GB" altLang="en-US" sz="1600"/>
                    </a:p>
                    <a:p>
                      <a:pPr>
                        <a:buNone/>
                      </a:pPr>
                      <a:endParaRPr lang="en-GB" altLang="en-US" sz="1600"/>
                    </a:p>
                  </a:txBody>
                  <a:tcPr/>
                </a:tc>
                <a:tc>
                  <a:txBody>
                    <a:bodyPr/>
                    <a:p>
                      <a:pPr>
                        <a:buNone/>
                      </a:pPr>
                      <a:r>
                        <a:rPr lang="el-GR" altLang="x-none" sz="1600" b="1" dirty="0">
                          <a:solidFill>
                            <a:srgbClr val="FF0000"/>
                          </a:solidFill>
                          <a:sym typeface="+mn-ea"/>
                        </a:rPr>
                        <a:t>δ</a:t>
                      </a:r>
                      <a:r>
                        <a:rPr sz="1600" b="1" baseline="-25000" dirty="0">
                          <a:solidFill>
                            <a:srgbClr val="FF0000"/>
                          </a:solidFill>
                          <a:sym typeface="+mn-ea"/>
                        </a:rPr>
                        <a:t>D</a:t>
                      </a:r>
                      <a:r>
                        <a:rPr lang="en-GB" altLang="el-GR" sz="1600" b="1" dirty="0">
                          <a:solidFill>
                            <a:schemeClr val="tx1"/>
                          </a:solidFill>
                          <a:latin typeface="Times New Roman" panose="02020603050405020304" pitchFamily="18" charset="0"/>
                          <a:cs typeface="Times New Roman" panose="02020603050405020304" pitchFamily="18" charset="0"/>
                          <a:sym typeface="+mn-ea"/>
                        </a:rPr>
                        <a:t>({q0}, 0) = </a:t>
                      </a:r>
                      <a:r>
                        <a:rPr lang="el-GR" altLang="x-none" sz="1600" b="1" dirty="0">
                          <a:solidFill>
                            <a:srgbClr val="FF0000"/>
                          </a:solidFill>
                          <a:latin typeface="Times New Roman" panose="02020603050405020304" pitchFamily="18" charset="0"/>
                          <a:cs typeface="Times New Roman" panose="02020603050405020304" pitchFamily="18" charset="0"/>
                          <a:sym typeface="+mn-ea"/>
                        </a:rPr>
                        <a:t>δ</a:t>
                      </a:r>
                      <a:r>
                        <a:rPr sz="1600" b="1" baseline="-25000" dirty="0">
                          <a:solidFill>
                            <a:srgbClr val="FF0000"/>
                          </a:solidFill>
                          <a:latin typeface="Times New Roman" panose="02020603050405020304" pitchFamily="18" charset="0"/>
                          <a:cs typeface="Times New Roman" panose="02020603050405020304" pitchFamily="18" charset="0"/>
                          <a:sym typeface="+mn-ea"/>
                        </a:rPr>
                        <a:t>N</a:t>
                      </a:r>
                      <a:r>
                        <a:rPr lang="en-GB" altLang="en-US" sz="1600"/>
                        <a:t>(q0, 0) = </a:t>
                      </a:r>
                      <a:r>
                        <a:rPr lang="en-GB" altLang="en-US" sz="1600" b="1">
                          <a:solidFill>
                            <a:srgbClr val="FF0000"/>
                          </a:solidFill>
                          <a:highlight>
                            <a:srgbClr val="FFFF00"/>
                          </a:highlight>
                        </a:rPr>
                        <a:t>{q0}</a:t>
                      </a:r>
                      <a:r>
                        <a:rPr lang="en-GB" altLang="en-US" sz="1600"/>
                        <a:t>  and</a:t>
                      </a:r>
                      <a:endParaRPr lang="en-GB" altLang="en-US" sz="1600"/>
                    </a:p>
                    <a:p>
                      <a:pPr>
                        <a:buNone/>
                      </a:pPr>
                      <a:r>
                        <a:rPr lang="el-GR" altLang="x-none" sz="1600" b="1" dirty="0">
                          <a:solidFill>
                            <a:srgbClr val="FF0000"/>
                          </a:solidFill>
                          <a:sym typeface="+mn-ea"/>
                        </a:rPr>
                        <a:t>δ</a:t>
                      </a:r>
                      <a:r>
                        <a:rPr sz="1600" b="1" baseline="-25000" dirty="0">
                          <a:solidFill>
                            <a:srgbClr val="FF0000"/>
                          </a:solidFill>
                          <a:sym typeface="+mn-ea"/>
                        </a:rPr>
                        <a:t>D</a:t>
                      </a:r>
                      <a:r>
                        <a:rPr lang="en-GB" altLang="el-GR" sz="1600" b="1" dirty="0">
                          <a:solidFill>
                            <a:schemeClr val="tx1"/>
                          </a:solidFill>
                          <a:latin typeface="Times New Roman" panose="02020603050405020304" pitchFamily="18" charset="0"/>
                          <a:cs typeface="Times New Roman" panose="02020603050405020304" pitchFamily="18" charset="0"/>
                          <a:sym typeface="+mn-ea"/>
                        </a:rPr>
                        <a:t>({q0}, 1) = </a:t>
                      </a:r>
                      <a:r>
                        <a:rPr lang="el-GR" altLang="x-none" sz="1600" b="1" dirty="0">
                          <a:solidFill>
                            <a:srgbClr val="FF0000"/>
                          </a:solidFill>
                          <a:latin typeface="Times New Roman" panose="02020603050405020304" pitchFamily="18" charset="0"/>
                          <a:cs typeface="Times New Roman" panose="02020603050405020304" pitchFamily="18" charset="0"/>
                          <a:sym typeface="+mn-ea"/>
                        </a:rPr>
                        <a:t>δ</a:t>
                      </a:r>
                      <a:r>
                        <a:rPr sz="1600" b="1" baseline="-25000" dirty="0">
                          <a:solidFill>
                            <a:srgbClr val="FF0000"/>
                          </a:solidFill>
                          <a:latin typeface="Times New Roman" panose="02020603050405020304" pitchFamily="18" charset="0"/>
                          <a:cs typeface="Times New Roman" panose="02020603050405020304" pitchFamily="18" charset="0"/>
                          <a:sym typeface="+mn-ea"/>
                        </a:rPr>
                        <a:t>N</a:t>
                      </a:r>
                      <a:r>
                        <a:rPr lang="en-GB" altLang="en-US" sz="1600">
                          <a:sym typeface="+mn-ea"/>
                        </a:rPr>
                        <a:t>(q0, 1) = </a:t>
                      </a:r>
                      <a:r>
                        <a:rPr lang="en-GB" altLang="en-US" sz="1600" b="1">
                          <a:solidFill>
                            <a:srgbClr val="FF0000"/>
                          </a:solidFill>
                          <a:highlight>
                            <a:srgbClr val="FFFF00"/>
                          </a:highlight>
                          <a:sym typeface="+mn-ea"/>
                        </a:rPr>
                        <a:t>{q0,q1}</a:t>
                      </a:r>
                      <a:endParaRPr lang="en-GB" altLang="en-US" sz="1600" b="1">
                        <a:solidFill>
                          <a:srgbClr val="FF0000"/>
                        </a:solidFill>
                        <a:highlight>
                          <a:srgbClr val="FFFF00"/>
                        </a:highlight>
                        <a:sym typeface="+mn-ea"/>
                      </a:endParaRPr>
                    </a:p>
                  </a:txBody>
                  <a:tcPr/>
                </a:tc>
              </a:tr>
              <a:tr h="611505">
                <a:tc>
                  <a:txBody>
                    <a:bodyPr/>
                    <a:p>
                      <a:pPr>
                        <a:buNone/>
                      </a:pPr>
                      <a:r>
                        <a:rPr lang="en-GB" altLang="en-US" sz="1600">
                          <a:highlight>
                            <a:srgbClr val="FF00FF"/>
                          </a:highlight>
                        </a:rPr>
                        <a:t>{q1}</a:t>
                      </a:r>
                      <a:endParaRPr lang="en-GB" altLang="en-US" sz="1600">
                        <a:highlight>
                          <a:srgbClr val="FF00FF"/>
                        </a:highlight>
                      </a:endParaRPr>
                    </a:p>
                  </a:txBody>
                  <a:tcPr/>
                </a:tc>
                <a:tc>
                  <a:txBody>
                    <a:bodyPr/>
                    <a:p>
                      <a:pPr>
                        <a:buNone/>
                      </a:pPr>
                      <a:r>
                        <a:rPr lang="en-GB" altLang="en-US" sz="1600">
                          <a:highlight>
                            <a:srgbClr val="FF00FF"/>
                          </a:highlight>
                        </a:rPr>
                        <a:t>{q2}</a:t>
                      </a:r>
                      <a:endParaRPr lang="en-GB" altLang="en-US" sz="1600">
                        <a:highlight>
                          <a:srgbClr val="FF00FF"/>
                        </a:highlight>
                      </a:endParaRPr>
                    </a:p>
                  </a:txBody>
                  <a:tcPr/>
                </a:tc>
                <a:tc>
                  <a:txBody>
                    <a:bodyPr/>
                    <a:p>
                      <a:pPr>
                        <a:buNone/>
                      </a:pPr>
                      <a:r>
                        <a:rPr lang="en-GB" altLang="en-US" sz="1600">
                          <a:highlight>
                            <a:srgbClr val="FF00FF"/>
                          </a:highlight>
                          <a:sym typeface="+mn-ea"/>
                        </a:rPr>
                        <a:t>{q2}</a:t>
                      </a:r>
                      <a:endParaRPr lang="en-GB" altLang="en-US" sz="1600">
                        <a:highlight>
                          <a:srgbClr val="FF00FF"/>
                        </a:highlight>
                      </a:endParaRPr>
                    </a:p>
                    <a:p>
                      <a:pPr>
                        <a:buNone/>
                      </a:pPr>
                      <a:endParaRPr lang="en-GB" altLang="en-US" sz="1600">
                        <a:highlight>
                          <a:srgbClr val="FF00FF"/>
                        </a:highlight>
                      </a:endParaRPr>
                    </a:p>
                  </a:txBody>
                  <a:tcPr/>
                </a:tc>
                <a:tc>
                  <a:txBody>
                    <a:bodyPr/>
                    <a:p>
                      <a:pPr>
                        <a:buNone/>
                      </a:pPr>
                      <a:r>
                        <a:rPr lang="el-GR" altLang="x-none" sz="1600" b="1" dirty="0">
                          <a:solidFill>
                            <a:srgbClr val="FF0000"/>
                          </a:solidFill>
                          <a:highlight>
                            <a:srgbClr val="FF00FF"/>
                          </a:highlight>
                          <a:sym typeface="+mn-ea"/>
                        </a:rPr>
                        <a:t>δ</a:t>
                      </a:r>
                      <a:r>
                        <a:rPr sz="1600" b="1" baseline="-25000" dirty="0">
                          <a:solidFill>
                            <a:srgbClr val="FF0000"/>
                          </a:solidFill>
                          <a:highlight>
                            <a:srgbClr val="FF00FF"/>
                          </a:highlight>
                          <a:sym typeface="+mn-ea"/>
                        </a:rPr>
                        <a:t>D</a:t>
                      </a:r>
                      <a:r>
                        <a:rPr lang="en-GB" altLang="el-GR" sz="1600" b="1" dirty="0">
                          <a:solidFill>
                            <a:schemeClr val="tx1"/>
                          </a:solidFill>
                          <a:highlight>
                            <a:srgbClr val="FF00FF"/>
                          </a:highlight>
                          <a:latin typeface="Times New Roman" panose="02020603050405020304" pitchFamily="18" charset="0"/>
                          <a:cs typeface="Times New Roman" panose="02020603050405020304" pitchFamily="18" charset="0"/>
                          <a:sym typeface="+mn-ea"/>
                        </a:rPr>
                        <a:t>({q1}, 0) = </a:t>
                      </a:r>
                      <a:r>
                        <a:rPr lang="el-GR" altLang="x-none" sz="1600" b="1" dirty="0">
                          <a:solidFill>
                            <a:srgbClr val="FF0000"/>
                          </a:solidFill>
                          <a:highlight>
                            <a:srgbClr val="FF00FF"/>
                          </a:highlight>
                          <a:latin typeface="Times New Roman" panose="02020603050405020304" pitchFamily="18" charset="0"/>
                          <a:cs typeface="Times New Roman" panose="02020603050405020304" pitchFamily="18" charset="0"/>
                          <a:sym typeface="+mn-ea"/>
                        </a:rPr>
                        <a:t>δ</a:t>
                      </a:r>
                      <a:r>
                        <a:rPr sz="1600" b="1" baseline="-25000" dirty="0">
                          <a:solidFill>
                            <a:srgbClr val="FF0000"/>
                          </a:solidFill>
                          <a:highlight>
                            <a:srgbClr val="FF00FF"/>
                          </a:highlight>
                          <a:latin typeface="Times New Roman" panose="02020603050405020304" pitchFamily="18" charset="0"/>
                          <a:cs typeface="Times New Roman" panose="02020603050405020304" pitchFamily="18" charset="0"/>
                          <a:sym typeface="+mn-ea"/>
                        </a:rPr>
                        <a:t>N</a:t>
                      </a:r>
                      <a:r>
                        <a:rPr lang="en-GB" altLang="en-US" sz="1600">
                          <a:highlight>
                            <a:srgbClr val="FF00FF"/>
                          </a:highlight>
                          <a:sym typeface="+mn-ea"/>
                        </a:rPr>
                        <a:t>(q1, 0) = </a:t>
                      </a:r>
                      <a:r>
                        <a:rPr lang="en-GB" altLang="en-US" sz="1600" b="1">
                          <a:solidFill>
                            <a:srgbClr val="FF0000"/>
                          </a:solidFill>
                          <a:highlight>
                            <a:srgbClr val="FF00FF"/>
                          </a:highlight>
                          <a:sym typeface="+mn-ea"/>
                        </a:rPr>
                        <a:t>{q2}</a:t>
                      </a:r>
                      <a:r>
                        <a:rPr lang="en-GB" altLang="en-US" sz="1600" b="1">
                          <a:highlight>
                            <a:srgbClr val="FF00FF"/>
                          </a:highlight>
                          <a:sym typeface="+mn-ea"/>
                        </a:rPr>
                        <a:t> </a:t>
                      </a:r>
                      <a:r>
                        <a:rPr lang="en-GB" altLang="en-US" sz="1600">
                          <a:highlight>
                            <a:srgbClr val="FF00FF"/>
                          </a:highlight>
                          <a:sym typeface="+mn-ea"/>
                        </a:rPr>
                        <a:t> and </a:t>
                      </a:r>
                      <a:endParaRPr lang="en-GB" altLang="en-US" sz="1600">
                        <a:highlight>
                          <a:srgbClr val="FF00FF"/>
                        </a:highlight>
                        <a:sym typeface="+mn-ea"/>
                      </a:endParaRPr>
                    </a:p>
                    <a:p>
                      <a:pPr>
                        <a:buNone/>
                      </a:pPr>
                      <a:r>
                        <a:rPr lang="el-GR" altLang="x-none" sz="1600" b="1" dirty="0">
                          <a:solidFill>
                            <a:srgbClr val="FF0000"/>
                          </a:solidFill>
                          <a:highlight>
                            <a:srgbClr val="FF00FF"/>
                          </a:highlight>
                          <a:sym typeface="+mn-ea"/>
                        </a:rPr>
                        <a:t>δ</a:t>
                      </a:r>
                      <a:r>
                        <a:rPr sz="1600" b="1" baseline="-25000" dirty="0">
                          <a:solidFill>
                            <a:srgbClr val="FF0000"/>
                          </a:solidFill>
                          <a:highlight>
                            <a:srgbClr val="FF00FF"/>
                          </a:highlight>
                          <a:sym typeface="+mn-ea"/>
                        </a:rPr>
                        <a:t>D</a:t>
                      </a:r>
                      <a:r>
                        <a:rPr lang="en-GB" altLang="el-GR" sz="1600" b="1" dirty="0">
                          <a:solidFill>
                            <a:schemeClr val="tx1"/>
                          </a:solidFill>
                          <a:highlight>
                            <a:srgbClr val="FF00FF"/>
                          </a:highlight>
                          <a:latin typeface="Times New Roman" panose="02020603050405020304" pitchFamily="18" charset="0"/>
                          <a:cs typeface="Times New Roman" panose="02020603050405020304" pitchFamily="18" charset="0"/>
                          <a:sym typeface="+mn-ea"/>
                        </a:rPr>
                        <a:t>({q1}, 1) = </a:t>
                      </a:r>
                      <a:r>
                        <a:rPr lang="el-GR" altLang="x-none" sz="1600" b="1" dirty="0">
                          <a:solidFill>
                            <a:srgbClr val="FF0000"/>
                          </a:solidFill>
                          <a:highlight>
                            <a:srgbClr val="FF00FF"/>
                          </a:highlight>
                          <a:latin typeface="Times New Roman" panose="02020603050405020304" pitchFamily="18" charset="0"/>
                          <a:cs typeface="Times New Roman" panose="02020603050405020304" pitchFamily="18" charset="0"/>
                          <a:sym typeface="+mn-ea"/>
                        </a:rPr>
                        <a:t>δ</a:t>
                      </a:r>
                      <a:r>
                        <a:rPr sz="1600" b="1" baseline="-25000" dirty="0">
                          <a:solidFill>
                            <a:srgbClr val="FF0000"/>
                          </a:solidFill>
                          <a:highlight>
                            <a:srgbClr val="FF00FF"/>
                          </a:highlight>
                          <a:latin typeface="Times New Roman" panose="02020603050405020304" pitchFamily="18" charset="0"/>
                          <a:cs typeface="Times New Roman" panose="02020603050405020304" pitchFamily="18" charset="0"/>
                          <a:sym typeface="+mn-ea"/>
                        </a:rPr>
                        <a:t>N</a:t>
                      </a:r>
                      <a:r>
                        <a:rPr lang="en-GB" altLang="en-US" sz="1600">
                          <a:highlight>
                            <a:srgbClr val="FF00FF"/>
                          </a:highlight>
                          <a:sym typeface="+mn-ea"/>
                        </a:rPr>
                        <a:t>(q1, 1) = {q2}</a:t>
                      </a:r>
                      <a:endParaRPr lang="en-GB" altLang="en-US" sz="1600">
                        <a:highlight>
                          <a:srgbClr val="FF00FF"/>
                        </a:highlight>
                        <a:sym typeface="+mn-ea"/>
                      </a:endParaRPr>
                    </a:p>
                  </a:txBody>
                  <a:tcPr/>
                </a:tc>
              </a:tr>
              <a:tr h="612140">
                <a:tc>
                  <a:txBody>
                    <a:bodyPr/>
                    <a:p>
                      <a:pPr>
                        <a:buNone/>
                      </a:pPr>
                      <a:r>
                        <a:rPr lang="en-GB" altLang="en-US" sz="1600">
                          <a:highlight>
                            <a:srgbClr val="FF00FF"/>
                          </a:highlight>
                          <a:latin typeface="Arial" panose="020B0604020202020204" pitchFamily="34" charset="0"/>
                          <a:cs typeface="Arial" panose="020B0604020202020204" pitchFamily="34" charset="0"/>
                        </a:rPr>
                        <a:t>ӿ</a:t>
                      </a:r>
                      <a:r>
                        <a:rPr lang="en-GB" altLang="en-US" sz="1600">
                          <a:highlight>
                            <a:srgbClr val="FF00FF"/>
                          </a:highlight>
                        </a:rPr>
                        <a:t>{q2}</a:t>
                      </a:r>
                      <a:endParaRPr lang="en-GB" altLang="en-US" sz="1600">
                        <a:highlight>
                          <a:srgbClr val="FF00FF"/>
                        </a:highlight>
                      </a:endParaRPr>
                    </a:p>
                  </a:txBody>
                  <a:tcPr/>
                </a:tc>
                <a:tc>
                  <a:txBody>
                    <a:bodyPr/>
                    <a:p>
                      <a:pPr>
                        <a:buNone/>
                      </a:pPr>
                      <a:r>
                        <a:rPr lang="en-GB" altLang="en-US" sz="1600">
                          <a:highlight>
                            <a:srgbClr val="FF00FF"/>
                          </a:highlight>
                          <a:sym typeface="+mn-ea"/>
                        </a:rPr>
                        <a:t>{</a:t>
                      </a:r>
                      <a:r>
                        <a:rPr lang="en-GB" altLang="en-US" sz="1600">
                          <a:highlight>
                            <a:srgbClr val="FF00FF"/>
                          </a:highlight>
                          <a:latin typeface="Arial" panose="020B0604020202020204" pitchFamily="34" charset="0"/>
                          <a:cs typeface="Arial" panose="020B0604020202020204" pitchFamily="34" charset="0"/>
                          <a:sym typeface="+mn-ea"/>
                        </a:rPr>
                        <a:t>Ø</a:t>
                      </a:r>
                      <a:r>
                        <a:rPr lang="en-GB" altLang="en-US" sz="1600">
                          <a:highlight>
                            <a:srgbClr val="FF00FF"/>
                          </a:highlight>
                          <a:sym typeface="+mn-ea"/>
                        </a:rPr>
                        <a:t>}</a:t>
                      </a:r>
                      <a:endParaRPr lang="en-GB" altLang="en-US" sz="1600">
                        <a:highlight>
                          <a:srgbClr val="FF00FF"/>
                        </a:highlight>
                        <a:sym typeface="+mn-ea"/>
                      </a:endParaRPr>
                    </a:p>
                  </a:txBody>
                  <a:tcPr/>
                </a:tc>
                <a:tc>
                  <a:txBody>
                    <a:bodyPr/>
                    <a:p>
                      <a:pPr>
                        <a:buNone/>
                      </a:pPr>
                      <a:r>
                        <a:rPr lang="en-GB" altLang="en-US" sz="1600">
                          <a:highlight>
                            <a:srgbClr val="FF00FF"/>
                          </a:highlight>
                          <a:sym typeface="+mn-ea"/>
                        </a:rPr>
                        <a:t>{</a:t>
                      </a:r>
                      <a:r>
                        <a:rPr lang="en-GB" altLang="en-US" sz="1600">
                          <a:highlight>
                            <a:srgbClr val="FF00FF"/>
                          </a:highlight>
                          <a:latin typeface="Arial" panose="020B0604020202020204" pitchFamily="34" charset="0"/>
                          <a:cs typeface="Arial" panose="020B0604020202020204" pitchFamily="34" charset="0"/>
                          <a:sym typeface="+mn-ea"/>
                        </a:rPr>
                        <a:t>Ø</a:t>
                      </a:r>
                      <a:r>
                        <a:rPr lang="en-GB" altLang="en-US" sz="1600">
                          <a:highlight>
                            <a:srgbClr val="FF00FF"/>
                          </a:highlight>
                          <a:sym typeface="+mn-ea"/>
                        </a:rPr>
                        <a:t>}</a:t>
                      </a:r>
                      <a:endParaRPr lang="en-GB" altLang="en-US" sz="1600">
                        <a:highlight>
                          <a:srgbClr val="FF00FF"/>
                        </a:highlight>
                        <a:sym typeface="+mn-ea"/>
                      </a:endParaRPr>
                    </a:p>
                  </a:txBody>
                  <a:tcPr/>
                </a:tc>
                <a:tc>
                  <a:txBody>
                    <a:bodyPr/>
                    <a:p>
                      <a:pPr>
                        <a:buNone/>
                      </a:pPr>
                      <a:r>
                        <a:rPr lang="el-GR" altLang="x-none" sz="1600" b="1" dirty="0">
                          <a:solidFill>
                            <a:srgbClr val="FF0000"/>
                          </a:solidFill>
                          <a:highlight>
                            <a:srgbClr val="FF00FF"/>
                          </a:highlight>
                          <a:sym typeface="+mn-ea"/>
                        </a:rPr>
                        <a:t>δ</a:t>
                      </a:r>
                      <a:r>
                        <a:rPr sz="1600" b="1" baseline="-25000" dirty="0">
                          <a:solidFill>
                            <a:srgbClr val="FF0000"/>
                          </a:solidFill>
                          <a:highlight>
                            <a:srgbClr val="FF00FF"/>
                          </a:highlight>
                          <a:sym typeface="+mn-ea"/>
                        </a:rPr>
                        <a:t>D</a:t>
                      </a:r>
                      <a:r>
                        <a:rPr lang="en-GB" altLang="el-GR" sz="1600" b="1" dirty="0">
                          <a:solidFill>
                            <a:schemeClr val="tx1"/>
                          </a:solidFill>
                          <a:highlight>
                            <a:srgbClr val="FF00FF"/>
                          </a:highlight>
                          <a:latin typeface="Times New Roman" panose="02020603050405020304" pitchFamily="18" charset="0"/>
                          <a:cs typeface="Times New Roman" panose="02020603050405020304" pitchFamily="18" charset="0"/>
                          <a:sym typeface="+mn-ea"/>
                        </a:rPr>
                        <a:t>({q2}, 0) = </a:t>
                      </a:r>
                      <a:r>
                        <a:rPr lang="el-GR" altLang="x-none" sz="1600" b="1" dirty="0">
                          <a:solidFill>
                            <a:srgbClr val="FF0000"/>
                          </a:solidFill>
                          <a:highlight>
                            <a:srgbClr val="FF00FF"/>
                          </a:highlight>
                          <a:latin typeface="Times New Roman" panose="02020603050405020304" pitchFamily="18" charset="0"/>
                          <a:cs typeface="Times New Roman" panose="02020603050405020304" pitchFamily="18" charset="0"/>
                          <a:sym typeface="+mn-ea"/>
                        </a:rPr>
                        <a:t>δ</a:t>
                      </a:r>
                      <a:r>
                        <a:rPr sz="1600" b="1" baseline="-25000" dirty="0">
                          <a:solidFill>
                            <a:srgbClr val="FF0000"/>
                          </a:solidFill>
                          <a:highlight>
                            <a:srgbClr val="FF00FF"/>
                          </a:highlight>
                          <a:latin typeface="Times New Roman" panose="02020603050405020304" pitchFamily="18" charset="0"/>
                          <a:cs typeface="Times New Roman" panose="02020603050405020304" pitchFamily="18" charset="0"/>
                          <a:sym typeface="+mn-ea"/>
                        </a:rPr>
                        <a:t>N</a:t>
                      </a:r>
                      <a:r>
                        <a:rPr lang="en-GB" altLang="en-US" sz="1600">
                          <a:highlight>
                            <a:srgbClr val="FF00FF"/>
                          </a:highlight>
                          <a:sym typeface="+mn-ea"/>
                        </a:rPr>
                        <a:t>(q2, 0) = </a:t>
                      </a:r>
                      <a:r>
                        <a:rPr lang="en-GB" altLang="en-US" sz="1600" b="1">
                          <a:solidFill>
                            <a:srgbClr val="FF0000"/>
                          </a:solidFill>
                          <a:highlight>
                            <a:srgbClr val="FF00FF"/>
                          </a:highlight>
                          <a:sym typeface="+mn-ea"/>
                        </a:rPr>
                        <a:t>{</a:t>
                      </a:r>
                      <a:r>
                        <a:rPr lang="en-GB" altLang="en-US" sz="1600" b="1">
                          <a:solidFill>
                            <a:srgbClr val="FF0000"/>
                          </a:solidFill>
                          <a:highlight>
                            <a:srgbClr val="FF00FF"/>
                          </a:highlight>
                          <a:latin typeface="Arial" panose="020B0604020202020204" pitchFamily="34" charset="0"/>
                          <a:cs typeface="Arial" panose="020B0604020202020204" pitchFamily="34" charset="0"/>
                          <a:sym typeface="+mn-ea"/>
                        </a:rPr>
                        <a:t>Ø</a:t>
                      </a:r>
                      <a:r>
                        <a:rPr lang="en-GB" altLang="en-US" sz="1600" b="1">
                          <a:solidFill>
                            <a:srgbClr val="FF0000"/>
                          </a:solidFill>
                          <a:highlight>
                            <a:srgbClr val="FF00FF"/>
                          </a:highlight>
                          <a:sym typeface="+mn-ea"/>
                        </a:rPr>
                        <a:t>}</a:t>
                      </a:r>
                      <a:r>
                        <a:rPr lang="en-GB" altLang="en-US" sz="1600" b="1">
                          <a:highlight>
                            <a:srgbClr val="FF00FF"/>
                          </a:highlight>
                          <a:sym typeface="+mn-ea"/>
                        </a:rPr>
                        <a:t> </a:t>
                      </a:r>
                      <a:r>
                        <a:rPr lang="en-GB" altLang="en-US" sz="1600">
                          <a:highlight>
                            <a:srgbClr val="FF00FF"/>
                          </a:highlight>
                          <a:sym typeface="+mn-ea"/>
                        </a:rPr>
                        <a:t>and </a:t>
                      </a:r>
                      <a:endParaRPr lang="en-GB" altLang="en-US" sz="1600">
                        <a:highlight>
                          <a:srgbClr val="FF00FF"/>
                        </a:highlight>
                        <a:sym typeface="+mn-ea"/>
                      </a:endParaRPr>
                    </a:p>
                    <a:p>
                      <a:pPr>
                        <a:buNone/>
                      </a:pPr>
                      <a:r>
                        <a:rPr lang="el-GR" altLang="x-none" sz="1600" b="1" dirty="0">
                          <a:solidFill>
                            <a:srgbClr val="FF0000"/>
                          </a:solidFill>
                          <a:highlight>
                            <a:srgbClr val="FF00FF"/>
                          </a:highlight>
                          <a:sym typeface="+mn-ea"/>
                        </a:rPr>
                        <a:t>δ</a:t>
                      </a:r>
                      <a:r>
                        <a:rPr sz="1600" b="1" baseline="-25000" dirty="0">
                          <a:solidFill>
                            <a:srgbClr val="FF0000"/>
                          </a:solidFill>
                          <a:highlight>
                            <a:srgbClr val="FF00FF"/>
                          </a:highlight>
                          <a:sym typeface="+mn-ea"/>
                        </a:rPr>
                        <a:t>D</a:t>
                      </a:r>
                      <a:r>
                        <a:rPr lang="en-GB" altLang="el-GR" sz="1600" b="1" dirty="0">
                          <a:solidFill>
                            <a:schemeClr val="tx1"/>
                          </a:solidFill>
                          <a:highlight>
                            <a:srgbClr val="FF00FF"/>
                          </a:highlight>
                          <a:latin typeface="Times New Roman" panose="02020603050405020304" pitchFamily="18" charset="0"/>
                          <a:cs typeface="Times New Roman" panose="02020603050405020304" pitchFamily="18" charset="0"/>
                          <a:sym typeface="+mn-ea"/>
                        </a:rPr>
                        <a:t>({q2}, 0) = </a:t>
                      </a:r>
                      <a:r>
                        <a:rPr lang="el-GR" altLang="x-none" sz="1600" b="1" dirty="0">
                          <a:solidFill>
                            <a:srgbClr val="FF0000"/>
                          </a:solidFill>
                          <a:highlight>
                            <a:srgbClr val="FF00FF"/>
                          </a:highlight>
                          <a:latin typeface="Times New Roman" panose="02020603050405020304" pitchFamily="18" charset="0"/>
                          <a:cs typeface="Times New Roman" panose="02020603050405020304" pitchFamily="18" charset="0"/>
                          <a:sym typeface="+mn-ea"/>
                        </a:rPr>
                        <a:t>δ</a:t>
                      </a:r>
                      <a:r>
                        <a:rPr sz="1600" b="1" baseline="-25000" dirty="0">
                          <a:solidFill>
                            <a:srgbClr val="FF0000"/>
                          </a:solidFill>
                          <a:highlight>
                            <a:srgbClr val="FF00FF"/>
                          </a:highlight>
                          <a:latin typeface="Times New Roman" panose="02020603050405020304" pitchFamily="18" charset="0"/>
                          <a:cs typeface="Times New Roman" panose="02020603050405020304" pitchFamily="18" charset="0"/>
                          <a:sym typeface="+mn-ea"/>
                        </a:rPr>
                        <a:t>N</a:t>
                      </a:r>
                      <a:r>
                        <a:rPr lang="en-GB" altLang="en-US" sz="1600">
                          <a:highlight>
                            <a:srgbClr val="FF00FF"/>
                          </a:highlight>
                          <a:sym typeface="+mn-ea"/>
                        </a:rPr>
                        <a:t>(q2, 0) =</a:t>
                      </a:r>
                      <a:r>
                        <a:rPr lang="en-GB" altLang="en-US" sz="1600">
                          <a:solidFill>
                            <a:srgbClr val="FF0000"/>
                          </a:solidFill>
                          <a:highlight>
                            <a:srgbClr val="FF00FF"/>
                          </a:highlight>
                          <a:sym typeface="+mn-ea"/>
                        </a:rPr>
                        <a:t> </a:t>
                      </a:r>
                      <a:r>
                        <a:rPr lang="en-GB" altLang="en-US" sz="1600" b="1">
                          <a:solidFill>
                            <a:srgbClr val="FF0000"/>
                          </a:solidFill>
                          <a:highlight>
                            <a:srgbClr val="FF00FF"/>
                          </a:highlight>
                          <a:sym typeface="+mn-ea"/>
                        </a:rPr>
                        <a:t>{</a:t>
                      </a:r>
                      <a:r>
                        <a:rPr lang="en-GB" altLang="en-US" sz="1600" b="1">
                          <a:solidFill>
                            <a:srgbClr val="FF0000"/>
                          </a:solidFill>
                          <a:highlight>
                            <a:srgbClr val="FF00FF"/>
                          </a:highlight>
                          <a:latin typeface="Arial" panose="020B0604020202020204" pitchFamily="34" charset="0"/>
                          <a:cs typeface="Arial" panose="020B0604020202020204" pitchFamily="34" charset="0"/>
                          <a:sym typeface="+mn-ea"/>
                        </a:rPr>
                        <a:t>Ø</a:t>
                      </a:r>
                      <a:r>
                        <a:rPr lang="en-GB" altLang="en-US" sz="1600" b="1">
                          <a:solidFill>
                            <a:srgbClr val="FF0000"/>
                          </a:solidFill>
                          <a:highlight>
                            <a:srgbClr val="FF00FF"/>
                          </a:highlight>
                          <a:sym typeface="+mn-ea"/>
                        </a:rPr>
                        <a:t>}</a:t>
                      </a:r>
                      <a:endParaRPr lang="en-GB" altLang="en-US" sz="1600" b="1">
                        <a:solidFill>
                          <a:srgbClr val="FF0000"/>
                        </a:solidFill>
                        <a:highlight>
                          <a:srgbClr val="FF00FF"/>
                        </a:highlight>
                        <a:sym typeface="+mn-ea"/>
                      </a:endParaRPr>
                    </a:p>
                  </a:txBody>
                  <a:tcPr/>
                </a:tc>
              </a:tr>
              <a:tr h="1057275">
                <a:tc>
                  <a:txBody>
                    <a:bodyPr/>
                    <a:p>
                      <a:pPr>
                        <a:buNone/>
                      </a:pPr>
                      <a:r>
                        <a:rPr lang="en-GB" altLang="en-US" sz="1600"/>
                        <a:t>{q0,q1}</a:t>
                      </a:r>
                      <a:endParaRPr lang="en-GB" altLang="en-US" sz="1600"/>
                    </a:p>
                  </a:txBody>
                  <a:tcPr/>
                </a:tc>
                <a:tc>
                  <a:txBody>
                    <a:bodyPr/>
                    <a:p>
                      <a:pPr>
                        <a:buNone/>
                      </a:pPr>
                      <a:r>
                        <a:rPr lang="en-GB" altLang="en-US" sz="1600"/>
                        <a:t>{q0,q2}</a:t>
                      </a:r>
                      <a:endParaRPr lang="en-GB" altLang="en-US" sz="1600"/>
                    </a:p>
                  </a:txBody>
                  <a:tcPr/>
                </a:tc>
                <a:tc>
                  <a:txBody>
                    <a:bodyPr/>
                    <a:p>
                      <a:pPr>
                        <a:buNone/>
                      </a:pPr>
                      <a:r>
                        <a:rPr lang="en-GB" altLang="en-US" sz="1600">
                          <a:sym typeface="+mn-ea"/>
                        </a:rPr>
                        <a:t>{q0,q1,q2}</a:t>
                      </a:r>
                      <a:endParaRPr lang="en-GB" altLang="en-US" sz="1600">
                        <a:sym typeface="+mn-ea"/>
                      </a:endParaRPr>
                    </a:p>
                  </a:txBody>
                  <a:tcPr/>
                </a:tc>
                <a:tc>
                  <a:txBody>
                    <a:bodyPr/>
                    <a:p>
                      <a:pPr>
                        <a:buNone/>
                      </a:pPr>
                      <a:r>
                        <a:rPr lang="el-GR" altLang="x-none" sz="1600" b="1" dirty="0">
                          <a:solidFill>
                            <a:srgbClr val="FF0000"/>
                          </a:solidFill>
                          <a:sym typeface="+mn-ea"/>
                        </a:rPr>
                        <a:t>δ</a:t>
                      </a:r>
                      <a:r>
                        <a:rPr sz="1600" b="1" baseline="-25000" dirty="0">
                          <a:solidFill>
                            <a:srgbClr val="FF0000"/>
                          </a:solidFill>
                          <a:sym typeface="+mn-ea"/>
                        </a:rPr>
                        <a:t>D</a:t>
                      </a:r>
                      <a:r>
                        <a:rPr lang="en-GB" altLang="el-GR" sz="1600" b="1" dirty="0">
                          <a:solidFill>
                            <a:schemeClr val="tx1"/>
                          </a:solidFill>
                          <a:latin typeface="Times New Roman" panose="02020603050405020304" pitchFamily="18" charset="0"/>
                          <a:cs typeface="Times New Roman" panose="02020603050405020304" pitchFamily="18" charset="0"/>
                          <a:sym typeface="+mn-ea"/>
                        </a:rPr>
                        <a:t>({q0,q1}, 0) = </a:t>
                      </a:r>
                      <a:r>
                        <a:rPr lang="el-GR" altLang="x-none" sz="1600" b="1" dirty="0">
                          <a:solidFill>
                            <a:srgbClr val="FF0000"/>
                          </a:solidFill>
                          <a:latin typeface="Times New Roman" panose="02020603050405020304" pitchFamily="18" charset="0"/>
                          <a:cs typeface="Times New Roman" panose="02020603050405020304" pitchFamily="18" charset="0"/>
                          <a:sym typeface="+mn-ea"/>
                        </a:rPr>
                        <a:t>δ</a:t>
                      </a:r>
                      <a:r>
                        <a:rPr sz="1600" b="1" baseline="-25000" dirty="0">
                          <a:solidFill>
                            <a:srgbClr val="FF0000"/>
                          </a:solidFill>
                          <a:latin typeface="Times New Roman" panose="02020603050405020304" pitchFamily="18" charset="0"/>
                          <a:cs typeface="Times New Roman" panose="02020603050405020304" pitchFamily="18" charset="0"/>
                          <a:sym typeface="+mn-ea"/>
                        </a:rPr>
                        <a:t>N</a:t>
                      </a:r>
                      <a:r>
                        <a:rPr lang="en-GB" altLang="en-US" sz="1600">
                          <a:sym typeface="+mn-ea"/>
                        </a:rPr>
                        <a:t>(q0, 0) </a:t>
                      </a:r>
                      <a:r>
                        <a:rPr lang="en-GB" altLang="en-US" sz="1600">
                          <a:latin typeface="Arial" panose="020B0604020202020204" pitchFamily="34" charset="0"/>
                          <a:cs typeface="Arial" panose="020B0604020202020204" pitchFamily="34" charset="0"/>
                          <a:sym typeface="+mn-ea"/>
                        </a:rPr>
                        <a:t>Ụ </a:t>
                      </a:r>
                      <a:r>
                        <a:rPr lang="el-GR" altLang="x-none" sz="1600" b="1" dirty="0">
                          <a:solidFill>
                            <a:srgbClr val="FF0000"/>
                          </a:solidFill>
                          <a:latin typeface="Times New Roman" panose="02020603050405020304" pitchFamily="18" charset="0"/>
                          <a:cs typeface="Times New Roman" panose="02020603050405020304" pitchFamily="18" charset="0"/>
                          <a:sym typeface="+mn-ea"/>
                        </a:rPr>
                        <a:t>δ</a:t>
                      </a:r>
                      <a:r>
                        <a:rPr sz="1600" b="1" baseline="-25000" dirty="0">
                          <a:solidFill>
                            <a:srgbClr val="FF0000"/>
                          </a:solidFill>
                          <a:latin typeface="Times New Roman" panose="02020603050405020304" pitchFamily="18" charset="0"/>
                          <a:cs typeface="Times New Roman" panose="02020603050405020304" pitchFamily="18" charset="0"/>
                          <a:sym typeface="+mn-ea"/>
                        </a:rPr>
                        <a:t>N</a:t>
                      </a:r>
                      <a:r>
                        <a:rPr lang="en-GB" altLang="en-US" sz="1600">
                          <a:sym typeface="+mn-ea"/>
                        </a:rPr>
                        <a:t>(q1, 0)</a:t>
                      </a:r>
                      <a:endParaRPr lang="en-GB" altLang="en-US" sz="1600">
                        <a:sym typeface="+mn-ea"/>
                      </a:endParaRPr>
                    </a:p>
                    <a:p>
                      <a:pPr>
                        <a:buNone/>
                      </a:pPr>
                      <a:r>
                        <a:rPr lang="en-GB" altLang="en-US" sz="1600">
                          <a:latin typeface="Arial" panose="020B0604020202020204" pitchFamily="34" charset="0"/>
                          <a:cs typeface="Arial" panose="020B0604020202020204" pitchFamily="34" charset="0"/>
                          <a:sym typeface="+mn-ea"/>
                        </a:rPr>
                        <a:t>                      = {q0} Ụ { q2}      </a:t>
                      </a:r>
                      <a:r>
                        <a:rPr lang="en-GB" altLang="en-US" sz="1600">
                          <a:solidFill>
                            <a:srgbClr val="FF0000"/>
                          </a:solidFill>
                          <a:highlight>
                            <a:srgbClr val="FFFF00"/>
                          </a:highlight>
                          <a:latin typeface="Arial" panose="020B0604020202020204" pitchFamily="34" charset="0"/>
                          <a:cs typeface="Arial" panose="020B0604020202020204" pitchFamily="34" charset="0"/>
                          <a:sym typeface="+mn-ea"/>
                        </a:rPr>
                        <a:t> = </a:t>
                      </a:r>
                      <a:r>
                        <a:rPr lang="en-GB" altLang="en-US" sz="1600" b="1">
                          <a:solidFill>
                            <a:srgbClr val="FF0000"/>
                          </a:solidFill>
                          <a:highlight>
                            <a:srgbClr val="FFFF00"/>
                          </a:highlight>
                          <a:latin typeface="Arial" panose="020B0604020202020204" pitchFamily="34" charset="0"/>
                          <a:cs typeface="Arial" panose="020B0604020202020204" pitchFamily="34" charset="0"/>
                          <a:sym typeface="+mn-ea"/>
                        </a:rPr>
                        <a:t>{ q0,q2 }</a:t>
                      </a:r>
                      <a:endParaRPr lang="en-GB" altLang="en-US" sz="1600">
                        <a:solidFill>
                          <a:srgbClr val="FF0000"/>
                        </a:solidFill>
                        <a:highlight>
                          <a:srgbClr val="FFFF00"/>
                        </a:highlight>
                        <a:latin typeface="Arial" panose="020B0604020202020204" pitchFamily="34" charset="0"/>
                        <a:cs typeface="Arial" panose="020B0604020202020204" pitchFamily="34" charset="0"/>
                        <a:sym typeface="+mn-ea"/>
                      </a:endParaRPr>
                    </a:p>
                    <a:p>
                      <a:pPr>
                        <a:buNone/>
                      </a:pPr>
                      <a:r>
                        <a:rPr lang="el-GR" altLang="x-none" sz="1600" b="1" dirty="0">
                          <a:solidFill>
                            <a:srgbClr val="FF0000"/>
                          </a:solidFill>
                          <a:sym typeface="+mn-ea"/>
                        </a:rPr>
                        <a:t>δ</a:t>
                      </a:r>
                      <a:r>
                        <a:rPr sz="1600" b="1" baseline="-25000" dirty="0">
                          <a:solidFill>
                            <a:srgbClr val="FF0000"/>
                          </a:solidFill>
                          <a:sym typeface="+mn-ea"/>
                        </a:rPr>
                        <a:t>D</a:t>
                      </a:r>
                      <a:r>
                        <a:rPr lang="en-GB" altLang="el-GR" sz="1600" b="1" dirty="0">
                          <a:solidFill>
                            <a:schemeClr val="tx1"/>
                          </a:solidFill>
                          <a:latin typeface="Times New Roman" panose="02020603050405020304" pitchFamily="18" charset="0"/>
                          <a:cs typeface="Times New Roman" panose="02020603050405020304" pitchFamily="18" charset="0"/>
                          <a:sym typeface="+mn-ea"/>
                        </a:rPr>
                        <a:t>({q0,q1}, 1) = </a:t>
                      </a:r>
                      <a:r>
                        <a:rPr lang="el-GR" altLang="x-none" sz="1600" b="1" dirty="0">
                          <a:solidFill>
                            <a:srgbClr val="FF0000"/>
                          </a:solidFill>
                          <a:latin typeface="Times New Roman" panose="02020603050405020304" pitchFamily="18" charset="0"/>
                          <a:cs typeface="Times New Roman" panose="02020603050405020304" pitchFamily="18" charset="0"/>
                          <a:sym typeface="+mn-ea"/>
                        </a:rPr>
                        <a:t>δ</a:t>
                      </a:r>
                      <a:r>
                        <a:rPr sz="1600" b="1" baseline="-25000" dirty="0">
                          <a:solidFill>
                            <a:srgbClr val="FF0000"/>
                          </a:solidFill>
                          <a:latin typeface="Times New Roman" panose="02020603050405020304" pitchFamily="18" charset="0"/>
                          <a:cs typeface="Times New Roman" panose="02020603050405020304" pitchFamily="18" charset="0"/>
                          <a:sym typeface="+mn-ea"/>
                        </a:rPr>
                        <a:t>N</a:t>
                      </a:r>
                      <a:r>
                        <a:rPr lang="en-GB" altLang="en-US" sz="1600">
                          <a:sym typeface="+mn-ea"/>
                        </a:rPr>
                        <a:t>(q0, 1) </a:t>
                      </a:r>
                      <a:r>
                        <a:rPr lang="en-GB" altLang="en-US" sz="1600">
                          <a:latin typeface="Arial" panose="020B0604020202020204" pitchFamily="34" charset="0"/>
                          <a:cs typeface="Arial" panose="020B0604020202020204" pitchFamily="34" charset="0"/>
                          <a:sym typeface="+mn-ea"/>
                        </a:rPr>
                        <a:t>Ụ </a:t>
                      </a:r>
                      <a:r>
                        <a:rPr lang="el-GR" altLang="x-none" sz="1600" b="1" dirty="0">
                          <a:solidFill>
                            <a:srgbClr val="FF0000"/>
                          </a:solidFill>
                          <a:latin typeface="Times New Roman" panose="02020603050405020304" pitchFamily="18" charset="0"/>
                          <a:cs typeface="Times New Roman" panose="02020603050405020304" pitchFamily="18" charset="0"/>
                          <a:sym typeface="+mn-ea"/>
                        </a:rPr>
                        <a:t>δ</a:t>
                      </a:r>
                      <a:r>
                        <a:rPr sz="1600" b="1" baseline="-25000" dirty="0">
                          <a:solidFill>
                            <a:srgbClr val="FF0000"/>
                          </a:solidFill>
                          <a:latin typeface="Times New Roman" panose="02020603050405020304" pitchFamily="18" charset="0"/>
                          <a:cs typeface="Times New Roman" panose="02020603050405020304" pitchFamily="18" charset="0"/>
                          <a:sym typeface="+mn-ea"/>
                        </a:rPr>
                        <a:t>N</a:t>
                      </a:r>
                      <a:r>
                        <a:rPr lang="en-GB" altLang="en-US" sz="1600">
                          <a:sym typeface="+mn-ea"/>
                        </a:rPr>
                        <a:t>(q1, 1)</a:t>
                      </a:r>
                      <a:endParaRPr lang="en-GB" altLang="en-US" sz="1600">
                        <a:sym typeface="+mn-ea"/>
                      </a:endParaRPr>
                    </a:p>
                    <a:p>
                      <a:pPr>
                        <a:buNone/>
                      </a:pPr>
                      <a:r>
                        <a:rPr lang="en-GB" altLang="en-US" sz="1600">
                          <a:latin typeface="Arial" panose="020B0604020202020204" pitchFamily="34" charset="0"/>
                          <a:cs typeface="Arial" panose="020B0604020202020204" pitchFamily="34" charset="0"/>
                          <a:sym typeface="+mn-ea"/>
                        </a:rPr>
                        <a:t>                      = {q0,q1} Ụ { q2} </a:t>
                      </a:r>
                      <a:r>
                        <a:rPr lang="en-GB" altLang="en-US" sz="1600">
                          <a:sym typeface="+mn-ea"/>
                        </a:rPr>
                        <a:t>   </a:t>
                      </a:r>
                      <a:r>
                        <a:rPr lang="en-GB" altLang="en-US" sz="1600">
                          <a:latin typeface="Arial" panose="020B0604020202020204" pitchFamily="34" charset="0"/>
                          <a:cs typeface="Arial" panose="020B0604020202020204" pitchFamily="34" charset="0"/>
                          <a:sym typeface="+mn-ea"/>
                        </a:rPr>
                        <a:t> </a:t>
                      </a:r>
                      <a:r>
                        <a:rPr lang="en-GB" altLang="en-US" sz="1600">
                          <a:solidFill>
                            <a:srgbClr val="FF0000"/>
                          </a:solidFill>
                          <a:highlight>
                            <a:srgbClr val="FFFF00"/>
                          </a:highlight>
                          <a:latin typeface="Arial" panose="020B0604020202020204" pitchFamily="34" charset="0"/>
                          <a:cs typeface="Arial" panose="020B0604020202020204" pitchFamily="34" charset="0"/>
                          <a:sym typeface="+mn-ea"/>
                        </a:rPr>
                        <a:t>= </a:t>
                      </a:r>
                      <a:r>
                        <a:rPr lang="en-GB" altLang="en-US" sz="1600" b="1">
                          <a:solidFill>
                            <a:srgbClr val="FF0000"/>
                          </a:solidFill>
                          <a:highlight>
                            <a:srgbClr val="FFFF00"/>
                          </a:highlight>
                          <a:latin typeface="Arial" panose="020B0604020202020204" pitchFamily="34" charset="0"/>
                          <a:cs typeface="Arial" panose="020B0604020202020204" pitchFamily="34" charset="0"/>
                          <a:sym typeface="+mn-ea"/>
                        </a:rPr>
                        <a:t>{ q0, q1,q2}</a:t>
                      </a:r>
                      <a:r>
                        <a:rPr lang="en-GB" altLang="en-US" sz="1600" b="1">
                          <a:latin typeface="Arial" panose="020B0604020202020204" pitchFamily="34" charset="0"/>
                          <a:cs typeface="Arial" panose="020B0604020202020204" pitchFamily="34" charset="0"/>
                          <a:sym typeface="+mn-ea"/>
                        </a:rPr>
                        <a:t>  </a:t>
                      </a:r>
                      <a:endParaRPr lang="en-GB" altLang="en-US" sz="1600" b="1">
                        <a:latin typeface="Arial" panose="020B0604020202020204" pitchFamily="34" charset="0"/>
                        <a:cs typeface="Arial" panose="020B0604020202020204" pitchFamily="34" charset="0"/>
                        <a:sym typeface="+mn-ea"/>
                      </a:endParaRPr>
                    </a:p>
                  </a:txBody>
                  <a:tcPr/>
                </a:tc>
              </a:tr>
              <a:tr h="1127125">
                <a:tc>
                  <a:txBody>
                    <a:bodyPr/>
                    <a:p>
                      <a:pPr>
                        <a:buNone/>
                      </a:pPr>
                      <a:r>
                        <a:rPr lang="en-GB" altLang="en-US" sz="1600">
                          <a:latin typeface="Arial" panose="020B0604020202020204" pitchFamily="34" charset="0"/>
                          <a:cs typeface="Arial" panose="020B0604020202020204" pitchFamily="34" charset="0"/>
                        </a:rPr>
                        <a:t>ӿ</a:t>
                      </a:r>
                      <a:r>
                        <a:rPr lang="en-GB" altLang="en-US" sz="1600"/>
                        <a:t>{q0,q2}</a:t>
                      </a:r>
                      <a:endParaRPr lang="en-GB" altLang="en-US" sz="1600"/>
                    </a:p>
                  </a:txBody>
                  <a:tcPr/>
                </a:tc>
                <a:tc>
                  <a:txBody>
                    <a:bodyPr/>
                    <a:p>
                      <a:pPr>
                        <a:buNone/>
                      </a:pPr>
                      <a:r>
                        <a:rPr lang="en-GB" altLang="en-US" sz="1600">
                          <a:sym typeface="+mn-ea"/>
                        </a:rPr>
                        <a:t>{q0}</a:t>
                      </a:r>
                      <a:endParaRPr lang="en-GB" altLang="en-US" sz="1600">
                        <a:sym typeface="+mn-ea"/>
                      </a:endParaRPr>
                    </a:p>
                  </a:txBody>
                  <a:tcPr/>
                </a:tc>
                <a:tc>
                  <a:txBody>
                    <a:bodyPr/>
                    <a:p>
                      <a:pPr>
                        <a:buNone/>
                      </a:pPr>
                      <a:r>
                        <a:rPr lang="en-GB" altLang="en-US" sz="1600">
                          <a:sym typeface="+mn-ea"/>
                        </a:rPr>
                        <a:t>{q0,q1}</a:t>
                      </a:r>
                      <a:endParaRPr lang="en-GB" altLang="en-US" sz="1600"/>
                    </a:p>
                    <a:p>
                      <a:pPr>
                        <a:buNone/>
                      </a:pPr>
                      <a:endParaRPr lang="en-GB" altLang="en-US" sz="1600"/>
                    </a:p>
                  </a:txBody>
                  <a:tcPr/>
                </a:tc>
                <a:tc>
                  <a:txBody>
                    <a:bodyPr/>
                    <a:p>
                      <a:pPr>
                        <a:buNone/>
                      </a:pPr>
                      <a:r>
                        <a:rPr lang="en-GB" altLang="en-US" sz="1600"/>
                        <a:t> </a:t>
                      </a:r>
                      <a:r>
                        <a:rPr lang="el-GR" altLang="x-none" sz="1600" b="1" dirty="0">
                          <a:solidFill>
                            <a:srgbClr val="FF0000"/>
                          </a:solidFill>
                          <a:sym typeface="+mn-ea"/>
                        </a:rPr>
                        <a:t>δ</a:t>
                      </a:r>
                      <a:r>
                        <a:rPr sz="1600" b="1" baseline="-25000" dirty="0">
                          <a:solidFill>
                            <a:srgbClr val="FF0000"/>
                          </a:solidFill>
                          <a:sym typeface="+mn-ea"/>
                        </a:rPr>
                        <a:t>D</a:t>
                      </a:r>
                      <a:r>
                        <a:rPr lang="en-GB" altLang="el-GR" sz="1600" b="1" dirty="0">
                          <a:solidFill>
                            <a:schemeClr val="tx1"/>
                          </a:solidFill>
                          <a:latin typeface="Times New Roman" panose="02020603050405020304" pitchFamily="18" charset="0"/>
                          <a:cs typeface="Times New Roman" panose="02020603050405020304" pitchFamily="18" charset="0"/>
                          <a:sym typeface="+mn-ea"/>
                        </a:rPr>
                        <a:t>({q0,q2}, 0) = </a:t>
                      </a:r>
                      <a:r>
                        <a:rPr lang="el-GR" altLang="x-none" sz="1600" b="1" dirty="0">
                          <a:solidFill>
                            <a:srgbClr val="FF0000"/>
                          </a:solidFill>
                          <a:latin typeface="Times New Roman" panose="02020603050405020304" pitchFamily="18" charset="0"/>
                          <a:cs typeface="Times New Roman" panose="02020603050405020304" pitchFamily="18" charset="0"/>
                          <a:sym typeface="+mn-ea"/>
                        </a:rPr>
                        <a:t>δ</a:t>
                      </a:r>
                      <a:r>
                        <a:rPr sz="1600" b="1" baseline="-25000" dirty="0">
                          <a:solidFill>
                            <a:srgbClr val="FF0000"/>
                          </a:solidFill>
                          <a:latin typeface="Times New Roman" panose="02020603050405020304" pitchFamily="18" charset="0"/>
                          <a:cs typeface="Times New Roman" panose="02020603050405020304" pitchFamily="18" charset="0"/>
                          <a:sym typeface="+mn-ea"/>
                        </a:rPr>
                        <a:t>N</a:t>
                      </a:r>
                      <a:r>
                        <a:rPr lang="en-GB" altLang="en-US" sz="1600">
                          <a:sym typeface="+mn-ea"/>
                        </a:rPr>
                        <a:t>(q0, 0) </a:t>
                      </a:r>
                      <a:r>
                        <a:rPr lang="en-GB" altLang="en-US" sz="1600">
                          <a:latin typeface="Arial" panose="020B0604020202020204" pitchFamily="34" charset="0"/>
                          <a:cs typeface="Arial" panose="020B0604020202020204" pitchFamily="34" charset="0"/>
                          <a:sym typeface="+mn-ea"/>
                        </a:rPr>
                        <a:t>Ụ </a:t>
                      </a:r>
                      <a:r>
                        <a:rPr lang="el-GR" altLang="x-none" sz="1600" b="1" dirty="0">
                          <a:solidFill>
                            <a:srgbClr val="FF0000"/>
                          </a:solidFill>
                          <a:latin typeface="Times New Roman" panose="02020603050405020304" pitchFamily="18" charset="0"/>
                          <a:cs typeface="Times New Roman" panose="02020603050405020304" pitchFamily="18" charset="0"/>
                          <a:sym typeface="+mn-ea"/>
                        </a:rPr>
                        <a:t>δ</a:t>
                      </a:r>
                      <a:r>
                        <a:rPr sz="1600" b="1" baseline="-25000" dirty="0">
                          <a:solidFill>
                            <a:srgbClr val="FF0000"/>
                          </a:solidFill>
                          <a:latin typeface="Times New Roman" panose="02020603050405020304" pitchFamily="18" charset="0"/>
                          <a:cs typeface="Times New Roman" panose="02020603050405020304" pitchFamily="18" charset="0"/>
                          <a:sym typeface="+mn-ea"/>
                        </a:rPr>
                        <a:t>N</a:t>
                      </a:r>
                      <a:r>
                        <a:rPr lang="en-GB" altLang="en-US" sz="1600">
                          <a:sym typeface="+mn-ea"/>
                        </a:rPr>
                        <a:t>(q2, 0)</a:t>
                      </a:r>
                      <a:endParaRPr lang="en-GB" altLang="en-US" sz="1600">
                        <a:sym typeface="+mn-ea"/>
                      </a:endParaRPr>
                    </a:p>
                    <a:p>
                      <a:pPr>
                        <a:buNone/>
                      </a:pPr>
                      <a:r>
                        <a:rPr lang="en-GB" altLang="en-US" sz="1600">
                          <a:latin typeface="Arial" panose="020B0604020202020204" pitchFamily="34" charset="0"/>
                          <a:cs typeface="Arial" panose="020B0604020202020204" pitchFamily="34" charset="0"/>
                          <a:sym typeface="+mn-ea"/>
                        </a:rPr>
                        <a:t>                       =    {q0} Ụ </a:t>
                      </a:r>
                      <a:r>
                        <a:rPr lang="en-GB" altLang="en-US" sz="1600">
                          <a:sym typeface="+mn-ea"/>
                        </a:rPr>
                        <a:t>{</a:t>
                      </a:r>
                      <a:r>
                        <a:rPr lang="en-GB" altLang="en-US" sz="1600">
                          <a:latin typeface="Arial" panose="020B0604020202020204" pitchFamily="34" charset="0"/>
                          <a:cs typeface="Arial" panose="020B0604020202020204" pitchFamily="34" charset="0"/>
                          <a:sym typeface="+mn-ea"/>
                        </a:rPr>
                        <a:t>Ø</a:t>
                      </a:r>
                      <a:r>
                        <a:rPr lang="en-GB" altLang="en-US" sz="1600">
                          <a:sym typeface="+mn-ea"/>
                        </a:rPr>
                        <a:t>}          </a:t>
                      </a:r>
                      <a:r>
                        <a:rPr lang="en-GB" altLang="en-US" sz="1600">
                          <a:solidFill>
                            <a:srgbClr val="FF0000"/>
                          </a:solidFill>
                          <a:highlight>
                            <a:srgbClr val="FFFF00"/>
                          </a:highlight>
                          <a:sym typeface="+mn-ea"/>
                        </a:rPr>
                        <a:t> = </a:t>
                      </a:r>
                      <a:r>
                        <a:rPr lang="en-GB" altLang="en-US" sz="1600" b="1">
                          <a:solidFill>
                            <a:srgbClr val="FF0000"/>
                          </a:solidFill>
                          <a:highlight>
                            <a:srgbClr val="FFFF00"/>
                          </a:highlight>
                          <a:sym typeface="+mn-ea"/>
                        </a:rPr>
                        <a:t>{q0}</a:t>
                      </a:r>
                      <a:endParaRPr lang="en-GB" altLang="en-US" sz="1600" b="1">
                        <a:solidFill>
                          <a:srgbClr val="FF0000"/>
                        </a:solidFill>
                        <a:highlight>
                          <a:srgbClr val="FFFF00"/>
                        </a:highlight>
                        <a:sym typeface="+mn-ea"/>
                      </a:endParaRPr>
                    </a:p>
                    <a:p>
                      <a:pPr>
                        <a:buNone/>
                      </a:pPr>
                      <a:r>
                        <a:rPr lang="en-GB" altLang="el-GR" sz="1600" b="1" dirty="0">
                          <a:solidFill>
                            <a:srgbClr val="FF0000"/>
                          </a:solidFill>
                          <a:sym typeface="+mn-ea"/>
                        </a:rPr>
                        <a:t> </a:t>
                      </a:r>
                      <a:r>
                        <a:rPr lang="el-GR" altLang="x-none" sz="1600" b="1" dirty="0">
                          <a:solidFill>
                            <a:srgbClr val="FF0000"/>
                          </a:solidFill>
                          <a:sym typeface="+mn-ea"/>
                        </a:rPr>
                        <a:t>δ</a:t>
                      </a:r>
                      <a:r>
                        <a:rPr sz="1600" b="1" baseline="-25000" dirty="0">
                          <a:solidFill>
                            <a:srgbClr val="FF0000"/>
                          </a:solidFill>
                          <a:sym typeface="+mn-ea"/>
                        </a:rPr>
                        <a:t>D</a:t>
                      </a:r>
                      <a:r>
                        <a:rPr lang="en-GB" altLang="el-GR" sz="1600" b="1" dirty="0">
                          <a:solidFill>
                            <a:schemeClr val="tx1"/>
                          </a:solidFill>
                          <a:latin typeface="Times New Roman" panose="02020603050405020304" pitchFamily="18" charset="0"/>
                          <a:cs typeface="Times New Roman" panose="02020603050405020304" pitchFamily="18" charset="0"/>
                          <a:sym typeface="+mn-ea"/>
                        </a:rPr>
                        <a:t>({q0,q2}, 1) = </a:t>
                      </a:r>
                      <a:r>
                        <a:rPr lang="el-GR" altLang="x-none" sz="1600" b="1" dirty="0">
                          <a:solidFill>
                            <a:srgbClr val="FF0000"/>
                          </a:solidFill>
                          <a:latin typeface="Times New Roman" panose="02020603050405020304" pitchFamily="18" charset="0"/>
                          <a:cs typeface="Times New Roman" panose="02020603050405020304" pitchFamily="18" charset="0"/>
                          <a:sym typeface="+mn-ea"/>
                        </a:rPr>
                        <a:t>δ</a:t>
                      </a:r>
                      <a:r>
                        <a:rPr sz="1600" b="1" baseline="-25000" dirty="0">
                          <a:solidFill>
                            <a:srgbClr val="FF0000"/>
                          </a:solidFill>
                          <a:latin typeface="Times New Roman" panose="02020603050405020304" pitchFamily="18" charset="0"/>
                          <a:cs typeface="Times New Roman" panose="02020603050405020304" pitchFamily="18" charset="0"/>
                          <a:sym typeface="+mn-ea"/>
                        </a:rPr>
                        <a:t>N</a:t>
                      </a:r>
                      <a:r>
                        <a:rPr lang="en-GB" altLang="en-US" sz="1600">
                          <a:sym typeface="+mn-ea"/>
                        </a:rPr>
                        <a:t>(q0, 1) </a:t>
                      </a:r>
                      <a:r>
                        <a:rPr lang="en-GB" altLang="en-US" sz="1600">
                          <a:latin typeface="Arial" panose="020B0604020202020204" pitchFamily="34" charset="0"/>
                          <a:cs typeface="Arial" panose="020B0604020202020204" pitchFamily="34" charset="0"/>
                          <a:sym typeface="+mn-ea"/>
                        </a:rPr>
                        <a:t>Ụ </a:t>
                      </a:r>
                      <a:r>
                        <a:rPr lang="el-GR" altLang="x-none" sz="1600" b="1" dirty="0">
                          <a:solidFill>
                            <a:srgbClr val="FF0000"/>
                          </a:solidFill>
                          <a:latin typeface="Times New Roman" panose="02020603050405020304" pitchFamily="18" charset="0"/>
                          <a:cs typeface="Times New Roman" panose="02020603050405020304" pitchFamily="18" charset="0"/>
                          <a:sym typeface="+mn-ea"/>
                        </a:rPr>
                        <a:t>δ</a:t>
                      </a:r>
                      <a:r>
                        <a:rPr sz="1600" b="1" baseline="-25000" dirty="0">
                          <a:solidFill>
                            <a:srgbClr val="FF0000"/>
                          </a:solidFill>
                          <a:latin typeface="Times New Roman" panose="02020603050405020304" pitchFamily="18" charset="0"/>
                          <a:cs typeface="Times New Roman" panose="02020603050405020304" pitchFamily="18" charset="0"/>
                          <a:sym typeface="+mn-ea"/>
                        </a:rPr>
                        <a:t>N</a:t>
                      </a:r>
                      <a:r>
                        <a:rPr lang="en-GB" altLang="en-US" sz="1600">
                          <a:sym typeface="+mn-ea"/>
                        </a:rPr>
                        <a:t>(q2, 1)</a:t>
                      </a:r>
                      <a:endParaRPr lang="en-GB" altLang="en-US" sz="1600">
                        <a:sym typeface="+mn-ea"/>
                      </a:endParaRPr>
                    </a:p>
                    <a:p>
                      <a:pPr>
                        <a:buNone/>
                      </a:pPr>
                      <a:r>
                        <a:rPr lang="en-GB" altLang="en-US" sz="1600">
                          <a:latin typeface="Arial" panose="020B0604020202020204" pitchFamily="34" charset="0"/>
                          <a:cs typeface="Arial" panose="020B0604020202020204" pitchFamily="34" charset="0"/>
                          <a:sym typeface="+mn-ea"/>
                        </a:rPr>
                        <a:t>                      =     {q0, q1} Ụ </a:t>
                      </a:r>
                      <a:r>
                        <a:rPr lang="en-GB" altLang="en-US" sz="1600">
                          <a:sym typeface="+mn-ea"/>
                        </a:rPr>
                        <a:t>{</a:t>
                      </a:r>
                      <a:r>
                        <a:rPr lang="en-GB" altLang="en-US" sz="1600">
                          <a:latin typeface="Arial" panose="020B0604020202020204" pitchFamily="34" charset="0"/>
                          <a:cs typeface="Arial" panose="020B0604020202020204" pitchFamily="34" charset="0"/>
                          <a:sym typeface="+mn-ea"/>
                        </a:rPr>
                        <a:t>Ø</a:t>
                      </a:r>
                      <a:r>
                        <a:rPr lang="en-GB" altLang="en-US" sz="1600">
                          <a:sym typeface="+mn-ea"/>
                        </a:rPr>
                        <a:t>}    </a:t>
                      </a:r>
                      <a:r>
                        <a:rPr lang="en-GB" altLang="en-US" sz="1600">
                          <a:sym typeface="+mn-ea"/>
                        </a:rPr>
                        <a:t>=</a:t>
                      </a:r>
                      <a:r>
                        <a:rPr lang="en-GB" altLang="en-US" sz="1600" b="1">
                          <a:sym typeface="+mn-ea"/>
                        </a:rPr>
                        <a:t> </a:t>
                      </a:r>
                      <a:r>
                        <a:rPr lang="en-GB" altLang="en-US" sz="1600" b="1">
                          <a:solidFill>
                            <a:srgbClr val="FF0000"/>
                          </a:solidFill>
                          <a:highlight>
                            <a:srgbClr val="FFFF00"/>
                          </a:highlight>
                          <a:sym typeface="+mn-ea"/>
                        </a:rPr>
                        <a:t>{q0,q1}</a:t>
                      </a:r>
                      <a:r>
                        <a:rPr lang="en-GB" altLang="en-US" sz="1600" b="1">
                          <a:solidFill>
                            <a:srgbClr val="FF0000"/>
                          </a:solidFill>
                          <a:highlight>
                            <a:srgbClr val="FFFF00"/>
                          </a:highlight>
                        </a:rPr>
                        <a:t>  </a:t>
                      </a:r>
                      <a:r>
                        <a:rPr lang="en-GB" altLang="en-US" sz="1600">
                          <a:solidFill>
                            <a:srgbClr val="FF0000"/>
                          </a:solidFill>
                          <a:highlight>
                            <a:srgbClr val="FFFF00"/>
                          </a:highlight>
                        </a:rPr>
                        <a:t>   </a:t>
                      </a:r>
                      <a:r>
                        <a:rPr lang="en-GB" altLang="en-US" sz="1600"/>
                        <a:t>                   </a:t>
                      </a:r>
                      <a:endParaRPr lang="en-GB" altLang="en-US" sz="1600"/>
                    </a:p>
                  </a:txBody>
                  <a:tcPr/>
                </a:tc>
              </a:tr>
            </a:tbl>
          </a:graphicData>
        </a:graphic>
      </p:graphicFrame>
      <p:sp>
        <p:nvSpPr>
          <p:cNvPr id="2" name="Footer Placeholder 1"/>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6" name="Content Placeholder 5"/>
          <p:cNvGraphicFramePr/>
          <p:nvPr>
            <p:ph idx="1"/>
          </p:nvPr>
        </p:nvGraphicFramePr>
        <p:xfrm>
          <a:off x="228600" y="685800"/>
          <a:ext cx="8579485" cy="6364605"/>
        </p:xfrm>
        <a:graphic>
          <a:graphicData uri="http://schemas.openxmlformats.org/drawingml/2006/table">
            <a:tbl>
              <a:tblPr firstRow="1" bandRow="1">
                <a:tableStyleId>{5C22544A-7EE6-4342-B048-85BDC9FD1C3A}</a:tableStyleId>
              </a:tblPr>
              <a:tblGrid>
                <a:gridCol w="1282700"/>
                <a:gridCol w="864870"/>
                <a:gridCol w="1177290"/>
                <a:gridCol w="5254625"/>
              </a:tblGrid>
              <a:tr h="402590">
                <a:tc>
                  <a:txBody>
                    <a:bodyPr/>
                    <a:p>
                      <a:pPr>
                        <a:buNone/>
                      </a:pPr>
                      <a:r>
                        <a:rPr lang="el-GR" altLang="x-none" sz="1800" dirty="0">
                          <a:solidFill>
                            <a:srgbClr val="FF0000"/>
                          </a:solidFill>
                          <a:sym typeface="+mn-ea"/>
                        </a:rPr>
                        <a:t>δ</a:t>
                      </a:r>
                      <a:r>
                        <a:rPr sz="1800" baseline="-25000" dirty="0">
                          <a:solidFill>
                            <a:srgbClr val="FF0000"/>
                          </a:solidFill>
                          <a:sym typeface="+mn-ea"/>
                        </a:rPr>
                        <a:t>D</a:t>
                      </a:r>
                      <a:endParaRPr lang="en-US"/>
                    </a:p>
                  </a:txBody>
                  <a:tcPr/>
                </a:tc>
                <a:tc>
                  <a:txBody>
                    <a:bodyPr/>
                    <a:p>
                      <a:pPr>
                        <a:buNone/>
                      </a:pPr>
                      <a:r>
                        <a:rPr lang="en-GB" altLang="en-US"/>
                        <a:t>0</a:t>
                      </a:r>
                      <a:endParaRPr lang="en-GB" altLang="en-US"/>
                    </a:p>
                  </a:txBody>
                  <a:tcPr/>
                </a:tc>
                <a:tc>
                  <a:txBody>
                    <a:bodyPr/>
                    <a:p>
                      <a:pPr>
                        <a:buNone/>
                      </a:pPr>
                      <a:r>
                        <a:rPr lang="en-GB" altLang="en-US"/>
                        <a:t>1</a:t>
                      </a:r>
                      <a:endParaRPr lang="en-GB" altLang="en-US"/>
                    </a:p>
                  </a:txBody>
                  <a:tcPr/>
                </a:tc>
                <a:tc>
                  <a:txBody>
                    <a:bodyPr/>
                    <a:p>
                      <a:pPr>
                        <a:buNone/>
                      </a:pPr>
                      <a:r>
                        <a:rPr lang="en-GB" altLang="en-US" sz="1800">
                          <a:latin typeface="Arial" panose="020B0604020202020204" pitchFamily="34" charset="0"/>
                          <a:cs typeface="Arial" panose="020B0604020202020204" pitchFamily="34" charset="0"/>
                          <a:sym typeface="+mn-ea"/>
                        </a:rPr>
                        <a:t>C</a:t>
                      </a:r>
                      <a:r>
                        <a:rPr lang="en-GB" altLang="en-US" sz="1800">
                          <a:sym typeface="+mn-ea"/>
                        </a:rPr>
                        <a:t>alulations for inputs 0 and 1</a:t>
                      </a:r>
                      <a:endParaRPr lang="en-GB" altLang="en-US"/>
                    </a:p>
                  </a:txBody>
                  <a:tcPr/>
                </a:tc>
              </a:tr>
              <a:tr h="1127125">
                <a:tc>
                  <a:txBody>
                    <a:bodyPr/>
                    <a:p>
                      <a:pPr>
                        <a:buNone/>
                      </a:pPr>
                      <a:r>
                        <a:rPr lang="en-GB" altLang="en-US">
                          <a:highlight>
                            <a:srgbClr val="FF00FF"/>
                          </a:highlight>
                          <a:latin typeface="Arial" panose="020B0604020202020204" pitchFamily="34" charset="0"/>
                          <a:cs typeface="Arial" panose="020B0604020202020204" pitchFamily="34" charset="0"/>
                        </a:rPr>
                        <a:t>ӿ</a:t>
                      </a:r>
                      <a:r>
                        <a:rPr lang="en-GB" altLang="en-US">
                          <a:highlight>
                            <a:srgbClr val="FF00FF"/>
                          </a:highlight>
                        </a:rPr>
                        <a:t>{q1,q2}</a:t>
                      </a:r>
                      <a:endParaRPr lang="en-GB" altLang="en-US">
                        <a:highlight>
                          <a:srgbClr val="FF00FF"/>
                        </a:highlight>
                      </a:endParaRPr>
                    </a:p>
                  </a:txBody>
                  <a:tcPr/>
                </a:tc>
                <a:tc>
                  <a:txBody>
                    <a:bodyPr/>
                    <a:p>
                      <a:pPr>
                        <a:buNone/>
                      </a:pPr>
                      <a:r>
                        <a:rPr lang="en-GB" altLang="en-US" sz="1800">
                          <a:highlight>
                            <a:srgbClr val="FF00FF"/>
                          </a:highlight>
                          <a:sym typeface="+mn-ea"/>
                        </a:rPr>
                        <a:t>{q2}</a:t>
                      </a:r>
                      <a:endParaRPr lang="en-GB" altLang="en-US" sz="1800">
                        <a:highlight>
                          <a:srgbClr val="FF00FF"/>
                        </a:highlight>
                        <a:sym typeface="+mn-ea"/>
                      </a:endParaRPr>
                    </a:p>
                  </a:txBody>
                  <a:tcPr/>
                </a:tc>
                <a:tc>
                  <a:txBody>
                    <a:bodyPr/>
                    <a:p>
                      <a:pPr>
                        <a:buNone/>
                      </a:pPr>
                      <a:r>
                        <a:rPr lang="en-GB" altLang="en-US" sz="1800">
                          <a:highlight>
                            <a:srgbClr val="FF00FF"/>
                          </a:highlight>
                          <a:sym typeface="+mn-ea"/>
                        </a:rPr>
                        <a:t>{q2}</a:t>
                      </a:r>
                      <a:endParaRPr lang="en-GB" altLang="en-US" sz="1800">
                        <a:highlight>
                          <a:srgbClr val="FF00FF"/>
                        </a:highlight>
                      </a:endParaRPr>
                    </a:p>
                    <a:p>
                      <a:pPr>
                        <a:buNone/>
                      </a:pPr>
                      <a:endParaRPr lang="en-GB" altLang="en-US" sz="1800">
                        <a:highlight>
                          <a:srgbClr val="FF00FF"/>
                        </a:highlight>
                      </a:endParaRPr>
                    </a:p>
                  </a:txBody>
                  <a:tcPr/>
                </a:tc>
                <a:tc>
                  <a:txBody>
                    <a:bodyPr/>
                    <a:p>
                      <a:pPr>
                        <a:buNone/>
                      </a:pPr>
                      <a:r>
                        <a:rPr lang="el-GR" altLang="x-none" sz="1600" b="1" dirty="0">
                          <a:solidFill>
                            <a:srgbClr val="FF0000"/>
                          </a:solidFill>
                          <a:highlight>
                            <a:srgbClr val="FF00FF"/>
                          </a:highlight>
                          <a:sym typeface="+mn-ea"/>
                        </a:rPr>
                        <a:t>δ</a:t>
                      </a:r>
                      <a:r>
                        <a:rPr sz="1600" b="1" baseline="-25000" dirty="0">
                          <a:solidFill>
                            <a:srgbClr val="FF0000"/>
                          </a:solidFill>
                          <a:highlight>
                            <a:srgbClr val="FF00FF"/>
                          </a:highlight>
                          <a:sym typeface="+mn-ea"/>
                        </a:rPr>
                        <a:t>D</a:t>
                      </a:r>
                      <a:r>
                        <a:rPr lang="en-GB" altLang="el-GR" sz="1600" b="1" dirty="0">
                          <a:solidFill>
                            <a:schemeClr val="tx1"/>
                          </a:solidFill>
                          <a:highlight>
                            <a:srgbClr val="FF00FF"/>
                          </a:highlight>
                          <a:latin typeface="Times New Roman" panose="02020603050405020304" pitchFamily="18" charset="0"/>
                          <a:cs typeface="Times New Roman" panose="02020603050405020304" pitchFamily="18" charset="0"/>
                          <a:sym typeface="+mn-ea"/>
                        </a:rPr>
                        <a:t>({q1,q2}, 0) = </a:t>
                      </a:r>
                      <a:r>
                        <a:rPr lang="el-GR" altLang="x-none" sz="1600" b="1" dirty="0">
                          <a:solidFill>
                            <a:srgbClr val="FF0000"/>
                          </a:solidFill>
                          <a:highlight>
                            <a:srgbClr val="FF00FF"/>
                          </a:highlight>
                          <a:latin typeface="Times New Roman" panose="02020603050405020304" pitchFamily="18" charset="0"/>
                          <a:cs typeface="Times New Roman" panose="02020603050405020304" pitchFamily="18" charset="0"/>
                          <a:sym typeface="+mn-ea"/>
                        </a:rPr>
                        <a:t>δ</a:t>
                      </a:r>
                      <a:r>
                        <a:rPr sz="1600" b="1" baseline="-25000" dirty="0">
                          <a:solidFill>
                            <a:srgbClr val="FF0000"/>
                          </a:solidFill>
                          <a:highlight>
                            <a:srgbClr val="FF00FF"/>
                          </a:highlight>
                          <a:latin typeface="Times New Roman" panose="02020603050405020304" pitchFamily="18" charset="0"/>
                          <a:cs typeface="Times New Roman" panose="02020603050405020304" pitchFamily="18" charset="0"/>
                          <a:sym typeface="+mn-ea"/>
                        </a:rPr>
                        <a:t>N</a:t>
                      </a:r>
                      <a:r>
                        <a:rPr lang="en-GB" altLang="en-US" sz="1600">
                          <a:highlight>
                            <a:srgbClr val="FF00FF"/>
                          </a:highlight>
                          <a:sym typeface="+mn-ea"/>
                        </a:rPr>
                        <a:t>(q1, 0) </a:t>
                      </a:r>
                      <a:r>
                        <a:rPr lang="en-GB" altLang="en-US" sz="1600">
                          <a:highlight>
                            <a:srgbClr val="FF00FF"/>
                          </a:highlight>
                          <a:latin typeface="Arial" panose="020B0604020202020204" pitchFamily="34" charset="0"/>
                          <a:cs typeface="Arial" panose="020B0604020202020204" pitchFamily="34" charset="0"/>
                          <a:sym typeface="+mn-ea"/>
                        </a:rPr>
                        <a:t>Ụ </a:t>
                      </a:r>
                      <a:r>
                        <a:rPr lang="el-GR" altLang="x-none" sz="1600" b="1" dirty="0">
                          <a:solidFill>
                            <a:srgbClr val="FF0000"/>
                          </a:solidFill>
                          <a:highlight>
                            <a:srgbClr val="FF00FF"/>
                          </a:highlight>
                          <a:latin typeface="Times New Roman" panose="02020603050405020304" pitchFamily="18" charset="0"/>
                          <a:cs typeface="Times New Roman" panose="02020603050405020304" pitchFamily="18" charset="0"/>
                          <a:sym typeface="+mn-ea"/>
                        </a:rPr>
                        <a:t>δ</a:t>
                      </a:r>
                      <a:r>
                        <a:rPr sz="1600" b="1" baseline="-25000" dirty="0">
                          <a:solidFill>
                            <a:srgbClr val="FF0000"/>
                          </a:solidFill>
                          <a:highlight>
                            <a:srgbClr val="FF00FF"/>
                          </a:highlight>
                          <a:latin typeface="Times New Roman" panose="02020603050405020304" pitchFamily="18" charset="0"/>
                          <a:cs typeface="Times New Roman" panose="02020603050405020304" pitchFamily="18" charset="0"/>
                          <a:sym typeface="+mn-ea"/>
                        </a:rPr>
                        <a:t>N</a:t>
                      </a:r>
                      <a:r>
                        <a:rPr lang="en-GB" altLang="en-US" sz="1600">
                          <a:highlight>
                            <a:srgbClr val="FF00FF"/>
                          </a:highlight>
                          <a:sym typeface="+mn-ea"/>
                        </a:rPr>
                        <a:t>(q2, 0)</a:t>
                      </a:r>
                      <a:endParaRPr lang="en-GB" altLang="en-US" sz="1600">
                        <a:highlight>
                          <a:srgbClr val="FF00FF"/>
                        </a:highlight>
                        <a:sym typeface="+mn-ea"/>
                      </a:endParaRPr>
                    </a:p>
                    <a:p>
                      <a:pPr>
                        <a:buNone/>
                      </a:pPr>
                      <a:r>
                        <a:rPr lang="en-GB" altLang="en-US" sz="1600">
                          <a:highlight>
                            <a:srgbClr val="FF00FF"/>
                          </a:highlight>
                          <a:latin typeface="Arial" panose="020B0604020202020204" pitchFamily="34" charset="0"/>
                          <a:cs typeface="Arial" panose="020B0604020202020204" pitchFamily="34" charset="0"/>
                          <a:sym typeface="+mn-ea"/>
                        </a:rPr>
                        <a:t>                      =    {q2} Ụ </a:t>
                      </a:r>
                      <a:r>
                        <a:rPr lang="en-GB" altLang="en-US" sz="1600">
                          <a:highlight>
                            <a:srgbClr val="FF00FF"/>
                          </a:highlight>
                          <a:sym typeface="+mn-ea"/>
                        </a:rPr>
                        <a:t>{</a:t>
                      </a:r>
                      <a:r>
                        <a:rPr lang="en-GB" altLang="en-US" sz="1600">
                          <a:highlight>
                            <a:srgbClr val="FF00FF"/>
                          </a:highlight>
                          <a:latin typeface="Arial" panose="020B0604020202020204" pitchFamily="34" charset="0"/>
                          <a:cs typeface="Arial" panose="020B0604020202020204" pitchFamily="34" charset="0"/>
                          <a:sym typeface="+mn-ea"/>
                        </a:rPr>
                        <a:t>Ø</a:t>
                      </a:r>
                      <a:r>
                        <a:rPr lang="en-GB" altLang="en-US" sz="1600">
                          <a:highlight>
                            <a:srgbClr val="FF00FF"/>
                          </a:highlight>
                          <a:sym typeface="+mn-ea"/>
                        </a:rPr>
                        <a:t>} </a:t>
                      </a:r>
                      <a:r>
                        <a:rPr lang="en-GB" altLang="en-US" sz="1600">
                          <a:solidFill>
                            <a:srgbClr val="FF0000"/>
                          </a:solidFill>
                          <a:highlight>
                            <a:srgbClr val="FF00FF"/>
                          </a:highlight>
                          <a:sym typeface="+mn-ea"/>
                        </a:rPr>
                        <a:t> </a:t>
                      </a:r>
                      <a:r>
                        <a:rPr lang="en-GB" altLang="en-US" sz="1600" b="1">
                          <a:solidFill>
                            <a:srgbClr val="FF0000"/>
                          </a:solidFill>
                          <a:highlight>
                            <a:srgbClr val="FF00FF"/>
                          </a:highlight>
                          <a:sym typeface="+mn-ea"/>
                        </a:rPr>
                        <a:t>= {q2}</a:t>
                      </a:r>
                      <a:r>
                        <a:rPr lang="en-GB" altLang="en-US" sz="1600">
                          <a:highlight>
                            <a:srgbClr val="FF00FF"/>
                          </a:highlight>
                          <a:sym typeface="+mn-ea"/>
                        </a:rPr>
                        <a:t>                        </a:t>
                      </a:r>
                      <a:endParaRPr lang="en-GB" altLang="en-US" sz="1600">
                        <a:highlight>
                          <a:srgbClr val="FF00FF"/>
                        </a:highlight>
                        <a:sym typeface="+mn-ea"/>
                      </a:endParaRPr>
                    </a:p>
                    <a:p>
                      <a:pPr>
                        <a:buNone/>
                      </a:pPr>
                      <a:r>
                        <a:rPr lang="el-GR" altLang="x-none" sz="1600" b="1" dirty="0">
                          <a:solidFill>
                            <a:srgbClr val="FF0000"/>
                          </a:solidFill>
                          <a:highlight>
                            <a:srgbClr val="FF00FF"/>
                          </a:highlight>
                          <a:sym typeface="+mn-ea"/>
                        </a:rPr>
                        <a:t>δ</a:t>
                      </a:r>
                      <a:r>
                        <a:rPr sz="1600" b="1" baseline="-25000" dirty="0">
                          <a:solidFill>
                            <a:srgbClr val="FF0000"/>
                          </a:solidFill>
                          <a:highlight>
                            <a:srgbClr val="FF00FF"/>
                          </a:highlight>
                          <a:sym typeface="+mn-ea"/>
                        </a:rPr>
                        <a:t>D</a:t>
                      </a:r>
                      <a:r>
                        <a:rPr lang="en-GB" altLang="el-GR" sz="1600" b="1" dirty="0">
                          <a:solidFill>
                            <a:schemeClr val="tx1"/>
                          </a:solidFill>
                          <a:highlight>
                            <a:srgbClr val="FF00FF"/>
                          </a:highlight>
                          <a:latin typeface="Times New Roman" panose="02020603050405020304" pitchFamily="18" charset="0"/>
                          <a:cs typeface="Times New Roman" panose="02020603050405020304" pitchFamily="18" charset="0"/>
                          <a:sym typeface="+mn-ea"/>
                        </a:rPr>
                        <a:t>({q1,q2}, 1) = </a:t>
                      </a:r>
                      <a:r>
                        <a:rPr lang="el-GR" altLang="x-none" sz="1600" b="1" dirty="0">
                          <a:solidFill>
                            <a:srgbClr val="FF0000"/>
                          </a:solidFill>
                          <a:highlight>
                            <a:srgbClr val="FF00FF"/>
                          </a:highlight>
                          <a:latin typeface="Times New Roman" panose="02020603050405020304" pitchFamily="18" charset="0"/>
                          <a:cs typeface="Times New Roman" panose="02020603050405020304" pitchFamily="18" charset="0"/>
                          <a:sym typeface="+mn-ea"/>
                        </a:rPr>
                        <a:t>δ</a:t>
                      </a:r>
                      <a:r>
                        <a:rPr sz="1600" b="1" baseline="-25000" dirty="0">
                          <a:solidFill>
                            <a:srgbClr val="FF0000"/>
                          </a:solidFill>
                          <a:highlight>
                            <a:srgbClr val="FF00FF"/>
                          </a:highlight>
                          <a:latin typeface="Times New Roman" panose="02020603050405020304" pitchFamily="18" charset="0"/>
                          <a:cs typeface="Times New Roman" panose="02020603050405020304" pitchFamily="18" charset="0"/>
                          <a:sym typeface="+mn-ea"/>
                        </a:rPr>
                        <a:t>N</a:t>
                      </a:r>
                      <a:r>
                        <a:rPr lang="en-GB" altLang="en-US" sz="1600">
                          <a:highlight>
                            <a:srgbClr val="FF00FF"/>
                          </a:highlight>
                          <a:sym typeface="+mn-ea"/>
                        </a:rPr>
                        <a:t>(q1, 1) </a:t>
                      </a:r>
                      <a:r>
                        <a:rPr lang="en-GB" altLang="en-US" sz="1600">
                          <a:highlight>
                            <a:srgbClr val="FF00FF"/>
                          </a:highlight>
                          <a:latin typeface="Arial" panose="020B0604020202020204" pitchFamily="34" charset="0"/>
                          <a:cs typeface="Arial" panose="020B0604020202020204" pitchFamily="34" charset="0"/>
                          <a:sym typeface="+mn-ea"/>
                        </a:rPr>
                        <a:t>Ụ </a:t>
                      </a:r>
                      <a:r>
                        <a:rPr lang="el-GR" altLang="x-none" sz="1600" b="1" dirty="0">
                          <a:solidFill>
                            <a:srgbClr val="FF0000"/>
                          </a:solidFill>
                          <a:highlight>
                            <a:srgbClr val="FF00FF"/>
                          </a:highlight>
                          <a:latin typeface="Times New Roman" panose="02020603050405020304" pitchFamily="18" charset="0"/>
                          <a:cs typeface="Times New Roman" panose="02020603050405020304" pitchFamily="18" charset="0"/>
                          <a:sym typeface="+mn-ea"/>
                        </a:rPr>
                        <a:t>δ</a:t>
                      </a:r>
                      <a:r>
                        <a:rPr sz="1600" b="1" baseline="-25000" dirty="0">
                          <a:solidFill>
                            <a:srgbClr val="FF0000"/>
                          </a:solidFill>
                          <a:highlight>
                            <a:srgbClr val="FF00FF"/>
                          </a:highlight>
                          <a:latin typeface="Times New Roman" panose="02020603050405020304" pitchFamily="18" charset="0"/>
                          <a:cs typeface="Times New Roman" panose="02020603050405020304" pitchFamily="18" charset="0"/>
                          <a:sym typeface="+mn-ea"/>
                        </a:rPr>
                        <a:t>N</a:t>
                      </a:r>
                      <a:r>
                        <a:rPr lang="en-GB" altLang="en-US" sz="1600">
                          <a:highlight>
                            <a:srgbClr val="FF00FF"/>
                          </a:highlight>
                          <a:sym typeface="+mn-ea"/>
                        </a:rPr>
                        <a:t>(q2, 1) </a:t>
                      </a:r>
                      <a:endParaRPr lang="en-GB" altLang="en-US" sz="1600">
                        <a:highlight>
                          <a:srgbClr val="FF00FF"/>
                        </a:highlight>
                        <a:sym typeface="+mn-ea"/>
                      </a:endParaRPr>
                    </a:p>
                    <a:p>
                      <a:pPr>
                        <a:buNone/>
                      </a:pPr>
                      <a:r>
                        <a:rPr lang="en-GB" altLang="en-US" sz="1600">
                          <a:highlight>
                            <a:srgbClr val="FF00FF"/>
                          </a:highlight>
                          <a:latin typeface="Arial" panose="020B0604020202020204" pitchFamily="34" charset="0"/>
                          <a:cs typeface="Arial" panose="020B0604020202020204" pitchFamily="34" charset="0"/>
                          <a:sym typeface="+mn-ea"/>
                        </a:rPr>
                        <a:t>                      =    {q2} Ụ </a:t>
                      </a:r>
                      <a:r>
                        <a:rPr lang="en-GB" altLang="en-US" sz="1600">
                          <a:highlight>
                            <a:srgbClr val="FF00FF"/>
                          </a:highlight>
                          <a:sym typeface="+mn-ea"/>
                        </a:rPr>
                        <a:t>{</a:t>
                      </a:r>
                      <a:r>
                        <a:rPr lang="en-GB" altLang="en-US" sz="1600">
                          <a:highlight>
                            <a:srgbClr val="FF00FF"/>
                          </a:highlight>
                          <a:latin typeface="Arial" panose="020B0604020202020204" pitchFamily="34" charset="0"/>
                          <a:cs typeface="Arial" panose="020B0604020202020204" pitchFamily="34" charset="0"/>
                          <a:sym typeface="+mn-ea"/>
                        </a:rPr>
                        <a:t>Ø</a:t>
                      </a:r>
                      <a:r>
                        <a:rPr lang="en-GB" altLang="en-US" sz="1600">
                          <a:highlight>
                            <a:srgbClr val="FF00FF"/>
                          </a:highlight>
                          <a:sym typeface="+mn-ea"/>
                        </a:rPr>
                        <a:t>} =</a:t>
                      </a:r>
                      <a:r>
                        <a:rPr lang="en-GB" altLang="en-US" sz="1600" b="1">
                          <a:solidFill>
                            <a:srgbClr val="FF0000"/>
                          </a:solidFill>
                          <a:highlight>
                            <a:srgbClr val="FF00FF"/>
                          </a:highlight>
                          <a:sym typeface="+mn-ea"/>
                        </a:rPr>
                        <a:t> {q2}</a:t>
                      </a:r>
                      <a:endParaRPr lang="en-GB" altLang="en-US" sz="1600" b="1">
                        <a:solidFill>
                          <a:srgbClr val="FF0000"/>
                        </a:solidFill>
                        <a:highlight>
                          <a:srgbClr val="FF00FF"/>
                        </a:highlight>
                        <a:sym typeface="+mn-ea"/>
                      </a:endParaRPr>
                    </a:p>
                  </a:txBody>
                  <a:tcPr/>
                </a:tc>
              </a:tr>
              <a:tr h="402590">
                <a:tc>
                  <a:txBody>
                    <a:bodyPr/>
                    <a:p>
                      <a:pPr>
                        <a:buNone/>
                      </a:pPr>
                      <a:r>
                        <a:rPr lang="en-GB" altLang="en-US">
                          <a:latin typeface="Arial" panose="020B0604020202020204" pitchFamily="34" charset="0"/>
                          <a:cs typeface="Arial" panose="020B0604020202020204" pitchFamily="34" charset="0"/>
                        </a:rPr>
                        <a:t>ӿ</a:t>
                      </a:r>
                      <a:r>
                        <a:rPr lang="en-GB" altLang="en-US"/>
                        <a:t>{q0,q1,q2}</a:t>
                      </a:r>
                      <a:endParaRPr lang="en-GB" altLang="en-US"/>
                    </a:p>
                  </a:txBody>
                  <a:tcPr/>
                </a:tc>
                <a:tc>
                  <a:txBody>
                    <a:bodyPr/>
                    <a:p>
                      <a:pPr>
                        <a:buNone/>
                      </a:pPr>
                      <a:r>
                        <a:rPr lang="en-GB" altLang="en-US" sz="1800">
                          <a:sym typeface="+mn-ea"/>
                        </a:rPr>
                        <a:t>{q0,q2}</a:t>
                      </a:r>
                      <a:endParaRPr lang="en-US"/>
                    </a:p>
                  </a:txBody>
                  <a:tcPr/>
                </a:tc>
                <a:tc>
                  <a:txBody>
                    <a:bodyPr/>
                    <a:p>
                      <a:pPr>
                        <a:buNone/>
                      </a:pPr>
                      <a:r>
                        <a:rPr lang="en-GB" altLang="en-US" sz="1800">
                          <a:sym typeface="+mn-ea"/>
                        </a:rPr>
                        <a:t>{q0,q1,q2}</a:t>
                      </a:r>
                      <a:endParaRPr lang="en-US"/>
                    </a:p>
                  </a:txBody>
                  <a:tcPr/>
                </a:tc>
                <a:tc>
                  <a:txBody>
                    <a:bodyPr/>
                    <a:p>
                      <a:pPr>
                        <a:buNone/>
                      </a:pPr>
                      <a:r>
                        <a:rPr lang="el-GR" altLang="x-none" sz="1600" b="1" dirty="0">
                          <a:solidFill>
                            <a:srgbClr val="FF0000"/>
                          </a:solidFill>
                          <a:sym typeface="+mn-ea"/>
                        </a:rPr>
                        <a:t>δ</a:t>
                      </a:r>
                      <a:r>
                        <a:rPr sz="1600" b="1" baseline="-25000" dirty="0">
                          <a:solidFill>
                            <a:srgbClr val="FF0000"/>
                          </a:solidFill>
                          <a:sym typeface="+mn-ea"/>
                        </a:rPr>
                        <a:t>D</a:t>
                      </a:r>
                      <a:r>
                        <a:rPr lang="en-GB" altLang="el-GR" sz="1600" b="1" dirty="0">
                          <a:solidFill>
                            <a:schemeClr val="tx1"/>
                          </a:solidFill>
                          <a:latin typeface="Times New Roman" panose="02020603050405020304" pitchFamily="18" charset="0"/>
                          <a:cs typeface="Times New Roman" panose="02020603050405020304" pitchFamily="18" charset="0"/>
                          <a:sym typeface="+mn-ea"/>
                        </a:rPr>
                        <a:t>({q0,q1,q2}, 0) = </a:t>
                      </a:r>
                      <a:r>
                        <a:rPr lang="el-GR" altLang="x-none" sz="1600" b="1" dirty="0">
                          <a:solidFill>
                            <a:srgbClr val="FF0000"/>
                          </a:solidFill>
                          <a:latin typeface="Times New Roman" panose="02020603050405020304" pitchFamily="18" charset="0"/>
                          <a:cs typeface="Times New Roman" panose="02020603050405020304" pitchFamily="18" charset="0"/>
                          <a:sym typeface="+mn-ea"/>
                        </a:rPr>
                        <a:t>δ</a:t>
                      </a:r>
                      <a:r>
                        <a:rPr sz="1600" b="1" baseline="-25000" dirty="0">
                          <a:solidFill>
                            <a:srgbClr val="FF0000"/>
                          </a:solidFill>
                          <a:latin typeface="Times New Roman" panose="02020603050405020304" pitchFamily="18" charset="0"/>
                          <a:cs typeface="Times New Roman" panose="02020603050405020304" pitchFamily="18" charset="0"/>
                          <a:sym typeface="+mn-ea"/>
                        </a:rPr>
                        <a:t>N</a:t>
                      </a:r>
                      <a:r>
                        <a:rPr lang="en-GB" altLang="en-US" sz="1600">
                          <a:sym typeface="+mn-ea"/>
                        </a:rPr>
                        <a:t>(q0, 0) </a:t>
                      </a:r>
                      <a:r>
                        <a:rPr lang="en-GB" altLang="en-US" sz="1600">
                          <a:latin typeface="Arial" panose="020B0604020202020204" pitchFamily="34" charset="0"/>
                          <a:cs typeface="Arial" panose="020B0604020202020204" pitchFamily="34" charset="0"/>
                          <a:sym typeface="+mn-ea"/>
                        </a:rPr>
                        <a:t>Ụ </a:t>
                      </a:r>
                      <a:r>
                        <a:rPr lang="el-GR" altLang="x-none" sz="1600" b="1" dirty="0">
                          <a:solidFill>
                            <a:srgbClr val="FF0000"/>
                          </a:solidFill>
                          <a:latin typeface="Times New Roman" panose="02020603050405020304" pitchFamily="18" charset="0"/>
                          <a:cs typeface="Times New Roman" panose="02020603050405020304" pitchFamily="18" charset="0"/>
                          <a:sym typeface="+mn-ea"/>
                        </a:rPr>
                        <a:t>δ</a:t>
                      </a:r>
                      <a:r>
                        <a:rPr sz="1600" b="1" baseline="-25000" dirty="0">
                          <a:solidFill>
                            <a:srgbClr val="FF0000"/>
                          </a:solidFill>
                          <a:latin typeface="Times New Roman" panose="02020603050405020304" pitchFamily="18" charset="0"/>
                          <a:cs typeface="Times New Roman" panose="02020603050405020304" pitchFamily="18" charset="0"/>
                          <a:sym typeface="+mn-ea"/>
                        </a:rPr>
                        <a:t>N</a:t>
                      </a:r>
                      <a:r>
                        <a:rPr lang="en-GB" altLang="en-US" sz="1600">
                          <a:sym typeface="+mn-ea"/>
                        </a:rPr>
                        <a:t>(q1, 0)</a:t>
                      </a:r>
                      <a:r>
                        <a:rPr lang="en-GB" altLang="en-US" sz="1600">
                          <a:latin typeface="Arial" panose="020B0604020202020204" pitchFamily="34" charset="0"/>
                          <a:cs typeface="Arial" panose="020B0604020202020204" pitchFamily="34" charset="0"/>
                          <a:sym typeface="+mn-ea"/>
                        </a:rPr>
                        <a:t>Ụ</a:t>
                      </a:r>
                      <a:r>
                        <a:rPr lang="el-GR" altLang="x-none" sz="1600" b="1" dirty="0">
                          <a:solidFill>
                            <a:srgbClr val="FF0000"/>
                          </a:solidFill>
                          <a:latin typeface="Times New Roman" panose="02020603050405020304" pitchFamily="18" charset="0"/>
                          <a:cs typeface="Times New Roman" panose="02020603050405020304" pitchFamily="18" charset="0"/>
                          <a:sym typeface="+mn-ea"/>
                        </a:rPr>
                        <a:t>δ</a:t>
                      </a:r>
                      <a:r>
                        <a:rPr sz="1600" b="1" baseline="-25000" dirty="0">
                          <a:solidFill>
                            <a:srgbClr val="FF0000"/>
                          </a:solidFill>
                          <a:latin typeface="Times New Roman" panose="02020603050405020304" pitchFamily="18" charset="0"/>
                          <a:cs typeface="Times New Roman" panose="02020603050405020304" pitchFamily="18" charset="0"/>
                          <a:sym typeface="+mn-ea"/>
                        </a:rPr>
                        <a:t>N</a:t>
                      </a:r>
                      <a:r>
                        <a:rPr lang="en-GB" altLang="en-US" sz="1600">
                          <a:sym typeface="+mn-ea"/>
                        </a:rPr>
                        <a:t>(q2, 0)</a:t>
                      </a:r>
                      <a:endParaRPr lang="en-GB" altLang="en-US" sz="1600">
                        <a:sym typeface="+mn-ea"/>
                      </a:endParaRPr>
                    </a:p>
                    <a:p>
                      <a:pPr>
                        <a:buNone/>
                      </a:pPr>
                      <a:r>
                        <a:rPr lang="en-GB" altLang="en-US" sz="1600">
                          <a:latin typeface="Arial" panose="020B0604020202020204" pitchFamily="34" charset="0"/>
                          <a:cs typeface="Arial" panose="020B0604020202020204" pitchFamily="34" charset="0"/>
                          <a:sym typeface="+mn-ea"/>
                        </a:rPr>
                        <a:t>                          = {q0} Ụ { q2} Ụ </a:t>
                      </a:r>
                      <a:r>
                        <a:rPr lang="en-GB" altLang="en-US" sz="1600">
                          <a:sym typeface="+mn-ea"/>
                        </a:rPr>
                        <a:t>{</a:t>
                      </a:r>
                      <a:r>
                        <a:rPr lang="en-GB" altLang="en-US" sz="1600">
                          <a:latin typeface="Arial" panose="020B0604020202020204" pitchFamily="34" charset="0"/>
                          <a:cs typeface="Arial" panose="020B0604020202020204" pitchFamily="34" charset="0"/>
                          <a:sym typeface="+mn-ea"/>
                        </a:rPr>
                        <a:t>Ø</a:t>
                      </a:r>
                      <a:r>
                        <a:rPr lang="en-GB" altLang="en-US" sz="1600">
                          <a:sym typeface="+mn-ea"/>
                        </a:rPr>
                        <a:t>}  </a:t>
                      </a:r>
                      <a:r>
                        <a:rPr lang="en-GB" altLang="en-US" sz="1600">
                          <a:latin typeface="Arial" panose="020B0604020202020204" pitchFamily="34" charset="0"/>
                          <a:cs typeface="Arial" panose="020B0604020202020204" pitchFamily="34" charset="0"/>
                          <a:sym typeface="+mn-ea"/>
                        </a:rPr>
                        <a:t> = </a:t>
                      </a:r>
                      <a:r>
                        <a:rPr lang="en-GB" altLang="en-US" sz="1600" b="1">
                          <a:solidFill>
                            <a:srgbClr val="FF0000"/>
                          </a:solidFill>
                          <a:highlight>
                            <a:srgbClr val="FFFF00"/>
                          </a:highlight>
                          <a:latin typeface="Arial" panose="020B0604020202020204" pitchFamily="34" charset="0"/>
                          <a:cs typeface="Arial" panose="020B0604020202020204" pitchFamily="34" charset="0"/>
                          <a:sym typeface="+mn-ea"/>
                        </a:rPr>
                        <a:t>{ q0,q2)</a:t>
                      </a:r>
                      <a:endParaRPr lang="en-GB" altLang="en-US" sz="1600">
                        <a:latin typeface="Arial" panose="020B0604020202020204" pitchFamily="34" charset="0"/>
                        <a:cs typeface="Arial" panose="020B0604020202020204" pitchFamily="34" charset="0"/>
                        <a:sym typeface="+mn-ea"/>
                      </a:endParaRPr>
                    </a:p>
                    <a:p>
                      <a:pPr>
                        <a:buNone/>
                      </a:pPr>
                      <a:r>
                        <a:rPr lang="el-GR" altLang="x-none" sz="1600" b="1" dirty="0">
                          <a:solidFill>
                            <a:srgbClr val="FF0000"/>
                          </a:solidFill>
                          <a:sym typeface="+mn-ea"/>
                        </a:rPr>
                        <a:t>δ</a:t>
                      </a:r>
                      <a:r>
                        <a:rPr sz="1600" b="1" baseline="-25000" dirty="0">
                          <a:solidFill>
                            <a:srgbClr val="FF0000"/>
                          </a:solidFill>
                          <a:sym typeface="+mn-ea"/>
                        </a:rPr>
                        <a:t>D</a:t>
                      </a:r>
                      <a:r>
                        <a:rPr lang="en-GB" altLang="el-GR" sz="1600" b="1" dirty="0">
                          <a:solidFill>
                            <a:schemeClr val="tx1"/>
                          </a:solidFill>
                          <a:latin typeface="Times New Roman" panose="02020603050405020304" pitchFamily="18" charset="0"/>
                          <a:cs typeface="Times New Roman" panose="02020603050405020304" pitchFamily="18" charset="0"/>
                          <a:sym typeface="+mn-ea"/>
                        </a:rPr>
                        <a:t>({q0,q1,q2}, 1) = </a:t>
                      </a:r>
                      <a:r>
                        <a:rPr lang="el-GR" altLang="x-none" sz="1600" b="1" dirty="0">
                          <a:solidFill>
                            <a:srgbClr val="FF0000"/>
                          </a:solidFill>
                          <a:latin typeface="Times New Roman" panose="02020603050405020304" pitchFamily="18" charset="0"/>
                          <a:cs typeface="Times New Roman" panose="02020603050405020304" pitchFamily="18" charset="0"/>
                          <a:sym typeface="+mn-ea"/>
                        </a:rPr>
                        <a:t>δ</a:t>
                      </a:r>
                      <a:r>
                        <a:rPr sz="1600" b="1" baseline="-25000" dirty="0">
                          <a:solidFill>
                            <a:srgbClr val="FF0000"/>
                          </a:solidFill>
                          <a:latin typeface="Times New Roman" panose="02020603050405020304" pitchFamily="18" charset="0"/>
                          <a:cs typeface="Times New Roman" panose="02020603050405020304" pitchFamily="18" charset="0"/>
                          <a:sym typeface="+mn-ea"/>
                        </a:rPr>
                        <a:t>N</a:t>
                      </a:r>
                      <a:r>
                        <a:rPr lang="en-GB" altLang="en-US" sz="1600">
                          <a:sym typeface="+mn-ea"/>
                        </a:rPr>
                        <a:t>(q0, 1) </a:t>
                      </a:r>
                      <a:r>
                        <a:rPr lang="en-GB" altLang="en-US" sz="1600">
                          <a:latin typeface="Arial" panose="020B0604020202020204" pitchFamily="34" charset="0"/>
                          <a:cs typeface="Arial" panose="020B0604020202020204" pitchFamily="34" charset="0"/>
                          <a:sym typeface="+mn-ea"/>
                        </a:rPr>
                        <a:t>Ụ </a:t>
                      </a:r>
                      <a:r>
                        <a:rPr lang="el-GR" altLang="x-none" sz="1600" b="1" dirty="0">
                          <a:solidFill>
                            <a:srgbClr val="FF0000"/>
                          </a:solidFill>
                          <a:latin typeface="Times New Roman" panose="02020603050405020304" pitchFamily="18" charset="0"/>
                          <a:cs typeface="Times New Roman" panose="02020603050405020304" pitchFamily="18" charset="0"/>
                          <a:sym typeface="+mn-ea"/>
                        </a:rPr>
                        <a:t>δ</a:t>
                      </a:r>
                      <a:r>
                        <a:rPr sz="1600" b="1" baseline="-25000" dirty="0">
                          <a:solidFill>
                            <a:srgbClr val="FF0000"/>
                          </a:solidFill>
                          <a:latin typeface="Times New Roman" panose="02020603050405020304" pitchFamily="18" charset="0"/>
                          <a:cs typeface="Times New Roman" panose="02020603050405020304" pitchFamily="18" charset="0"/>
                          <a:sym typeface="+mn-ea"/>
                        </a:rPr>
                        <a:t>N</a:t>
                      </a:r>
                      <a:r>
                        <a:rPr lang="en-GB" altLang="en-US" sz="1600">
                          <a:sym typeface="+mn-ea"/>
                        </a:rPr>
                        <a:t>(q1, 1)</a:t>
                      </a:r>
                      <a:r>
                        <a:rPr lang="en-GB" altLang="en-US" sz="1600">
                          <a:latin typeface="Arial" panose="020B0604020202020204" pitchFamily="34" charset="0"/>
                          <a:cs typeface="Arial" panose="020B0604020202020204" pitchFamily="34" charset="0"/>
                          <a:sym typeface="+mn-ea"/>
                        </a:rPr>
                        <a:t>Ụ</a:t>
                      </a:r>
                      <a:r>
                        <a:rPr lang="el-GR" altLang="x-none" sz="1600" b="1" dirty="0">
                          <a:solidFill>
                            <a:srgbClr val="FF0000"/>
                          </a:solidFill>
                          <a:latin typeface="Times New Roman" panose="02020603050405020304" pitchFamily="18" charset="0"/>
                          <a:cs typeface="Times New Roman" panose="02020603050405020304" pitchFamily="18" charset="0"/>
                          <a:sym typeface="+mn-ea"/>
                        </a:rPr>
                        <a:t>δ</a:t>
                      </a:r>
                      <a:r>
                        <a:rPr sz="1600" b="1" baseline="-25000" dirty="0">
                          <a:solidFill>
                            <a:srgbClr val="FF0000"/>
                          </a:solidFill>
                          <a:latin typeface="Times New Roman" panose="02020603050405020304" pitchFamily="18" charset="0"/>
                          <a:cs typeface="Times New Roman" panose="02020603050405020304" pitchFamily="18" charset="0"/>
                          <a:sym typeface="+mn-ea"/>
                        </a:rPr>
                        <a:t>N</a:t>
                      </a:r>
                      <a:r>
                        <a:rPr lang="en-GB" altLang="en-US" sz="1600">
                          <a:sym typeface="+mn-ea"/>
                        </a:rPr>
                        <a:t>(q2, 1)</a:t>
                      </a:r>
                      <a:endParaRPr lang="en-GB" altLang="en-US" sz="1600">
                        <a:sym typeface="+mn-ea"/>
                      </a:endParaRPr>
                    </a:p>
                    <a:p>
                      <a:pPr>
                        <a:buNone/>
                      </a:pPr>
                      <a:r>
                        <a:rPr lang="en-GB" altLang="en-US" sz="1600">
                          <a:latin typeface="Arial" panose="020B0604020202020204" pitchFamily="34" charset="0"/>
                          <a:cs typeface="Arial" panose="020B0604020202020204" pitchFamily="34" charset="0"/>
                          <a:sym typeface="+mn-ea"/>
                        </a:rPr>
                        <a:t>                          = {q0,q1} Ụ { q2} Ụ </a:t>
                      </a:r>
                      <a:r>
                        <a:rPr lang="en-GB" altLang="en-US" sz="1600">
                          <a:sym typeface="+mn-ea"/>
                        </a:rPr>
                        <a:t>{</a:t>
                      </a:r>
                      <a:r>
                        <a:rPr lang="en-GB" altLang="en-US" sz="1600">
                          <a:latin typeface="Arial" panose="020B0604020202020204" pitchFamily="34" charset="0"/>
                          <a:cs typeface="Arial" panose="020B0604020202020204" pitchFamily="34" charset="0"/>
                          <a:sym typeface="+mn-ea"/>
                        </a:rPr>
                        <a:t>Ø</a:t>
                      </a:r>
                      <a:r>
                        <a:rPr lang="en-GB" altLang="en-US" sz="1600">
                          <a:sym typeface="+mn-ea"/>
                        </a:rPr>
                        <a:t>} </a:t>
                      </a:r>
                      <a:r>
                        <a:rPr lang="en-GB" altLang="en-US" sz="1600">
                          <a:latin typeface="Arial" panose="020B0604020202020204" pitchFamily="34" charset="0"/>
                          <a:cs typeface="Arial" panose="020B0604020202020204" pitchFamily="34" charset="0"/>
                          <a:sym typeface="+mn-ea"/>
                        </a:rPr>
                        <a:t>= </a:t>
                      </a:r>
                      <a:r>
                        <a:rPr lang="en-GB" altLang="en-US" sz="1600" b="1">
                          <a:solidFill>
                            <a:srgbClr val="FF0000"/>
                          </a:solidFill>
                          <a:highlight>
                            <a:srgbClr val="FFFF00"/>
                          </a:highlight>
                          <a:latin typeface="Arial" panose="020B0604020202020204" pitchFamily="34" charset="0"/>
                          <a:cs typeface="Arial" panose="020B0604020202020204" pitchFamily="34" charset="0"/>
                          <a:sym typeface="+mn-ea"/>
                        </a:rPr>
                        <a:t>{ q0, q1,q2 }</a:t>
                      </a:r>
                      <a:endParaRPr lang="en-GB" altLang="en-US" sz="1600" b="1">
                        <a:solidFill>
                          <a:srgbClr val="FF0000"/>
                        </a:solidFill>
                        <a:highlight>
                          <a:srgbClr val="FFFF00"/>
                        </a:highlight>
                        <a:latin typeface="Arial" panose="020B0604020202020204" pitchFamily="34" charset="0"/>
                        <a:cs typeface="Arial" panose="020B0604020202020204" pitchFamily="34" charset="0"/>
                        <a:sym typeface="+mn-ea"/>
                      </a:endParaRPr>
                    </a:p>
                  </a:txBody>
                  <a:tcPr/>
                </a:tc>
              </a:tr>
            </a:tbl>
          </a:graphicData>
        </a:graphic>
      </p:graphicFrame>
      <p:sp>
        <p:nvSpPr>
          <p:cNvPr id="2" name="Footer Placeholder 1"/>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16535" y="274955"/>
            <a:ext cx="8721725" cy="916305"/>
          </a:xfrm>
        </p:spPr>
        <p:txBody>
          <a:bodyPr/>
          <a:p>
            <a:pPr algn="l"/>
            <a:r>
              <a:rPr lang="en-US" sz="3200" b="1" noProof="0" dirty="0" smtClean="0">
                <a:ln>
                  <a:noFill/>
                </a:ln>
                <a:solidFill>
                  <a:srgbClr val="FF0000"/>
                </a:solidFill>
                <a:effectLst/>
                <a:uLnTx/>
                <a:uFillTx/>
                <a:sym typeface="+mn-ea"/>
              </a:rPr>
              <a:t>Conversion of NFA to DFA </a:t>
            </a:r>
            <a:r>
              <a:rPr lang="en-GB" altLang="en-US" sz="3200" b="1" noProof="0" dirty="0" smtClean="0">
                <a:ln>
                  <a:noFill/>
                </a:ln>
                <a:solidFill>
                  <a:srgbClr val="FF0000"/>
                </a:solidFill>
                <a:effectLst/>
                <a:uLnTx/>
                <a:uFillTx/>
                <a:sym typeface="+mn-ea"/>
              </a:rPr>
              <a:t>by </a:t>
            </a:r>
            <a:r>
              <a:rPr lang="en-US" sz="3200" b="1" noProof="0" dirty="0" smtClean="0">
                <a:ln>
                  <a:noFill/>
                </a:ln>
                <a:solidFill>
                  <a:srgbClr val="FF0000"/>
                </a:solidFill>
                <a:effectLst/>
                <a:uLnTx/>
                <a:uFillTx/>
                <a:sym typeface="+mn-ea"/>
              </a:rPr>
              <a:t>using </a:t>
            </a:r>
            <a:r>
              <a:rPr lang="en-GB" altLang="en-US" sz="3200" b="1" noProof="0" dirty="0" smtClean="0">
                <a:ln>
                  <a:noFill/>
                </a:ln>
                <a:solidFill>
                  <a:srgbClr val="00B0F0"/>
                </a:solidFill>
                <a:effectLst/>
                <a:uLnTx/>
                <a:uFillTx/>
                <a:sym typeface="+mn-ea"/>
              </a:rPr>
              <a:t>Subset Construction Scheme by Lasy Evaluation</a:t>
            </a:r>
            <a:endParaRPr lang="en-US" sz="3200" b="1"/>
          </a:p>
        </p:txBody>
      </p:sp>
      <p:sp>
        <p:nvSpPr>
          <p:cNvPr id="3" name="Content Placeholder 2"/>
          <p:cNvSpPr>
            <a:spLocks noGrp="1"/>
          </p:cNvSpPr>
          <p:nvPr>
            <p:ph idx="1"/>
          </p:nvPr>
        </p:nvSpPr>
        <p:spPr>
          <a:xfrm>
            <a:off x="457200" y="1368425"/>
            <a:ext cx="8229600" cy="4758055"/>
          </a:xfrm>
        </p:spPr>
        <p:txBody>
          <a:bodyPr/>
          <a:p>
            <a:pPr marL="0" indent="0" algn="just">
              <a:buNone/>
            </a:pPr>
            <a:r>
              <a:rPr kumimoji="0" lang="en-GB" altLang="en-US" b="0" i="0" u="none" strike="noStrike" kern="1200" cap="none" spc="0" normalizeH="0" baseline="0" noProof="0" dirty="0" smtClean="0">
                <a:ln>
                  <a:noFill/>
                </a:ln>
                <a:solidFill>
                  <a:srgbClr val="FF0000"/>
                </a:solidFill>
                <a:effectLst/>
                <a:uLnTx/>
                <a:uFillTx/>
                <a:latin typeface="+mj-lt"/>
                <a:ea typeface="+mj-ea"/>
                <a:cs typeface="+mj-cs"/>
                <a:sym typeface="+mn-ea"/>
              </a:rPr>
              <a:t>   </a:t>
            </a:r>
            <a:r>
              <a:rPr kumimoji="0" lang="en-GB" altLang="en-US" b="0" i="0" u="none" strike="noStrike" kern="1200" cap="none" spc="0" normalizeH="0" baseline="0" noProof="0" dirty="0" smtClean="0">
                <a:ln>
                  <a:noFill/>
                </a:ln>
                <a:solidFill>
                  <a:schemeClr val="tx1"/>
                </a:solidFill>
                <a:effectLst/>
                <a:uLnTx/>
                <a:uFillTx/>
                <a:latin typeface="+mj-lt"/>
                <a:ea typeface="+mj-ea"/>
                <a:cs typeface="+mj-cs"/>
                <a:sym typeface="+mn-ea"/>
              </a:rPr>
              <a:t>In this method we will not consider </a:t>
            </a:r>
            <a:r>
              <a:rPr kumimoji="0" lang="en-GB" altLang="en-US" b="1" i="0" u="none" strike="noStrike" kern="1200" cap="none" spc="0" normalizeH="0" baseline="0" noProof="0" dirty="0" smtClean="0">
                <a:ln>
                  <a:noFill/>
                </a:ln>
                <a:solidFill>
                  <a:srgbClr val="FF0000"/>
                </a:solidFill>
                <a:effectLst/>
                <a:uLnTx/>
                <a:uFillTx/>
                <a:latin typeface="+mj-lt"/>
                <a:ea typeface="+mj-ea"/>
                <a:cs typeface="+mj-cs"/>
                <a:sym typeface="+mn-ea"/>
              </a:rPr>
              <a:t>2</a:t>
            </a:r>
            <a:r>
              <a:rPr kumimoji="0" lang="en-GB" altLang="en-US" b="1" i="0" u="none" strike="noStrike" kern="1200" cap="none" spc="0" normalizeH="0" baseline="30000" noProof="0" dirty="0" smtClean="0">
                <a:ln>
                  <a:noFill/>
                </a:ln>
                <a:solidFill>
                  <a:srgbClr val="FF0000"/>
                </a:solidFill>
                <a:effectLst/>
                <a:uLnTx/>
                <a:uFillTx/>
                <a:latin typeface="+mj-lt"/>
                <a:ea typeface="+mj-ea"/>
                <a:cs typeface="+mj-cs"/>
                <a:sym typeface="+mn-ea"/>
              </a:rPr>
              <a:t>N</a:t>
            </a:r>
            <a:r>
              <a:rPr kumimoji="0" lang="en-GB" altLang="en-US" b="1" i="0" u="none" strike="noStrike" kern="1200" cap="none" spc="0" normalizeH="0" baseline="0" noProof="0" dirty="0" smtClean="0">
                <a:ln>
                  <a:noFill/>
                </a:ln>
                <a:solidFill>
                  <a:srgbClr val="FF0000"/>
                </a:solidFill>
                <a:effectLst/>
                <a:uLnTx/>
                <a:uFillTx/>
                <a:latin typeface="+mj-lt"/>
                <a:ea typeface="+mj-ea"/>
                <a:cs typeface="+mj-cs"/>
                <a:sym typeface="+mn-ea"/>
              </a:rPr>
              <a:t> number of states </a:t>
            </a:r>
            <a:r>
              <a:rPr kumimoji="0" lang="en-GB" altLang="en-US" b="0" i="0" u="none" strike="noStrike" kern="1200" cap="none" spc="0" normalizeH="0" baseline="0" noProof="0" dirty="0" smtClean="0">
                <a:ln>
                  <a:noFill/>
                </a:ln>
                <a:solidFill>
                  <a:schemeClr val="tx1"/>
                </a:solidFill>
                <a:effectLst/>
                <a:uLnTx/>
                <a:uFillTx/>
                <a:latin typeface="+mj-lt"/>
                <a:ea typeface="+mj-ea"/>
                <a:cs typeface="+mj-cs"/>
                <a:sym typeface="+mn-ea"/>
              </a:rPr>
              <a:t>in finding </a:t>
            </a:r>
            <a:r>
              <a:rPr lang="el-GR" altLang="x-none" b="1" dirty="0">
                <a:solidFill>
                  <a:srgbClr val="FF0000"/>
                </a:solidFill>
                <a:sym typeface="+mn-ea"/>
              </a:rPr>
              <a:t>δ</a:t>
            </a:r>
            <a:r>
              <a:rPr b="1" baseline="-25000" dirty="0">
                <a:solidFill>
                  <a:srgbClr val="FF0000"/>
                </a:solidFill>
                <a:sym typeface="+mn-ea"/>
              </a:rPr>
              <a:t>D</a:t>
            </a:r>
            <a:r>
              <a:rPr lang="en-GB" b="1" baseline="-25000" dirty="0">
                <a:solidFill>
                  <a:srgbClr val="FF0000"/>
                </a:solidFill>
                <a:sym typeface="+mn-ea"/>
              </a:rPr>
              <a:t> </a:t>
            </a:r>
            <a:r>
              <a:rPr kumimoji="0" lang="en-GB" altLang="en-US" b="0" i="0" u="none" strike="noStrike" kern="1200" cap="none" spc="0" normalizeH="0" baseline="0" noProof="0" dirty="0" smtClean="0">
                <a:ln>
                  <a:noFill/>
                </a:ln>
                <a:solidFill>
                  <a:schemeClr val="tx1"/>
                </a:solidFill>
                <a:effectLst/>
                <a:uLnTx/>
                <a:uFillTx/>
                <a:latin typeface="+mj-lt"/>
                <a:ea typeface="+mj-ea"/>
                <a:cs typeface="+mj-cs"/>
                <a:sym typeface="+mn-ea"/>
              </a:rPr>
              <a:t> as not all states are relevant. </a:t>
            </a:r>
            <a:endParaRPr kumimoji="0" lang="en-GB" altLang="en-US" b="0" i="0" u="none" strike="noStrike" kern="1200" cap="none" spc="0" normalizeH="0" baseline="0" noProof="0" dirty="0" smtClean="0">
              <a:ln>
                <a:noFill/>
              </a:ln>
              <a:solidFill>
                <a:schemeClr val="tx1"/>
              </a:solidFill>
              <a:effectLst/>
              <a:uLnTx/>
              <a:uFillTx/>
              <a:latin typeface="+mj-lt"/>
              <a:ea typeface="+mj-ea"/>
              <a:cs typeface="+mj-cs"/>
              <a:sym typeface="+mn-ea"/>
            </a:endParaRPr>
          </a:p>
          <a:p>
            <a:pPr marL="0" indent="0" algn="just">
              <a:buNone/>
            </a:pPr>
            <a:r>
              <a:rPr kumimoji="0" lang="en-GB" altLang="en-US" b="0" i="0" u="none" strike="noStrike" kern="1200" cap="none" spc="0" normalizeH="0" baseline="0" noProof="0" dirty="0" smtClean="0">
                <a:ln>
                  <a:noFill/>
                </a:ln>
                <a:solidFill>
                  <a:schemeClr val="tx1"/>
                </a:solidFill>
                <a:effectLst/>
                <a:uLnTx/>
                <a:uFillTx/>
                <a:latin typeface="+mj-lt"/>
                <a:ea typeface="+mj-ea"/>
                <a:cs typeface="+mj-cs"/>
                <a:sym typeface="+mn-ea"/>
              </a:rPr>
              <a:t>   i.e few states which are </a:t>
            </a:r>
            <a:r>
              <a:rPr kumimoji="0" lang="en-GB" altLang="en-US" b="1" i="0" u="none" strike="noStrike" kern="1200" cap="none" spc="0" normalizeH="0" baseline="0" noProof="0" dirty="0" smtClean="0">
                <a:ln>
                  <a:noFill/>
                </a:ln>
                <a:solidFill>
                  <a:srgbClr val="FF0000"/>
                </a:solidFill>
                <a:effectLst/>
                <a:uLnTx/>
                <a:uFillTx/>
                <a:latin typeface="+mj-lt"/>
                <a:ea typeface="+mj-ea"/>
                <a:cs typeface="+mj-cs"/>
                <a:sym typeface="+mn-ea"/>
              </a:rPr>
              <a:t>not reachable</a:t>
            </a:r>
            <a:r>
              <a:rPr kumimoji="0" lang="en-GB" altLang="en-US" b="0" i="0" u="none" strike="noStrike" kern="1200" cap="none" spc="0" normalizeH="0" baseline="0" noProof="0" dirty="0" smtClean="0">
                <a:ln>
                  <a:noFill/>
                </a:ln>
                <a:solidFill>
                  <a:schemeClr val="tx1"/>
                </a:solidFill>
                <a:effectLst/>
                <a:uLnTx/>
                <a:uFillTx/>
                <a:latin typeface="+mj-lt"/>
                <a:ea typeface="+mj-ea"/>
                <a:cs typeface="+mj-cs"/>
                <a:sym typeface="+mn-ea"/>
              </a:rPr>
              <a:t> from start state are irrelavant and those states should not </a:t>
            </a:r>
            <a:r>
              <a:rPr kumimoji="0" lang="en-IN" altLang="en-GB" b="0" i="0" u="none" strike="noStrike" kern="1200" cap="none" spc="0" normalizeH="0" baseline="0" noProof="0" dirty="0" smtClean="0">
                <a:ln>
                  <a:noFill/>
                </a:ln>
                <a:solidFill>
                  <a:schemeClr val="tx1"/>
                </a:solidFill>
                <a:effectLst/>
                <a:uLnTx/>
                <a:uFillTx/>
                <a:latin typeface="+mj-lt"/>
                <a:ea typeface="+mj-ea"/>
                <a:cs typeface="+mj-cs"/>
                <a:sym typeface="+mn-ea"/>
              </a:rPr>
              <a:t>be </a:t>
            </a:r>
            <a:r>
              <a:rPr kumimoji="0" lang="en-GB" altLang="en-US" b="0" i="0" u="none" strike="noStrike" kern="1200" cap="none" spc="0" normalizeH="0" baseline="0" noProof="0" dirty="0" smtClean="0">
                <a:ln>
                  <a:noFill/>
                </a:ln>
                <a:solidFill>
                  <a:schemeClr val="tx1"/>
                </a:solidFill>
                <a:effectLst/>
                <a:uLnTx/>
                <a:uFillTx/>
                <a:latin typeface="+mj-lt"/>
                <a:ea typeface="+mj-ea"/>
                <a:cs typeface="+mj-cs"/>
                <a:sym typeface="+mn-ea"/>
              </a:rPr>
              <a:t>considered </a:t>
            </a:r>
            <a:r>
              <a:rPr kumimoji="0" lang="en-IN" altLang="en-GB" b="0" i="0" u="none" strike="noStrike" kern="1200" cap="none" spc="0" normalizeH="0" baseline="0" noProof="0" dirty="0" smtClean="0">
                <a:ln>
                  <a:noFill/>
                </a:ln>
                <a:solidFill>
                  <a:schemeClr val="tx1"/>
                </a:solidFill>
                <a:effectLst/>
                <a:uLnTx/>
                <a:uFillTx/>
                <a:latin typeface="+mj-lt"/>
                <a:ea typeface="+mj-ea"/>
                <a:cs typeface="+mj-cs"/>
                <a:sym typeface="+mn-ea"/>
              </a:rPr>
              <a:t>while</a:t>
            </a:r>
            <a:r>
              <a:rPr kumimoji="0" lang="en-GB" altLang="en-US" b="0" i="0" u="none" strike="noStrike" kern="1200" cap="none" spc="0" normalizeH="0" baseline="0" noProof="0" dirty="0" smtClean="0">
                <a:ln>
                  <a:noFill/>
                </a:ln>
                <a:solidFill>
                  <a:schemeClr val="tx1"/>
                </a:solidFill>
                <a:effectLst/>
                <a:uLnTx/>
                <a:uFillTx/>
                <a:latin typeface="+mj-lt"/>
                <a:ea typeface="+mj-ea"/>
                <a:cs typeface="+mj-cs"/>
                <a:sym typeface="+mn-ea"/>
              </a:rPr>
              <a:t> computing </a:t>
            </a:r>
            <a:r>
              <a:rPr lang="el-GR" altLang="x-none" b="1" dirty="0">
                <a:solidFill>
                  <a:srgbClr val="FF0000"/>
                </a:solidFill>
                <a:sym typeface="+mn-ea"/>
              </a:rPr>
              <a:t>δ</a:t>
            </a:r>
            <a:r>
              <a:rPr b="1" baseline="-25000" dirty="0">
                <a:solidFill>
                  <a:srgbClr val="FF0000"/>
                </a:solidFill>
                <a:sym typeface="+mn-ea"/>
              </a:rPr>
              <a:t>D</a:t>
            </a:r>
            <a:r>
              <a:rPr lang="en-GB" b="1" baseline="-25000" dirty="0">
                <a:sym typeface="+mn-ea"/>
              </a:rPr>
              <a:t> </a:t>
            </a:r>
            <a:r>
              <a:rPr kumimoji="0" lang="en-IN" altLang="en-GB" b="0" i="0" u="none" strike="noStrike" kern="1200" cap="none" spc="0" normalizeH="0" baseline="0" noProof="0" dirty="0" smtClean="0">
                <a:ln>
                  <a:noFill/>
                </a:ln>
                <a:solidFill>
                  <a:schemeClr val="tx1"/>
                </a:solidFill>
                <a:effectLst/>
                <a:uLnTx/>
                <a:uFillTx/>
                <a:latin typeface="+mj-lt"/>
                <a:ea typeface="+mj-ea"/>
                <a:cs typeface="+mj-cs"/>
                <a:sym typeface="+mn-ea"/>
              </a:rPr>
              <a:t> for DFA.</a:t>
            </a:r>
            <a:r>
              <a:rPr kumimoji="0" lang="en-GB" altLang="en-US" b="0" i="0" u="none" strike="noStrike" kern="1200" cap="none" spc="0" normalizeH="0" baseline="0" noProof="0" dirty="0" smtClean="0">
                <a:ln>
                  <a:noFill/>
                </a:ln>
                <a:solidFill>
                  <a:schemeClr val="tx1"/>
                </a:solidFill>
                <a:effectLst/>
                <a:uLnTx/>
                <a:uFillTx/>
                <a:latin typeface="+mj-lt"/>
                <a:ea typeface="+mj-ea"/>
                <a:cs typeface="+mj-cs"/>
                <a:sym typeface="+mn-ea"/>
              </a:rPr>
              <a:t> </a:t>
            </a:r>
            <a:endParaRPr kumimoji="0" lang="en-GB" altLang="en-US" b="0" i="0" u="none" strike="noStrike" kern="1200" cap="none" spc="0" normalizeH="0" baseline="0" noProof="0" dirty="0" smtClean="0">
              <a:ln>
                <a:noFill/>
              </a:ln>
              <a:solidFill>
                <a:schemeClr val="tx1"/>
              </a:solidFill>
              <a:effectLst/>
              <a:uLnTx/>
              <a:uFillTx/>
              <a:latin typeface="+mj-lt"/>
              <a:ea typeface="+mj-ea"/>
              <a:cs typeface="+mj-cs"/>
              <a:sym typeface="+mn-ea"/>
            </a:endParaRPr>
          </a:p>
          <a:p>
            <a:pPr marL="0" indent="0" algn="just">
              <a:buNone/>
            </a:pPr>
            <a:r>
              <a:rPr kumimoji="0" lang="en-GB" altLang="en-US" b="0" i="0" u="none" strike="noStrike" kern="1200" cap="none" spc="0" normalizeH="0" baseline="0" noProof="0" dirty="0" smtClean="0">
                <a:ln>
                  <a:noFill/>
                </a:ln>
                <a:solidFill>
                  <a:schemeClr val="tx1"/>
                </a:solidFill>
                <a:effectLst/>
                <a:uLnTx/>
                <a:uFillTx/>
                <a:latin typeface="+mj-lt"/>
                <a:ea typeface="+mj-ea"/>
                <a:cs typeface="+mj-cs"/>
                <a:sym typeface="+mn-ea"/>
              </a:rPr>
              <a:t>  This method of computing </a:t>
            </a:r>
            <a:r>
              <a:rPr lang="el-GR" altLang="x-none" b="1" dirty="0">
                <a:solidFill>
                  <a:srgbClr val="FF0000"/>
                </a:solidFill>
                <a:sym typeface="+mn-ea"/>
              </a:rPr>
              <a:t>δ</a:t>
            </a:r>
            <a:r>
              <a:rPr b="1" baseline="-25000" dirty="0">
                <a:solidFill>
                  <a:srgbClr val="FF0000"/>
                </a:solidFill>
                <a:sym typeface="+mn-ea"/>
              </a:rPr>
              <a:t>D</a:t>
            </a:r>
            <a:r>
              <a:rPr lang="en-GB" b="1" baseline="-25000" dirty="0">
                <a:solidFill>
                  <a:srgbClr val="FF0000"/>
                </a:solidFill>
                <a:sym typeface="+mn-ea"/>
              </a:rPr>
              <a:t> </a:t>
            </a:r>
            <a:r>
              <a:rPr kumimoji="0" lang="en-GB" altLang="en-US" b="0" i="0" u="none" strike="noStrike" kern="1200" cap="none" spc="0" normalizeH="0" baseline="0" noProof="0" dirty="0" smtClean="0">
                <a:ln>
                  <a:noFill/>
                </a:ln>
                <a:solidFill>
                  <a:schemeClr val="tx1"/>
                </a:solidFill>
                <a:effectLst/>
                <a:uLnTx/>
                <a:uFillTx/>
                <a:latin typeface="+mj-lt"/>
                <a:ea typeface="+mj-ea"/>
                <a:cs typeface="+mj-cs"/>
                <a:sym typeface="+mn-ea"/>
              </a:rPr>
              <a:t>only</a:t>
            </a:r>
            <a:r>
              <a:rPr kumimoji="0" lang="en-IN" altLang="en-GB" b="0" i="0" u="none" strike="noStrike" kern="1200" cap="none" spc="0" normalizeH="0" baseline="0" noProof="0" dirty="0" smtClean="0">
                <a:ln>
                  <a:noFill/>
                </a:ln>
                <a:solidFill>
                  <a:schemeClr val="tx1"/>
                </a:solidFill>
                <a:effectLst/>
                <a:uLnTx/>
                <a:uFillTx/>
                <a:latin typeface="+mj-lt"/>
                <a:ea typeface="+mj-ea"/>
                <a:cs typeface="+mj-cs"/>
                <a:sym typeface="+mn-ea"/>
              </a:rPr>
              <a:t> for</a:t>
            </a:r>
            <a:r>
              <a:rPr kumimoji="0" lang="en-GB" altLang="en-US" b="0" i="0" u="none" strike="noStrike" kern="1200" cap="none" spc="0" normalizeH="0" baseline="0" noProof="0" dirty="0" smtClean="0">
                <a:ln>
                  <a:noFill/>
                </a:ln>
                <a:solidFill>
                  <a:schemeClr val="tx1"/>
                </a:solidFill>
                <a:effectLst/>
                <a:uLnTx/>
                <a:uFillTx/>
                <a:latin typeface="+mj-lt"/>
                <a:ea typeface="+mj-ea"/>
                <a:cs typeface="+mj-cs"/>
                <a:sym typeface="+mn-ea"/>
              </a:rPr>
              <a:t> relevant state (reachable state) is called </a:t>
            </a:r>
            <a:r>
              <a:rPr kumimoji="0" lang="en-GB" altLang="en-US" b="1" i="0" u="none" strike="noStrike" kern="1200" cap="none" spc="0" normalizeH="0" baseline="0" noProof="0" dirty="0" smtClean="0">
                <a:ln>
                  <a:noFill/>
                </a:ln>
                <a:solidFill>
                  <a:srgbClr val="00B0F0"/>
                </a:solidFill>
                <a:effectLst/>
                <a:uLnTx/>
                <a:uFillTx/>
                <a:latin typeface="+mj-lt"/>
                <a:ea typeface="+mj-ea"/>
                <a:cs typeface="+mj-cs"/>
                <a:sym typeface="+mn-ea"/>
              </a:rPr>
              <a:t>subset construction scheme by Lazy evaluation</a:t>
            </a:r>
            <a:endParaRPr kumimoji="0" lang="en-GB" altLang="en-US" b="1" i="0" u="none" strike="noStrike" kern="1200" cap="none" spc="0" normalizeH="0" baseline="0" noProof="0" dirty="0" smtClean="0">
              <a:ln>
                <a:noFill/>
              </a:ln>
              <a:solidFill>
                <a:srgbClr val="00B0F0"/>
              </a:solidFill>
              <a:effectLst/>
              <a:uLnTx/>
              <a:uFillTx/>
              <a:latin typeface="+mj-lt"/>
              <a:ea typeface="+mj-ea"/>
              <a:cs typeface="+mj-cs"/>
              <a:sym typeface="+mn-ea"/>
            </a:endParaRPr>
          </a:p>
          <a:p>
            <a:pPr marL="0" indent="0">
              <a:buNone/>
            </a:pPr>
            <a:endParaRPr kumimoji="0" lang="en-US" b="0" i="0" u="none" strike="noStrike" kern="1200" cap="none" spc="0" normalizeH="0" baseline="0" noProof="0" dirty="0" smtClean="0">
              <a:ln>
                <a:noFill/>
              </a:ln>
              <a:solidFill>
                <a:schemeClr val="tx1"/>
              </a:solidFill>
              <a:effectLst/>
              <a:uLnTx/>
              <a:uFillTx/>
              <a:latin typeface="+mj-lt"/>
              <a:ea typeface="+mj-ea"/>
              <a:cs typeface="+mj-cs"/>
            </a:endParaRPr>
          </a:p>
          <a:p>
            <a:pPr marL="0" indent="0">
              <a:buNone/>
            </a:pPr>
            <a:endParaRPr kumimoji="0" lang="en-US" b="0" i="0" u="none" strike="noStrike" kern="1200" cap="none" spc="0" normalizeH="0" baseline="0" noProof="0" dirty="0" smtClean="0">
              <a:ln>
                <a:noFill/>
              </a:ln>
              <a:solidFill>
                <a:schemeClr val="tx1"/>
              </a:solidFill>
              <a:effectLst/>
              <a:uLnTx/>
              <a:uFillTx/>
              <a:latin typeface="+mj-lt"/>
              <a:ea typeface="+mj-ea"/>
              <a:cs typeface="+mj-cs"/>
            </a:endParaRPr>
          </a:p>
        </p:txBody>
      </p:sp>
      <p:sp>
        <p:nvSpPr>
          <p:cNvPr id="4" name="Footer Placeholder 3"/>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57200" y="304800"/>
            <a:ext cx="8229600" cy="6346825"/>
          </a:xfrm>
        </p:spPr>
        <p:txBody>
          <a:bodyPr vert="horz" wrap="square" lIns="91440" tIns="45720" rIns="91440" bIns="45720" numCol="1" rtlCol="0" anchor="t" anchorCtr="0" compatLnSpc="1"/>
          <a:p>
            <a:pPr eaLnBrk="1" hangingPunct="1">
              <a:lnSpc>
                <a:spcPct val="90000"/>
              </a:lnSpc>
              <a:buNone/>
            </a:pPr>
            <a:r>
              <a:rPr lang="en-US" altLang="en-US" sz="2700" dirty="0">
                <a:sym typeface="+mn-ea"/>
              </a:rPr>
              <a:t>1. Initialize DFA state </a:t>
            </a:r>
            <a:r>
              <a:rPr lang="en-US" altLang="en-US" sz="2700" b="1" dirty="0">
                <a:solidFill>
                  <a:srgbClr val="FF0000"/>
                </a:solidFill>
                <a:sym typeface="+mn-ea"/>
              </a:rPr>
              <a:t>set QD to {q0}</a:t>
            </a:r>
            <a:r>
              <a:rPr lang="en-US" altLang="en-US" sz="2700" dirty="0">
                <a:sym typeface="+mn-ea"/>
              </a:rPr>
              <a:t> </a:t>
            </a:r>
            <a:r>
              <a:rPr lang="en-GB" altLang="en-US" sz="2700" dirty="0">
                <a:sym typeface="+mn-ea"/>
              </a:rPr>
              <a:t>and </a:t>
            </a:r>
            <a:r>
              <a:rPr lang="en-US" altLang="en-US" sz="2700" dirty="0">
                <a:sym typeface="+mn-ea"/>
              </a:rPr>
              <a:t>is the </a:t>
            </a:r>
            <a:r>
              <a:rPr lang="en-US" altLang="en-US" sz="2700" b="1" dirty="0">
                <a:solidFill>
                  <a:srgbClr val="FF0000"/>
                </a:solidFill>
                <a:sym typeface="+mn-ea"/>
              </a:rPr>
              <a:t>start state of DFA D</a:t>
            </a:r>
            <a:r>
              <a:rPr lang="en-US" altLang="en-US" sz="2700" dirty="0">
                <a:sym typeface="+mn-ea"/>
              </a:rPr>
              <a:t> which is the set containing only the </a:t>
            </a:r>
            <a:r>
              <a:rPr lang="en-US" altLang="en-US" sz="2700" b="1" dirty="0">
                <a:solidFill>
                  <a:srgbClr val="FF0000"/>
                </a:solidFill>
                <a:sym typeface="+mn-ea"/>
              </a:rPr>
              <a:t>start state of NFA N.</a:t>
            </a:r>
            <a:endParaRPr lang="en-US" altLang="en-US" sz="2700" b="1" baseline="-25000" dirty="0">
              <a:solidFill>
                <a:srgbClr val="FF0000"/>
              </a:solidFill>
            </a:endParaRPr>
          </a:p>
          <a:p>
            <a:pPr eaLnBrk="1" hangingPunct="1">
              <a:lnSpc>
                <a:spcPct val="90000"/>
              </a:lnSpc>
              <a:buNone/>
            </a:pPr>
            <a:r>
              <a:rPr sz="2700" dirty="0"/>
              <a:t>2.</a:t>
            </a:r>
            <a:r>
              <a:rPr sz="2700" b="1" dirty="0"/>
              <a:t> While</a:t>
            </a:r>
            <a:r>
              <a:rPr sz="2700" dirty="0"/>
              <a:t> (</a:t>
            </a:r>
            <a:r>
              <a:rPr lang="el-GR" altLang="x-none" sz="2700" b="1" dirty="0">
                <a:solidFill>
                  <a:srgbClr val="FF0000"/>
                </a:solidFill>
              </a:rPr>
              <a:t>δ</a:t>
            </a:r>
            <a:r>
              <a:rPr sz="2700" b="1" baseline="-25000" dirty="0">
                <a:solidFill>
                  <a:srgbClr val="FF0000"/>
                </a:solidFill>
              </a:rPr>
              <a:t>D</a:t>
            </a:r>
            <a:r>
              <a:rPr sz="2700" dirty="0"/>
              <a:t> for all DFA state in </a:t>
            </a:r>
            <a:r>
              <a:rPr sz="2700" dirty="0">
                <a:solidFill>
                  <a:srgbClr val="FF0000"/>
                </a:solidFill>
              </a:rPr>
              <a:t>Q</a:t>
            </a:r>
            <a:r>
              <a:rPr sz="2700" baseline="-25000" dirty="0">
                <a:solidFill>
                  <a:srgbClr val="FF0000"/>
                </a:solidFill>
              </a:rPr>
              <a:t>D</a:t>
            </a:r>
            <a:r>
              <a:rPr sz="2700" dirty="0"/>
              <a:t> is not defined) </a:t>
            </a:r>
            <a:r>
              <a:rPr sz="2700" b="1" dirty="0"/>
              <a:t>Do </a:t>
            </a:r>
            <a:endParaRPr sz="2700" b="1" dirty="0"/>
          </a:p>
          <a:p>
            <a:pPr eaLnBrk="1" hangingPunct="1">
              <a:lnSpc>
                <a:spcPct val="90000"/>
              </a:lnSpc>
              <a:buNone/>
            </a:pPr>
            <a:r>
              <a:rPr sz="2700" b="1" dirty="0"/>
              <a:t> </a:t>
            </a:r>
            <a:r>
              <a:rPr lang="en-GB" sz="2700" b="1" dirty="0"/>
              <a:t>    </a:t>
            </a:r>
            <a:r>
              <a:rPr sz="2700" b="1" dirty="0"/>
              <a:t>Begin</a:t>
            </a:r>
            <a:endParaRPr sz="2700" b="1" dirty="0"/>
          </a:p>
          <a:p>
            <a:pPr eaLnBrk="1" hangingPunct="1">
              <a:lnSpc>
                <a:spcPct val="90000"/>
              </a:lnSpc>
              <a:buNone/>
            </a:pPr>
            <a:r>
              <a:rPr sz="2700" b="1" dirty="0"/>
              <a:t>              </a:t>
            </a:r>
            <a:r>
              <a:rPr sz="2700" dirty="0"/>
              <a:t>For each state </a:t>
            </a:r>
            <a:r>
              <a:rPr sz="2700" b="1" dirty="0">
                <a:solidFill>
                  <a:srgbClr val="FF0000"/>
                </a:solidFill>
              </a:rPr>
              <a:t>‘S’ in Q</a:t>
            </a:r>
            <a:r>
              <a:rPr sz="2700" b="1" baseline="-25000" dirty="0">
                <a:solidFill>
                  <a:srgbClr val="FF0000"/>
                </a:solidFill>
              </a:rPr>
              <a:t>D</a:t>
            </a:r>
            <a:r>
              <a:rPr sz="2700" dirty="0"/>
              <a:t> and for each </a:t>
            </a:r>
            <a:r>
              <a:rPr sz="2700" b="1" dirty="0">
                <a:solidFill>
                  <a:srgbClr val="FF0000"/>
                </a:solidFill>
              </a:rPr>
              <a:t>‘a’  in ∑</a:t>
            </a:r>
            <a:r>
              <a:rPr sz="2700" b="1" dirty="0"/>
              <a:t>   </a:t>
            </a:r>
            <a:r>
              <a:rPr sz="2700" dirty="0"/>
              <a:t>find </a:t>
            </a:r>
            <a:r>
              <a:rPr lang="en-GB" sz="2700" dirty="0"/>
              <a:t>	  </a:t>
            </a:r>
            <a:r>
              <a:rPr sz="2700" dirty="0"/>
              <a:t>next state </a:t>
            </a:r>
            <a:r>
              <a:rPr sz="2700" dirty="0">
                <a:solidFill>
                  <a:srgbClr val="FF0000"/>
                </a:solidFill>
              </a:rPr>
              <a:t>T</a:t>
            </a:r>
            <a:r>
              <a:rPr sz="2700" baseline="-25000" dirty="0">
                <a:solidFill>
                  <a:srgbClr val="FF0000"/>
                </a:solidFill>
              </a:rPr>
              <a:t>D</a:t>
            </a:r>
            <a:r>
              <a:rPr sz="2700" dirty="0">
                <a:solidFill>
                  <a:srgbClr val="FF0000"/>
                </a:solidFill>
              </a:rPr>
              <a:t> </a:t>
            </a:r>
            <a:r>
              <a:rPr sz="2700" dirty="0"/>
              <a:t>by applying transition function </a:t>
            </a:r>
            <a:r>
              <a:rPr lang="el-GR" altLang="x-none" sz="2700" b="1" dirty="0">
                <a:solidFill>
                  <a:srgbClr val="FF0000"/>
                </a:solidFill>
              </a:rPr>
              <a:t>δ</a:t>
            </a:r>
            <a:r>
              <a:rPr lang="en-GB" altLang="el-GR" sz="2700" b="1" baseline="-25000" dirty="0">
                <a:solidFill>
                  <a:srgbClr val="FF0000"/>
                </a:solidFill>
              </a:rPr>
              <a:t>N</a:t>
            </a:r>
            <a:r>
              <a:rPr sz="2700" dirty="0"/>
              <a:t> </a:t>
            </a:r>
            <a:r>
              <a:rPr lang="en-GB" sz="2700" dirty="0"/>
              <a:t>    </a:t>
            </a:r>
            <a:endParaRPr lang="en-GB" sz="2700" dirty="0"/>
          </a:p>
          <a:p>
            <a:pPr eaLnBrk="1" hangingPunct="1">
              <a:lnSpc>
                <a:spcPct val="90000"/>
              </a:lnSpc>
              <a:buNone/>
            </a:pPr>
            <a:r>
              <a:rPr lang="en-GB" sz="2700" dirty="0"/>
              <a:t>              </a:t>
            </a:r>
            <a:r>
              <a:rPr sz="2700" dirty="0"/>
              <a:t>and </a:t>
            </a:r>
            <a:r>
              <a:rPr lang="en-GB" sz="2700" dirty="0"/>
              <a:t> </a:t>
            </a:r>
            <a:r>
              <a:rPr sz="2700" dirty="0"/>
              <a:t>add </a:t>
            </a:r>
            <a:r>
              <a:rPr sz="2700" dirty="0">
                <a:solidFill>
                  <a:srgbClr val="FF0000"/>
                </a:solidFill>
              </a:rPr>
              <a:t>T</a:t>
            </a:r>
            <a:r>
              <a:rPr sz="2700" baseline="-25000" dirty="0">
                <a:solidFill>
                  <a:srgbClr val="FF0000"/>
                </a:solidFill>
              </a:rPr>
              <a:t>D</a:t>
            </a:r>
            <a:r>
              <a:rPr sz="2700" dirty="0"/>
              <a:t> to </a:t>
            </a:r>
            <a:r>
              <a:rPr sz="2700" dirty="0">
                <a:solidFill>
                  <a:srgbClr val="FF0000"/>
                </a:solidFill>
              </a:rPr>
              <a:t>Q</a:t>
            </a:r>
            <a:r>
              <a:rPr sz="2700" baseline="-25000" dirty="0">
                <a:solidFill>
                  <a:srgbClr val="FF0000"/>
                </a:solidFill>
              </a:rPr>
              <a:t>D</a:t>
            </a:r>
            <a:r>
              <a:rPr sz="2700" dirty="0"/>
              <a:t> if it is  not already there.</a:t>
            </a:r>
            <a:endParaRPr sz="2700" dirty="0"/>
          </a:p>
          <a:p>
            <a:pPr eaLnBrk="1" hangingPunct="1">
              <a:lnSpc>
                <a:spcPct val="90000"/>
              </a:lnSpc>
              <a:buNone/>
            </a:pPr>
            <a:r>
              <a:rPr sz="2700" b="1" dirty="0"/>
              <a:t>        </a:t>
            </a:r>
            <a:r>
              <a:rPr lang="en-GB" sz="2700" b="1" dirty="0"/>
              <a:t>	</a:t>
            </a:r>
            <a:r>
              <a:rPr sz="2700" b="1" dirty="0"/>
              <a:t>   </a:t>
            </a:r>
            <a:r>
              <a:rPr sz="2700" b="1" dirty="0">
                <a:solidFill>
                  <a:srgbClr val="FF0000"/>
                </a:solidFill>
              </a:rPr>
              <a:t>i.e </a:t>
            </a:r>
            <a:r>
              <a:rPr lang="el-GR" altLang="x-none" sz="2700" b="1" dirty="0">
                <a:solidFill>
                  <a:srgbClr val="FF0000"/>
                </a:solidFill>
              </a:rPr>
              <a:t>δ</a:t>
            </a:r>
            <a:r>
              <a:rPr sz="2700" b="1" baseline="-25000" dirty="0">
                <a:solidFill>
                  <a:srgbClr val="FF0000"/>
                </a:solidFill>
              </a:rPr>
              <a:t>D</a:t>
            </a:r>
            <a:r>
              <a:rPr sz="2700" b="1" dirty="0">
                <a:solidFill>
                  <a:srgbClr val="FF0000"/>
                </a:solidFill>
              </a:rPr>
              <a:t>(S, a) =  </a:t>
            </a:r>
            <a:r>
              <a:rPr sz="2700" b="1" dirty="0">
                <a:solidFill>
                  <a:srgbClr val="FF0000"/>
                </a:solidFill>
                <a:latin typeface="Times New Roman" panose="02020603050405020304" pitchFamily="18" charset="0"/>
                <a:cs typeface="Times New Roman" panose="02020603050405020304" pitchFamily="18" charset="0"/>
              </a:rPr>
              <a:t>Ụ </a:t>
            </a:r>
            <a:r>
              <a:rPr lang="el-GR" altLang="x-none" sz="2700" b="1" dirty="0">
                <a:solidFill>
                  <a:srgbClr val="FF0000"/>
                </a:solidFill>
                <a:latin typeface="Times New Roman" panose="02020603050405020304" pitchFamily="18" charset="0"/>
                <a:cs typeface="Times New Roman" panose="02020603050405020304" pitchFamily="18" charset="0"/>
              </a:rPr>
              <a:t>δ</a:t>
            </a:r>
            <a:r>
              <a:rPr sz="2700" b="1" baseline="-25000" dirty="0">
                <a:solidFill>
                  <a:srgbClr val="FF0000"/>
                </a:solidFill>
                <a:latin typeface="Times New Roman" panose="02020603050405020304" pitchFamily="18" charset="0"/>
                <a:cs typeface="Times New Roman" panose="02020603050405020304" pitchFamily="18" charset="0"/>
              </a:rPr>
              <a:t>N</a:t>
            </a:r>
            <a:r>
              <a:rPr sz="2700" b="1" dirty="0">
                <a:solidFill>
                  <a:srgbClr val="FF0000"/>
                </a:solidFill>
                <a:latin typeface="Times New Roman" panose="02020603050405020304" pitchFamily="18" charset="0"/>
                <a:cs typeface="Times New Roman" panose="02020603050405020304" pitchFamily="18" charset="0"/>
              </a:rPr>
              <a:t>(p, a)  → T</a:t>
            </a:r>
            <a:r>
              <a:rPr sz="2700" b="1" baseline="-25000" dirty="0">
                <a:solidFill>
                  <a:srgbClr val="FF0000"/>
                </a:solidFill>
                <a:latin typeface="Times New Roman" panose="02020603050405020304" pitchFamily="18" charset="0"/>
                <a:cs typeface="Times New Roman" panose="02020603050405020304" pitchFamily="18" charset="0"/>
              </a:rPr>
              <a:t>D</a:t>
            </a:r>
            <a:endParaRPr sz="2700" b="1" baseline="-25000" dirty="0">
              <a:solidFill>
                <a:srgbClr val="FF0000"/>
              </a:solidFill>
              <a:latin typeface="Times New Roman" panose="02020603050405020304" pitchFamily="18" charset="0"/>
              <a:cs typeface="Times New Roman" panose="02020603050405020304" pitchFamily="18" charset="0"/>
            </a:endParaRPr>
          </a:p>
          <a:p>
            <a:pPr eaLnBrk="1" hangingPunct="1">
              <a:lnSpc>
                <a:spcPct val="90000"/>
              </a:lnSpc>
              <a:buNone/>
            </a:pPr>
            <a:r>
              <a:rPr sz="2700" b="1" dirty="0">
                <a:solidFill>
                  <a:srgbClr val="FF0000"/>
                </a:solidFill>
              </a:rPr>
              <a:t>                                 </a:t>
            </a:r>
            <a:r>
              <a:rPr sz="2700" b="1" baseline="30000" dirty="0">
                <a:solidFill>
                  <a:srgbClr val="FF0000"/>
                </a:solidFill>
              </a:rPr>
              <a:t>p in S</a:t>
            </a:r>
            <a:endParaRPr sz="2700" b="1" baseline="30000" dirty="0">
              <a:solidFill>
                <a:srgbClr val="FF0000"/>
              </a:solidFill>
            </a:endParaRPr>
          </a:p>
          <a:p>
            <a:pPr eaLnBrk="1" hangingPunct="1">
              <a:lnSpc>
                <a:spcPct val="90000"/>
              </a:lnSpc>
              <a:buNone/>
            </a:pPr>
            <a:r>
              <a:rPr sz="2700" b="1" baseline="30000" dirty="0"/>
              <a:t> </a:t>
            </a:r>
            <a:r>
              <a:rPr lang="en-GB" sz="2700" b="1" baseline="30000" dirty="0"/>
              <a:t>     </a:t>
            </a:r>
            <a:r>
              <a:rPr sz="2700" b="1" dirty="0"/>
              <a:t>  END</a:t>
            </a:r>
            <a:endParaRPr sz="2700" b="1" dirty="0"/>
          </a:p>
          <a:p>
            <a:pPr eaLnBrk="1" hangingPunct="1">
              <a:lnSpc>
                <a:spcPct val="90000"/>
              </a:lnSpc>
              <a:buNone/>
            </a:pPr>
            <a:r>
              <a:rPr lang="en-GB" sz="2700" b="1" dirty="0"/>
              <a:t>3. </a:t>
            </a:r>
            <a:r>
              <a:rPr lang="en-US" altLang="en-US" sz="2700" dirty="0">
                <a:sym typeface="+mn-ea"/>
              </a:rPr>
              <a:t>FD is final states of DFA which contains all sets of NFA’s states that include at least one final state of NFA.</a:t>
            </a:r>
            <a:endParaRPr lang="en-US" altLang="en-US" sz="2700" dirty="0">
              <a:sym typeface="+mn-ea"/>
            </a:endParaRPr>
          </a:p>
          <a:p>
            <a:pPr eaLnBrk="1" hangingPunct="1">
              <a:lnSpc>
                <a:spcPct val="90000"/>
              </a:lnSpc>
              <a:buNone/>
            </a:pPr>
            <a:r>
              <a:rPr lang="en-US" altLang="en-US" sz="2700" dirty="0">
                <a:sym typeface="+mn-ea"/>
              </a:rPr>
              <a:t> </a:t>
            </a:r>
            <a:r>
              <a:rPr lang="en-GB" altLang="en-US" sz="2700" dirty="0">
                <a:sym typeface="+mn-ea"/>
              </a:rPr>
              <a:t>              i.e if </a:t>
            </a:r>
            <a:r>
              <a:rPr lang="en-GB" altLang="en-US" sz="2700" b="1" dirty="0">
                <a:solidFill>
                  <a:srgbClr val="FF0000"/>
                </a:solidFill>
                <a:sym typeface="+mn-ea"/>
              </a:rPr>
              <a:t>State S</a:t>
            </a:r>
            <a:r>
              <a:rPr lang="en-GB" altLang="en-US" sz="2700" dirty="0">
                <a:sym typeface="+mn-ea"/>
              </a:rPr>
              <a:t> in FD then </a:t>
            </a:r>
            <a:r>
              <a:rPr lang="en-GB" altLang="en-US" sz="2700" b="1" dirty="0">
                <a:solidFill>
                  <a:srgbClr val="FF0000"/>
                </a:solidFill>
                <a:sym typeface="+mn-ea"/>
              </a:rPr>
              <a:t>S </a:t>
            </a:r>
            <a:r>
              <a:rPr lang="en-GB" altLang="en-US" sz="2700" b="1" dirty="0">
                <a:solidFill>
                  <a:srgbClr val="FF0000"/>
                </a:solidFill>
                <a:latin typeface="Arial" panose="020B0604020202020204" pitchFamily="34" charset="0"/>
                <a:cs typeface="Arial" panose="020B0604020202020204" pitchFamily="34" charset="0"/>
                <a:sym typeface="+mn-ea"/>
              </a:rPr>
              <a:t>∩ </a:t>
            </a:r>
            <a:r>
              <a:rPr lang="en-GB" altLang="en-US" sz="2700" b="1" dirty="0">
                <a:solidFill>
                  <a:srgbClr val="FF0000"/>
                </a:solidFill>
                <a:sym typeface="+mn-ea"/>
              </a:rPr>
              <a:t>F</a:t>
            </a:r>
            <a:r>
              <a:rPr lang="en-GB" altLang="en-US" sz="2700" b="1" baseline="-25000" dirty="0">
                <a:solidFill>
                  <a:srgbClr val="FF0000"/>
                </a:solidFill>
                <a:sym typeface="+mn-ea"/>
              </a:rPr>
              <a:t>N</a:t>
            </a:r>
            <a:r>
              <a:rPr lang="en-GB" altLang="en-US" sz="2700" b="1" dirty="0">
                <a:solidFill>
                  <a:srgbClr val="FF0000"/>
                </a:solidFill>
                <a:latin typeface="Arial" panose="020B0604020202020204" pitchFamily="34" charset="0"/>
                <a:cs typeface="Arial" panose="020B0604020202020204" pitchFamily="34" charset="0"/>
                <a:sym typeface="+mn-ea"/>
              </a:rPr>
              <a:t> &lt;&gt; Ø</a:t>
            </a:r>
            <a:endParaRPr lang="en-US" altLang="en-US" sz="2700" dirty="0"/>
          </a:p>
          <a:p>
            <a:pPr eaLnBrk="1" hangingPunct="1">
              <a:lnSpc>
                <a:spcPct val="90000"/>
              </a:lnSpc>
              <a:buNone/>
            </a:pPr>
            <a:endParaRPr sz="2700" b="1" dirty="0"/>
          </a:p>
          <a:p>
            <a:pPr eaLnBrk="1" hangingPunct="1">
              <a:lnSpc>
                <a:spcPct val="90000"/>
              </a:lnSpc>
              <a:buNone/>
            </a:pPr>
            <a:r>
              <a:rPr sz="2700" b="1" dirty="0"/>
              <a:t>      </a:t>
            </a:r>
            <a:endParaRPr sz="2700" b="1" dirty="0"/>
          </a:p>
        </p:txBody>
      </p:sp>
      <p:sp>
        <p:nvSpPr>
          <p:cNvPr id="2" name="Footer Placeholder 1"/>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descr="MMM scan figure(1)"/>
          <p:cNvPicPr>
            <a:picLocks noChangeAspect="1"/>
          </p:cNvPicPr>
          <p:nvPr>
            <p:ph idx="1"/>
          </p:nvPr>
        </p:nvPicPr>
        <p:blipFill>
          <a:blip r:embed="rId1"/>
          <a:stretch>
            <a:fillRect/>
          </a:stretch>
        </p:blipFill>
        <p:spPr>
          <a:xfrm>
            <a:off x="488950" y="1595120"/>
            <a:ext cx="7983220" cy="1607820"/>
          </a:xfrm>
          <a:prstGeom prst="rect">
            <a:avLst/>
          </a:prstGeom>
        </p:spPr>
      </p:pic>
      <p:sp>
        <p:nvSpPr>
          <p:cNvPr id="5" name="Text Box 4"/>
          <p:cNvSpPr txBox="1"/>
          <p:nvPr/>
        </p:nvSpPr>
        <p:spPr>
          <a:xfrm>
            <a:off x="342900" y="375285"/>
            <a:ext cx="8484235" cy="937260"/>
          </a:xfrm>
          <a:prstGeom prst="rect">
            <a:avLst/>
          </a:prstGeom>
          <a:noFill/>
        </p:spPr>
        <p:txBody>
          <a:bodyPr wrap="square" rtlCol="0">
            <a:noAutofit/>
          </a:bodyPr>
          <a:p>
            <a:r>
              <a:rPr lang="en-IN" altLang="en-US" sz="2800"/>
              <a:t>Example -1 NFA to DFA conversion by Subset Construction Schmeme by  set LASY EVALUATION</a:t>
            </a:r>
            <a:endParaRPr lang="en-IN" altLang="en-US" sz="2800"/>
          </a:p>
        </p:txBody>
      </p:sp>
      <p:sp>
        <p:nvSpPr>
          <p:cNvPr id="6" name="Text Box 5"/>
          <p:cNvSpPr txBox="1"/>
          <p:nvPr/>
        </p:nvSpPr>
        <p:spPr>
          <a:xfrm>
            <a:off x="488315" y="4257675"/>
            <a:ext cx="7625080" cy="521970"/>
          </a:xfrm>
          <a:prstGeom prst="rect">
            <a:avLst/>
          </a:prstGeom>
          <a:noFill/>
        </p:spPr>
        <p:txBody>
          <a:bodyPr wrap="square" rtlCol="0">
            <a:spAutoFit/>
          </a:bodyPr>
          <a:p>
            <a:r>
              <a:rPr lang="en-IN" altLang="en-US" sz="2800"/>
              <a:t>Let </a:t>
            </a:r>
            <a:r>
              <a:rPr lang="en-US" altLang="en-US" sz="2800" b="1" dirty="0">
                <a:solidFill>
                  <a:srgbClr val="FF0000"/>
                </a:solidFill>
                <a:sym typeface="+mn-ea"/>
              </a:rPr>
              <a:t>Q</a:t>
            </a:r>
            <a:r>
              <a:rPr lang="en-US" altLang="en-US" sz="2800" b="1" baseline="-25000" dirty="0">
                <a:solidFill>
                  <a:srgbClr val="FF0000"/>
                </a:solidFill>
                <a:sym typeface="+mn-ea"/>
              </a:rPr>
              <a:t>D</a:t>
            </a:r>
            <a:r>
              <a:rPr lang="en-US" altLang="en-US" sz="2800" b="1" dirty="0">
                <a:solidFill>
                  <a:srgbClr val="FF0000"/>
                </a:solidFill>
                <a:sym typeface="+mn-ea"/>
              </a:rPr>
              <a:t> </a:t>
            </a:r>
            <a:r>
              <a:rPr lang="en-IN" altLang="en-US" sz="2800" b="1" dirty="0">
                <a:solidFill>
                  <a:srgbClr val="FF0000"/>
                </a:solidFill>
                <a:sym typeface="+mn-ea"/>
              </a:rPr>
              <a:t>initialized to be</a:t>
            </a:r>
            <a:r>
              <a:rPr lang="en-US" altLang="en-US" sz="2800" b="1" dirty="0">
                <a:solidFill>
                  <a:srgbClr val="FF0000"/>
                </a:solidFill>
                <a:sym typeface="+mn-ea"/>
              </a:rPr>
              <a:t> {q0}</a:t>
            </a:r>
            <a:r>
              <a:rPr lang="en-IN" altLang="en-US" sz="2800" b="1" dirty="0">
                <a:solidFill>
                  <a:srgbClr val="FF0000"/>
                </a:solidFill>
                <a:sym typeface="+mn-ea"/>
              </a:rPr>
              <a:t> i.e  </a:t>
            </a:r>
            <a:r>
              <a:rPr lang="en-US" altLang="en-US" sz="2800" b="1" dirty="0">
                <a:solidFill>
                  <a:srgbClr val="FF0000"/>
                </a:solidFill>
                <a:sym typeface="+mn-ea"/>
              </a:rPr>
              <a:t>Q</a:t>
            </a:r>
            <a:r>
              <a:rPr lang="en-US" altLang="en-US" sz="2800" b="1" baseline="-25000" dirty="0">
                <a:solidFill>
                  <a:srgbClr val="FF0000"/>
                </a:solidFill>
                <a:sym typeface="+mn-ea"/>
              </a:rPr>
              <a:t>D</a:t>
            </a:r>
            <a:r>
              <a:rPr lang="en-IN" altLang="en-US" sz="2800" b="1" dirty="0">
                <a:solidFill>
                  <a:srgbClr val="FF0000"/>
                </a:solidFill>
                <a:sym typeface="+mn-ea"/>
              </a:rPr>
              <a:t>=  {q0}</a:t>
            </a:r>
            <a:endParaRPr lang="en-IN" altLang="en-US" sz="2800" b="1" dirty="0">
              <a:solidFill>
                <a:srgbClr val="FF0000"/>
              </a:solidFill>
              <a:sym typeface="+mn-ea"/>
            </a:endParaRPr>
          </a:p>
        </p:txBody>
      </p:sp>
      <p:sp>
        <p:nvSpPr>
          <p:cNvPr id="2" name="Footer Placeholder 1"/>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6" name="Content Placeholder 5"/>
          <p:cNvGraphicFramePr/>
          <p:nvPr>
            <p:ph idx="1"/>
          </p:nvPr>
        </p:nvGraphicFramePr>
        <p:xfrm>
          <a:off x="233680" y="1156335"/>
          <a:ext cx="8726805" cy="6731635"/>
        </p:xfrm>
        <a:graphic>
          <a:graphicData uri="http://schemas.openxmlformats.org/drawingml/2006/table">
            <a:tbl>
              <a:tblPr firstRow="1" bandRow="1">
                <a:tableStyleId>{5C22544A-7EE6-4342-B048-85BDC9FD1C3A}</a:tableStyleId>
              </a:tblPr>
              <a:tblGrid>
                <a:gridCol w="1273810"/>
                <a:gridCol w="893445"/>
                <a:gridCol w="1165225"/>
                <a:gridCol w="5394325"/>
              </a:tblGrid>
              <a:tr h="464820">
                <a:tc>
                  <a:txBody>
                    <a:bodyPr/>
                    <a:p>
                      <a:pPr>
                        <a:buNone/>
                      </a:pPr>
                      <a:r>
                        <a:rPr lang="el-GR" altLang="x-none" sz="1800" dirty="0">
                          <a:solidFill>
                            <a:srgbClr val="FF0000"/>
                          </a:solidFill>
                          <a:sym typeface="+mn-ea"/>
                        </a:rPr>
                        <a:t>δ</a:t>
                      </a:r>
                      <a:r>
                        <a:rPr sz="1800" baseline="-25000" dirty="0">
                          <a:solidFill>
                            <a:srgbClr val="FF0000"/>
                          </a:solidFill>
                          <a:sym typeface="+mn-ea"/>
                        </a:rPr>
                        <a:t>D</a:t>
                      </a:r>
                      <a:endParaRPr lang="en-US"/>
                    </a:p>
                  </a:txBody>
                  <a:tcPr/>
                </a:tc>
                <a:tc>
                  <a:txBody>
                    <a:bodyPr/>
                    <a:p>
                      <a:pPr>
                        <a:buNone/>
                      </a:pPr>
                      <a:r>
                        <a:rPr lang="en-GB" altLang="en-US"/>
                        <a:t>0</a:t>
                      </a:r>
                      <a:endParaRPr lang="en-GB" altLang="en-US"/>
                    </a:p>
                  </a:txBody>
                  <a:tcPr/>
                </a:tc>
                <a:tc>
                  <a:txBody>
                    <a:bodyPr/>
                    <a:p>
                      <a:pPr>
                        <a:buNone/>
                      </a:pPr>
                      <a:r>
                        <a:rPr lang="en-GB" altLang="en-US"/>
                        <a:t>1</a:t>
                      </a:r>
                      <a:endParaRPr lang="en-GB" altLang="en-US"/>
                    </a:p>
                  </a:txBody>
                  <a:tcPr/>
                </a:tc>
                <a:tc>
                  <a:txBody>
                    <a:bodyPr/>
                    <a:p>
                      <a:pPr>
                        <a:buNone/>
                      </a:pPr>
                      <a:r>
                        <a:rPr lang="el-GR" altLang="x-none" sz="1800" dirty="0">
                          <a:solidFill>
                            <a:srgbClr val="FF0000"/>
                          </a:solidFill>
                          <a:sym typeface="+mn-ea"/>
                        </a:rPr>
                        <a:t>δ</a:t>
                      </a:r>
                      <a:r>
                        <a:rPr sz="1800" baseline="-25000" dirty="0">
                          <a:solidFill>
                            <a:srgbClr val="FF0000"/>
                          </a:solidFill>
                          <a:sym typeface="+mn-ea"/>
                        </a:rPr>
                        <a:t>D</a:t>
                      </a:r>
                      <a:r>
                        <a:rPr lang="en-GB" sz="1800" baseline="-25000" dirty="0">
                          <a:solidFill>
                            <a:srgbClr val="FF0000"/>
                          </a:solidFill>
                          <a:sym typeface="+mn-ea"/>
                        </a:rPr>
                        <a:t> </a:t>
                      </a:r>
                      <a:r>
                        <a:rPr lang="en-GB" altLang="en-US" sz="1800">
                          <a:sym typeface="+mn-ea"/>
                        </a:rPr>
                        <a:t> </a:t>
                      </a:r>
                      <a:r>
                        <a:rPr lang="en-GB" altLang="en-US" sz="1800">
                          <a:latin typeface="Arial" panose="020B0604020202020204" pitchFamily="34" charset="0"/>
                          <a:cs typeface="Arial" panose="020B0604020202020204" pitchFamily="34" charset="0"/>
                          <a:sym typeface="+mn-ea"/>
                        </a:rPr>
                        <a:t>→ C</a:t>
                      </a:r>
                      <a:r>
                        <a:rPr lang="en-GB" altLang="en-US" sz="1800">
                          <a:sym typeface="+mn-ea"/>
                        </a:rPr>
                        <a:t>alulations for inputs 0 and 1</a:t>
                      </a:r>
                      <a:endParaRPr lang="en-GB" sz="1800" baseline="-25000" dirty="0">
                        <a:solidFill>
                          <a:srgbClr val="FF0000"/>
                        </a:solidFill>
                        <a:sym typeface="+mn-ea"/>
                      </a:endParaRPr>
                    </a:p>
                  </a:txBody>
                  <a:tcPr/>
                </a:tc>
              </a:tr>
              <a:tr h="989965">
                <a:tc>
                  <a:txBody>
                    <a:bodyPr/>
                    <a:p>
                      <a:pPr>
                        <a:buNone/>
                      </a:pPr>
                      <a:r>
                        <a:rPr lang="en-GB" altLang="en-US" sz="1600" b="1">
                          <a:latin typeface="Arial" panose="020B0604020202020204" pitchFamily="34" charset="0"/>
                          <a:cs typeface="Arial" panose="020B0604020202020204" pitchFamily="34" charset="0"/>
                        </a:rPr>
                        <a:t>→</a:t>
                      </a:r>
                      <a:r>
                        <a:rPr lang="en-GB" altLang="en-US" sz="1600" b="1"/>
                        <a:t>{q0</a:t>
                      </a:r>
                      <a:r>
                        <a:rPr lang="en-GB" altLang="en-US" sz="1600"/>
                        <a:t>}</a:t>
                      </a:r>
                      <a:endParaRPr lang="en-GB" altLang="en-US" sz="1600"/>
                    </a:p>
                  </a:txBody>
                  <a:tcPr/>
                </a:tc>
                <a:tc>
                  <a:txBody>
                    <a:bodyPr/>
                    <a:p>
                      <a:pPr>
                        <a:buNone/>
                      </a:pPr>
                      <a:r>
                        <a:rPr lang="en-GB" altLang="en-US" sz="1600">
                          <a:sym typeface="+mn-ea"/>
                        </a:rPr>
                        <a:t>{q0}</a:t>
                      </a:r>
                      <a:endParaRPr lang="en-GB" altLang="en-US" sz="1600"/>
                    </a:p>
                    <a:p>
                      <a:pPr>
                        <a:buNone/>
                      </a:pPr>
                      <a:endParaRPr lang="en-GB" altLang="en-US" sz="1600"/>
                    </a:p>
                  </a:txBody>
                  <a:tcPr/>
                </a:tc>
                <a:tc>
                  <a:txBody>
                    <a:bodyPr/>
                    <a:p>
                      <a:pPr>
                        <a:buNone/>
                      </a:pPr>
                      <a:r>
                        <a:rPr lang="en-GB" altLang="en-US" sz="1600">
                          <a:sym typeface="+mn-ea"/>
                        </a:rPr>
                        <a:t>{q0,q1}</a:t>
                      </a:r>
                      <a:endParaRPr lang="en-GB" altLang="en-US" sz="1600"/>
                    </a:p>
                    <a:p>
                      <a:pPr>
                        <a:buNone/>
                      </a:pPr>
                      <a:endParaRPr lang="en-GB" altLang="en-US" sz="1600"/>
                    </a:p>
                  </a:txBody>
                  <a:tcPr/>
                </a:tc>
                <a:tc>
                  <a:txBody>
                    <a:bodyPr/>
                    <a:p>
                      <a:pPr>
                        <a:buNone/>
                      </a:pPr>
                      <a:r>
                        <a:rPr lang="el-GR" altLang="x-none" sz="1600" b="1" dirty="0">
                          <a:solidFill>
                            <a:srgbClr val="FF0000"/>
                          </a:solidFill>
                          <a:sym typeface="+mn-ea"/>
                        </a:rPr>
                        <a:t>δ</a:t>
                      </a:r>
                      <a:r>
                        <a:rPr sz="1600" b="1" baseline="-25000" dirty="0">
                          <a:solidFill>
                            <a:srgbClr val="FF0000"/>
                          </a:solidFill>
                          <a:sym typeface="+mn-ea"/>
                        </a:rPr>
                        <a:t>D</a:t>
                      </a:r>
                      <a:r>
                        <a:rPr lang="en-GB" altLang="el-GR" sz="1600" b="1" dirty="0">
                          <a:solidFill>
                            <a:schemeClr val="tx1"/>
                          </a:solidFill>
                          <a:latin typeface="Times New Roman" panose="02020603050405020304" pitchFamily="18" charset="0"/>
                          <a:cs typeface="Times New Roman" panose="02020603050405020304" pitchFamily="18" charset="0"/>
                          <a:sym typeface="+mn-ea"/>
                        </a:rPr>
                        <a:t>({q0}, 0) = </a:t>
                      </a:r>
                      <a:r>
                        <a:rPr lang="el-GR" altLang="x-none" sz="1600" b="1" dirty="0">
                          <a:solidFill>
                            <a:srgbClr val="FF0000"/>
                          </a:solidFill>
                          <a:latin typeface="Times New Roman" panose="02020603050405020304" pitchFamily="18" charset="0"/>
                          <a:cs typeface="Times New Roman" panose="02020603050405020304" pitchFamily="18" charset="0"/>
                          <a:sym typeface="+mn-ea"/>
                        </a:rPr>
                        <a:t>δ</a:t>
                      </a:r>
                      <a:r>
                        <a:rPr sz="1600" b="1" baseline="-25000" dirty="0">
                          <a:solidFill>
                            <a:srgbClr val="FF0000"/>
                          </a:solidFill>
                          <a:latin typeface="Times New Roman" panose="02020603050405020304" pitchFamily="18" charset="0"/>
                          <a:cs typeface="Times New Roman" panose="02020603050405020304" pitchFamily="18" charset="0"/>
                          <a:sym typeface="+mn-ea"/>
                        </a:rPr>
                        <a:t>N</a:t>
                      </a:r>
                      <a:r>
                        <a:rPr lang="en-GB" altLang="en-US" sz="1600"/>
                        <a:t>(q0, 0) = </a:t>
                      </a:r>
                      <a:r>
                        <a:rPr lang="en-GB" altLang="en-US" sz="1600" b="1">
                          <a:solidFill>
                            <a:srgbClr val="FF0000"/>
                          </a:solidFill>
                          <a:highlight>
                            <a:srgbClr val="FFFF00"/>
                          </a:highlight>
                        </a:rPr>
                        <a:t>{q0}</a:t>
                      </a:r>
                      <a:r>
                        <a:rPr lang="en-GB" altLang="en-US" sz="1600"/>
                        <a:t> </a:t>
                      </a:r>
                      <a:r>
                        <a:rPr lang="en-GB" altLang="en-US" sz="1600">
                          <a:latin typeface="Arial" panose="020B0604020202020204" pitchFamily="34" charset="0"/>
                          <a:cs typeface="Arial" panose="020B0604020202020204" pitchFamily="34" charset="0"/>
                        </a:rPr>
                        <a:t>→</a:t>
                      </a:r>
                      <a:r>
                        <a:rPr lang="en-IN" altLang="en-GB" sz="1600">
                          <a:latin typeface="Arial" panose="020B0604020202020204" pitchFamily="34" charset="0"/>
                          <a:cs typeface="Arial" panose="020B0604020202020204" pitchFamily="34" charset="0"/>
                        </a:rPr>
                        <a:t> Old set </a:t>
                      </a:r>
                      <a:r>
                        <a:rPr lang="en-GB" altLang="en-US" sz="1600"/>
                        <a:t> </a:t>
                      </a:r>
                      <a:r>
                        <a:rPr lang="en-IN" altLang="en-GB" sz="1600" b="1">
                          <a:solidFill>
                            <a:schemeClr val="tx1"/>
                          </a:solidFill>
                          <a:latin typeface="Arial" panose="020B0604020202020204" pitchFamily="34" charset="0"/>
                          <a:cs typeface="Arial" panose="020B0604020202020204" pitchFamily="34" charset="0"/>
                          <a:sym typeface="+mn-ea"/>
                        </a:rPr>
                        <a:t>Not ADDED to </a:t>
                      </a:r>
                      <a:r>
                        <a:rPr lang="en-GB" altLang="en-US" sz="1600" b="1">
                          <a:solidFill>
                            <a:srgbClr val="FF0000"/>
                          </a:solidFill>
                          <a:sym typeface="+mn-ea"/>
                        </a:rPr>
                        <a:t>Q</a:t>
                      </a:r>
                      <a:r>
                        <a:rPr lang="en-GB" altLang="en-US" sz="1600" b="1" baseline="-25000">
                          <a:solidFill>
                            <a:srgbClr val="FF0000"/>
                          </a:solidFill>
                          <a:sym typeface="+mn-ea"/>
                        </a:rPr>
                        <a:t>D</a:t>
                      </a:r>
                      <a:r>
                        <a:rPr lang="en-IN" altLang="en-GB" sz="1600" b="1" baseline="-25000">
                          <a:solidFill>
                            <a:srgbClr val="FF0000"/>
                          </a:solidFill>
                          <a:sym typeface="+mn-ea"/>
                        </a:rPr>
                        <a:t> </a:t>
                      </a:r>
                      <a:endParaRPr lang="en-GB" altLang="en-US" sz="1600"/>
                    </a:p>
                    <a:p>
                      <a:pPr>
                        <a:buNone/>
                      </a:pPr>
                      <a:r>
                        <a:rPr lang="el-GR" altLang="x-none" sz="1600" b="1" dirty="0">
                          <a:solidFill>
                            <a:srgbClr val="FF0000"/>
                          </a:solidFill>
                          <a:sym typeface="+mn-ea"/>
                        </a:rPr>
                        <a:t>δ</a:t>
                      </a:r>
                      <a:r>
                        <a:rPr sz="1600" b="1" baseline="-25000" dirty="0">
                          <a:solidFill>
                            <a:srgbClr val="FF0000"/>
                          </a:solidFill>
                          <a:sym typeface="+mn-ea"/>
                        </a:rPr>
                        <a:t>D</a:t>
                      </a:r>
                      <a:r>
                        <a:rPr lang="en-GB" altLang="el-GR" sz="1600" b="1" dirty="0">
                          <a:solidFill>
                            <a:schemeClr val="tx1"/>
                          </a:solidFill>
                          <a:latin typeface="Times New Roman" panose="02020603050405020304" pitchFamily="18" charset="0"/>
                          <a:cs typeface="Times New Roman" panose="02020603050405020304" pitchFamily="18" charset="0"/>
                          <a:sym typeface="+mn-ea"/>
                        </a:rPr>
                        <a:t>({q0}, 1) = </a:t>
                      </a:r>
                      <a:r>
                        <a:rPr lang="el-GR" altLang="x-none" sz="1600" b="1" dirty="0">
                          <a:solidFill>
                            <a:srgbClr val="FF0000"/>
                          </a:solidFill>
                          <a:latin typeface="Times New Roman" panose="02020603050405020304" pitchFamily="18" charset="0"/>
                          <a:cs typeface="Times New Roman" panose="02020603050405020304" pitchFamily="18" charset="0"/>
                          <a:sym typeface="+mn-ea"/>
                        </a:rPr>
                        <a:t>δ</a:t>
                      </a:r>
                      <a:r>
                        <a:rPr sz="1600" b="1" baseline="-25000" dirty="0">
                          <a:solidFill>
                            <a:srgbClr val="FF0000"/>
                          </a:solidFill>
                          <a:latin typeface="Times New Roman" panose="02020603050405020304" pitchFamily="18" charset="0"/>
                          <a:cs typeface="Times New Roman" panose="02020603050405020304" pitchFamily="18" charset="0"/>
                          <a:sym typeface="+mn-ea"/>
                        </a:rPr>
                        <a:t>N</a:t>
                      </a:r>
                      <a:r>
                        <a:rPr lang="en-GB" altLang="en-US" sz="1600">
                          <a:sym typeface="+mn-ea"/>
                        </a:rPr>
                        <a:t>(q0, 1)</a:t>
                      </a:r>
                      <a:endParaRPr lang="en-GB" altLang="en-US" sz="1600">
                        <a:sym typeface="+mn-ea"/>
                      </a:endParaRPr>
                    </a:p>
                    <a:p>
                      <a:pPr>
                        <a:buNone/>
                      </a:pPr>
                      <a:r>
                        <a:rPr lang="en-GB" altLang="en-US" sz="1600">
                          <a:sym typeface="+mn-ea"/>
                        </a:rPr>
                        <a:t> </a:t>
                      </a:r>
                      <a:r>
                        <a:rPr lang="en-IN" altLang="en-GB" sz="1600">
                          <a:sym typeface="+mn-ea"/>
                        </a:rPr>
                        <a:t>                   </a:t>
                      </a:r>
                      <a:r>
                        <a:rPr lang="en-GB" altLang="en-US" sz="1600">
                          <a:sym typeface="+mn-ea"/>
                        </a:rPr>
                        <a:t> = </a:t>
                      </a:r>
                      <a:r>
                        <a:rPr lang="en-GB" altLang="en-US" sz="1600" b="1">
                          <a:solidFill>
                            <a:srgbClr val="FF0000"/>
                          </a:solidFill>
                          <a:highlight>
                            <a:srgbClr val="FFFF00"/>
                          </a:highlight>
                          <a:sym typeface="+mn-ea"/>
                        </a:rPr>
                        <a:t>{q0,q1}</a:t>
                      </a:r>
                      <a:r>
                        <a:rPr lang="en-IN" altLang="en-GB" sz="1600" b="1">
                          <a:solidFill>
                            <a:srgbClr val="FF0000"/>
                          </a:solidFill>
                          <a:highlight>
                            <a:srgbClr val="FFFF00"/>
                          </a:highlight>
                          <a:sym typeface="+mn-ea"/>
                        </a:rPr>
                        <a:t> </a:t>
                      </a:r>
                      <a:r>
                        <a:rPr lang="en-IN" altLang="en-GB" sz="1600" b="1">
                          <a:solidFill>
                            <a:srgbClr val="FF0000"/>
                          </a:solidFill>
                          <a:highlight>
                            <a:srgbClr val="FFFF00"/>
                          </a:highlight>
                          <a:latin typeface="Arial" panose="020B0604020202020204" pitchFamily="34" charset="0"/>
                          <a:cs typeface="Arial" panose="020B0604020202020204" pitchFamily="34" charset="0"/>
                          <a:sym typeface="+mn-ea"/>
                        </a:rPr>
                        <a:t>→</a:t>
                      </a:r>
                      <a:r>
                        <a:rPr lang="en-IN" altLang="en-GB" sz="1600" b="1">
                          <a:solidFill>
                            <a:srgbClr val="FF0000"/>
                          </a:solidFill>
                          <a:highlight>
                            <a:srgbClr val="FFFF00"/>
                          </a:highlight>
                          <a:sym typeface="+mn-ea"/>
                        </a:rPr>
                        <a:t> </a:t>
                      </a:r>
                      <a:r>
                        <a:rPr lang="en-IN" altLang="en-GB" sz="1600">
                          <a:solidFill>
                            <a:srgbClr val="FF0000"/>
                          </a:solidFill>
                          <a:highlight>
                            <a:srgbClr val="FFFF00"/>
                          </a:highlight>
                          <a:latin typeface="Arial" panose="020B0604020202020204" pitchFamily="34" charset="0"/>
                          <a:cs typeface="Arial" panose="020B0604020202020204" pitchFamily="34" charset="0"/>
                          <a:sym typeface="+mn-ea"/>
                        </a:rPr>
                        <a:t>New set for DFA added to </a:t>
                      </a:r>
                      <a:r>
                        <a:rPr lang="en-GB" altLang="en-US" sz="2400">
                          <a:highlight>
                            <a:srgbClr val="FFFF00"/>
                          </a:highlight>
                          <a:sym typeface="+mn-ea"/>
                        </a:rPr>
                        <a:t>Q</a:t>
                      </a:r>
                      <a:r>
                        <a:rPr lang="en-GB" altLang="en-US" sz="2400" baseline="-25000">
                          <a:highlight>
                            <a:srgbClr val="FFFF00"/>
                          </a:highlight>
                          <a:sym typeface="+mn-ea"/>
                        </a:rPr>
                        <a:t>D</a:t>
                      </a:r>
                      <a:endParaRPr lang="en-IN" altLang="en-GB" sz="1600" b="1">
                        <a:solidFill>
                          <a:srgbClr val="FF0000"/>
                        </a:solidFill>
                        <a:highlight>
                          <a:srgbClr val="FFFF00"/>
                        </a:highlight>
                        <a:sym typeface="+mn-ea"/>
                      </a:endParaRPr>
                    </a:p>
                  </a:txBody>
                  <a:tcPr/>
                </a:tc>
              </a:tr>
              <a:tr h="1777365">
                <a:tc>
                  <a:txBody>
                    <a:bodyPr/>
                    <a:p>
                      <a:pPr>
                        <a:buNone/>
                      </a:pPr>
                      <a:r>
                        <a:rPr lang="en-GB" altLang="en-US" sz="1600"/>
                        <a:t>{q0,q1}</a:t>
                      </a:r>
                      <a:endParaRPr lang="en-GB" altLang="en-US" sz="1600"/>
                    </a:p>
                  </a:txBody>
                  <a:tcPr/>
                </a:tc>
                <a:tc>
                  <a:txBody>
                    <a:bodyPr/>
                    <a:p>
                      <a:pPr>
                        <a:buNone/>
                      </a:pPr>
                      <a:r>
                        <a:rPr lang="en-GB" altLang="en-US" sz="1600"/>
                        <a:t>{q0,q2}</a:t>
                      </a:r>
                      <a:endParaRPr lang="en-GB" altLang="en-US" sz="1600"/>
                    </a:p>
                  </a:txBody>
                  <a:tcPr/>
                </a:tc>
                <a:tc>
                  <a:txBody>
                    <a:bodyPr/>
                    <a:p>
                      <a:pPr>
                        <a:buNone/>
                      </a:pPr>
                      <a:r>
                        <a:rPr lang="en-GB" altLang="en-US" sz="1600">
                          <a:sym typeface="+mn-ea"/>
                        </a:rPr>
                        <a:t>{q0,q1,q2}</a:t>
                      </a:r>
                      <a:endParaRPr lang="en-GB" altLang="en-US" sz="1600">
                        <a:sym typeface="+mn-ea"/>
                      </a:endParaRPr>
                    </a:p>
                  </a:txBody>
                  <a:tcPr/>
                </a:tc>
                <a:tc>
                  <a:txBody>
                    <a:bodyPr/>
                    <a:p>
                      <a:pPr>
                        <a:buNone/>
                      </a:pPr>
                      <a:r>
                        <a:rPr lang="el-GR" altLang="x-none" sz="1600" b="1" dirty="0">
                          <a:solidFill>
                            <a:srgbClr val="FF0000"/>
                          </a:solidFill>
                          <a:sym typeface="+mn-ea"/>
                        </a:rPr>
                        <a:t>δ</a:t>
                      </a:r>
                      <a:r>
                        <a:rPr sz="1600" b="1" baseline="-25000" dirty="0">
                          <a:solidFill>
                            <a:srgbClr val="FF0000"/>
                          </a:solidFill>
                          <a:sym typeface="+mn-ea"/>
                        </a:rPr>
                        <a:t>D</a:t>
                      </a:r>
                      <a:r>
                        <a:rPr lang="en-GB" altLang="el-GR" sz="1600" b="1" dirty="0">
                          <a:solidFill>
                            <a:schemeClr val="tx1"/>
                          </a:solidFill>
                          <a:latin typeface="Times New Roman" panose="02020603050405020304" pitchFamily="18" charset="0"/>
                          <a:cs typeface="Times New Roman" panose="02020603050405020304" pitchFamily="18" charset="0"/>
                          <a:sym typeface="+mn-ea"/>
                        </a:rPr>
                        <a:t>({q0,q1}, 0) = </a:t>
                      </a:r>
                      <a:r>
                        <a:rPr lang="el-GR" altLang="x-none" sz="1600" b="1" dirty="0">
                          <a:solidFill>
                            <a:srgbClr val="FF0000"/>
                          </a:solidFill>
                          <a:latin typeface="Times New Roman" panose="02020603050405020304" pitchFamily="18" charset="0"/>
                          <a:cs typeface="Times New Roman" panose="02020603050405020304" pitchFamily="18" charset="0"/>
                          <a:sym typeface="+mn-ea"/>
                        </a:rPr>
                        <a:t>δ</a:t>
                      </a:r>
                      <a:r>
                        <a:rPr sz="1600" b="1" baseline="-25000" dirty="0">
                          <a:solidFill>
                            <a:srgbClr val="FF0000"/>
                          </a:solidFill>
                          <a:latin typeface="Times New Roman" panose="02020603050405020304" pitchFamily="18" charset="0"/>
                          <a:cs typeface="Times New Roman" panose="02020603050405020304" pitchFamily="18" charset="0"/>
                          <a:sym typeface="+mn-ea"/>
                        </a:rPr>
                        <a:t>N</a:t>
                      </a:r>
                      <a:r>
                        <a:rPr lang="en-GB" altLang="en-US" sz="1600">
                          <a:sym typeface="+mn-ea"/>
                        </a:rPr>
                        <a:t>(q0, 0) </a:t>
                      </a:r>
                      <a:r>
                        <a:rPr lang="en-GB" altLang="en-US" sz="1600">
                          <a:latin typeface="Arial" panose="020B0604020202020204" pitchFamily="34" charset="0"/>
                          <a:cs typeface="Arial" panose="020B0604020202020204" pitchFamily="34" charset="0"/>
                          <a:sym typeface="+mn-ea"/>
                        </a:rPr>
                        <a:t>Ụ </a:t>
                      </a:r>
                      <a:r>
                        <a:rPr lang="el-GR" altLang="x-none" sz="1600" b="1" dirty="0">
                          <a:solidFill>
                            <a:srgbClr val="FF0000"/>
                          </a:solidFill>
                          <a:latin typeface="Times New Roman" panose="02020603050405020304" pitchFamily="18" charset="0"/>
                          <a:cs typeface="Times New Roman" panose="02020603050405020304" pitchFamily="18" charset="0"/>
                          <a:sym typeface="+mn-ea"/>
                        </a:rPr>
                        <a:t>δ</a:t>
                      </a:r>
                      <a:r>
                        <a:rPr sz="1600" b="1" baseline="-25000" dirty="0">
                          <a:solidFill>
                            <a:srgbClr val="FF0000"/>
                          </a:solidFill>
                          <a:latin typeface="Times New Roman" panose="02020603050405020304" pitchFamily="18" charset="0"/>
                          <a:cs typeface="Times New Roman" panose="02020603050405020304" pitchFamily="18" charset="0"/>
                          <a:sym typeface="+mn-ea"/>
                        </a:rPr>
                        <a:t>N</a:t>
                      </a:r>
                      <a:r>
                        <a:rPr lang="en-GB" altLang="en-US" sz="1600">
                          <a:sym typeface="+mn-ea"/>
                        </a:rPr>
                        <a:t>(q1, 0)</a:t>
                      </a:r>
                      <a:endParaRPr lang="en-GB" altLang="en-US" sz="1600">
                        <a:sym typeface="+mn-ea"/>
                      </a:endParaRPr>
                    </a:p>
                    <a:p>
                      <a:pPr>
                        <a:buNone/>
                      </a:pPr>
                      <a:r>
                        <a:rPr lang="en-GB" altLang="en-US" sz="1600">
                          <a:latin typeface="Arial" panose="020B0604020202020204" pitchFamily="34" charset="0"/>
                          <a:cs typeface="Arial" panose="020B0604020202020204" pitchFamily="34" charset="0"/>
                          <a:sym typeface="+mn-ea"/>
                        </a:rPr>
                        <a:t>                      = {q0} Ụ { q2} Ụ </a:t>
                      </a:r>
                      <a:r>
                        <a:rPr lang="en-GB" altLang="en-US" sz="1600">
                          <a:sym typeface="+mn-ea"/>
                        </a:rPr>
                        <a:t>{</a:t>
                      </a:r>
                      <a:r>
                        <a:rPr lang="en-GB" altLang="en-US" sz="1600">
                          <a:latin typeface="Arial" panose="020B0604020202020204" pitchFamily="34" charset="0"/>
                          <a:cs typeface="Arial" panose="020B0604020202020204" pitchFamily="34" charset="0"/>
                          <a:sym typeface="+mn-ea"/>
                        </a:rPr>
                        <a:t>Ø</a:t>
                      </a:r>
                      <a:r>
                        <a:rPr lang="en-GB" altLang="en-US" sz="1600">
                          <a:sym typeface="+mn-ea"/>
                        </a:rPr>
                        <a:t>}  </a:t>
                      </a:r>
                      <a:r>
                        <a:rPr lang="en-GB" altLang="en-US" sz="1600">
                          <a:latin typeface="Arial" panose="020B0604020202020204" pitchFamily="34" charset="0"/>
                          <a:cs typeface="Arial" panose="020B0604020202020204" pitchFamily="34" charset="0"/>
                          <a:sym typeface="+mn-ea"/>
                        </a:rPr>
                        <a:t>      </a:t>
                      </a:r>
                      <a:endParaRPr lang="en-GB" altLang="en-US" sz="1600">
                        <a:latin typeface="Arial" panose="020B0604020202020204" pitchFamily="34" charset="0"/>
                        <a:cs typeface="Arial" panose="020B0604020202020204" pitchFamily="34" charset="0"/>
                        <a:sym typeface="+mn-ea"/>
                      </a:endParaRPr>
                    </a:p>
                    <a:p>
                      <a:pPr>
                        <a:buNone/>
                      </a:pPr>
                      <a:r>
                        <a:rPr lang="en-GB" altLang="en-US" sz="1600">
                          <a:latin typeface="Arial" panose="020B0604020202020204" pitchFamily="34" charset="0"/>
                          <a:cs typeface="Arial" panose="020B0604020202020204" pitchFamily="34" charset="0"/>
                          <a:sym typeface="+mn-ea"/>
                        </a:rPr>
                        <a:t> </a:t>
                      </a:r>
                      <a:r>
                        <a:rPr lang="en-IN" altLang="en-GB" sz="1600">
                          <a:latin typeface="Arial" panose="020B0604020202020204" pitchFamily="34" charset="0"/>
                          <a:cs typeface="Arial" panose="020B0604020202020204" pitchFamily="34" charset="0"/>
                          <a:sym typeface="+mn-ea"/>
                        </a:rPr>
                        <a:t>                   </a:t>
                      </a:r>
                      <a:r>
                        <a:rPr lang="en-GB" altLang="en-US" sz="1600">
                          <a:latin typeface="Arial" panose="020B0604020202020204" pitchFamily="34" charset="0"/>
                          <a:cs typeface="Arial" panose="020B0604020202020204" pitchFamily="34" charset="0"/>
                          <a:sym typeface="+mn-ea"/>
                        </a:rPr>
                        <a:t> </a:t>
                      </a:r>
                      <a:r>
                        <a:rPr lang="en-GB" altLang="en-US" sz="1600">
                          <a:solidFill>
                            <a:srgbClr val="FF0000"/>
                          </a:solidFill>
                          <a:highlight>
                            <a:srgbClr val="FFFF00"/>
                          </a:highlight>
                          <a:latin typeface="Arial" panose="020B0604020202020204" pitchFamily="34" charset="0"/>
                          <a:cs typeface="Arial" panose="020B0604020202020204" pitchFamily="34" charset="0"/>
                          <a:sym typeface="+mn-ea"/>
                        </a:rPr>
                        <a:t> = </a:t>
                      </a:r>
                      <a:r>
                        <a:rPr lang="en-GB" altLang="en-US" sz="1600" b="1">
                          <a:solidFill>
                            <a:srgbClr val="FF0000"/>
                          </a:solidFill>
                          <a:highlight>
                            <a:srgbClr val="FFFF00"/>
                          </a:highlight>
                          <a:latin typeface="Arial" panose="020B0604020202020204" pitchFamily="34" charset="0"/>
                          <a:cs typeface="Arial" panose="020B0604020202020204" pitchFamily="34" charset="0"/>
                          <a:sym typeface="+mn-ea"/>
                        </a:rPr>
                        <a:t>{ q0,q2 }</a:t>
                      </a:r>
                      <a:r>
                        <a:rPr lang="en-IN" altLang="en-GB" sz="1600" b="1">
                          <a:solidFill>
                            <a:srgbClr val="FF0000"/>
                          </a:solidFill>
                          <a:highlight>
                            <a:srgbClr val="FFFF00"/>
                          </a:highlight>
                          <a:latin typeface="Arial" panose="020B0604020202020204" pitchFamily="34" charset="0"/>
                          <a:cs typeface="Arial" panose="020B0604020202020204" pitchFamily="34" charset="0"/>
                          <a:sym typeface="+mn-ea"/>
                        </a:rPr>
                        <a:t> </a:t>
                      </a:r>
                      <a:r>
                        <a:rPr lang="en-IN" altLang="en-GB" sz="1600">
                          <a:solidFill>
                            <a:srgbClr val="FF0000"/>
                          </a:solidFill>
                          <a:highlight>
                            <a:srgbClr val="FFFF00"/>
                          </a:highlight>
                          <a:latin typeface="Arial" panose="020B0604020202020204" pitchFamily="34" charset="0"/>
                          <a:cs typeface="Arial" panose="020B0604020202020204" pitchFamily="34" charset="0"/>
                          <a:sym typeface="+mn-ea"/>
                        </a:rPr>
                        <a:t>New set for DFA added to </a:t>
                      </a:r>
                      <a:r>
                        <a:rPr lang="en-GB" altLang="en-US" sz="2400">
                          <a:highlight>
                            <a:srgbClr val="FFFF00"/>
                          </a:highlight>
                          <a:sym typeface="+mn-ea"/>
                        </a:rPr>
                        <a:t>Q</a:t>
                      </a:r>
                      <a:r>
                        <a:rPr lang="en-GB" altLang="en-US" sz="2400" baseline="-25000">
                          <a:highlight>
                            <a:srgbClr val="FFFF00"/>
                          </a:highlight>
                          <a:sym typeface="+mn-ea"/>
                        </a:rPr>
                        <a:t>D</a:t>
                      </a:r>
                      <a:endParaRPr lang="en-GB" altLang="en-US" sz="1600">
                        <a:solidFill>
                          <a:srgbClr val="FF0000"/>
                        </a:solidFill>
                        <a:highlight>
                          <a:srgbClr val="FFFF00"/>
                        </a:highlight>
                        <a:latin typeface="Arial" panose="020B0604020202020204" pitchFamily="34" charset="0"/>
                        <a:cs typeface="Arial" panose="020B0604020202020204" pitchFamily="34" charset="0"/>
                        <a:sym typeface="+mn-ea"/>
                      </a:endParaRPr>
                    </a:p>
                    <a:p>
                      <a:pPr>
                        <a:buNone/>
                      </a:pPr>
                      <a:r>
                        <a:rPr lang="el-GR" altLang="x-none" sz="1600" b="1" dirty="0">
                          <a:solidFill>
                            <a:srgbClr val="FF0000"/>
                          </a:solidFill>
                          <a:sym typeface="+mn-ea"/>
                        </a:rPr>
                        <a:t>δ</a:t>
                      </a:r>
                      <a:r>
                        <a:rPr sz="1600" b="1" baseline="-25000" dirty="0">
                          <a:solidFill>
                            <a:srgbClr val="FF0000"/>
                          </a:solidFill>
                          <a:sym typeface="+mn-ea"/>
                        </a:rPr>
                        <a:t>D</a:t>
                      </a:r>
                      <a:r>
                        <a:rPr lang="en-GB" altLang="el-GR" sz="1600" b="1" dirty="0">
                          <a:solidFill>
                            <a:schemeClr val="tx1"/>
                          </a:solidFill>
                          <a:latin typeface="Times New Roman" panose="02020603050405020304" pitchFamily="18" charset="0"/>
                          <a:cs typeface="Times New Roman" panose="02020603050405020304" pitchFamily="18" charset="0"/>
                          <a:sym typeface="+mn-ea"/>
                        </a:rPr>
                        <a:t>({q0,q1}, 1) = </a:t>
                      </a:r>
                      <a:r>
                        <a:rPr lang="el-GR" altLang="x-none" sz="1600" b="1" dirty="0">
                          <a:solidFill>
                            <a:srgbClr val="FF0000"/>
                          </a:solidFill>
                          <a:latin typeface="Times New Roman" panose="02020603050405020304" pitchFamily="18" charset="0"/>
                          <a:cs typeface="Times New Roman" panose="02020603050405020304" pitchFamily="18" charset="0"/>
                          <a:sym typeface="+mn-ea"/>
                        </a:rPr>
                        <a:t>δ</a:t>
                      </a:r>
                      <a:r>
                        <a:rPr sz="1600" b="1" baseline="-25000" dirty="0">
                          <a:solidFill>
                            <a:srgbClr val="FF0000"/>
                          </a:solidFill>
                          <a:latin typeface="Times New Roman" panose="02020603050405020304" pitchFamily="18" charset="0"/>
                          <a:cs typeface="Times New Roman" panose="02020603050405020304" pitchFamily="18" charset="0"/>
                          <a:sym typeface="+mn-ea"/>
                        </a:rPr>
                        <a:t>N</a:t>
                      </a:r>
                      <a:r>
                        <a:rPr lang="en-GB" altLang="en-US" sz="1600">
                          <a:sym typeface="+mn-ea"/>
                        </a:rPr>
                        <a:t>(q0, 1) </a:t>
                      </a:r>
                      <a:r>
                        <a:rPr lang="en-GB" altLang="en-US" sz="1600">
                          <a:latin typeface="Arial" panose="020B0604020202020204" pitchFamily="34" charset="0"/>
                          <a:cs typeface="Arial" panose="020B0604020202020204" pitchFamily="34" charset="0"/>
                          <a:sym typeface="+mn-ea"/>
                        </a:rPr>
                        <a:t>Ụ </a:t>
                      </a:r>
                      <a:r>
                        <a:rPr lang="el-GR" altLang="x-none" sz="1600" b="1" dirty="0">
                          <a:solidFill>
                            <a:srgbClr val="FF0000"/>
                          </a:solidFill>
                          <a:latin typeface="Times New Roman" panose="02020603050405020304" pitchFamily="18" charset="0"/>
                          <a:cs typeface="Times New Roman" panose="02020603050405020304" pitchFamily="18" charset="0"/>
                          <a:sym typeface="+mn-ea"/>
                        </a:rPr>
                        <a:t>δ</a:t>
                      </a:r>
                      <a:r>
                        <a:rPr sz="1600" b="1" baseline="-25000" dirty="0">
                          <a:solidFill>
                            <a:srgbClr val="FF0000"/>
                          </a:solidFill>
                          <a:latin typeface="Times New Roman" panose="02020603050405020304" pitchFamily="18" charset="0"/>
                          <a:cs typeface="Times New Roman" panose="02020603050405020304" pitchFamily="18" charset="0"/>
                          <a:sym typeface="+mn-ea"/>
                        </a:rPr>
                        <a:t>N</a:t>
                      </a:r>
                      <a:r>
                        <a:rPr lang="en-GB" altLang="en-US" sz="1600">
                          <a:sym typeface="+mn-ea"/>
                        </a:rPr>
                        <a:t>(q1, 1)</a:t>
                      </a:r>
                      <a:endParaRPr lang="en-GB" altLang="en-US" sz="1600">
                        <a:sym typeface="+mn-ea"/>
                      </a:endParaRPr>
                    </a:p>
                    <a:p>
                      <a:pPr>
                        <a:buNone/>
                      </a:pPr>
                      <a:r>
                        <a:rPr lang="en-GB" altLang="en-US" sz="1600">
                          <a:latin typeface="Arial" panose="020B0604020202020204" pitchFamily="34" charset="0"/>
                          <a:cs typeface="Arial" panose="020B0604020202020204" pitchFamily="34" charset="0"/>
                          <a:sym typeface="+mn-ea"/>
                        </a:rPr>
                        <a:t>                      = {q0,q1} Ụ { q2} Ụ </a:t>
                      </a:r>
                      <a:r>
                        <a:rPr lang="en-GB" altLang="en-US" sz="1600">
                          <a:sym typeface="+mn-ea"/>
                        </a:rPr>
                        <a:t>{</a:t>
                      </a:r>
                      <a:r>
                        <a:rPr lang="en-GB" altLang="en-US" sz="1600">
                          <a:latin typeface="Arial" panose="020B0604020202020204" pitchFamily="34" charset="0"/>
                          <a:cs typeface="Arial" panose="020B0604020202020204" pitchFamily="34" charset="0"/>
                          <a:sym typeface="+mn-ea"/>
                        </a:rPr>
                        <a:t>Ø</a:t>
                      </a:r>
                      <a:r>
                        <a:rPr lang="en-GB" altLang="en-US" sz="1600">
                          <a:sym typeface="+mn-ea"/>
                        </a:rPr>
                        <a:t>}  </a:t>
                      </a:r>
                      <a:endParaRPr lang="en-GB" altLang="en-US" sz="1600">
                        <a:sym typeface="+mn-ea"/>
                      </a:endParaRPr>
                    </a:p>
                    <a:p>
                      <a:pPr>
                        <a:buNone/>
                      </a:pPr>
                      <a:r>
                        <a:rPr lang="en-GB" altLang="en-US" sz="1600">
                          <a:sym typeface="+mn-ea"/>
                        </a:rPr>
                        <a:t> </a:t>
                      </a:r>
                      <a:r>
                        <a:rPr lang="en-IN" altLang="en-GB" sz="1600">
                          <a:sym typeface="+mn-ea"/>
                        </a:rPr>
                        <a:t>                     </a:t>
                      </a:r>
                      <a:r>
                        <a:rPr lang="en-GB" altLang="en-US" sz="1600">
                          <a:sym typeface="+mn-ea"/>
                        </a:rPr>
                        <a:t>  </a:t>
                      </a:r>
                      <a:r>
                        <a:rPr lang="en-GB" altLang="en-US" sz="1600">
                          <a:latin typeface="Arial" panose="020B0604020202020204" pitchFamily="34" charset="0"/>
                          <a:cs typeface="Arial" panose="020B0604020202020204" pitchFamily="34" charset="0"/>
                          <a:sym typeface="+mn-ea"/>
                        </a:rPr>
                        <a:t> </a:t>
                      </a:r>
                      <a:r>
                        <a:rPr lang="en-GB" altLang="en-US" sz="1600">
                          <a:solidFill>
                            <a:srgbClr val="FF0000"/>
                          </a:solidFill>
                          <a:highlight>
                            <a:srgbClr val="FFFF00"/>
                          </a:highlight>
                          <a:latin typeface="Arial" panose="020B0604020202020204" pitchFamily="34" charset="0"/>
                          <a:cs typeface="Arial" panose="020B0604020202020204" pitchFamily="34" charset="0"/>
                          <a:sym typeface="+mn-ea"/>
                        </a:rPr>
                        <a:t>= </a:t>
                      </a:r>
                      <a:r>
                        <a:rPr lang="en-GB" altLang="en-US" sz="1600" b="1">
                          <a:solidFill>
                            <a:srgbClr val="FF0000"/>
                          </a:solidFill>
                          <a:highlight>
                            <a:srgbClr val="FFFF00"/>
                          </a:highlight>
                          <a:latin typeface="Arial" panose="020B0604020202020204" pitchFamily="34" charset="0"/>
                          <a:cs typeface="Arial" panose="020B0604020202020204" pitchFamily="34" charset="0"/>
                          <a:sym typeface="+mn-ea"/>
                        </a:rPr>
                        <a:t>{ q0, q1,q2}</a:t>
                      </a:r>
                      <a:r>
                        <a:rPr lang="en-GB" altLang="en-US" sz="1600" b="1">
                          <a:latin typeface="Arial" panose="020B0604020202020204" pitchFamily="34" charset="0"/>
                          <a:cs typeface="Arial" panose="020B0604020202020204" pitchFamily="34" charset="0"/>
                          <a:sym typeface="+mn-ea"/>
                        </a:rPr>
                        <a:t> </a:t>
                      </a:r>
                      <a:r>
                        <a:rPr lang="en-IN" altLang="en-GB" sz="1600">
                          <a:solidFill>
                            <a:srgbClr val="FF0000"/>
                          </a:solidFill>
                          <a:highlight>
                            <a:srgbClr val="FFFF00"/>
                          </a:highlight>
                          <a:latin typeface="Arial" panose="020B0604020202020204" pitchFamily="34" charset="0"/>
                          <a:cs typeface="Arial" panose="020B0604020202020204" pitchFamily="34" charset="0"/>
                          <a:sym typeface="+mn-ea"/>
                        </a:rPr>
                        <a:t>New set for DFA added to </a:t>
                      </a:r>
                      <a:r>
                        <a:rPr lang="en-GB" altLang="en-US" sz="1600">
                          <a:highlight>
                            <a:srgbClr val="FFFF00"/>
                          </a:highlight>
                          <a:sym typeface="+mn-ea"/>
                        </a:rPr>
                        <a:t>Q</a:t>
                      </a:r>
                      <a:r>
                        <a:rPr lang="en-GB" altLang="en-US" sz="1600" baseline="-25000">
                          <a:highlight>
                            <a:srgbClr val="FFFF00"/>
                          </a:highlight>
                          <a:sym typeface="+mn-ea"/>
                        </a:rPr>
                        <a:t>D</a:t>
                      </a:r>
                      <a:endParaRPr lang="en-GB" altLang="en-US" sz="1600" b="1">
                        <a:latin typeface="Arial" panose="020B0604020202020204" pitchFamily="34" charset="0"/>
                        <a:cs typeface="Arial" panose="020B0604020202020204" pitchFamily="34" charset="0"/>
                        <a:sym typeface="+mn-ea"/>
                      </a:endParaRPr>
                    </a:p>
                  </a:txBody>
                  <a:tcPr/>
                </a:tc>
              </a:tr>
              <a:tr h="1622425">
                <a:tc>
                  <a:txBody>
                    <a:bodyPr/>
                    <a:p>
                      <a:pPr>
                        <a:buNone/>
                      </a:pPr>
                      <a:r>
                        <a:rPr lang="en-GB" altLang="en-US" sz="1600">
                          <a:latin typeface="Arial" panose="020B0604020202020204" pitchFamily="34" charset="0"/>
                          <a:cs typeface="Arial" panose="020B0604020202020204" pitchFamily="34" charset="0"/>
                        </a:rPr>
                        <a:t>ӿ</a:t>
                      </a:r>
                      <a:r>
                        <a:rPr lang="en-GB" altLang="en-US" sz="1600"/>
                        <a:t>{q0,q2}</a:t>
                      </a:r>
                      <a:endParaRPr lang="en-GB" altLang="en-US" sz="1600"/>
                    </a:p>
                  </a:txBody>
                  <a:tcPr/>
                </a:tc>
                <a:tc>
                  <a:txBody>
                    <a:bodyPr/>
                    <a:p>
                      <a:pPr>
                        <a:buNone/>
                      </a:pPr>
                      <a:r>
                        <a:rPr lang="en-GB" altLang="en-US" sz="1600">
                          <a:sym typeface="+mn-ea"/>
                        </a:rPr>
                        <a:t>{q0}</a:t>
                      </a:r>
                      <a:endParaRPr lang="en-GB" altLang="en-US" sz="1600">
                        <a:sym typeface="+mn-ea"/>
                      </a:endParaRPr>
                    </a:p>
                  </a:txBody>
                  <a:tcPr/>
                </a:tc>
                <a:tc>
                  <a:txBody>
                    <a:bodyPr/>
                    <a:p>
                      <a:pPr>
                        <a:buNone/>
                      </a:pPr>
                      <a:r>
                        <a:rPr lang="en-GB" altLang="en-US" sz="1600">
                          <a:sym typeface="+mn-ea"/>
                        </a:rPr>
                        <a:t>{q0,q1}</a:t>
                      </a:r>
                      <a:endParaRPr lang="en-GB" altLang="en-US" sz="1600"/>
                    </a:p>
                    <a:p>
                      <a:pPr>
                        <a:buNone/>
                      </a:pPr>
                      <a:endParaRPr lang="en-GB" altLang="en-US" sz="1600"/>
                    </a:p>
                  </a:txBody>
                  <a:tcPr/>
                </a:tc>
                <a:tc>
                  <a:txBody>
                    <a:bodyPr/>
                    <a:p>
                      <a:pPr>
                        <a:buNone/>
                      </a:pPr>
                      <a:r>
                        <a:rPr lang="en-GB" altLang="en-US" sz="1600"/>
                        <a:t> </a:t>
                      </a:r>
                      <a:r>
                        <a:rPr lang="el-GR" altLang="x-none" sz="1600" b="1" dirty="0">
                          <a:solidFill>
                            <a:srgbClr val="FF0000"/>
                          </a:solidFill>
                          <a:sym typeface="+mn-ea"/>
                        </a:rPr>
                        <a:t>δ</a:t>
                      </a:r>
                      <a:r>
                        <a:rPr sz="1600" b="1" baseline="-25000" dirty="0">
                          <a:solidFill>
                            <a:srgbClr val="FF0000"/>
                          </a:solidFill>
                          <a:sym typeface="+mn-ea"/>
                        </a:rPr>
                        <a:t>D</a:t>
                      </a:r>
                      <a:r>
                        <a:rPr lang="en-GB" altLang="el-GR" sz="1600" b="1" dirty="0">
                          <a:solidFill>
                            <a:schemeClr val="tx1"/>
                          </a:solidFill>
                          <a:latin typeface="Times New Roman" panose="02020603050405020304" pitchFamily="18" charset="0"/>
                          <a:cs typeface="Times New Roman" panose="02020603050405020304" pitchFamily="18" charset="0"/>
                          <a:sym typeface="+mn-ea"/>
                        </a:rPr>
                        <a:t>({q0,q2}, 0) = </a:t>
                      </a:r>
                      <a:r>
                        <a:rPr lang="el-GR" altLang="x-none" sz="1600" b="1" dirty="0">
                          <a:solidFill>
                            <a:srgbClr val="FF0000"/>
                          </a:solidFill>
                          <a:latin typeface="Times New Roman" panose="02020603050405020304" pitchFamily="18" charset="0"/>
                          <a:cs typeface="Times New Roman" panose="02020603050405020304" pitchFamily="18" charset="0"/>
                          <a:sym typeface="+mn-ea"/>
                        </a:rPr>
                        <a:t>δ</a:t>
                      </a:r>
                      <a:r>
                        <a:rPr sz="1600" b="1" baseline="-25000" dirty="0">
                          <a:solidFill>
                            <a:srgbClr val="FF0000"/>
                          </a:solidFill>
                          <a:latin typeface="Times New Roman" panose="02020603050405020304" pitchFamily="18" charset="0"/>
                          <a:cs typeface="Times New Roman" panose="02020603050405020304" pitchFamily="18" charset="0"/>
                          <a:sym typeface="+mn-ea"/>
                        </a:rPr>
                        <a:t>N</a:t>
                      </a:r>
                      <a:r>
                        <a:rPr lang="en-GB" altLang="en-US" sz="1600">
                          <a:sym typeface="+mn-ea"/>
                        </a:rPr>
                        <a:t>(q0, 0) </a:t>
                      </a:r>
                      <a:r>
                        <a:rPr lang="en-GB" altLang="en-US" sz="1600">
                          <a:latin typeface="Arial" panose="020B0604020202020204" pitchFamily="34" charset="0"/>
                          <a:cs typeface="Arial" panose="020B0604020202020204" pitchFamily="34" charset="0"/>
                          <a:sym typeface="+mn-ea"/>
                        </a:rPr>
                        <a:t>Ụ </a:t>
                      </a:r>
                      <a:r>
                        <a:rPr lang="el-GR" altLang="x-none" sz="1600" b="1" dirty="0">
                          <a:solidFill>
                            <a:srgbClr val="FF0000"/>
                          </a:solidFill>
                          <a:latin typeface="Times New Roman" panose="02020603050405020304" pitchFamily="18" charset="0"/>
                          <a:cs typeface="Times New Roman" panose="02020603050405020304" pitchFamily="18" charset="0"/>
                          <a:sym typeface="+mn-ea"/>
                        </a:rPr>
                        <a:t>δ</a:t>
                      </a:r>
                      <a:r>
                        <a:rPr sz="1600" b="1" baseline="-25000" dirty="0">
                          <a:solidFill>
                            <a:srgbClr val="FF0000"/>
                          </a:solidFill>
                          <a:latin typeface="Times New Roman" panose="02020603050405020304" pitchFamily="18" charset="0"/>
                          <a:cs typeface="Times New Roman" panose="02020603050405020304" pitchFamily="18" charset="0"/>
                          <a:sym typeface="+mn-ea"/>
                        </a:rPr>
                        <a:t>N</a:t>
                      </a:r>
                      <a:r>
                        <a:rPr lang="en-GB" altLang="en-US" sz="1600">
                          <a:sym typeface="+mn-ea"/>
                        </a:rPr>
                        <a:t>(q2, 0)</a:t>
                      </a:r>
                      <a:endParaRPr lang="en-GB" altLang="en-US" sz="1600">
                        <a:sym typeface="+mn-ea"/>
                      </a:endParaRPr>
                    </a:p>
                    <a:p>
                      <a:pPr>
                        <a:buNone/>
                      </a:pPr>
                      <a:r>
                        <a:rPr lang="en-GB" altLang="en-US" sz="1600">
                          <a:latin typeface="Arial" panose="020B0604020202020204" pitchFamily="34" charset="0"/>
                          <a:cs typeface="Arial" panose="020B0604020202020204" pitchFamily="34" charset="0"/>
                          <a:sym typeface="+mn-ea"/>
                        </a:rPr>
                        <a:t>                       =    {q0} Ụ </a:t>
                      </a:r>
                      <a:r>
                        <a:rPr lang="en-GB" altLang="en-US" sz="1600">
                          <a:sym typeface="+mn-ea"/>
                        </a:rPr>
                        <a:t>{</a:t>
                      </a:r>
                      <a:r>
                        <a:rPr lang="en-GB" altLang="en-US" sz="1600">
                          <a:latin typeface="Arial" panose="020B0604020202020204" pitchFamily="34" charset="0"/>
                          <a:cs typeface="Arial" panose="020B0604020202020204" pitchFamily="34" charset="0"/>
                          <a:sym typeface="+mn-ea"/>
                        </a:rPr>
                        <a:t>Ø</a:t>
                      </a:r>
                      <a:r>
                        <a:rPr lang="en-GB" altLang="en-US" sz="1600">
                          <a:sym typeface="+mn-ea"/>
                        </a:rPr>
                        <a:t>}       </a:t>
                      </a:r>
                      <a:endParaRPr lang="en-GB" altLang="en-US" sz="1600">
                        <a:sym typeface="+mn-ea"/>
                      </a:endParaRPr>
                    </a:p>
                    <a:p>
                      <a:pPr>
                        <a:buNone/>
                      </a:pPr>
                      <a:r>
                        <a:rPr lang="en-GB" altLang="en-US" sz="1600">
                          <a:sym typeface="+mn-ea"/>
                        </a:rPr>
                        <a:t> </a:t>
                      </a:r>
                      <a:r>
                        <a:rPr lang="en-IN" altLang="en-GB" sz="1600">
                          <a:sym typeface="+mn-ea"/>
                        </a:rPr>
                        <a:t>                       </a:t>
                      </a:r>
                      <a:r>
                        <a:rPr lang="en-GB" altLang="en-US" sz="1600">
                          <a:sym typeface="+mn-ea"/>
                        </a:rPr>
                        <a:t>   </a:t>
                      </a:r>
                      <a:r>
                        <a:rPr lang="en-GB" altLang="en-US" sz="1600">
                          <a:solidFill>
                            <a:srgbClr val="FF0000"/>
                          </a:solidFill>
                          <a:highlight>
                            <a:srgbClr val="FFFF00"/>
                          </a:highlight>
                          <a:sym typeface="+mn-ea"/>
                        </a:rPr>
                        <a:t> = </a:t>
                      </a:r>
                      <a:r>
                        <a:rPr lang="en-GB" altLang="en-US" sz="1600" b="1">
                          <a:solidFill>
                            <a:srgbClr val="FF0000"/>
                          </a:solidFill>
                          <a:highlight>
                            <a:srgbClr val="FFFF00"/>
                          </a:highlight>
                          <a:sym typeface="+mn-ea"/>
                        </a:rPr>
                        <a:t>{q0}</a:t>
                      </a:r>
                      <a:r>
                        <a:rPr lang="en-IN" altLang="en-GB" sz="1600" b="1">
                          <a:solidFill>
                            <a:srgbClr val="FF0000"/>
                          </a:solidFill>
                          <a:highlight>
                            <a:srgbClr val="FFFF00"/>
                          </a:highlight>
                          <a:sym typeface="+mn-ea"/>
                        </a:rPr>
                        <a:t> </a:t>
                      </a:r>
                      <a:r>
                        <a:rPr lang="en-GB" altLang="en-US" sz="1600">
                          <a:highlight>
                            <a:srgbClr val="FFFF00"/>
                          </a:highlight>
                          <a:sym typeface="+mn-ea"/>
                        </a:rPr>
                        <a:t> </a:t>
                      </a:r>
                      <a:r>
                        <a:rPr lang="en-GB" altLang="en-US" sz="1600">
                          <a:highlight>
                            <a:srgbClr val="FFFF00"/>
                          </a:highlight>
                          <a:latin typeface="Arial" panose="020B0604020202020204" pitchFamily="34" charset="0"/>
                          <a:cs typeface="Arial" panose="020B0604020202020204" pitchFamily="34" charset="0"/>
                          <a:sym typeface="+mn-ea"/>
                        </a:rPr>
                        <a:t>→</a:t>
                      </a:r>
                      <a:r>
                        <a:rPr lang="en-IN" altLang="en-GB" sz="1600">
                          <a:highlight>
                            <a:srgbClr val="FFFF00"/>
                          </a:highlight>
                          <a:latin typeface="Arial" panose="020B0604020202020204" pitchFamily="34" charset="0"/>
                          <a:cs typeface="Arial" panose="020B0604020202020204" pitchFamily="34" charset="0"/>
                          <a:sym typeface="+mn-ea"/>
                        </a:rPr>
                        <a:t> Old set </a:t>
                      </a:r>
                      <a:r>
                        <a:rPr lang="en-GB" altLang="en-US" sz="1600">
                          <a:highlight>
                            <a:srgbClr val="FFFF00"/>
                          </a:highlight>
                          <a:sym typeface="+mn-ea"/>
                        </a:rPr>
                        <a:t> </a:t>
                      </a:r>
                      <a:r>
                        <a:rPr lang="en-IN" altLang="en-GB" sz="1600" b="1">
                          <a:solidFill>
                            <a:schemeClr val="tx1"/>
                          </a:solidFill>
                          <a:highlight>
                            <a:srgbClr val="FFFF00"/>
                          </a:highlight>
                          <a:latin typeface="Arial" panose="020B0604020202020204" pitchFamily="34" charset="0"/>
                          <a:cs typeface="Arial" panose="020B0604020202020204" pitchFamily="34" charset="0"/>
                          <a:sym typeface="+mn-ea"/>
                        </a:rPr>
                        <a:t>Not ADDED to </a:t>
                      </a:r>
                      <a:r>
                        <a:rPr lang="en-GB" altLang="en-US" sz="1600" b="1">
                          <a:solidFill>
                            <a:srgbClr val="FF0000"/>
                          </a:solidFill>
                          <a:highlight>
                            <a:srgbClr val="FFFF00"/>
                          </a:highlight>
                          <a:sym typeface="+mn-ea"/>
                        </a:rPr>
                        <a:t>Q</a:t>
                      </a:r>
                      <a:r>
                        <a:rPr lang="en-GB" altLang="en-US" sz="1600" b="1" baseline="-25000">
                          <a:solidFill>
                            <a:srgbClr val="FF0000"/>
                          </a:solidFill>
                          <a:highlight>
                            <a:srgbClr val="FFFF00"/>
                          </a:highlight>
                          <a:sym typeface="+mn-ea"/>
                        </a:rPr>
                        <a:t>D</a:t>
                      </a:r>
                      <a:endParaRPr lang="en-GB" altLang="en-US" sz="1600" b="1">
                        <a:solidFill>
                          <a:srgbClr val="FF0000"/>
                        </a:solidFill>
                        <a:highlight>
                          <a:srgbClr val="FFFF00"/>
                        </a:highlight>
                        <a:sym typeface="+mn-ea"/>
                      </a:endParaRPr>
                    </a:p>
                    <a:p>
                      <a:pPr>
                        <a:buNone/>
                      </a:pPr>
                      <a:r>
                        <a:rPr lang="en-GB" altLang="el-GR" sz="1600" b="1" dirty="0">
                          <a:solidFill>
                            <a:srgbClr val="FF0000"/>
                          </a:solidFill>
                          <a:sym typeface="+mn-ea"/>
                        </a:rPr>
                        <a:t> </a:t>
                      </a:r>
                      <a:r>
                        <a:rPr lang="el-GR" altLang="x-none" sz="1600" b="1" dirty="0">
                          <a:solidFill>
                            <a:srgbClr val="FF0000"/>
                          </a:solidFill>
                          <a:sym typeface="+mn-ea"/>
                        </a:rPr>
                        <a:t>δ</a:t>
                      </a:r>
                      <a:r>
                        <a:rPr sz="1600" b="1" baseline="-25000" dirty="0">
                          <a:solidFill>
                            <a:srgbClr val="FF0000"/>
                          </a:solidFill>
                          <a:sym typeface="+mn-ea"/>
                        </a:rPr>
                        <a:t>D</a:t>
                      </a:r>
                      <a:r>
                        <a:rPr lang="en-GB" altLang="el-GR" sz="1600" b="1" dirty="0">
                          <a:solidFill>
                            <a:schemeClr val="tx1"/>
                          </a:solidFill>
                          <a:latin typeface="Times New Roman" panose="02020603050405020304" pitchFamily="18" charset="0"/>
                          <a:cs typeface="Times New Roman" panose="02020603050405020304" pitchFamily="18" charset="0"/>
                          <a:sym typeface="+mn-ea"/>
                        </a:rPr>
                        <a:t>({q0,q2}, </a:t>
                      </a:r>
                      <a:r>
                        <a:rPr lang="en-IN" altLang="en-GB" sz="1600" b="1" dirty="0">
                          <a:solidFill>
                            <a:schemeClr val="tx1"/>
                          </a:solidFill>
                          <a:latin typeface="Times New Roman" panose="02020603050405020304" pitchFamily="18" charset="0"/>
                          <a:cs typeface="Times New Roman" panose="02020603050405020304" pitchFamily="18" charset="0"/>
                          <a:sym typeface="+mn-ea"/>
                        </a:rPr>
                        <a:t>1</a:t>
                      </a:r>
                      <a:r>
                        <a:rPr lang="en-GB" altLang="el-GR" sz="1600" b="1" dirty="0">
                          <a:solidFill>
                            <a:schemeClr val="tx1"/>
                          </a:solidFill>
                          <a:latin typeface="Times New Roman" panose="02020603050405020304" pitchFamily="18" charset="0"/>
                          <a:cs typeface="Times New Roman" panose="02020603050405020304" pitchFamily="18" charset="0"/>
                          <a:sym typeface="+mn-ea"/>
                        </a:rPr>
                        <a:t>) = </a:t>
                      </a:r>
                      <a:r>
                        <a:rPr lang="el-GR" altLang="x-none" sz="1600" b="1" dirty="0">
                          <a:solidFill>
                            <a:srgbClr val="FF0000"/>
                          </a:solidFill>
                          <a:latin typeface="Times New Roman" panose="02020603050405020304" pitchFamily="18" charset="0"/>
                          <a:cs typeface="Times New Roman" panose="02020603050405020304" pitchFamily="18" charset="0"/>
                          <a:sym typeface="+mn-ea"/>
                        </a:rPr>
                        <a:t>δ</a:t>
                      </a:r>
                      <a:r>
                        <a:rPr sz="1600" b="1" baseline="-25000" dirty="0">
                          <a:solidFill>
                            <a:srgbClr val="FF0000"/>
                          </a:solidFill>
                          <a:latin typeface="Times New Roman" panose="02020603050405020304" pitchFamily="18" charset="0"/>
                          <a:cs typeface="Times New Roman" panose="02020603050405020304" pitchFamily="18" charset="0"/>
                          <a:sym typeface="+mn-ea"/>
                        </a:rPr>
                        <a:t>N</a:t>
                      </a:r>
                      <a:r>
                        <a:rPr lang="en-GB" altLang="en-US" sz="1600">
                          <a:sym typeface="+mn-ea"/>
                        </a:rPr>
                        <a:t>(q0, 1) </a:t>
                      </a:r>
                      <a:r>
                        <a:rPr lang="en-GB" altLang="en-US" sz="1600">
                          <a:latin typeface="Arial" panose="020B0604020202020204" pitchFamily="34" charset="0"/>
                          <a:cs typeface="Arial" panose="020B0604020202020204" pitchFamily="34" charset="0"/>
                          <a:sym typeface="+mn-ea"/>
                        </a:rPr>
                        <a:t>Ụ </a:t>
                      </a:r>
                      <a:r>
                        <a:rPr lang="el-GR" altLang="x-none" sz="1600" b="1" dirty="0">
                          <a:solidFill>
                            <a:srgbClr val="FF0000"/>
                          </a:solidFill>
                          <a:latin typeface="Times New Roman" panose="02020603050405020304" pitchFamily="18" charset="0"/>
                          <a:cs typeface="Times New Roman" panose="02020603050405020304" pitchFamily="18" charset="0"/>
                          <a:sym typeface="+mn-ea"/>
                        </a:rPr>
                        <a:t>δ</a:t>
                      </a:r>
                      <a:r>
                        <a:rPr sz="1600" b="1" baseline="-25000" dirty="0">
                          <a:solidFill>
                            <a:srgbClr val="FF0000"/>
                          </a:solidFill>
                          <a:latin typeface="Times New Roman" panose="02020603050405020304" pitchFamily="18" charset="0"/>
                          <a:cs typeface="Times New Roman" panose="02020603050405020304" pitchFamily="18" charset="0"/>
                          <a:sym typeface="+mn-ea"/>
                        </a:rPr>
                        <a:t>N</a:t>
                      </a:r>
                      <a:r>
                        <a:rPr lang="en-GB" altLang="en-US" sz="1600">
                          <a:sym typeface="+mn-ea"/>
                        </a:rPr>
                        <a:t>(q2, 1)</a:t>
                      </a:r>
                      <a:endParaRPr lang="en-GB" altLang="en-US" sz="1600">
                        <a:sym typeface="+mn-ea"/>
                      </a:endParaRPr>
                    </a:p>
                    <a:p>
                      <a:pPr>
                        <a:buNone/>
                      </a:pPr>
                      <a:r>
                        <a:rPr lang="en-GB" altLang="en-US" sz="1600">
                          <a:latin typeface="Arial" panose="020B0604020202020204" pitchFamily="34" charset="0"/>
                          <a:cs typeface="Arial" panose="020B0604020202020204" pitchFamily="34" charset="0"/>
                          <a:sym typeface="+mn-ea"/>
                        </a:rPr>
                        <a:t>                      =     {q0, q1} Ụ </a:t>
                      </a:r>
                      <a:r>
                        <a:rPr lang="en-GB" altLang="en-US" sz="1600">
                          <a:sym typeface="+mn-ea"/>
                        </a:rPr>
                        <a:t>{</a:t>
                      </a:r>
                      <a:r>
                        <a:rPr lang="en-GB" altLang="en-US" sz="1600">
                          <a:latin typeface="Arial" panose="020B0604020202020204" pitchFamily="34" charset="0"/>
                          <a:cs typeface="Arial" panose="020B0604020202020204" pitchFamily="34" charset="0"/>
                          <a:sym typeface="+mn-ea"/>
                        </a:rPr>
                        <a:t>Ø</a:t>
                      </a:r>
                      <a:r>
                        <a:rPr lang="en-GB" altLang="en-US" sz="1600">
                          <a:sym typeface="+mn-ea"/>
                        </a:rPr>
                        <a:t>} </a:t>
                      </a:r>
                      <a:endParaRPr lang="en-GB" altLang="en-US" sz="1600">
                        <a:sym typeface="+mn-ea"/>
                      </a:endParaRPr>
                    </a:p>
                    <a:p>
                      <a:pPr>
                        <a:buNone/>
                      </a:pPr>
                      <a:r>
                        <a:rPr lang="en-GB" altLang="en-US" sz="1600">
                          <a:sym typeface="+mn-ea"/>
                        </a:rPr>
                        <a:t> </a:t>
                      </a:r>
                      <a:r>
                        <a:rPr lang="en-IN" altLang="en-GB" sz="1600">
                          <a:sym typeface="+mn-ea"/>
                        </a:rPr>
                        <a:t>                       </a:t>
                      </a:r>
                      <a:r>
                        <a:rPr lang="en-GB" altLang="en-US" sz="1600">
                          <a:sym typeface="+mn-ea"/>
                        </a:rPr>
                        <a:t>   =</a:t>
                      </a:r>
                      <a:r>
                        <a:rPr lang="en-GB" altLang="en-US" sz="1600" b="1">
                          <a:sym typeface="+mn-ea"/>
                        </a:rPr>
                        <a:t> </a:t>
                      </a:r>
                      <a:r>
                        <a:rPr lang="en-GB" altLang="en-US" sz="1600" b="1">
                          <a:solidFill>
                            <a:srgbClr val="FF0000"/>
                          </a:solidFill>
                          <a:highlight>
                            <a:srgbClr val="FFFF00"/>
                          </a:highlight>
                          <a:sym typeface="+mn-ea"/>
                        </a:rPr>
                        <a:t>{q0,q1}</a:t>
                      </a:r>
                      <a:r>
                        <a:rPr lang="en-IN" altLang="en-GB" sz="1600" b="1">
                          <a:solidFill>
                            <a:srgbClr val="FF0000"/>
                          </a:solidFill>
                          <a:highlight>
                            <a:srgbClr val="FFFF00"/>
                          </a:highlight>
                          <a:sym typeface="+mn-ea"/>
                        </a:rPr>
                        <a:t> </a:t>
                      </a:r>
                      <a:r>
                        <a:rPr lang="en-GB" altLang="en-US" sz="1600">
                          <a:highlight>
                            <a:srgbClr val="FFFF00"/>
                          </a:highlight>
                          <a:sym typeface="+mn-ea"/>
                        </a:rPr>
                        <a:t> </a:t>
                      </a:r>
                      <a:r>
                        <a:rPr lang="en-GB" altLang="en-US" sz="1600">
                          <a:highlight>
                            <a:srgbClr val="FFFF00"/>
                          </a:highlight>
                          <a:latin typeface="Arial" panose="020B0604020202020204" pitchFamily="34" charset="0"/>
                          <a:cs typeface="Arial" panose="020B0604020202020204" pitchFamily="34" charset="0"/>
                          <a:sym typeface="+mn-ea"/>
                        </a:rPr>
                        <a:t>→</a:t>
                      </a:r>
                      <a:r>
                        <a:rPr lang="en-IN" altLang="en-GB" sz="1600">
                          <a:highlight>
                            <a:srgbClr val="FFFF00"/>
                          </a:highlight>
                          <a:latin typeface="Arial" panose="020B0604020202020204" pitchFamily="34" charset="0"/>
                          <a:cs typeface="Arial" panose="020B0604020202020204" pitchFamily="34" charset="0"/>
                          <a:sym typeface="+mn-ea"/>
                        </a:rPr>
                        <a:t> Old set </a:t>
                      </a:r>
                      <a:r>
                        <a:rPr lang="en-GB" altLang="en-US" sz="1600">
                          <a:highlight>
                            <a:srgbClr val="FFFF00"/>
                          </a:highlight>
                          <a:sym typeface="+mn-ea"/>
                        </a:rPr>
                        <a:t> </a:t>
                      </a:r>
                      <a:r>
                        <a:rPr lang="en-IN" altLang="en-GB" sz="1600" b="1">
                          <a:solidFill>
                            <a:schemeClr val="tx1"/>
                          </a:solidFill>
                          <a:highlight>
                            <a:srgbClr val="FFFF00"/>
                          </a:highlight>
                          <a:latin typeface="Arial" panose="020B0604020202020204" pitchFamily="34" charset="0"/>
                          <a:cs typeface="Arial" panose="020B0604020202020204" pitchFamily="34" charset="0"/>
                          <a:sym typeface="+mn-ea"/>
                        </a:rPr>
                        <a:t>Not ADDED to </a:t>
                      </a:r>
                      <a:r>
                        <a:rPr lang="en-GB" altLang="en-US" sz="1600" b="1">
                          <a:solidFill>
                            <a:srgbClr val="FF0000"/>
                          </a:solidFill>
                          <a:highlight>
                            <a:srgbClr val="FFFF00"/>
                          </a:highlight>
                          <a:sym typeface="+mn-ea"/>
                        </a:rPr>
                        <a:t>Q</a:t>
                      </a:r>
                      <a:r>
                        <a:rPr lang="en-GB" altLang="en-US" sz="1600" b="1" baseline="-25000">
                          <a:solidFill>
                            <a:srgbClr val="FF0000"/>
                          </a:solidFill>
                          <a:highlight>
                            <a:srgbClr val="FFFF00"/>
                          </a:highlight>
                          <a:sym typeface="+mn-ea"/>
                        </a:rPr>
                        <a:t>D</a:t>
                      </a:r>
                      <a:r>
                        <a:rPr lang="en-GB" altLang="en-US" sz="1600" b="1">
                          <a:solidFill>
                            <a:srgbClr val="FF0000"/>
                          </a:solidFill>
                          <a:highlight>
                            <a:srgbClr val="FFFF00"/>
                          </a:highlight>
                        </a:rPr>
                        <a:t>  </a:t>
                      </a:r>
                      <a:r>
                        <a:rPr lang="en-GB" altLang="en-US" sz="1600">
                          <a:solidFill>
                            <a:srgbClr val="FF0000"/>
                          </a:solidFill>
                          <a:highlight>
                            <a:srgbClr val="FFFF00"/>
                          </a:highlight>
                        </a:rPr>
                        <a:t>   </a:t>
                      </a:r>
                      <a:r>
                        <a:rPr lang="en-GB" altLang="en-US" sz="1600"/>
                        <a:t>                   </a:t>
                      </a:r>
                      <a:endParaRPr lang="en-GB" altLang="en-US" sz="1600"/>
                    </a:p>
                  </a:txBody>
                  <a:tcPr/>
                </a:tc>
              </a:tr>
            </a:tbl>
          </a:graphicData>
        </a:graphic>
      </p:graphicFrame>
      <p:sp>
        <p:nvSpPr>
          <p:cNvPr id="2" name="Text Box 1"/>
          <p:cNvSpPr txBox="1"/>
          <p:nvPr/>
        </p:nvSpPr>
        <p:spPr>
          <a:xfrm>
            <a:off x="1146810" y="43815"/>
            <a:ext cx="6057900" cy="542290"/>
          </a:xfrm>
          <a:prstGeom prst="rect">
            <a:avLst/>
          </a:prstGeom>
          <a:noFill/>
        </p:spPr>
        <p:txBody>
          <a:bodyPr wrap="square" rtlCol="0">
            <a:noAutofit/>
          </a:bodyPr>
          <a:p>
            <a:r>
              <a:rPr lang="en-GB" altLang="en-US" sz="2000"/>
              <a:t>Q</a:t>
            </a:r>
            <a:r>
              <a:rPr lang="en-GB" altLang="en-US" sz="2000" baseline="-25000"/>
              <a:t>D</a:t>
            </a:r>
            <a:r>
              <a:rPr lang="en-GB" altLang="en-US" sz="2000"/>
              <a:t> = { {q0}, {q0,q1}, {q0, q2}, {q0, q1, q2 } }</a:t>
            </a:r>
            <a:endParaRPr lang="en-GB" altLang="en-US" sz="2000"/>
          </a:p>
        </p:txBody>
      </p:sp>
      <p:sp>
        <p:nvSpPr>
          <p:cNvPr id="3" name="Footer Placeholder 2"/>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6" name="Content Placeholder 5"/>
          <p:cNvGraphicFramePr/>
          <p:nvPr>
            <p:ph idx="1"/>
          </p:nvPr>
        </p:nvGraphicFramePr>
        <p:xfrm>
          <a:off x="103505" y="762000"/>
          <a:ext cx="8971280" cy="3404870"/>
        </p:xfrm>
        <a:graphic>
          <a:graphicData uri="http://schemas.openxmlformats.org/drawingml/2006/table">
            <a:tbl>
              <a:tblPr firstRow="1" bandRow="1">
                <a:tableStyleId>{5C22544A-7EE6-4342-B048-85BDC9FD1C3A}</a:tableStyleId>
              </a:tblPr>
              <a:tblGrid>
                <a:gridCol w="1265555"/>
                <a:gridCol w="859790"/>
                <a:gridCol w="1209675"/>
                <a:gridCol w="5636260"/>
              </a:tblGrid>
              <a:tr h="365760">
                <a:tc>
                  <a:txBody>
                    <a:bodyPr/>
                    <a:p>
                      <a:pPr>
                        <a:buNone/>
                      </a:pPr>
                      <a:r>
                        <a:rPr lang="el-GR" altLang="x-none" sz="1800" dirty="0">
                          <a:solidFill>
                            <a:srgbClr val="FF0000"/>
                          </a:solidFill>
                          <a:sym typeface="+mn-ea"/>
                        </a:rPr>
                        <a:t>δ</a:t>
                      </a:r>
                      <a:r>
                        <a:rPr sz="1800" baseline="-25000" dirty="0">
                          <a:solidFill>
                            <a:srgbClr val="FF0000"/>
                          </a:solidFill>
                          <a:sym typeface="+mn-ea"/>
                        </a:rPr>
                        <a:t>D</a:t>
                      </a:r>
                      <a:endParaRPr lang="en-US"/>
                    </a:p>
                  </a:txBody>
                  <a:tcPr/>
                </a:tc>
                <a:tc>
                  <a:txBody>
                    <a:bodyPr/>
                    <a:p>
                      <a:pPr>
                        <a:buNone/>
                      </a:pPr>
                      <a:r>
                        <a:rPr lang="en-GB" altLang="en-US"/>
                        <a:t>0</a:t>
                      </a:r>
                      <a:endParaRPr lang="en-GB" altLang="en-US"/>
                    </a:p>
                  </a:txBody>
                  <a:tcPr/>
                </a:tc>
                <a:tc>
                  <a:txBody>
                    <a:bodyPr/>
                    <a:p>
                      <a:pPr>
                        <a:buNone/>
                      </a:pPr>
                      <a:r>
                        <a:rPr lang="en-GB" altLang="en-US"/>
                        <a:t>1</a:t>
                      </a:r>
                      <a:endParaRPr lang="en-GB" altLang="en-US"/>
                    </a:p>
                  </a:txBody>
                  <a:tcPr/>
                </a:tc>
                <a:tc>
                  <a:txBody>
                    <a:bodyPr/>
                    <a:p>
                      <a:pPr>
                        <a:buNone/>
                      </a:pPr>
                      <a:r>
                        <a:rPr lang="el-GR" altLang="x-none" sz="1800" dirty="0">
                          <a:solidFill>
                            <a:srgbClr val="FF0000"/>
                          </a:solidFill>
                          <a:sym typeface="+mn-ea"/>
                        </a:rPr>
                        <a:t>δ</a:t>
                      </a:r>
                      <a:r>
                        <a:rPr sz="1800" baseline="-25000" dirty="0">
                          <a:solidFill>
                            <a:srgbClr val="FF0000"/>
                          </a:solidFill>
                          <a:sym typeface="+mn-ea"/>
                        </a:rPr>
                        <a:t>D</a:t>
                      </a:r>
                      <a:r>
                        <a:rPr lang="en-GB" sz="1800" baseline="-25000" dirty="0">
                          <a:solidFill>
                            <a:srgbClr val="FF0000"/>
                          </a:solidFill>
                          <a:sym typeface="+mn-ea"/>
                        </a:rPr>
                        <a:t> </a:t>
                      </a:r>
                      <a:r>
                        <a:rPr lang="en-GB" altLang="en-US" sz="1800">
                          <a:sym typeface="+mn-ea"/>
                        </a:rPr>
                        <a:t> </a:t>
                      </a:r>
                      <a:r>
                        <a:rPr lang="en-GB" altLang="en-US" sz="1800">
                          <a:latin typeface="Arial" panose="020B0604020202020204" pitchFamily="34" charset="0"/>
                          <a:cs typeface="Arial" panose="020B0604020202020204" pitchFamily="34" charset="0"/>
                          <a:sym typeface="+mn-ea"/>
                        </a:rPr>
                        <a:t>→ C</a:t>
                      </a:r>
                      <a:r>
                        <a:rPr lang="en-GB" altLang="en-US" sz="1800">
                          <a:sym typeface="+mn-ea"/>
                        </a:rPr>
                        <a:t>alulations for inputs 0 and 1</a:t>
                      </a:r>
                      <a:endParaRPr lang="en-GB" sz="1800" baseline="-25000" dirty="0">
                        <a:solidFill>
                          <a:srgbClr val="FF0000"/>
                        </a:solidFill>
                        <a:sym typeface="+mn-ea"/>
                      </a:endParaRPr>
                    </a:p>
                  </a:txBody>
                  <a:tcPr/>
                </a:tc>
              </a:tr>
              <a:tr h="1798320">
                <a:tc>
                  <a:txBody>
                    <a:bodyPr/>
                    <a:p>
                      <a:pPr>
                        <a:buNone/>
                      </a:pPr>
                      <a:r>
                        <a:rPr lang="en-GB" altLang="en-US">
                          <a:latin typeface="Arial" panose="020B0604020202020204" pitchFamily="34" charset="0"/>
                          <a:cs typeface="Arial" panose="020B0604020202020204" pitchFamily="34" charset="0"/>
                        </a:rPr>
                        <a:t>ӿ</a:t>
                      </a:r>
                      <a:r>
                        <a:rPr lang="en-GB" altLang="en-US"/>
                        <a:t>{q0,q1,q2}</a:t>
                      </a:r>
                      <a:endParaRPr lang="en-GB" altLang="en-US"/>
                    </a:p>
                  </a:txBody>
                  <a:tcPr/>
                </a:tc>
                <a:tc>
                  <a:txBody>
                    <a:bodyPr/>
                    <a:p>
                      <a:pPr>
                        <a:buNone/>
                      </a:pPr>
                      <a:r>
                        <a:rPr lang="en-GB" altLang="en-US" sz="1800">
                          <a:sym typeface="+mn-ea"/>
                        </a:rPr>
                        <a:t>{q0,q2}</a:t>
                      </a:r>
                      <a:endParaRPr lang="en-US"/>
                    </a:p>
                  </a:txBody>
                  <a:tcPr/>
                </a:tc>
                <a:tc>
                  <a:txBody>
                    <a:bodyPr/>
                    <a:p>
                      <a:pPr>
                        <a:buNone/>
                      </a:pPr>
                      <a:r>
                        <a:rPr lang="en-GB" altLang="en-US" sz="1800">
                          <a:sym typeface="+mn-ea"/>
                        </a:rPr>
                        <a:t>{q0,q1,q2}</a:t>
                      </a:r>
                      <a:endParaRPr lang="en-US"/>
                    </a:p>
                  </a:txBody>
                  <a:tcPr/>
                </a:tc>
                <a:tc>
                  <a:txBody>
                    <a:bodyPr/>
                    <a:p>
                      <a:pPr>
                        <a:buNone/>
                      </a:pPr>
                      <a:r>
                        <a:rPr lang="el-GR" altLang="x-none" sz="1600" b="1" dirty="0">
                          <a:solidFill>
                            <a:srgbClr val="FF0000"/>
                          </a:solidFill>
                          <a:sym typeface="+mn-ea"/>
                        </a:rPr>
                        <a:t>δ</a:t>
                      </a:r>
                      <a:r>
                        <a:rPr sz="1600" b="1" baseline="-25000" dirty="0">
                          <a:solidFill>
                            <a:srgbClr val="FF0000"/>
                          </a:solidFill>
                          <a:sym typeface="+mn-ea"/>
                        </a:rPr>
                        <a:t>D</a:t>
                      </a:r>
                      <a:r>
                        <a:rPr lang="en-GB" altLang="el-GR" sz="1600" b="1" dirty="0">
                          <a:solidFill>
                            <a:schemeClr val="tx1"/>
                          </a:solidFill>
                          <a:latin typeface="Times New Roman" panose="02020603050405020304" pitchFamily="18" charset="0"/>
                          <a:cs typeface="Times New Roman" panose="02020603050405020304" pitchFamily="18" charset="0"/>
                          <a:sym typeface="+mn-ea"/>
                        </a:rPr>
                        <a:t>({q0,q1,q2}, 0) = </a:t>
                      </a:r>
                      <a:r>
                        <a:rPr lang="el-GR" altLang="x-none" sz="1600" b="1" dirty="0">
                          <a:solidFill>
                            <a:srgbClr val="FF0000"/>
                          </a:solidFill>
                          <a:latin typeface="Times New Roman" panose="02020603050405020304" pitchFamily="18" charset="0"/>
                          <a:cs typeface="Times New Roman" panose="02020603050405020304" pitchFamily="18" charset="0"/>
                          <a:sym typeface="+mn-ea"/>
                        </a:rPr>
                        <a:t>δ</a:t>
                      </a:r>
                      <a:r>
                        <a:rPr sz="1600" b="1" baseline="-25000" dirty="0">
                          <a:solidFill>
                            <a:srgbClr val="FF0000"/>
                          </a:solidFill>
                          <a:latin typeface="Times New Roman" panose="02020603050405020304" pitchFamily="18" charset="0"/>
                          <a:cs typeface="Times New Roman" panose="02020603050405020304" pitchFamily="18" charset="0"/>
                          <a:sym typeface="+mn-ea"/>
                        </a:rPr>
                        <a:t>N</a:t>
                      </a:r>
                      <a:r>
                        <a:rPr lang="en-GB" altLang="en-US" sz="1600">
                          <a:sym typeface="+mn-ea"/>
                        </a:rPr>
                        <a:t>(q0, 0) </a:t>
                      </a:r>
                      <a:r>
                        <a:rPr lang="en-GB" altLang="en-US" sz="1600">
                          <a:latin typeface="Arial" panose="020B0604020202020204" pitchFamily="34" charset="0"/>
                          <a:cs typeface="Arial" panose="020B0604020202020204" pitchFamily="34" charset="0"/>
                          <a:sym typeface="+mn-ea"/>
                        </a:rPr>
                        <a:t>Ụ </a:t>
                      </a:r>
                      <a:r>
                        <a:rPr lang="el-GR" altLang="x-none" sz="1600" b="1" dirty="0">
                          <a:solidFill>
                            <a:srgbClr val="FF0000"/>
                          </a:solidFill>
                          <a:latin typeface="Times New Roman" panose="02020603050405020304" pitchFamily="18" charset="0"/>
                          <a:cs typeface="Times New Roman" panose="02020603050405020304" pitchFamily="18" charset="0"/>
                          <a:sym typeface="+mn-ea"/>
                        </a:rPr>
                        <a:t>δ</a:t>
                      </a:r>
                      <a:r>
                        <a:rPr sz="1600" b="1" baseline="-25000" dirty="0">
                          <a:solidFill>
                            <a:srgbClr val="FF0000"/>
                          </a:solidFill>
                          <a:latin typeface="Times New Roman" panose="02020603050405020304" pitchFamily="18" charset="0"/>
                          <a:cs typeface="Times New Roman" panose="02020603050405020304" pitchFamily="18" charset="0"/>
                          <a:sym typeface="+mn-ea"/>
                        </a:rPr>
                        <a:t>N</a:t>
                      </a:r>
                      <a:r>
                        <a:rPr lang="en-GB" altLang="en-US" sz="1600">
                          <a:sym typeface="+mn-ea"/>
                        </a:rPr>
                        <a:t>(q1, 0)</a:t>
                      </a:r>
                      <a:r>
                        <a:rPr lang="en-GB" altLang="en-US" sz="1600">
                          <a:latin typeface="Arial" panose="020B0604020202020204" pitchFamily="34" charset="0"/>
                          <a:cs typeface="Arial" panose="020B0604020202020204" pitchFamily="34" charset="0"/>
                          <a:sym typeface="+mn-ea"/>
                        </a:rPr>
                        <a:t>Ụ</a:t>
                      </a:r>
                      <a:r>
                        <a:rPr lang="el-GR" altLang="x-none" sz="1600" b="1" dirty="0">
                          <a:solidFill>
                            <a:srgbClr val="FF0000"/>
                          </a:solidFill>
                          <a:latin typeface="Times New Roman" panose="02020603050405020304" pitchFamily="18" charset="0"/>
                          <a:cs typeface="Times New Roman" panose="02020603050405020304" pitchFamily="18" charset="0"/>
                          <a:sym typeface="+mn-ea"/>
                        </a:rPr>
                        <a:t>δ</a:t>
                      </a:r>
                      <a:r>
                        <a:rPr sz="1600" b="1" baseline="-25000" dirty="0">
                          <a:solidFill>
                            <a:srgbClr val="FF0000"/>
                          </a:solidFill>
                          <a:latin typeface="Times New Roman" panose="02020603050405020304" pitchFamily="18" charset="0"/>
                          <a:cs typeface="Times New Roman" panose="02020603050405020304" pitchFamily="18" charset="0"/>
                          <a:sym typeface="+mn-ea"/>
                        </a:rPr>
                        <a:t>N</a:t>
                      </a:r>
                      <a:r>
                        <a:rPr lang="en-GB" altLang="en-US" sz="1600">
                          <a:sym typeface="+mn-ea"/>
                        </a:rPr>
                        <a:t>(q2, 0)</a:t>
                      </a:r>
                      <a:endParaRPr lang="en-GB" altLang="en-US" sz="1600">
                        <a:sym typeface="+mn-ea"/>
                      </a:endParaRPr>
                    </a:p>
                    <a:p>
                      <a:pPr>
                        <a:buNone/>
                      </a:pPr>
                      <a:r>
                        <a:rPr lang="en-GB" altLang="en-US" sz="1600">
                          <a:latin typeface="Arial" panose="020B0604020202020204" pitchFamily="34" charset="0"/>
                          <a:cs typeface="Arial" panose="020B0604020202020204" pitchFamily="34" charset="0"/>
                          <a:sym typeface="+mn-ea"/>
                        </a:rPr>
                        <a:t>                          = {q0} Ụ { q2} Ụ </a:t>
                      </a:r>
                      <a:r>
                        <a:rPr lang="en-GB" altLang="en-US" sz="1600">
                          <a:sym typeface="+mn-ea"/>
                        </a:rPr>
                        <a:t>{</a:t>
                      </a:r>
                      <a:r>
                        <a:rPr lang="en-GB" altLang="en-US" sz="1600">
                          <a:latin typeface="Arial" panose="020B0604020202020204" pitchFamily="34" charset="0"/>
                          <a:cs typeface="Arial" panose="020B0604020202020204" pitchFamily="34" charset="0"/>
                          <a:sym typeface="+mn-ea"/>
                        </a:rPr>
                        <a:t>Ø</a:t>
                      </a:r>
                      <a:r>
                        <a:rPr lang="en-GB" altLang="en-US" sz="1600">
                          <a:sym typeface="+mn-ea"/>
                        </a:rPr>
                        <a:t>}  </a:t>
                      </a:r>
                      <a:endParaRPr lang="en-GB" altLang="en-US" sz="1600">
                        <a:sym typeface="+mn-ea"/>
                      </a:endParaRPr>
                    </a:p>
                    <a:p>
                      <a:pPr>
                        <a:buNone/>
                      </a:pPr>
                      <a:r>
                        <a:rPr lang="en-GB" altLang="en-US" sz="1600">
                          <a:sym typeface="+mn-ea"/>
                        </a:rPr>
                        <a:t> </a:t>
                      </a:r>
                      <a:r>
                        <a:rPr lang="en-IN" altLang="en-GB" sz="1600">
                          <a:sym typeface="+mn-ea"/>
                        </a:rPr>
                        <a:t>                             </a:t>
                      </a:r>
                      <a:r>
                        <a:rPr lang="en-GB" altLang="en-US" sz="1600">
                          <a:latin typeface="Arial" panose="020B0604020202020204" pitchFamily="34" charset="0"/>
                          <a:cs typeface="Arial" panose="020B0604020202020204" pitchFamily="34" charset="0"/>
                          <a:sym typeface="+mn-ea"/>
                        </a:rPr>
                        <a:t> = </a:t>
                      </a:r>
                      <a:r>
                        <a:rPr lang="en-GB" altLang="en-US" sz="1600" b="1">
                          <a:solidFill>
                            <a:srgbClr val="FF0000"/>
                          </a:solidFill>
                          <a:highlight>
                            <a:srgbClr val="FFFF00"/>
                          </a:highlight>
                          <a:latin typeface="Arial" panose="020B0604020202020204" pitchFamily="34" charset="0"/>
                          <a:cs typeface="Arial" panose="020B0604020202020204" pitchFamily="34" charset="0"/>
                          <a:sym typeface="+mn-ea"/>
                        </a:rPr>
                        <a:t>{ q0,q2)</a:t>
                      </a:r>
                      <a:r>
                        <a:rPr lang="en-IN" altLang="en-GB" sz="1600" b="1">
                          <a:solidFill>
                            <a:srgbClr val="FF0000"/>
                          </a:solidFill>
                          <a:highlight>
                            <a:srgbClr val="FFFF00"/>
                          </a:highlight>
                          <a:latin typeface="Arial" panose="020B0604020202020204" pitchFamily="34" charset="0"/>
                          <a:cs typeface="Arial" panose="020B0604020202020204" pitchFamily="34" charset="0"/>
                          <a:sym typeface="+mn-ea"/>
                        </a:rPr>
                        <a:t> </a:t>
                      </a:r>
                      <a:r>
                        <a:rPr lang="en-GB" altLang="en-US" sz="1600">
                          <a:highlight>
                            <a:srgbClr val="FFFF00"/>
                          </a:highlight>
                          <a:sym typeface="+mn-ea"/>
                        </a:rPr>
                        <a:t> </a:t>
                      </a:r>
                      <a:r>
                        <a:rPr lang="en-GB" altLang="en-US" sz="1600">
                          <a:highlight>
                            <a:srgbClr val="FFFF00"/>
                          </a:highlight>
                          <a:latin typeface="Arial" panose="020B0604020202020204" pitchFamily="34" charset="0"/>
                          <a:cs typeface="Arial" panose="020B0604020202020204" pitchFamily="34" charset="0"/>
                          <a:sym typeface="+mn-ea"/>
                        </a:rPr>
                        <a:t>→</a:t>
                      </a:r>
                      <a:r>
                        <a:rPr lang="en-IN" altLang="en-GB" sz="1600">
                          <a:highlight>
                            <a:srgbClr val="FFFF00"/>
                          </a:highlight>
                          <a:latin typeface="Arial" panose="020B0604020202020204" pitchFamily="34" charset="0"/>
                          <a:cs typeface="Arial" panose="020B0604020202020204" pitchFamily="34" charset="0"/>
                          <a:sym typeface="+mn-ea"/>
                        </a:rPr>
                        <a:t> Old set </a:t>
                      </a:r>
                      <a:r>
                        <a:rPr lang="en-GB" altLang="en-US" sz="1600">
                          <a:highlight>
                            <a:srgbClr val="FFFF00"/>
                          </a:highlight>
                          <a:sym typeface="+mn-ea"/>
                        </a:rPr>
                        <a:t> </a:t>
                      </a:r>
                      <a:r>
                        <a:rPr lang="en-IN" altLang="en-GB" sz="1600" b="1">
                          <a:solidFill>
                            <a:schemeClr val="tx1"/>
                          </a:solidFill>
                          <a:highlight>
                            <a:srgbClr val="FFFF00"/>
                          </a:highlight>
                          <a:latin typeface="Arial" panose="020B0604020202020204" pitchFamily="34" charset="0"/>
                          <a:cs typeface="Arial" panose="020B0604020202020204" pitchFamily="34" charset="0"/>
                          <a:sym typeface="+mn-ea"/>
                        </a:rPr>
                        <a:t>Not ADDED to </a:t>
                      </a:r>
                      <a:r>
                        <a:rPr lang="en-GB" altLang="en-US" sz="1600" b="1">
                          <a:solidFill>
                            <a:srgbClr val="FF0000"/>
                          </a:solidFill>
                          <a:highlight>
                            <a:srgbClr val="FFFF00"/>
                          </a:highlight>
                          <a:sym typeface="+mn-ea"/>
                        </a:rPr>
                        <a:t>Q</a:t>
                      </a:r>
                      <a:r>
                        <a:rPr lang="en-GB" altLang="en-US" sz="1600" b="1" baseline="-25000">
                          <a:solidFill>
                            <a:srgbClr val="FF0000"/>
                          </a:solidFill>
                          <a:highlight>
                            <a:srgbClr val="FFFF00"/>
                          </a:highlight>
                          <a:sym typeface="+mn-ea"/>
                        </a:rPr>
                        <a:t>D</a:t>
                      </a:r>
                      <a:endParaRPr lang="en-GB" altLang="en-US" sz="1600">
                        <a:latin typeface="Arial" panose="020B0604020202020204" pitchFamily="34" charset="0"/>
                        <a:cs typeface="Arial" panose="020B0604020202020204" pitchFamily="34" charset="0"/>
                        <a:sym typeface="+mn-ea"/>
                      </a:endParaRPr>
                    </a:p>
                    <a:p>
                      <a:pPr>
                        <a:buNone/>
                      </a:pPr>
                      <a:r>
                        <a:rPr lang="el-GR" altLang="x-none" sz="1600" b="1" dirty="0">
                          <a:solidFill>
                            <a:srgbClr val="FF0000"/>
                          </a:solidFill>
                          <a:sym typeface="+mn-ea"/>
                        </a:rPr>
                        <a:t>δ</a:t>
                      </a:r>
                      <a:r>
                        <a:rPr sz="1600" b="1" baseline="-25000" dirty="0">
                          <a:solidFill>
                            <a:srgbClr val="FF0000"/>
                          </a:solidFill>
                          <a:sym typeface="+mn-ea"/>
                        </a:rPr>
                        <a:t>D</a:t>
                      </a:r>
                      <a:r>
                        <a:rPr lang="en-GB" altLang="el-GR" sz="1600" b="1" dirty="0">
                          <a:solidFill>
                            <a:schemeClr val="tx1"/>
                          </a:solidFill>
                          <a:latin typeface="Times New Roman" panose="02020603050405020304" pitchFamily="18" charset="0"/>
                          <a:cs typeface="Times New Roman" panose="02020603050405020304" pitchFamily="18" charset="0"/>
                          <a:sym typeface="+mn-ea"/>
                        </a:rPr>
                        <a:t>({q0,q1,q2}, 1) = </a:t>
                      </a:r>
                      <a:r>
                        <a:rPr lang="el-GR" altLang="x-none" sz="1600" b="1" dirty="0">
                          <a:solidFill>
                            <a:srgbClr val="FF0000"/>
                          </a:solidFill>
                          <a:latin typeface="Times New Roman" panose="02020603050405020304" pitchFamily="18" charset="0"/>
                          <a:cs typeface="Times New Roman" panose="02020603050405020304" pitchFamily="18" charset="0"/>
                          <a:sym typeface="+mn-ea"/>
                        </a:rPr>
                        <a:t>δ</a:t>
                      </a:r>
                      <a:r>
                        <a:rPr sz="1600" b="1" baseline="-25000" dirty="0">
                          <a:solidFill>
                            <a:srgbClr val="FF0000"/>
                          </a:solidFill>
                          <a:latin typeface="Times New Roman" panose="02020603050405020304" pitchFamily="18" charset="0"/>
                          <a:cs typeface="Times New Roman" panose="02020603050405020304" pitchFamily="18" charset="0"/>
                          <a:sym typeface="+mn-ea"/>
                        </a:rPr>
                        <a:t>N</a:t>
                      </a:r>
                      <a:r>
                        <a:rPr lang="en-GB" altLang="en-US" sz="1600">
                          <a:sym typeface="+mn-ea"/>
                        </a:rPr>
                        <a:t>(q0, 1) </a:t>
                      </a:r>
                      <a:r>
                        <a:rPr lang="en-GB" altLang="en-US" sz="1600">
                          <a:latin typeface="Arial" panose="020B0604020202020204" pitchFamily="34" charset="0"/>
                          <a:cs typeface="Arial" panose="020B0604020202020204" pitchFamily="34" charset="0"/>
                          <a:sym typeface="+mn-ea"/>
                        </a:rPr>
                        <a:t>Ụ </a:t>
                      </a:r>
                      <a:r>
                        <a:rPr lang="el-GR" altLang="x-none" sz="1600" b="1" dirty="0">
                          <a:solidFill>
                            <a:srgbClr val="FF0000"/>
                          </a:solidFill>
                          <a:latin typeface="Times New Roman" panose="02020603050405020304" pitchFamily="18" charset="0"/>
                          <a:cs typeface="Times New Roman" panose="02020603050405020304" pitchFamily="18" charset="0"/>
                          <a:sym typeface="+mn-ea"/>
                        </a:rPr>
                        <a:t>δ</a:t>
                      </a:r>
                      <a:r>
                        <a:rPr sz="1600" b="1" baseline="-25000" dirty="0">
                          <a:solidFill>
                            <a:srgbClr val="FF0000"/>
                          </a:solidFill>
                          <a:latin typeface="Times New Roman" panose="02020603050405020304" pitchFamily="18" charset="0"/>
                          <a:cs typeface="Times New Roman" panose="02020603050405020304" pitchFamily="18" charset="0"/>
                          <a:sym typeface="+mn-ea"/>
                        </a:rPr>
                        <a:t>N</a:t>
                      </a:r>
                      <a:r>
                        <a:rPr lang="en-GB" altLang="en-US" sz="1600">
                          <a:sym typeface="+mn-ea"/>
                        </a:rPr>
                        <a:t>(q1, 1)</a:t>
                      </a:r>
                      <a:r>
                        <a:rPr lang="en-GB" altLang="en-US" sz="1600">
                          <a:latin typeface="Arial" panose="020B0604020202020204" pitchFamily="34" charset="0"/>
                          <a:cs typeface="Arial" panose="020B0604020202020204" pitchFamily="34" charset="0"/>
                          <a:sym typeface="+mn-ea"/>
                        </a:rPr>
                        <a:t>Ụ</a:t>
                      </a:r>
                      <a:r>
                        <a:rPr lang="el-GR" altLang="x-none" sz="1600" b="1" dirty="0">
                          <a:solidFill>
                            <a:srgbClr val="FF0000"/>
                          </a:solidFill>
                          <a:latin typeface="Times New Roman" panose="02020603050405020304" pitchFamily="18" charset="0"/>
                          <a:cs typeface="Times New Roman" panose="02020603050405020304" pitchFamily="18" charset="0"/>
                          <a:sym typeface="+mn-ea"/>
                        </a:rPr>
                        <a:t>δ</a:t>
                      </a:r>
                      <a:r>
                        <a:rPr sz="1600" b="1" baseline="-25000" dirty="0">
                          <a:solidFill>
                            <a:srgbClr val="FF0000"/>
                          </a:solidFill>
                          <a:latin typeface="Times New Roman" panose="02020603050405020304" pitchFamily="18" charset="0"/>
                          <a:cs typeface="Times New Roman" panose="02020603050405020304" pitchFamily="18" charset="0"/>
                          <a:sym typeface="+mn-ea"/>
                        </a:rPr>
                        <a:t>N</a:t>
                      </a:r>
                      <a:r>
                        <a:rPr lang="en-GB" altLang="en-US" sz="1600">
                          <a:sym typeface="+mn-ea"/>
                        </a:rPr>
                        <a:t>(q2, 1)</a:t>
                      </a:r>
                      <a:endParaRPr lang="en-GB" altLang="en-US" sz="1600">
                        <a:sym typeface="+mn-ea"/>
                      </a:endParaRPr>
                    </a:p>
                    <a:p>
                      <a:pPr>
                        <a:buNone/>
                      </a:pPr>
                      <a:r>
                        <a:rPr lang="en-GB" altLang="en-US" sz="1600">
                          <a:latin typeface="Arial" panose="020B0604020202020204" pitchFamily="34" charset="0"/>
                          <a:cs typeface="Arial" panose="020B0604020202020204" pitchFamily="34" charset="0"/>
                          <a:sym typeface="+mn-ea"/>
                        </a:rPr>
                        <a:t>                          = {q0,q1} Ụ { q2} Ụ </a:t>
                      </a:r>
                      <a:r>
                        <a:rPr lang="en-GB" altLang="en-US" sz="1600">
                          <a:sym typeface="+mn-ea"/>
                        </a:rPr>
                        <a:t>{</a:t>
                      </a:r>
                      <a:r>
                        <a:rPr lang="en-GB" altLang="en-US" sz="1600">
                          <a:latin typeface="Arial" panose="020B0604020202020204" pitchFamily="34" charset="0"/>
                          <a:cs typeface="Arial" panose="020B0604020202020204" pitchFamily="34" charset="0"/>
                          <a:sym typeface="+mn-ea"/>
                        </a:rPr>
                        <a:t>Ø</a:t>
                      </a:r>
                      <a:r>
                        <a:rPr lang="en-GB" altLang="en-US" sz="1600">
                          <a:sym typeface="+mn-ea"/>
                        </a:rPr>
                        <a:t>} </a:t>
                      </a:r>
                      <a:endParaRPr lang="en-GB" altLang="en-US" sz="1600">
                        <a:sym typeface="+mn-ea"/>
                      </a:endParaRPr>
                    </a:p>
                    <a:p>
                      <a:pPr>
                        <a:buNone/>
                      </a:pPr>
                      <a:r>
                        <a:rPr lang="en-GB" altLang="en-US" sz="1600">
                          <a:sym typeface="+mn-ea"/>
                        </a:rPr>
                        <a:t> </a:t>
                      </a:r>
                      <a:r>
                        <a:rPr lang="en-IN" altLang="en-GB" sz="1600">
                          <a:sym typeface="+mn-ea"/>
                        </a:rPr>
                        <a:t>                             </a:t>
                      </a:r>
                      <a:r>
                        <a:rPr lang="en-GB" altLang="en-US" sz="1600">
                          <a:latin typeface="Arial" panose="020B0604020202020204" pitchFamily="34" charset="0"/>
                          <a:cs typeface="Arial" panose="020B0604020202020204" pitchFamily="34" charset="0"/>
                          <a:sym typeface="+mn-ea"/>
                        </a:rPr>
                        <a:t>= </a:t>
                      </a:r>
                      <a:r>
                        <a:rPr lang="en-GB" altLang="en-US" sz="1600" b="1">
                          <a:solidFill>
                            <a:srgbClr val="FF0000"/>
                          </a:solidFill>
                          <a:highlight>
                            <a:srgbClr val="FFFF00"/>
                          </a:highlight>
                          <a:latin typeface="Arial" panose="020B0604020202020204" pitchFamily="34" charset="0"/>
                          <a:cs typeface="Arial" panose="020B0604020202020204" pitchFamily="34" charset="0"/>
                          <a:sym typeface="+mn-ea"/>
                        </a:rPr>
                        <a:t>{ q0, q1,q2 }</a:t>
                      </a:r>
                      <a:r>
                        <a:rPr lang="en-IN" altLang="en-GB" sz="1600" b="1">
                          <a:solidFill>
                            <a:srgbClr val="FF0000"/>
                          </a:solidFill>
                          <a:highlight>
                            <a:srgbClr val="FFFF00"/>
                          </a:highlight>
                          <a:latin typeface="Arial" panose="020B0604020202020204" pitchFamily="34" charset="0"/>
                          <a:cs typeface="Arial" panose="020B0604020202020204" pitchFamily="34" charset="0"/>
                          <a:sym typeface="+mn-ea"/>
                        </a:rPr>
                        <a:t> </a:t>
                      </a:r>
                      <a:r>
                        <a:rPr lang="en-GB" altLang="en-US" sz="1600">
                          <a:highlight>
                            <a:srgbClr val="FFFF00"/>
                          </a:highlight>
                          <a:sym typeface="+mn-ea"/>
                        </a:rPr>
                        <a:t> </a:t>
                      </a:r>
                      <a:r>
                        <a:rPr lang="en-GB" altLang="en-US" sz="1600">
                          <a:highlight>
                            <a:srgbClr val="FFFF00"/>
                          </a:highlight>
                          <a:latin typeface="Arial" panose="020B0604020202020204" pitchFamily="34" charset="0"/>
                          <a:cs typeface="Arial" panose="020B0604020202020204" pitchFamily="34" charset="0"/>
                          <a:sym typeface="+mn-ea"/>
                        </a:rPr>
                        <a:t>→</a:t>
                      </a:r>
                      <a:r>
                        <a:rPr lang="en-IN" altLang="en-GB" sz="1600">
                          <a:highlight>
                            <a:srgbClr val="FFFF00"/>
                          </a:highlight>
                          <a:latin typeface="Arial" panose="020B0604020202020204" pitchFamily="34" charset="0"/>
                          <a:cs typeface="Arial" panose="020B0604020202020204" pitchFamily="34" charset="0"/>
                          <a:sym typeface="+mn-ea"/>
                        </a:rPr>
                        <a:t> Old set </a:t>
                      </a:r>
                      <a:r>
                        <a:rPr lang="en-GB" altLang="en-US" sz="1600">
                          <a:highlight>
                            <a:srgbClr val="FFFF00"/>
                          </a:highlight>
                          <a:sym typeface="+mn-ea"/>
                        </a:rPr>
                        <a:t> </a:t>
                      </a:r>
                      <a:r>
                        <a:rPr lang="en-IN" altLang="en-GB" sz="1600" b="1">
                          <a:solidFill>
                            <a:schemeClr val="tx1"/>
                          </a:solidFill>
                          <a:highlight>
                            <a:srgbClr val="FFFF00"/>
                          </a:highlight>
                          <a:latin typeface="Arial" panose="020B0604020202020204" pitchFamily="34" charset="0"/>
                          <a:cs typeface="Arial" panose="020B0604020202020204" pitchFamily="34" charset="0"/>
                          <a:sym typeface="+mn-ea"/>
                        </a:rPr>
                        <a:t>Not ADDED to </a:t>
                      </a:r>
                      <a:r>
                        <a:rPr lang="en-GB" altLang="en-US" sz="1600" b="1">
                          <a:solidFill>
                            <a:srgbClr val="FF0000"/>
                          </a:solidFill>
                          <a:highlight>
                            <a:srgbClr val="FFFF00"/>
                          </a:highlight>
                          <a:sym typeface="+mn-ea"/>
                        </a:rPr>
                        <a:t>Q</a:t>
                      </a:r>
                      <a:r>
                        <a:rPr lang="en-GB" altLang="en-US" sz="1600" b="1" baseline="-25000">
                          <a:solidFill>
                            <a:srgbClr val="FF0000"/>
                          </a:solidFill>
                          <a:highlight>
                            <a:srgbClr val="FFFF00"/>
                          </a:highlight>
                          <a:sym typeface="+mn-ea"/>
                        </a:rPr>
                        <a:t>D</a:t>
                      </a:r>
                      <a:endParaRPr lang="en-IN" altLang="en-GB" sz="1600" b="1">
                        <a:solidFill>
                          <a:srgbClr val="FF0000"/>
                        </a:solidFill>
                        <a:highlight>
                          <a:srgbClr val="FFFF00"/>
                        </a:highlight>
                        <a:latin typeface="Arial" panose="020B0604020202020204" pitchFamily="34" charset="0"/>
                        <a:cs typeface="Arial" panose="020B0604020202020204" pitchFamily="34" charset="0"/>
                        <a:sym typeface="+mn-ea"/>
                      </a:endParaRPr>
                    </a:p>
                  </a:txBody>
                  <a:tcPr/>
                </a:tc>
              </a:tr>
              <a:tr h="1240790">
                <a:tc gridSpan="4">
                  <a:txBody>
                    <a:bodyPr/>
                    <a:p>
                      <a:pPr>
                        <a:buNone/>
                      </a:pPr>
                      <a:r>
                        <a:rPr lang="en-IN" altLang="el-GR" sz="1800" b="1" dirty="0">
                          <a:solidFill>
                            <a:srgbClr val="FF0000"/>
                          </a:solidFill>
                          <a:sym typeface="+mn-ea"/>
                        </a:rPr>
                        <a:t> </a:t>
                      </a:r>
                      <a:r>
                        <a:rPr lang="en-IN" altLang="el-GR" sz="2400" b="1" dirty="0">
                          <a:solidFill>
                            <a:srgbClr val="FF0000"/>
                          </a:solidFill>
                          <a:sym typeface="+mn-ea"/>
                        </a:rPr>
                        <a:t> </a:t>
                      </a:r>
                      <a:endParaRPr lang="en-IN" altLang="el-GR" sz="2400" b="1" dirty="0">
                        <a:solidFill>
                          <a:srgbClr val="FF0000"/>
                        </a:solidFill>
                        <a:sym typeface="+mn-ea"/>
                      </a:endParaRPr>
                    </a:p>
                    <a:p>
                      <a:pPr>
                        <a:buNone/>
                      </a:pPr>
                      <a:r>
                        <a:rPr lang="en-IN" altLang="el-GR" sz="2400" b="1" dirty="0">
                          <a:solidFill>
                            <a:srgbClr val="FF0000"/>
                          </a:solidFill>
                          <a:sym typeface="+mn-ea"/>
                        </a:rPr>
                        <a:t>                 </a:t>
                      </a:r>
                      <a:r>
                        <a:rPr lang="el-GR" altLang="x-none" sz="2400" b="1" dirty="0">
                          <a:solidFill>
                            <a:srgbClr val="FF0000"/>
                          </a:solidFill>
                          <a:sym typeface="+mn-ea"/>
                        </a:rPr>
                        <a:t>δ</a:t>
                      </a:r>
                      <a:r>
                        <a:rPr sz="2400" b="1" baseline="-25000" dirty="0">
                          <a:solidFill>
                            <a:srgbClr val="FF0000"/>
                          </a:solidFill>
                          <a:sym typeface="+mn-ea"/>
                        </a:rPr>
                        <a:t>D</a:t>
                      </a:r>
                      <a:r>
                        <a:rPr sz="2400" dirty="0">
                          <a:sym typeface="+mn-ea"/>
                        </a:rPr>
                        <a:t> for all DFA state in </a:t>
                      </a:r>
                      <a:r>
                        <a:rPr sz="2400" dirty="0">
                          <a:solidFill>
                            <a:srgbClr val="FF0000"/>
                          </a:solidFill>
                          <a:sym typeface="+mn-ea"/>
                        </a:rPr>
                        <a:t>Q</a:t>
                      </a:r>
                      <a:r>
                        <a:rPr sz="2400" baseline="-25000" dirty="0">
                          <a:solidFill>
                            <a:srgbClr val="FF0000"/>
                          </a:solidFill>
                          <a:sym typeface="+mn-ea"/>
                        </a:rPr>
                        <a:t>D</a:t>
                      </a:r>
                      <a:r>
                        <a:rPr sz="2400" dirty="0">
                          <a:sym typeface="+mn-ea"/>
                        </a:rPr>
                        <a:t> </a:t>
                      </a:r>
                      <a:r>
                        <a:rPr lang="en-IN" sz="2400" dirty="0">
                          <a:sym typeface="+mn-ea"/>
                        </a:rPr>
                        <a:t>have been</a:t>
                      </a:r>
                      <a:r>
                        <a:rPr sz="2400" dirty="0">
                          <a:sym typeface="+mn-ea"/>
                        </a:rPr>
                        <a:t> defined</a:t>
                      </a:r>
                      <a:endParaRPr lang="en-GB" altLang="en-US" sz="2400"/>
                    </a:p>
                  </a:txBody>
                  <a:tcPr/>
                </a:tc>
                <a:tc hMerge="1">
                  <a:tcPr/>
                </a:tc>
                <a:tc hMerge="1">
                  <a:tcPr/>
                </a:tc>
                <a:tc hMerge="1">
                  <a:tcPr/>
                </a:tc>
              </a:tr>
            </a:tbl>
          </a:graphicData>
        </a:graphic>
      </p:graphicFrame>
      <p:sp>
        <p:nvSpPr>
          <p:cNvPr id="2" name="Text Box 1"/>
          <p:cNvSpPr txBox="1"/>
          <p:nvPr/>
        </p:nvSpPr>
        <p:spPr>
          <a:xfrm>
            <a:off x="1146810" y="43815"/>
            <a:ext cx="6057900" cy="542290"/>
          </a:xfrm>
          <a:prstGeom prst="rect">
            <a:avLst/>
          </a:prstGeom>
          <a:noFill/>
        </p:spPr>
        <p:txBody>
          <a:bodyPr wrap="square" rtlCol="0">
            <a:noAutofit/>
          </a:bodyPr>
          <a:p>
            <a:r>
              <a:rPr lang="en-GB" altLang="en-US" sz="2000"/>
              <a:t>Q</a:t>
            </a:r>
            <a:r>
              <a:rPr lang="en-GB" altLang="en-US" sz="2000" baseline="-25000"/>
              <a:t>D</a:t>
            </a:r>
            <a:r>
              <a:rPr lang="en-GB" altLang="en-US" sz="2000"/>
              <a:t> = { {q0}, {q0,q1}, {q0, q2}, {q0, q1, q2 } }</a:t>
            </a:r>
            <a:endParaRPr lang="en-GB" altLang="en-US" sz="2000"/>
          </a:p>
        </p:txBody>
      </p:sp>
      <p:pic>
        <p:nvPicPr>
          <p:cNvPr id="3" name="Picture 2" descr="IMG_20240410_152259"/>
          <p:cNvPicPr>
            <a:picLocks noChangeAspect="1"/>
          </p:cNvPicPr>
          <p:nvPr/>
        </p:nvPicPr>
        <p:blipFill>
          <a:blip r:embed="rId1"/>
          <a:stretch>
            <a:fillRect/>
          </a:stretch>
        </p:blipFill>
        <p:spPr>
          <a:xfrm>
            <a:off x="4335145" y="4267200"/>
            <a:ext cx="4575810" cy="2195830"/>
          </a:xfrm>
          <a:prstGeom prst="rect">
            <a:avLst/>
          </a:prstGeom>
        </p:spPr>
      </p:pic>
      <p:sp>
        <p:nvSpPr>
          <p:cNvPr id="5" name="Text Box 4"/>
          <p:cNvSpPr txBox="1"/>
          <p:nvPr/>
        </p:nvSpPr>
        <p:spPr>
          <a:xfrm>
            <a:off x="207010" y="4342765"/>
            <a:ext cx="3926840" cy="1897380"/>
          </a:xfrm>
          <a:prstGeom prst="rect">
            <a:avLst/>
          </a:prstGeom>
          <a:noFill/>
        </p:spPr>
        <p:txBody>
          <a:bodyPr wrap="square" rtlCol="0">
            <a:noAutofit/>
          </a:bodyPr>
          <a:p>
            <a:r>
              <a:rPr lang="en-IN" altLang="en-GB" sz="2000"/>
              <a:t>We can rename the states and write the Final DFA diagram.</a:t>
            </a:r>
            <a:endParaRPr lang="en-IN" altLang="en-GB" sz="2000"/>
          </a:p>
          <a:p>
            <a:r>
              <a:rPr lang="en-GB" altLang="en-US" sz="2000"/>
              <a:t>Q</a:t>
            </a:r>
            <a:r>
              <a:rPr lang="en-GB" altLang="en-US" sz="2000" baseline="-25000"/>
              <a:t>D</a:t>
            </a:r>
            <a:r>
              <a:rPr lang="en-GB" altLang="en-US" sz="2000"/>
              <a:t> = { {q0}</a:t>
            </a:r>
            <a:r>
              <a:rPr lang="en-IN" altLang="en-GB" sz="2000"/>
              <a:t> </a:t>
            </a:r>
            <a:r>
              <a:rPr lang="en-IN" altLang="en-GB" sz="2000">
                <a:cs typeface="Arial" panose="020B0604020202020204" pitchFamily="34" charset="0"/>
              </a:rPr>
              <a:t>→ </a:t>
            </a:r>
            <a:r>
              <a:rPr lang="en-IN" altLang="en-GB" sz="2000" b="1">
                <a:solidFill>
                  <a:srgbClr val="FF0000"/>
                </a:solidFill>
                <a:cs typeface="Arial" panose="020B0604020202020204" pitchFamily="34" charset="0"/>
              </a:rPr>
              <a:t>A</a:t>
            </a:r>
            <a:r>
              <a:rPr lang="en-GB" altLang="en-US" sz="2000" b="1">
                <a:solidFill>
                  <a:srgbClr val="FF0000"/>
                </a:solidFill>
              </a:rPr>
              <a:t>,</a:t>
            </a:r>
            <a:r>
              <a:rPr lang="en-GB" altLang="en-US" sz="2000"/>
              <a:t> </a:t>
            </a:r>
            <a:endParaRPr lang="en-GB" altLang="en-US" sz="2000"/>
          </a:p>
          <a:p>
            <a:r>
              <a:rPr lang="en-GB" altLang="en-US" sz="2000"/>
              <a:t> </a:t>
            </a:r>
            <a:r>
              <a:rPr lang="en-IN" altLang="en-GB" sz="2000"/>
              <a:t>          </a:t>
            </a:r>
            <a:r>
              <a:rPr lang="en-GB" altLang="en-US" sz="2000"/>
              <a:t>{q0,q1}</a:t>
            </a:r>
            <a:r>
              <a:rPr lang="en-IN" altLang="en-GB" sz="2000"/>
              <a:t> </a:t>
            </a:r>
            <a:r>
              <a:rPr lang="en-IN" altLang="en-GB" sz="2000">
                <a:cs typeface="Arial" panose="020B0604020202020204" pitchFamily="34" charset="0"/>
              </a:rPr>
              <a:t>→ </a:t>
            </a:r>
            <a:r>
              <a:rPr lang="en-IN" altLang="en-GB" sz="2000" b="1">
                <a:solidFill>
                  <a:srgbClr val="FF0000"/>
                </a:solidFill>
                <a:cs typeface="Arial" panose="020B0604020202020204" pitchFamily="34" charset="0"/>
              </a:rPr>
              <a:t>B</a:t>
            </a:r>
            <a:r>
              <a:rPr lang="en-GB" altLang="en-US" sz="2000"/>
              <a:t>, </a:t>
            </a:r>
            <a:endParaRPr lang="en-GB" altLang="en-US" sz="2000"/>
          </a:p>
          <a:p>
            <a:r>
              <a:rPr lang="en-GB" altLang="en-US" sz="2000"/>
              <a:t> </a:t>
            </a:r>
            <a:r>
              <a:rPr lang="en-IN" altLang="en-GB" sz="2000"/>
              <a:t>          </a:t>
            </a:r>
            <a:r>
              <a:rPr lang="en-GB" altLang="en-US" sz="2000"/>
              <a:t>{q0, q2}</a:t>
            </a:r>
            <a:r>
              <a:rPr lang="en-GB" altLang="en-US" sz="2000">
                <a:cs typeface="Arial" panose="020B0604020202020204" pitchFamily="34" charset="0"/>
              </a:rPr>
              <a:t>→</a:t>
            </a:r>
            <a:r>
              <a:rPr lang="en-IN" altLang="en-GB" sz="2000">
                <a:cs typeface="Arial" panose="020B0604020202020204" pitchFamily="34" charset="0"/>
              </a:rPr>
              <a:t> </a:t>
            </a:r>
            <a:r>
              <a:rPr lang="en-IN" altLang="en-GB" sz="2000" b="1">
                <a:solidFill>
                  <a:srgbClr val="FF0000"/>
                </a:solidFill>
                <a:cs typeface="Arial" panose="020B0604020202020204" pitchFamily="34" charset="0"/>
              </a:rPr>
              <a:t>C,</a:t>
            </a:r>
            <a:r>
              <a:rPr lang="en-GB" altLang="en-US" sz="2000"/>
              <a:t> </a:t>
            </a:r>
            <a:endParaRPr lang="en-GB" altLang="en-US" sz="2000"/>
          </a:p>
          <a:p>
            <a:r>
              <a:rPr lang="en-GB" altLang="en-US" sz="2000"/>
              <a:t> </a:t>
            </a:r>
            <a:r>
              <a:rPr lang="en-IN" altLang="en-GB" sz="2000"/>
              <a:t>          </a:t>
            </a:r>
            <a:r>
              <a:rPr lang="en-GB" altLang="en-US" sz="2000"/>
              <a:t>{q0, q1, q2 }</a:t>
            </a:r>
            <a:r>
              <a:rPr lang="en-GB" altLang="en-US" sz="2000">
                <a:cs typeface="Arial" panose="020B0604020202020204" pitchFamily="34" charset="0"/>
              </a:rPr>
              <a:t>→</a:t>
            </a:r>
            <a:r>
              <a:rPr lang="en-IN" altLang="en-GB" sz="2000">
                <a:cs typeface="Arial" panose="020B0604020202020204" pitchFamily="34" charset="0"/>
              </a:rPr>
              <a:t> </a:t>
            </a:r>
            <a:r>
              <a:rPr lang="en-IN" altLang="en-GB" sz="2000" b="1">
                <a:solidFill>
                  <a:srgbClr val="FF0000"/>
                </a:solidFill>
                <a:cs typeface="Arial" panose="020B0604020202020204" pitchFamily="34" charset="0"/>
              </a:rPr>
              <a:t>D</a:t>
            </a:r>
            <a:endParaRPr lang="en-IN" altLang="en-GB" sz="2000">
              <a:cs typeface="Arial" panose="020B0604020202020204" pitchFamily="34" charset="0"/>
            </a:endParaRPr>
          </a:p>
          <a:p>
            <a:r>
              <a:rPr lang="en-IN" altLang="en-GB" sz="2000">
                <a:cs typeface="Arial" panose="020B0604020202020204" pitchFamily="34" charset="0"/>
              </a:rPr>
              <a:t>         </a:t>
            </a:r>
            <a:r>
              <a:rPr lang="en-GB" altLang="en-US" sz="2000"/>
              <a:t>}</a:t>
            </a:r>
            <a:endParaRPr lang="en-GB" altLang="en-US" sz="2000"/>
          </a:p>
        </p:txBody>
      </p:sp>
      <p:sp>
        <p:nvSpPr>
          <p:cNvPr id="4" name="Footer Placeholder 3"/>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a:xfrm>
            <a:off x="457200" y="1600200"/>
            <a:ext cx="8229600" cy="4864100"/>
          </a:xfrm>
        </p:spPr>
        <p:txBody>
          <a:bodyPr/>
          <a:p>
            <a:r>
              <a:rPr lang="en-IN" altLang="en-US"/>
              <a:t>Exercise problems on NFA to DFA conversion</a:t>
            </a:r>
            <a:endParaRPr lang="en-IN" altLang="en-US"/>
          </a:p>
          <a:p>
            <a:pPr marL="457200" lvl="1" indent="0">
              <a:buNone/>
            </a:pPr>
            <a:r>
              <a:rPr lang="en-IN" altLang="en-US"/>
              <a:t>Ex-1                              Ex-3</a:t>
            </a:r>
            <a:endParaRPr lang="en-IN" altLang="en-US"/>
          </a:p>
          <a:p>
            <a:endParaRPr lang="en-IN" altLang="en-US"/>
          </a:p>
          <a:p>
            <a:endParaRPr lang="en-IN" altLang="en-US"/>
          </a:p>
          <a:p>
            <a:pPr marL="0" indent="0">
              <a:buNone/>
            </a:pPr>
            <a:r>
              <a:rPr lang="en-IN" altLang="en-US" sz="3200">
                <a:sym typeface="+mn-ea"/>
              </a:rPr>
              <a:t>     Ex-2                          Ex-4</a:t>
            </a:r>
            <a:endParaRPr lang="en-IN" altLang="en-US" sz="3200"/>
          </a:p>
          <a:p>
            <a:endParaRPr lang="en-IN" altLang="en-US"/>
          </a:p>
        </p:txBody>
      </p:sp>
      <p:graphicFrame>
        <p:nvGraphicFramePr>
          <p:cNvPr id="4" name="Table 3"/>
          <p:cNvGraphicFramePr/>
          <p:nvPr/>
        </p:nvGraphicFramePr>
        <p:xfrm>
          <a:off x="1066800" y="2667000"/>
          <a:ext cx="2336165" cy="1219200"/>
        </p:xfrm>
        <a:graphic>
          <a:graphicData uri="http://schemas.openxmlformats.org/drawingml/2006/table">
            <a:tbl>
              <a:tblPr/>
              <a:tblGrid>
                <a:gridCol w="706755"/>
                <a:gridCol w="1065530"/>
                <a:gridCol w="563880"/>
              </a:tblGrid>
              <a:tr h="304800">
                <a:tc>
                  <a:txBody>
                    <a:bodyPr/>
                    <a:p>
                      <a:pPr indent="0" algn="ctr">
                        <a:buNone/>
                      </a:pPr>
                      <a:r>
                        <a:rPr lang="en-US" sz="2000" b="0">
                          <a:latin typeface="Symbol" panose="05050102010706020507" charset="0"/>
                          <a:cs typeface="Symbol" panose="05050102010706020507" charset="0"/>
                        </a:rPr>
                        <a:t>d</a:t>
                      </a:r>
                      <a:endParaRPr lang="en-US" sz="2000" b="0">
                        <a:latin typeface="Symbol" panose="05050102010706020507" charset="0"/>
                        <a:ea typeface="Symbol" panose="05050102010706020507" charset="0"/>
                        <a:cs typeface="Symbol" panose="05050102010706020507"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pitchFamily="18" charset="0"/>
                          <a:cs typeface="Times New Roman" panose="02020603050405020304" pitchFamily="18" charset="0"/>
                        </a:rPr>
                        <a:t>0</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pitchFamily="18" charset="0"/>
                          <a:cs typeface="Times New Roman" panose="02020603050405020304" pitchFamily="18" charset="0"/>
                        </a:rPr>
                        <a:t>1</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04800">
                <a:tc>
                  <a:txBody>
                    <a:bodyPr/>
                    <a:p>
                      <a:pPr indent="0">
                        <a:buNone/>
                      </a:pPr>
                      <a:r>
                        <a:rPr lang="en-US" sz="2000" b="0">
                          <a:latin typeface="Arial" panose="020B0604020202020204" pitchFamily="34" charset="0"/>
                          <a:cs typeface="Arial" panose="020B0604020202020204" pitchFamily="34" charset="0"/>
                        </a:rPr>
                        <a:t>→</a:t>
                      </a:r>
                      <a:r>
                        <a:rPr lang="en-US" sz="2000" b="0">
                          <a:latin typeface="Times New Roman" panose="02020603050405020304" pitchFamily="18" charset="0"/>
                          <a:cs typeface="Times New Roman" panose="02020603050405020304" pitchFamily="18" charset="0"/>
                        </a:rPr>
                        <a:t>q</a:t>
                      </a:r>
                      <a:r>
                        <a:rPr lang="en-US" sz="2000" b="0" baseline="-25000">
                          <a:latin typeface="Times New Roman" panose="02020603050405020304" pitchFamily="18" charset="0"/>
                          <a:cs typeface="Times New Roman" panose="02020603050405020304" pitchFamily="18" charset="0"/>
                        </a:rPr>
                        <a:t>0</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IN" altLang="en-US" sz="2000" b="0">
                          <a:latin typeface="Times New Roman" panose="02020603050405020304" pitchFamily="18" charset="0"/>
                          <a:cs typeface="Times New Roman" panose="02020603050405020304" pitchFamily="18" charset="0"/>
                        </a:rPr>
                        <a:t>{</a:t>
                      </a:r>
                      <a:r>
                        <a:rPr lang="en-US" sz="2000" b="0">
                          <a:latin typeface="Times New Roman" panose="02020603050405020304" pitchFamily="18" charset="0"/>
                          <a:cs typeface="Times New Roman" panose="02020603050405020304" pitchFamily="18" charset="0"/>
                        </a:rPr>
                        <a:t>q</a:t>
                      </a:r>
                      <a:r>
                        <a:rPr lang="en-US" sz="2000" b="0" baseline="-25000">
                          <a:latin typeface="Times New Roman" panose="02020603050405020304" pitchFamily="18" charset="0"/>
                          <a:cs typeface="Times New Roman" panose="02020603050405020304" pitchFamily="18" charset="0"/>
                        </a:rPr>
                        <a:t>0</a:t>
                      </a:r>
                      <a:r>
                        <a:rPr lang="en-US" sz="2000" b="0">
                          <a:latin typeface="Times New Roman" panose="02020603050405020304" pitchFamily="18" charset="0"/>
                          <a:cs typeface="Times New Roman" panose="02020603050405020304" pitchFamily="18" charset="0"/>
                        </a:rPr>
                        <a:t>, q</a:t>
                      </a:r>
                      <a:r>
                        <a:rPr lang="en-IN" altLang="en-US" sz="2000" b="0">
                          <a:latin typeface="Times New Roman" panose="02020603050405020304" pitchFamily="18" charset="0"/>
                          <a:cs typeface="Times New Roman" panose="02020603050405020304" pitchFamily="18" charset="0"/>
                        </a:rPr>
                        <a:t>1}</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Times New Roman" panose="02020603050405020304" pitchFamily="18" charset="0"/>
                          <a:cs typeface="Times New Roman" panose="02020603050405020304" pitchFamily="18" charset="0"/>
                        </a:rPr>
                        <a:t>[q</a:t>
                      </a:r>
                      <a:r>
                        <a:rPr lang="en-IN" altLang="en-US" sz="2000" b="0">
                          <a:latin typeface="Times New Roman" panose="02020603050405020304" pitchFamily="18" charset="0"/>
                          <a:cs typeface="Times New Roman" panose="02020603050405020304" pitchFamily="18" charset="0"/>
                        </a:rPr>
                        <a:t>1</a:t>
                      </a:r>
                      <a:r>
                        <a:rPr lang="en-US" sz="2000" b="0">
                          <a:latin typeface="Times New Roman" panose="02020603050405020304" pitchFamily="18" charset="0"/>
                          <a:cs typeface="Times New Roman" panose="02020603050405020304" pitchFamily="18" charset="0"/>
                        </a:rPr>
                        <a:t>]</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04800">
                <a:tc>
                  <a:txBody>
                    <a:bodyPr/>
                    <a:p>
                      <a:pPr indent="0">
                        <a:buNone/>
                      </a:pPr>
                      <a:r>
                        <a:rPr lang="en-IN" altLang="en-US" sz="2000" b="0">
                          <a:latin typeface="Times New Roman" panose="02020603050405020304" pitchFamily="18" charset="0"/>
                          <a:ea typeface="Times New Roman" panose="02020603050405020304" pitchFamily="18" charset="0"/>
                          <a:cs typeface="Times New Roman" panose="02020603050405020304" pitchFamily="18" charset="0"/>
                        </a:rPr>
                        <a:t>q1</a:t>
                      </a:r>
                      <a:endParaRPr lang="en-IN" alt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Times New Roman" panose="02020603050405020304" pitchFamily="18" charset="0"/>
                          <a:cs typeface="Times New Roman" panose="02020603050405020304" pitchFamily="18" charset="0"/>
                        </a:rPr>
                        <a:t> </a:t>
                      </a:r>
                      <a:r>
                        <a:rPr lang="en-IN" altLang="en-US" sz="2000" b="0">
                          <a:latin typeface="Times New Roman" panose="02020603050405020304" pitchFamily="18" charset="0"/>
                          <a:cs typeface="Times New Roman" panose="02020603050405020304" pitchFamily="18" charset="0"/>
                        </a:rPr>
                        <a:t>q2</a:t>
                      </a:r>
                      <a:endParaRPr lang="en-IN" alt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Times New Roman" panose="02020603050405020304" pitchFamily="18" charset="0"/>
                          <a:cs typeface="Times New Roman" panose="02020603050405020304" pitchFamily="18" charset="0"/>
                        </a:rPr>
                        <a:t> </a:t>
                      </a:r>
                      <a:r>
                        <a:rPr lang="en-IN" altLang="en-US" sz="2000" b="0">
                          <a:latin typeface="Times New Roman" panose="02020603050405020304" pitchFamily="18" charset="0"/>
                          <a:cs typeface="Times New Roman" panose="02020603050405020304" pitchFamily="18" charset="0"/>
                        </a:rPr>
                        <a:t>q2</a:t>
                      </a:r>
                      <a:endParaRPr lang="en-IN" alt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04800">
                <a:tc>
                  <a:txBody>
                    <a:bodyPr/>
                    <a:p>
                      <a:pPr indent="0">
                        <a:buNone/>
                      </a:pPr>
                      <a:r>
                        <a:rPr lang="en-IN" altLang="en-US" sz="2000" b="0">
                          <a:latin typeface="Times New Roman" panose="02020603050405020304" pitchFamily="18" charset="0"/>
                          <a:cs typeface="Times New Roman" panose="02020603050405020304" pitchFamily="18" charset="0"/>
                        </a:rPr>
                        <a:t>*</a:t>
                      </a:r>
                      <a:r>
                        <a:rPr lang="en-US" sz="2000" b="0">
                          <a:latin typeface="Times New Roman" panose="02020603050405020304" pitchFamily="18" charset="0"/>
                          <a:cs typeface="Times New Roman" panose="02020603050405020304" pitchFamily="18" charset="0"/>
                        </a:rPr>
                        <a:t>q</a:t>
                      </a:r>
                      <a:r>
                        <a:rPr lang="en-IN" altLang="en-US" sz="2000" b="0">
                          <a:latin typeface="Times New Roman" panose="02020603050405020304" pitchFamily="18" charset="0"/>
                          <a:cs typeface="Times New Roman" panose="02020603050405020304" pitchFamily="18" charset="0"/>
                        </a:rPr>
                        <a:t>2</a:t>
                      </a:r>
                      <a:endParaRPr lang="en-IN" alt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Times New Roman" panose="02020603050405020304" pitchFamily="18" charset="0"/>
                          <a:cs typeface="Times New Roman" panose="02020603050405020304" pitchFamily="18" charset="0"/>
                        </a:rPr>
                        <a:t> </a:t>
                      </a:r>
                      <a:r>
                        <a:rPr lang="en-US" sz="2000" b="0">
                          <a:latin typeface="Arial" panose="020B0604020202020204" pitchFamily="34" charset="0"/>
                          <a:cs typeface="Arial" panose="020B0604020202020204" pitchFamily="34" charset="0"/>
                        </a:rPr>
                        <a:t>Ø</a:t>
                      </a:r>
                      <a:endParaRPr lang="en-US" sz="2000" b="0">
                        <a:latin typeface="Arial" panose="020B0604020202020204" pitchFamily="34" charset="0"/>
                        <a:ea typeface="Times New Roman" panose="02020603050405020304" pitchFamily="18" charset="0"/>
                        <a:cs typeface="Arial" panose="020B0604020202020204" pitchFamily="3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IN" altLang="en-US" sz="2000" b="0">
                          <a:latin typeface="Times New Roman" panose="02020603050405020304" pitchFamily="18" charset="0"/>
                          <a:ea typeface="Times New Roman" panose="02020603050405020304" pitchFamily="18" charset="0"/>
                          <a:cs typeface="Times New Roman" panose="02020603050405020304" pitchFamily="18" charset="0"/>
                        </a:rPr>
                        <a:t>q2</a:t>
                      </a:r>
                      <a:endParaRPr lang="en-IN" alt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graphicFrame>
        <p:nvGraphicFramePr>
          <p:cNvPr id="5" name="Table 4"/>
          <p:cNvGraphicFramePr/>
          <p:nvPr/>
        </p:nvGraphicFramePr>
        <p:xfrm>
          <a:off x="1041400" y="4546600"/>
          <a:ext cx="2336165" cy="1219200"/>
        </p:xfrm>
        <a:graphic>
          <a:graphicData uri="http://schemas.openxmlformats.org/drawingml/2006/table">
            <a:tbl>
              <a:tblPr/>
              <a:tblGrid>
                <a:gridCol w="706755"/>
                <a:gridCol w="1065530"/>
                <a:gridCol w="563880"/>
              </a:tblGrid>
              <a:tr h="304800">
                <a:tc>
                  <a:txBody>
                    <a:bodyPr/>
                    <a:p>
                      <a:pPr indent="0" algn="ctr">
                        <a:buNone/>
                      </a:pPr>
                      <a:r>
                        <a:rPr lang="en-US" sz="2000" b="0">
                          <a:latin typeface="Symbol" panose="05050102010706020507" charset="0"/>
                          <a:cs typeface="Symbol" panose="05050102010706020507" charset="0"/>
                        </a:rPr>
                        <a:t>d</a:t>
                      </a:r>
                      <a:endParaRPr lang="en-US" sz="2000" b="0">
                        <a:latin typeface="Symbol" panose="05050102010706020507" charset="0"/>
                        <a:ea typeface="Symbol" panose="05050102010706020507" charset="0"/>
                        <a:cs typeface="Symbol" panose="05050102010706020507"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pitchFamily="18" charset="0"/>
                          <a:cs typeface="Times New Roman" panose="02020603050405020304" pitchFamily="18" charset="0"/>
                        </a:rPr>
                        <a:t>0</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pitchFamily="18" charset="0"/>
                          <a:cs typeface="Times New Roman" panose="02020603050405020304" pitchFamily="18" charset="0"/>
                        </a:rPr>
                        <a:t>1</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04800">
                <a:tc>
                  <a:txBody>
                    <a:bodyPr/>
                    <a:p>
                      <a:pPr indent="0">
                        <a:buNone/>
                      </a:pPr>
                      <a:r>
                        <a:rPr lang="en-US" sz="2000" b="0">
                          <a:latin typeface="Arial" panose="020B0604020202020204" pitchFamily="34" charset="0"/>
                          <a:cs typeface="Arial" panose="020B0604020202020204" pitchFamily="34" charset="0"/>
                        </a:rPr>
                        <a:t>→</a:t>
                      </a:r>
                      <a:r>
                        <a:rPr lang="en-US" sz="2000" b="0">
                          <a:latin typeface="Times New Roman" panose="02020603050405020304" pitchFamily="18" charset="0"/>
                          <a:cs typeface="Times New Roman" panose="02020603050405020304" pitchFamily="18" charset="0"/>
                        </a:rPr>
                        <a:t>q</a:t>
                      </a:r>
                      <a:r>
                        <a:rPr lang="en-US" sz="2000" b="0" baseline="-25000">
                          <a:latin typeface="Times New Roman" panose="02020603050405020304" pitchFamily="18" charset="0"/>
                          <a:cs typeface="Times New Roman" panose="02020603050405020304" pitchFamily="18" charset="0"/>
                        </a:rPr>
                        <a:t>0</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IN" altLang="en-US" sz="2000" b="0">
                          <a:latin typeface="Times New Roman" panose="02020603050405020304" pitchFamily="18" charset="0"/>
                          <a:cs typeface="Times New Roman" panose="02020603050405020304" pitchFamily="18" charset="0"/>
                        </a:rPr>
                        <a:t>{</a:t>
                      </a:r>
                      <a:r>
                        <a:rPr lang="en-US" sz="2000" b="0">
                          <a:latin typeface="Times New Roman" panose="02020603050405020304" pitchFamily="18" charset="0"/>
                          <a:cs typeface="Times New Roman" panose="02020603050405020304" pitchFamily="18" charset="0"/>
                        </a:rPr>
                        <a:t>q</a:t>
                      </a:r>
                      <a:r>
                        <a:rPr lang="en-US" sz="2000" b="0" baseline="-25000">
                          <a:latin typeface="Times New Roman" panose="02020603050405020304" pitchFamily="18" charset="0"/>
                          <a:cs typeface="Times New Roman" panose="02020603050405020304" pitchFamily="18" charset="0"/>
                        </a:rPr>
                        <a:t>0</a:t>
                      </a:r>
                      <a:r>
                        <a:rPr lang="en-US" sz="2000" b="0">
                          <a:latin typeface="Times New Roman" panose="02020603050405020304" pitchFamily="18" charset="0"/>
                          <a:cs typeface="Times New Roman" panose="02020603050405020304" pitchFamily="18" charset="0"/>
                        </a:rPr>
                        <a:t>, q</a:t>
                      </a:r>
                      <a:r>
                        <a:rPr lang="en-IN" altLang="en-US" sz="2000" b="0">
                          <a:latin typeface="Times New Roman" panose="02020603050405020304" pitchFamily="18" charset="0"/>
                          <a:cs typeface="Times New Roman" panose="02020603050405020304" pitchFamily="18" charset="0"/>
                        </a:rPr>
                        <a:t>1}</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Times New Roman" panose="02020603050405020304" pitchFamily="18" charset="0"/>
                          <a:cs typeface="Times New Roman" panose="02020603050405020304" pitchFamily="18" charset="0"/>
                        </a:rPr>
                        <a:t>[</a:t>
                      </a:r>
                      <a:r>
                        <a:rPr lang="en-IN" altLang="en-US" sz="2000" b="0">
                          <a:latin typeface="Times New Roman" panose="02020603050405020304" pitchFamily="18" charset="0"/>
                          <a:cs typeface="Times New Roman" panose="02020603050405020304" pitchFamily="18" charset="0"/>
                        </a:rPr>
                        <a:t>q0</a:t>
                      </a:r>
                      <a:r>
                        <a:rPr lang="en-US" sz="2000" b="0">
                          <a:latin typeface="Times New Roman" panose="02020603050405020304" pitchFamily="18" charset="0"/>
                          <a:cs typeface="Times New Roman" panose="02020603050405020304" pitchFamily="18" charset="0"/>
                        </a:rPr>
                        <a:t>]</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04800">
                <a:tc>
                  <a:txBody>
                    <a:bodyPr/>
                    <a:p>
                      <a:pPr indent="0">
                        <a:buNone/>
                      </a:pPr>
                      <a:r>
                        <a:rPr lang="en-IN" altLang="en-US" sz="2000" b="0">
                          <a:latin typeface="Times New Roman" panose="02020603050405020304" pitchFamily="18" charset="0"/>
                          <a:ea typeface="Times New Roman" panose="02020603050405020304" pitchFamily="18" charset="0"/>
                          <a:cs typeface="Times New Roman" panose="02020603050405020304" pitchFamily="18" charset="0"/>
                        </a:rPr>
                        <a:t>q1</a:t>
                      </a:r>
                      <a:endParaRPr lang="en-IN" alt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Times New Roman" panose="02020603050405020304" pitchFamily="18" charset="0"/>
                          <a:cs typeface="Times New Roman" panose="02020603050405020304" pitchFamily="18" charset="0"/>
                        </a:rPr>
                        <a:t> </a:t>
                      </a:r>
                      <a:r>
                        <a:rPr lang="en-US" sz="2000" b="0">
                          <a:latin typeface="Arial" panose="020B0604020202020204" pitchFamily="34" charset="0"/>
                          <a:cs typeface="Arial" panose="020B0604020202020204" pitchFamily="34" charset="0"/>
                        </a:rPr>
                        <a:t>Ø</a:t>
                      </a:r>
                      <a:endParaRPr lang="en-US" altLang="en-US" sz="2000" b="0">
                        <a:latin typeface="Arial" panose="020B0604020202020204" pitchFamily="34" charset="0"/>
                        <a:ea typeface="Times New Roman" panose="02020603050405020304" pitchFamily="18" charset="0"/>
                        <a:cs typeface="Arial" panose="020B0604020202020204" pitchFamily="3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Times New Roman" panose="02020603050405020304" pitchFamily="18" charset="0"/>
                          <a:cs typeface="Times New Roman" panose="02020603050405020304" pitchFamily="18" charset="0"/>
                        </a:rPr>
                        <a:t> </a:t>
                      </a:r>
                      <a:r>
                        <a:rPr lang="en-IN" altLang="en-US" sz="2000" b="0">
                          <a:latin typeface="Times New Roman" panose="02020603050405020304" pitchFamily="18" charset="0"/>
                          <a:cs typeface="Times New Roman" panose="02020603050405020304" pitchFamily="18" charset="0"/>
                        </a:rPr>
                        <a:t>q2</a:t>
                      </a:r>
                      <a:endParaRPr lang="en-IN" alt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04800">
                <a:tc>
                  <a:txBody>
                    <a:bodyPr/>
                    <a:p>
                      <a:pPr indent="0">
                        <a:buNone/>
                      </a:pPr>
                      <a:r>
                        <a:rPr lang="en-IN" altLang="en-US" sz="2000" b="0">
                          <a:latin typeface="Times New Roman" panose="02020603050405020304" pitchFamily="18" charset="0"/>
                          <a:cs typeface="Times New Roman" panose="02020603050405020304" pitchFamily="18" charset="0"/>
                        </a:rPr>
                        <a:t>*</a:t>
                      </a:r>
                      <a:r>
                        <a:rPr lang="en-US" sz="2000" b="0">
                          <a:latin typeface="Times New Roman" panose="02020603050405020304" pitchFamily="18" charset="0"/>
                          <a:cs typeface="Times New Roman" panose="02020603050405020304" pitchFamily="18" charset="0"/>
                        </a:rPr>
                        <a:t>q</a:t>
                      </a:r>
                      <a:r>
                        <a:rPr lang="en-IN" altLang="en-US" sz="2000" b="0">
                          <a:latin typeface="Times New Roman" panose="02020603050405020304" pitchFamily="18" charset="0"/>
                          <a:cs typeface="Times New Roman" panose="02020603050405020304" pitchFamily="18" charset="0"/>
                        </a:rPr>
                        <a:t>2</a:t>
                      </a:r>
                      <a:endParaRPr lang="en-IN" alt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IN" altLang="en-US" sz="2000" b="0">
                          <a:latin typeface="Times New Roman" panose="02020603050405020304" pitchFamily="18" charset="0"/>
                          <a:cs typeface="Times New Roman" panose="02020603050405020304" pitchFamily="18" charset="0"/>
                        </a:rPr>
                        <a:t>{q0, q2}</a:t>
                      </a:r>
                      <a:endParaRPr lang="en-IN" alt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IN" altLang="en-US" sz="2000" b="0">
                          <a:latin typeface="Times New Roman" panose="02020603050405020304" pitchFamily="18" charset="0"/>
                          <a:ea typeface="Times New Roman" panose="02020603050405020304" pitchFamily="18" charset="0"/>
                          <a:cs typeface="Times New Roman" panose="02020603050405020304" pitchFamily="18" charset="0"/>
                        </a:rPr>
                        <a:t>q1</a:t>
                      </a:r>
                      <a:endParaRPr lang="en-IN" alt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graphicFrame>
        <p:nvGraphicFramePr>
          <p:cNvPr id="6" name="Table 5"/>
          <p:cNvGraphicFramePr/>
          <p:nvPr/>
        </p:nvGraphicFramePr>
        <p:xfrm>
          <a:off x="4851400" y="2413000"/>
          <a:ext cx="2336165" cy="1524000"/>
        </p:xfrm>
        <a:graphic>
          <a:graphicData uri="http://schemas.openxmlformats.org/drawingml/2006/table">
            <a:tbl>
              <a:tblPr/>
              <a:tblGrid>
                <a:gridCol w="706755"/>
                <a:gridCol w="1065530"/>
                <a:gridCol w="563880"/>
              </a:tblGrid>
              <a:tr h="304800">
                <a:tc>
                  <a:txBody>
                    <a:bodyPr/>
                    <a:p>
                      <a:pPr indent="0" algn="ctr">
                        <a:buNone/>
                      </a:pPr>
                      <a:r>
                        <a:rPr lang="en-US" sz="2000" b="0">
                          <a:latin typeface="Symbol" panose="05050102010706020507" charset="0"/>
                          <a:cs typeface="Symbol" panose="05050102010706020507" charset="0"/>
                        </a:rPr>
                        <a:t>d</a:t>
                      </a:r>
                      <a:endParaRPr lang="en-US" sz="2000" b="0">
                        <a:latin typeface="Symbol" panose="05050102010706020507" charset="0"/>
                        <a:ea typeface="Symbol" panose="05050102010706020507" charset="0"/>
                        <a:cs typeface="Symbol" panose="05050102010706020507"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pitchFamily="18" charset="0"/>
                          <a:cs typeface="Times New Roman" panose="02020603050405020304" pitchFamily="18" charset="0"/>
                        </a:rPr>
                        <a:t>0</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pitchFamily="18" charset="0"/>
                          <a:cs typeface="Times New Roman" panose="02020603050405020304" pitchFamily="18" charset="0"/>
                        </a:rPr>
                        <a:t>1</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04800">
                <a:tc>
                  <a:txBody>
                    <a:bodyPr/>
                    <a:p>
                      <a:pPr indent="0">
                        <a:buNone/>
                      </a:pPr>
                      <a:r>
                        <a:rPr lang="en-US" sz="2000" b="0">
                          <a:latin typeface="Arial" panose="020B0604020202020204" pitchFamily="34" charset="0"/>
                          <a:cs typeface="Arial" panose="020B0604020202020204" pitchFamily="34" charset="0"/>
                        </a:rPr>
                        <a:t>→</a:t>
                      </a:r>
                      <a:r>
                        <a:rPr lang="en-IN" altLang="en-US" sz="2000" b="0">
                          <a:latin typeface="Arial" panose="020B0604020202020204" pitchFamily="34" charset="0"/>
                          <a:cs typeface="Arial" panose="020B0604020202020204" pitchFamily="34" charset="0"/>
                        </a:rPr>
                        <a:t>p</a:t>
                      </a:r>
                      <a:endParaRPr lang="en-IN" altLang="en-US" sz="2000" b="0">
                        <a:latin typeface="Arial" panose="020B0604020202020204" pitchFamily="34" charset="0"/>
                        <a:ea typeface="Times New Roman" panose="02020603050405020304" pitchFamily="18" charset="0"/>
                        <a:cs typeface="Arial" panose="020B0604020202020204" pitchFamily="3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IN" altLang="en-US" sz="2000" b="0">
                          <a:latin typeface="Times New Roman" panose="02020603050405020304" pitchFamily="18" charset="0"/>
                          <a:cs typeface="Times New Roman" panose="02020603050405020304" pitchFamily="18" charset="0"/>
                        </a:rPr>
                        <a:t> {p, r}</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IN" altLang="en-US" sz="2000" b="0">
                          <a:latin typeface="Times New Roman" panose="02020603050405020304" pitchFamily="18" charset="0"/>
                          <a:ea typeface="Times New Roman" panose="02020603050405020304" pitchFamily="18" charset="0"/>
                          <a:cs typeface="Times New Roman" panose="02020603050405020304" pitchFamily="18" charset="0"/>
                        </a:rPr>
                        <a:t>q</a:t>
                      </a:r>
                      <a:endParaRPr lang="en-IN" alt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04800">
                <a:tc>
                  <a:txBody>
                    <a:bodyPr/>
                    <a:p>
                      <a:pPr indent="0">
                        <a:buNone/>
                      </a:pPr>
                      <a:r>
                        <a:rPr lang="en-IN" altLang="en-US" sz="2000" b="0">
                          <a:latin typeface="Times New Roman" panose="02020603050405020304" pitchFamily="18" charset="0"/>
                          <a:ea typeface="Times New Roman" panose="02020603050405020304" pitchFamily="18" charset="0"/>
                          <a:cs typeface="Times New Roman" panose="02020603050405020304" pitchFamily="18" charset="0"/>
                        </a:rPr>
                        <a:t>q</a:t>
                      </a:r>
                      <a:endParaRPr lang="en-IN" alt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Times New Roman" panose="02020603050405020304" pitchFamily="18" charset="0"/>
                          <a:cs typeface="Times New Roman" panose="02020603050405020304" pitchFamily="18" charset="0"/>
                        </a:rPr>
                        <a:t> </a:t>
                      </a:r>
                      <a:r>
                        <a:rPr lang="en-IN" altLang="en-US" sz="2000" b="0">
                          <a:latin typeface="Times New Roman" panose="02020603050405020304" pitchFamily="18" charset="0"/>
                          <a:cs typeface="Times New Roman" panose="02020603050405020304" pitchFamily="18" charset="0"/>
                        </a:rPr>
                        <a:t> {r, s}</a:t>
                      </a:r>
                      <a:endParaRPr lang="en-IN" alt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Times New Roman" panose="02020603050405020304" pitchFamily="18" charset="0"/>
                          <a:cs typeface="Times New Roman" panose="02020603050405020304" pitchFamily="18" charset="0"/>
                        </a:rPr>
                        <a:t> </a:t>
                      </a:r>
                      <a:r>
                        <a:rPr lang="en-IN" altLang="en-US" sz="2000" b="0">
                          <a:latin typeface="Times New Roman" panose="02020603050405020304" pitchFamily="18" charset="0"/>
                          <a:cs typeface="Times New Roman" panose="02020603050405020304" pitchFamily="18" charset="0"/>
                        </a:rPr>
                        <a:t>p</a:t>
                      </a:r>
                      <a:endParaRPr lang="en-IN" alt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04800">
                <a:tc>
                  <a:txBody>
                    <a:bodyPr/>
                    <a:p>
                      <a:pPr indent="0">
                        <a:buNone/>
                      </a:pPr>
                      <a:r>
                        <a:rPr lang="en-IN" altLang="en-US" sz="2000" b="0">
                          <a:latin typeface="Times New Roman" panose="02020603050405020304" pitchFamily="18" charset="0"/>
                          <a:ea typeface="Times New Roman" panose="02020603050405020304" pitchFamily="18" charset="0"/>
                          <a:cs typeface="Times New Roman" panose="02020603050405020304" pitchFamily="18" charset="0"/>
                        </a:rPr>
                        <a:t>*r</a:t>
                      </a:r>
                      <a:endParaRPr lang="en-IN" alt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Times New Roman" panose="02020603050405020304" pitchFamily="18" charset="0"/>
                          <a:cs typeface="Times New Roman" panose="02020603050405020304" pitchFamily="18" charset="0"/>
                        </a:rPr>
                        <a:t> </a:t>
                      </a:r>
                      <a:r>
                        <a:rPr lang="en-IN" altLang="en-US" sz="2000" b="0">
                          <a:latin typeface="Times New Roman" panose="02020603050405020304" pitchFamily="18" charset="0"/>
                          <a:cs typeface="Times New Roman" panose="02020603050405020304" pitchFamily="18" charset="0"/>
                        </a:rPr>
                        <a:t>{p, s}</a:t>
                      </a:r>
                      <a:endParaRPr lang="en-IN" alt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IN" altLang="en-US" sz="2000" b="0">
                          <a:latin typeface="Times New Roman" panose="02020603050405020304" pitchFamily="18" charset="0"/>
                          <a:ea typeface="Times New Roman" panose="02020603050405020304" pitchFamily="18" charset="0"/>
                          <a:cs typeface="Times New Roman" panose="02020603050405020304" pitchFamily="18" charset="0"/>
                        </a:rPr>
                        <a:t>r</a:t>
                      </a:r>
                      <a:endParaRPr lang="en-IN" alt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04800">
                <a:tc>
                  <a:txBody>
                    <a:bodyPr/>
                    <a:p>
                      <a:pPr indent="0">
                        <a:buNone/>
                      </a:pPr>
                      <a:r>
                        <a:rPr lang="en-IN" altLang="en-US" sz="2000" b="0">
                          <a:latin typeface="Times New Roman" panose="02020603050405020304" pitchFamily="18" charset="0"/>
                          <a:ea typeface="Times New Roman" panose="02020603050405020304" pitchFamily="18" charset="0"/>
                          <a:cs typeface="Times New Roman" panose="02020603050405020304" pitchFamily="18" charset="0"/>
                        </a:rPr>
                        <a:t>*s</a:t>
                      </a:r>
                      <a:endParaRPr lang="en-IN" alt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IN" altLang="en-US" sz="2000" b="0">
                          <a:latin typeface="Arial" panose="020B0604020202020204" pitchFamily="34" charset="0"/>
                          <a:ea typeface="Times New Roman" panose="02020603050405020304" pitchFamily="18" charset="0"/>
                          <a:cs typeface="Arial" panose="020B0604020202020204" pitchFamily="34" charset="0"/>
                        </a:rPr>
                        <a:t> {q, r}</a:t>
                      </a:r>
                      <a:endParaRPr lang="en-IN" altLang="en-US" sz="2000" b="0">
                        <a:latin typeface="Arial" panose="020B0604020202020204" pitchFamily="34" charset="0"/>
                        <a:ea typeface="Times New Roman" panose="02020603050405020304" pitchFamily="18" charset="0"/>
                        <a:cs typeface="Arial" panose="020B0604020202020204" pitchFamily="3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IN" altLang="en-US" sz="2000" b="0">
                          <a:latin typeface="Arial" panose="020B0604020202020204" pitchFamily="34" charset="0"/>
                          <a:ea typeface="Times New Roman" panose="02020603050405020304" pitchFamily="18" charset="0"/>
                          <a:cs typeface="Arial" panose="020B0604020202020204" pitchFamily="34" charset="0"/>
                        </a:rPr>
                        <a:t>Ø</a:t>
                      </a:r>
                      <a:endParaRPr lang="en-IN" altLang="en-US" sz="2000" b="0">
                        <a:latin typeface="Arial" panose="020B0604020202020204" pitchFamily="34" charset="0"/>
                        <a:ea typeface="Times New Roman" panose="02020603050405020304" pitchFamily="18" charset="0"/>
                        <a:cs typeface="Arial" panose="020B0604020202020204" pitchFamily="3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graphicFrame>
        <p:nvGraphicFramePr>
          <p:cNvPr id="7" name="Table 6"/>
          <p:cNvGraphicFramePr/>
          <p:nvPr/>
        </p:nvGraphicFramePr>
        <p:xfrm>
          <a:off x="4902200" y="4292600"/>
          <a:ext cx="2336165" cy="1828800"/>
        </p:xfrm>
        <a:graphic>
          <a:graphicData uri="http://schemas.openxmlformats.org/drawingml/2006/table">
            <a:tbl>
              <a:tblPr/>
              <a:tblGrid>
                <a:gridCol w="706755"/>
                <a:gridCol w="1065530"/>
                <a:gridCol w="563880"/>
              </a:tblGrid>
              <a:tr h="304800">
                <a:tc>
                  <a:txBody>
                    <a:bodyPr/>
                    <a:p>
                      <a:pPr indent="0" algn="ctr">
                        <a:buNone/>
                      </a:pPr>
                      <a:r>
                        <a:rPr lang="en-US" sz="2000" b="0">
                          <a:latin typeface="Symbol" panose="05050102010706020507" charset="0"/>
                          <a:cs typeface="Symbol" panose="05050102010706020507" charset="0"/>
                        </a:rPr>
                        <a:t>d</a:t>
                      </a:r>
                      <a:endParaRPr lang="en-US" sz="2000" b="0">
                        <a:latin typeface="Symbol" panose="05050102010706020507" charset="0"/>
                        <a:ea typeface="Symbol" panose="05050102010706020507" charset="0"/>
                        <a:cs typeface="Symbol" panose="05050102010706020507"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pitchFamily="18" charset="0"/>
                          <a:cs typeface="Times New Roman" panose="02020603050405020304" pitchFamily="18" charset="0"/>
                        </a:rPr>
                        <a:t>0</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pitchFamily="18" charset="0"/>
                          <a:cs typeface="Times New Roman" panose="02020603050405020304" pitchFamily="18" charset="0"/>
                        </a:rPr>
                        <a:t>1</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04800">
                <a:tc>
                  <a:txBody>
                    <a:bodyPr/>
                    <a:p>
                      <a:pPr indent="0">
                        <a:buNone/>
                      </a:pPr>
                      <a:r>
                        <a:rPr lang="en-US" sz="2000" b="0">
                          <a:latin typeface="Arial" panose="020B0604020202020204" pitchFamily="34" charset="0"/>
                          <a:cs typeface="Arial" panose="020B0604020202020204" pitchFamily="34" charset="0"/>
                        </a:rPr>
                        <a:t>→</a:t>
                      </a:r>
                      <a:r>
                        <a:rPr lang="en-IN" altLang="en-US" sz="2000" b="0">
                          <a:latin typeface="Arial" panose="020B0604020202020204" pitchFamily="34" charset="0"/>
                          <a:cs typeface="Arial" panose="020B0604020202020204" pitchFamily="34" charset="0"/>
                        </a:rPr>
                        <a:t>p</a:t>
                      </a:r>
                      <a:endParaRPr lang="en-IN" altLang="en-US" sz="2000" b="0">
                        <a:latin typeface="Arial" panose="020B0604020202020204" pitchFamily="34" charset="0"/>
                        <a:ea typeface="Times New Roman" panose="02020603050405020304" pitchFamily="18" charset="0"/>
                        <a:cs typeface="Arial" panose="020B0604020202020204" pitchFamily="3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IN" altLang="en-US" sz="2000" b="0">
                          <a:latin typeface="Times New Roman" panose="02020603050405020304" pitchFamily="18" charset="0"/>
                          <a:cs typeface="Times New Roman" panose="02020603050405020304" pitchFamily="18" charset="0"/>
                        </a:rPr>
                        <a:t> {p, q}</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IN" altLang="en-US" sz="2000" b="0">
                          <a:latin typeface="Times New Roman" panose="02020603050405020304" pitchFamily="18" charset="0"/>
                          <a:ea typeface="Times New Roman" panose="02020603050405020304" pitchFamily="18" charset="0"/>
                          <a:cs typeface="Times New Roman" panose="02020603050405020304" pitchFamily="18" charset="0"/>
                        </a:rPr>
                        <a:t>p</a:t>
                      </a:r>
                      <a:endParaRPr lang="en-IN" alt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04800">
                <a:tc>
                  <a:txBody>
                    <a:bodyPr/>
                    <a:p>
                      <a:pPr indent="0">
                        <a:buNone/>
                      </a:pPr>
                      <a:r>
                        <a:rPr lang="en-IN" altLang="en-US" sz="2000" b="0">
                          <a:latin typeface="Times New Roman" panose="02020603050405020304" pitchFamily="18" charset="0"/>
                          <a:ea typeface="Times New Roman" panose="02020603050405020304" pitchFamily="18" charset="0"/>
                          <a:cs typeface="Times New Roman" panose="02020603050405020304" pitchFamily="18" charset="0"/>
                        </a:rPr>
                        <a:t>q</a:t>
                      </a:r>
                      <a:endParaRPr lang="en-IN" alt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Times New Roman" panose="02020603050405020304" pitchFamily="18" charset="0"/>
                          <a:cs typeface="Times New Roman" panose="02020603050405020304" pitchFamily="18" charset="0"/>
                        </a:rPr>
                        <a:t> </a:t>
                      </a:r>
                      <a:r>
                        <a:rPr lang="en-IN" altLang="en-US" sz="2000" b="0">
                          <a:latin typeface="Times New Roman" panose="02020603050405020304" pitchFamily="18" charset="0"/>
                          <a:cs typeface="Times New Roman" panose="02020603050405020304" pitchFamily="18" charset="0"/>
                        </a:rPr>
                        <a:t> {r, s}</a:t>
                      </a:r>
                      <a:endParaRPr lang="en-IN" alt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Times New Roman" panose="02020603050405020304" pitchFamily="18" charset="0"/>
                          <a:cs typeface="Times New Roman" panose="02020603050405020304" pitchFamily="18" charset="0"/>
                        </a:rPr>
                        <a:t> </a:t>
                      </a:r>
                      <a:r>
                        <a:rPr lang="en-IN" altLang="en-US" sz="2000" b="0">
                          <a:latin typeface="Times New Roman" panose="02020603050405020304" pitchFamily="18" charset="0"/>
                          <a:cs typeface="Times New Roman" panose="02020603050405020304" pitchFamily="18" charset="0"/>
                        </a:rPr>
                        <a:t>t</a:t>
                      </a:r>
                      <a:endParaRPr lang="en-IN" alt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04800">
                <a:tc>
                  <a:txBody>
                    <a:bodyPr/>
                    <a:p>
                      <a:pPr indent="0">
                        <a:buNone/>
                      </a:pPr>
                      <a:r>
                        <a:rPr lang="en-IN" altLang="en-US" sz="2000" b="0">
                          <a:latin typeface="Times New Roman" panose="02020603050405020304" pitchFamily="18" charset="0"/>
                          <a:ea typeface="Times New Roman" panose="02020603050405020304" pitchFamily="18" charset="0"/>
                          <a:cs typeface="Times New Roman" panose="02020603050405020304" pitchFamily="18" charset="0"/>
                        </a:rPr>
                        <a:t>r</a:t>
                      </a:r>
                      <a:endParaRPr lang="en-IN" alt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Times New Roman" panose="02020603050405020304" pitchFamily="18" charset="0"/>
                          <a:cs typeface="Times New Roman" panose="02020603050405020304" pitchFamily="18" charset="0"/>
                        </a:rPr>
                        <a:t> </a:t>
                      </a:r>
                      <a:r>
                        <a:rPr lang="en-IN" altLang="en-US" sz="2000" b="0">
                          <a:latin typeface="Times New Roman" panose="02020603050405020304" pitchFamily="18" charset="0"/>
                          <a:cs typeface="Times New Roman" panose="02020603050405020304" pitchFamily="18" charset="0"/>
                        </a:rPr>
                        <a:t>{p, r}</a:t>
                      </a:r>
                      <a:endParaRPr lang="en-IN" alt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IN" altLang="en-US" sz="2000" b="0">
                          <a:latin typeface="Times New Roman" panose="02020603050405020304" pitchFamily="18" charset="0"/>
                          <a:ea typeface="Times New Roman" panose="02020603050405020304" pitchFamily="18" charset="0"/>
                          <a:cs typeface="Times New Roman" panose="02020603050405020304" pitchFamily="18" charset="0"/>
                        </a:rPr>
                        <a:t>t</a:t>
                      </a:r>
                      <a:endParaRPr lang="en-IN" alt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04800">
                <a:tc>
                  <a:txBody>
                    <a:bodyPr/>
                    <a:p>
                      <a:pPr indent="0">
                        <a:buNone/>
                      </a:pPr>
                      <a:r>
                        <a:rPr lang="en-IN" altLang="en-US" sz="2000" b="0">
                          <a:latin typeface="Times New Roman" panose="02020603050405020304" pitchFamily="18" charset="0"/>
                          <a:ea typeface="Times New Roman" panose="02020603050405020304" pitchFamily="18" charset="0"/>
                          <a:cs typeface="Times New Roman" panose="02020603050405020304" pitchFamily="18" charset="0"/>
                        </a:rPr>
                        <a:t>*s</a:t>
                      </a:r>
                      <a:endParaRPr lang="en-IN" alt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IN" altLang="en-US" sz="2000" b="0">
                          <a:latin typeface="Arial" panose="020B0604020202020204" pitchFamily="34" charset="0"/>
                          <a:ea typeface="Times New Roman" panose="02020603050405020304" pitchFamily="18" charset="0"/>
                          <a:cs typeface="Arial" panose="020B0604020202020204" pitchFamily="34" charset="0"/>
                        </a:rPr>
                        <a:t>  Ø</a:t>
                      </a:r>
                      <a:endParaRPr lang="en-IN" altLang="en-US" sz="2000" b="0">
                        <a:latin typeface="Arial" panose="020B0604020202020204" pitchFamily="34" charset="0"/>
                        <a:ea typeface="Times New Roman" panose="02020603050405020304" pitchFamily="18" charset="0"/>
                        <a:cs typeface="Arial" panose="020B0604020202020204" pitchFamily="3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IN" altLang="en-US" sz="2000" b="0">
                          <a:latin typeface="Arial" panose="020B0604020202020204" pitchFamily="34" charset="0"/>
                          <a:ea typeface="Times New Roman" panose="02020603050405020304" pitchFamily="18" charset="0"/>
                          <a:cs typeface="Arial" panose="020B0604020202020204" pitchFamily="34" charset="0"/>
                        </a:rPr>
                        <a:t>Ø</a:t>
                      </a:r>
                      <a:endParaRPr lang="en-IN" altLang="en-US" sz="2000" b="0">
                        <a:latin typeface="Arial" panose="020B0604020202020204" pitchFamily="34" charset="0"/>
                        <a:ea typeface="Times New Roman" panose="02020603050405020304" pitchFamily="18" charset="0"/>
                        <a:cs typeface="Arial" panose="020B0604020202020204" pitchFamily="3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04800">
                <a:tc>
                  <a:txBody>
                    <a:bodyPr/>
                    <a:p>
                      <a:pPr indent="0">
                        <a:buNone/>
                      </a:pPr>
                      <a:r>
                        <a:rPr lang="en-IN" altLang="en-US" sz="2000" b="0">
                          <a:latin typeface="Times New Roman" panose="02020603050405020304" pitchFamily="18" charset="0"/>
                          <a:ea typeface="Times New Roman" panose="02020603050405020304" pitchFamily="18" charset="0"/>
                          <a:cs typeface="Times New Roman" panose="02020603050405020304" pitchFamily="18" charset="0"/>
                        </a:rPr>
                        <a:t>*t</a:t>
                      </a:r>
                      <a:endParaRPr lang="en-IN" alt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IN" altLang="en-US" sz="2000" b="0">
                          <a:latin typeface="Arial" panose="020B0604020202020204" pitchFamily="34" charset="0"/>
                          <a:ea typeface="Times New Roman" panose="02020603050405020304" pitchFamily="18" charset="0"/>
                          <a:cs typeface="Arial" panose="020B0604020202020204" pitchFamily="34" charset="0"/>
                        </a:rPr>
                        <a:t>  Ø</a:t>
                      </a:r>
                      <a:endParaRPr lang="en-IN" altLang="en-US" sz="2000" b="0">
                        <a:latin typeface="Arial" panose="020B0604020202020204" pitchFamily="34" charset="0"/>
                        <a:ea typeface="Times New Roman" panose="02020603050405020304" pitchFamily="18" charset="0"/>
                        <a:cs typeface="Arial" panose="020B0604020202020204" pitchFamily="3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IN" altLang="en-US" sz="2000" b="0">
                          <a:latin typeface="Arial" panose="020B0604020202020204" pitchFamily="34" charset="0"/>
                          <a:ea typeface="Times New Roman" panose="02020603050405020304" pitchFamily="18" charset="0"/>
                          <a:cs typeface="Arial" panose="020B0604020202020204" pitchFamily="34" charset="0"/>
                        </a:rPr>
                        <a:t>Ø</a:t>
                      </a:r>
                      <a:endParaRPr lang="en-IN" altLang="en-US" sz="2000" b="0">
                        <a:latin typeface="Arial" panose="020B0604020202020204" pitchFamily="34" charset="0"/>
                        <a:ea typeface="Times New Roman" panose="02020603050405020304" pitchFamily="18" charset="0"/>
                        <a:cs typeface="Arial" panose="020B0604020202020204" pitchFamily="3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8" name="Footer Placeholder 7"/>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Title 1"/>
          <p:cNvSpPr>
            <a:spLocks noGrp="1"/>
          </p:cNvSpPr>
          <p:nvPr>
            <p:ph type="title"/>
          </p:nvPr>
        </p:nvSpPr>
        <p:spPr/>
        <p:txBody>
          <a:bodyPr vert="horz" wrap="square" lIns="91440" tIns="45720" rIns="91440" bIns="45720" anchor="ctr" anchorCtr="0"/>
          <a:p>
            <a:pPr eaLnBrk="1" hangingPunct="1"/>
            <a:r>
              <a:rPr lang="az-Cyrl-AZ" altLang="en-US" dirty="0"/>
              <a:t>Є</a:t>
            </a:r>
            <a:r>
              <a:rPr lang="en-US" altLang="en-US" dirty="0"/>
              <a:t>-NFA</a:t>
            </a:r>
            <a:endParaRPr lang="en-US" altLang="en-US" dirty="0"/>
          </a:p>
        </p:txBody>
      </p:sp>
      <p:sp>
        <p:nvSpPr>
          <p:cNvPr id="3" name="Content Placeholder 2"/>
          <p:cNvSpPr>
            <a:spLocks noGrp="1"/>
          </p:cNvSpPr>
          <p:nvPr>
            <p:ph idx="1"/>
          </p:nvPr>
        </p:nvSpPr>
        <p:spPr/>
        <p:txBody>
          <a:bodyPr vert="horz" wrap="square" lIns="91440" tIns="45720" rIns="91440" bIns="45720" numCol="1" rtlCol="0" anchor="t" anchorCtr="0" compatLnSpc="1">
            <a:normAutofit fontScale="77500" lnSpcReduction="20000"/>
          </a:bodyPr>
          <a:lstStyle/>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Introduction</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Formal Definition</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Processing of string</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Extended Transition Function </a:t>
            </a:r>
            <a:r>
              <a:rPr kumimoji="0" lang="el-GR" sz="3200" b="0" i="0" u="none" strike="noStrike" kern="1200" cap="none" spc="0" normalizeH="0" baseline="0" noProof="0" dirty="0" smtClean="0">
                <a:ln>
                  <a:noFill/>
                </a:ln>
                <a:solidFill>
                  <a:schemeClr val="tx1"/>
                </a:solidFill>
                <a:effectLst/>
                <a:uLnTx/>
                <a:uFillTx/>
                <a:latin typeface="+mn-lt"/>
                <a:ea typeface="+mn-ea"/>
                <a:cs typeface="+mn-cs"/>
              </a:rPr>
              <a:t>δ*</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Wingdings" panose="05000000000000000000" pitchFamily="2" charset="2"/>
              <a:buChar char="Ø"/>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 What is </a:t>
            </a:r>
            <a:r>
              <a:rPr kumimoji="0" lang="az-Cyrl-AZ" sz="2800" b="0" i="0" u="none" strike="noStrike" kern="1200" cap="none" spc="0" normalizeH="0" baseline="0" noProof="0" dirty="0" smtClean="0">
                <a:ln>
                  <a:noFill/>
                </a:ln>
                <a:solidFill>
                  <a:schemeClr val="tx1"/>
                </a:solidFill>
                <a:effectLst/>
                <a:uLnTx/>
                <a:uFillTx/>
                <a:latin typeface="+mn-lt"/>
                <a:ea typeface="+mn-ea"/>
                <a:cs typeface="+mn-cs"/>
              </a:rPr>
              <a:t>Є</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-Closure? And its definition</a:t>
            </a:r>
            <a:endParaRPr kumimoji="0" lang="en-US" sz="28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Wingdings" panose="05000000000000000000" pitchFamily="2" charset="2"/>
              <a:buChar char="Ø"/>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 Definition of Extended Transition Function </a:t>
            </a:r>
            <a:r>
              <a:rPr kumimoji="0" lang="el-GR" sz="2800" b="0" i="0" u="none" strike="noStrike" kern="1200" cap="none" spc="0" normalizeH="0" baseline="0" noProof="0" dirty="0" smtClean="0">
                <a:ln>
                  <a:noFill/>
                </a:ln>
                <a:solidFill>
                  <a:schemeClr val="tx1"/>
                </a:solidFill>
                <a:effectLst/>
                <a:uLnTx/>
                <a:uFillTx/>
                <a:latin typeface="+mn-lt"/>
                <a:ea typeface="+mn-ea"/>
                <a:cs typeface="+mn-cs"/>
              </a:rPr>
              <a:t>δ*</a:t>
            </a:r>
            <a:endParaRPr kumimoji="0" lang="en-US" sz="2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Languages of </a:t>
            </a:r>
            <a:r>
              <a:rPr kumimoji="0" lang="az-Cyrl-AZ" sz="3200" b="0" i="0" u="none" strike="noStrike" kern="1200" cap="none" spc="0" normalizeH="0" baseline="0" noProof="0" dirty="0" smtClean="0">
                <a:ln>
                  <a:noFill/>
                </a:ln>
                <a:solidFill>
                  <a:schemeClr val="tx1"/>
                </a:solidFill>
                <a:effectLst/>
                <a:uLnTx/>
                <a:uFillTx/>
                <a:latin typeface="+mn-lt"/>
                <a:ea typeface="+mn-ea"/>
                <a:cs typeface="+mn-cs"/>
              </a:rPr>
              <a:t>Є</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-NFA </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Conversion of </a:t>
            </a:r>
            <a:r>
              <a:rPr kumimoji="0" lang="az-Cyrl-AZ" sz="3200" b="0" i="0" u="none" strike="noStrike" kern="1200" cap="none" spc="0" normalizeH="0" baseline="0" noProof="0" dirty="0" smtClean="0">
                <a:ln>
                  <a:noFill/>
                </a:ln>
                <a:solidFill>
                  <a:schemeClr val="tx1"/>
                </a:solidFill>
                <a:effectLst/>
                <a:uLnTx/>
                <a:uFillTx/>
                <a:latin typeface="+mn-lt"/>
                <a:ea typeface="+mn-ea"/>
                <a:cs typeface="+mn-cs"/>
              </a:rPr>
              <a:t>Є</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-NFA to DFA using subset construction Scheme by Lazy evaluation</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Wingdings" panose="05000000000000000000" pitchFamily="2" charset="2"/>
              <a:buChar char="Ø"/>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Algorithm</a:t>
            </a:r>
            <a:endParaRPr kumimoji="0" lang="en-US" sz="28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Wingdings" panose="05000000000000000000" pitchFamily="2" charset="2"/>
              <a:buChar char="Ø"/>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Examples	</a:t>
            </a:r>
            <a:endParaRPr kumimoji="0" lang="en-US" sz="2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Theorems</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en-US" sz="28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en-US" sz="2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2" name="Footer Placeholder 1"/>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Title 1"/>
          <p:cNvSpPr>
            <a:spLocks noGrp="1"/>
          </p:cNvSpPr>
          <p:nvPr>
            <p:ph type="title"/>
          </p:nvPr>
        </p:nvSpPr>
        <p:spPr/>
        <p:txBody>
          <a:bodyPr vert="horz" wrap="square" lIns="91440" tIns="45720" rIns="91440" bIns="45720" anchor="ctr" anchorCtr="0"/>
          <a:p>
            <a:pPr eaLnBrk="1" hangingPunct="1"/>
            <a:r>
              <a:rPr lang="en-US" altLang="en-US" dirty="0"/>
              <a:t>Introduction</a:t>
            </a:r>
            <a:endParaRPr lang="en-US" altLang="en-US" dirty="0"/>
          </a:p>
        </p:txBody>
      </p:sp>
      <p:sp>
        <p:nvSpPr>
          <p:cNvPr id="3" name="Content Placeholder 2"/>
          <p:cNvSpPr>
            <a:spLocks noGrp="1"/>
          </p:cNvSpPr>
          <p:nvPr>
            <p:ph idx="1"/>
          </p:nvPr>
        </p:nvSpPr>
        <p:spPr/>
        <p:txBody>
          <a:bodyPr vert="horz" wrap="square" lIns="91440" tIns="45720" rIns="91440" bIns="45720" numCol="1" rtlCol="0" anchor="t" anchorCtr="0" compatLnSpc="1">
            <a:normAutofit lnSpcReduction="10000"/>
          </a:bodyPr>
          <a:lstStyle/>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Whenever a Transition takes place from one state to another State we say that NFA or DFA has taken a move and input is consumed and the input pointer is advanced to Next char.</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But some times it necessary to take a transition spontaneously without consuming or reading the input. NFA with this feature is called as </a:t>
            </a:r>
            <a:r>
              <a:rPr kumimoji="0" lang="az-Cyrl-AZ" sz="3200" b="0" i="0" u="none" strike="noStrike" kern="1200" cap="none" spc="0" normalizeH="0" baseline="0" noProof="0" dirty="0" smtClean="0">
                <a:ln>
                  <a:noFill/>
                </a:ln>
                <a:solidFill>
                  <a:schemeClr val="tx1"/>
                </a:solidFill>
                <a:effectLst/>
                <a:uLnTx/>
                <a:uFillTx/>
                <a:latin typeface="+mn-lt"/>
                <a:ea typeface="+mn-ea"/>
                <a:cs typeface="+mn-cs"/>
              </a:rPr>
              <a:t>Є</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-NFA. This gives an added programming convenience to finite automata.</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2" name="Footer Placeholder 1"/>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Title 1"/>
          <p:cNvSpPr>
            <a:spLocks noGrp="1"/>
          </p:cNvSpPr>
          <p:nvPr>
            <p:ph type="title"/>
          </p:nvPr>
        </p:nvSpPr>
        <p:spPr/>
        <p:txBody>
          <a:bodyPr vert="horz" wrap="square" lIns="91440" tIns="45720" rIns="91440" bIns="45720" anchor="ctr" anchorCtr="0"/>
          <a:p>
            <a:pPr eaLnBrk="1" hangingPunct="1"/>
            <a:r>
              <a:rPr lang="en-US" altLang="en-US" dirty="0"/>
              <a:t>Formal Definition</a:t>
            </a:r>
            <a:endParaRPr lang="en-US" altLang="en-US" dirty="0"/>
          </a:p>
        </p:txBody>
      </p:sp>
      <p:sp>
        <p:nvSpPr>
          <p:cNvPr id="30723" name="Content Placeholder 2"/>
          <p:cNvSpPr>
            <a:spLocks noGrp="1"/>
          </p:cNvSpPr>
          <p:nvPr>
            <p:ph idx="1"/>
          </p:nvPr>
        </p:nvSpPr>
        <p:spPr/>
        <p:txBody>
          <a:bodyPr vert="horz" wrap="square" lIns="91440" tIns="45720" rIns="91440" bIns="45720" anchor="t" anchorCtr="0"/>
          <a:p>
            <a:pPr eaLnBrk="1" hangingPunct="1">
              <a:buNone/>
            </a:pPr>
            <a:r>
              <a:rPr lang="en-US" altLang="en-US" dirty="0"/>
              <a:t>Formally we represent </a:t>
            </a:r>
            <a:r>
              <a:rPr lang="az-Cyrl-AZ" altLang="en-US" dirty="0"/>
              <a:t>Є</a:t>
            </a:r>
            <a:r>
              <a:rPr lang="en-US" altLang="en-US" dirty="0"/>
              <a:t>-NFA E by E={Q</a:t>
            </a:r>
            <a:r>
              <a:rPr lang="en-GB" altLang="en-US" baseline="-25000" dirty="0"/>
              <a:t>E</a:t>
            </a:r>
            <a:r>
              <a:rPr lang="en-US" altLang="en-US" dirty="0"/>
              <a:t>,∑,</a:t>
            </a:r>
            <a:r>
              <a:rPr lang="el-GR" altLang="en-US" dirty="0"/>
              <a:t>δ</a:t>
            </a:r>
            <a:r>
              <a:rPr lang="en-GB" altLang="el-GR" baseline="-25000" dirty="0"/>
              <a:t>E</a:t>
            </a:r>
            <a:r>
              <a:rPr lang="en-US" altLang="en-US" dirty="0"/>
              <a:t>, q0, F</a:t>
            </a:r>
            <a:r>
              <a:rPr lang="en-GB" altLang="en-US" baseline="-25000" dirty="0"/>
              <a:t>E</a:t>
            </a:r>
            <a:r>
              <a:rPr lang="en-US" altLang="en-US" dirty="0"/>
              <a:t>} where all components have their same interpretation as for an NFA, except that </a:t>
            </a:r>
            <a:r>
              <a:rPr lang="el-GR" altLang="en-US" dirty="0"/>
              <a:t>δ</a:t>
            </a:r>
            <a:r>
              <a:rPr lang="en-GB" altLang="el-GR" baseline="-25000" dirty="0"/>
              <a:t>E</a:t>
            </a:r>
            <a:r>
              <a:rPr lang="en-US" altLang="en-US" dirty="0"/>
              <a:t> is now a function that takes as arguments:</a:t>
            </a:r>
            <a:endParaRPr lang="en-US" altLang="en-US" dirty="0"/>
          </a:p>
          <a:p>
            <a:pPr eaLnBrk="1" hangingPunct="1">
              <a:buNone/>
            </a:pPr>
            <a:r>
              <a:rPr lang="en-US" altLang="en-US" dirty="0"/>
              <a:t>     1. A state in Q</a:t>
            </a:r>
            <a:r>
              <a:rPr lang="en-GB" altLang="en-US" baseline="-25000" dirty="0"/>
              <a:t>E</a:t>
            </a:r>
            <a:r>
              <a:rPr lang="en-US" altLang="en-US" dirty="0"/>
              <a:t>and</a:t>
            </a:r>
            <a:endParaRPr lang="en-US" altLang="en-US" dirty="0"/>
          </a:p>
          <a:p>
            <a:pPr eaLnBrk="1" hangingPunct="1">
              <a:buNone/>
            </a:pPr>
            <a:r>
              <a:rPr lang="en-US" altLang="en-US" dirty="0"/>
              <a:t>     2. A member of ∑ </a:t>
            </a:r>
            <a:r>
              <a:rPr lang="en-US" altLang="en-US" dirty="0">
                <a:latin typeface="Times New Roman" panose="02020603050405020304" pitchFamily="18" charset="0"/>
                <a:cs typeface="Times New Roman" panose="02020603050405020304" pitchFamily="18" charset="0"/>
              </a:rPr>
              <a:t>Ụ {</a:t>
            </a:r>
            <a:r>
              <a:rPr lang="az-Cyrl-AZ" altLang="en-US" dirty="0"/>
              <a:t>Є</a:t>
            </a:r>
            <a:r>
              <a:rPr lang="en-US" altLang="en-US" dirty="0"/>
              <a:t> }, that is either an input symbol or the symbol </a:t>
            </a:r>
            <a:r>
              <a:rPr lang="az-Cyrl-AZ" altLang="en-US" dirty="0"/>
              <a:t>Є</a:t>
            </a:r>
            <a:r>
              <a:rPr lang="en-US" altLang="en-US" dirty="0"/>
              <a:t>.</a:t>
            </a:r>
            <a:endParaRPr lang="en-US" altLang="en-US" dirty="0"/>
          </a:p>
        </p:txBody>
      </p:sp>
      <p:sp>
        <p:nvSpPr>
          <p:cNvPr id="2" name="Footer Placeholder 1"/>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79400" y="122555"/>
            <a:ext cx="8407400" cy="1143000"/>
          </a:xfrm>
        </p:spPr>
        <p:txBody>
          <a:bodyPr vert="horz" wrap="square" lIns="91440" tIns="45720" rIns="91440" bIns="45720" numCol="1" rtlCol="0" anchor="ctr" anchorCtr="0" compatLnSpc="1">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4400" b="0" i="0" u="none" strike="noStrike" kern="1200" cap="none" spc="0" normalizeH="0" baseline="0" noProof="0" dirty="0" smtClean="0">
                <a:ln>
                  <a:noFill/>
                </a:ln>
                <a:solidFill>
                  <a:schemeClr val="tx1"/>
                </a:solidFill>
                <a:effectLst/>
                <a:uLnTx/>
                <a:uFillTx/>
                <a:latin typeface="+mj-lt"/>
                <a:ea typeface="+mj-ea"/>
                <a:cs typeface="+mj-cs"/>
              </a:rPr>
              <a:t>Processing of string and Extended Transition Function </a:t>
            </a:r>
            <a:r>
              <a:rPr kumimoji="0" lang="el-GR" sz="4400" b="0" i="0" u="none" strike="noStrike" kern="1200" cap="none" spc="0" normalizeH="0" baseline="0" noProof="0" dirty="0" smtClean="0">
                <a:ln>
                  <a:noFill/>
                </a:ln>
                <a:solidFill>
                  <a:srgbClr val="FF0000"/>
                </a:solidFill>
                <a:effectLst/>
                <a:uLnTx/>
                <a:uFillTx/>
                <a:latin typeface="+mj-lt"/>
                <a:ea typeface="+mj-ea"/>
                <a:cs typeface="+mj-cs"/>
              </a:rPr>
              <a:t>δ*</a:t>
            </a:r>
            <a:endParaRPr kumimoji="0" lang="el-GR" sz="4400" b="0" i="0" u="none" strike="noStrike" kern="1200" cap="none" spc="0" normalizeH="0" baseline="0" noProof="0" dirty="0" smtClean="0">
              <a:ln>
                <a:noFill/>
              </a:ln>
              <a:solidFill>
                <a:srgbClr val="FF0000"/>
              </a:solidFill>
              <a:effectLst/>
              <a:uLnTx/>
              <a:uFillTx/>
              <a:latin typeface="+mj-lt"/>
              <a:ea typeface="+mj-ea"/>
              <a:cs typeface="+mj-cs"/>
            </a:endParaRPr>
          </a:p>
        </p:txBody>
      </p:sp>
      <p:sp>
        <p:nvSpPr>
          <p:cNvPr id="3" name="Content Placeholder 2"/>
          <p:cNvSpPr>
            <a:spLocks noGrp="1"/>
          </p:cNvSpPr>
          <p:nvPr>
            <p:ph idx="1"/>
          </p:nvPr>
        </p:nvSpPr>
        <p:spPr>
          <a:xfrm>
            <a:off x="457200" y="2286000"/>
            <a:ext cx="8229600" cy="4525963"/>
          </a:xfrm>
        </p:spPr>
        <p:txBody>
          <a:bodyPr vert="horz" wrap="square" lIns="91440" tIns="45720" rIns="91440" bIns="45720" numCol="1" rtlCol="0" anchor="t" anchorCtr="0" compatLnSpc="1">
            <a:normAutofit lnSpcReduction="10000"/>
          </a:bodyPr>
          <a:lstStyle/>
          <a:p>
            <a:pPr marL="27305" marR="0" lvl="0" indent="-27305" algn="just"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az-Cyrl-AZ" sz="3200" b="0" i="0" u="none" strike="noStrike" kern="1200" cap="none" spc="0" normalizeH="0" baseline="0" noProof="0" dirty="0" smtClean="0">
                <a:ln>
                  <a:noFill/>
                </a:ln>
                <a:solidFill>
                  <a:srgbClr val="FF0000"/>
                </a:solidFill>
                <a:effectLst/>
                <a:uLnTx/>
                <a:uFillTx/>
                <a:latin typeface="+mn-lt"/>
                <a:ea typeface="+mn-ea"/>
                <a:cs typeface="+mn-cs"/>
              </a:rPr>
              <a:t>Є</a:t>
            </a:r>
            <a:r>
              <a:rPr kumimoji="0" lang="en-US" sz="3200" b="0" i="0" u="none" strike="noStrike" kern="1200" cap="none" spc="0" normalizeH="0" baseline="0" noProof="0" dirty="0" smtClean="0">
                <a:ln>
                  <a:noFill/>
                </a:ln>
                <a:solidFill>
                  <a:srgbClr val="FF0000"/>
                </a:solidFill>
                <a:effectLst/>
                <a:uLnTx/>
                <a:uFillTx/>
                <a:latin typeface="+mn-lt"/>
                <a:ea typeface="+mn-ea"/>
                <a:cs typeface="+mn-cs"/>
              </a:rPr>
              <a:t>-closure</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of any </a:t>
            </a:r>
            <a:r>
              <a:rPr kumimoji="0" lang="en-US" sz="3200" b="1" i="0" u="none" strike="noStrike" kern="1200" cap="none" spc="0" normalizeH="0" baseline="0" noProof="0" dirty="0" smtClean="0">
                <a:ln>
                  <a:noFill/>
                </a:ln>
                <a:solidFill>
                  <a:srgbClr val="FF0000"/>
                </a:solidFill>
                <a:effectLst/>
                <a:uLnTx/>
                <a:uFillTx/>
                <a:latin typeface="+mn-lt"/>
                <a:ea typeface="+mn-ea"/>
                <a:cs typeface="+mn-cs"/>
              </a:rPr>
              <a:t>state q</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contains a </a:t>
            </a:r>
            <a:r>
              <a:rPr kumimoji="0" lang="en-US" sz="3200" b="1" i="0" u="none" strike="noStrike" kern="1200" cap="none" spc="0" normalizeH="0" baseline="0" noProof="0" dirty="0" smtClean="0">
                <a:ln>
                  <a:noFill/>
                </a:ln>
                <a:solidFill>
                  <a:srgbClr val="FF0000"/>
                </a:solidFill>
                <a:effectLst/>
                <a:uLnTx/>
                <a:uFillTx/>
                <a:latin typeface="+mn-lt"/>
                <a:ea typeface="+mn-ea"/>
                <a:cs typeface="+mn-cs"/>
              </a:rPr>
              <a:t>state q</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and </a:t>
            </a:r>
            <a:r>
              <a:rPr kumimoji="0" lang="en-US" sz="3200" b="1" i="0" u="none" strike="noStrike" kern="1200" cap="none" spc="0" normalizeH="0" baseline="0" noProof="0" dirty="0" smtClean="0">
                <a:ln>
                  <a:noFill/>
                </a:ln>
                <a:solidFill>
                  <a:srgbClr val="FF0000"/>
                </a:solidFill>
                <a:effectLst/>
                <a:uLnTx/>
                <a:uFillTx/>
                <a:latin typeface="+mn-lt"/>
                <a:ea typeface="+mn-ea"/>
                <a:cs typeface="+mn-cs"/>
              </a:rPr>
              <a:t>all the states from q</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that are </a:t>
            </a:r>
            <a:r>
              <a:rPr kumimoji="0" lang="en-US" sz="3200" b="1" i="0" u="none" strike="noStrike" kern="1200" cap="none" spc="0" normalizeH="0" baseline="0" noProof="0" dirty="0" smtClean="0">
                <a:ln>
                  <a:noFill/>
                </a:ln>
                <a:solidFill>
                  <a:srgbClr val="FF0000"/>
                </a:solidFill>
                <a:effectLst/>
                <a:uLnTx/>
                <a:uFillTx/>
                <a:latin typeface="+mn-lt"/>
                <a:ea typeface="+mn-ea"/>
                <a:cs typeface="+mn-cs"/>
              </a:rPr>
              <a:t>reachable  with only </a:t>
            </a:r>
            <a:r>
              <a:rPr kumimoji="0" lang="az-Cyrl-AZ" sz="3200" b="1" i="0" u="none" strike="noStrike" kern="1200" cap="none" spc="0" normalizeH="0" baseline="0" noProof="0" dirty="0" smtClean="0">
                <a:ln>
                  <a:noFill/>
                </a:ln>
                <a:solidFill>
                  <a:srgbClr val="FF0000"/>
                </a:solidFill>
                <a:effectLst/>
                <a:uLnTx/>
                <a:uFillTx/>
                <a:latin typeface="+mn-lt"/>
                <a:ea typeface="+mn-ea"/>
                <a:cs typeface="+mn-cs"/>
              </a:rPr>
              <a:t>Є</a:t>
            </a:r>
            <a:r>
              <a:rPr kumimoji="0" lang="en-US" sz="3200" b="1" i="0" u="none" strike="noStrike" kern="1200" cap="none" spc="0" normalizeH="0" baseline="0" noProof="0" dirty="0" smtClean="0">
                <a:ln>
                  <a:noFill/>
                </a:ln>
                <a:solidFill>
                  <a:srgbClr val="FF0000"/>
                </a:solidFill>
                <a:effectLst/>
                <a:uLnTx/>
                <a:uFillTx/>
                <a:latin typeface="+mn-lt"/>
                <a:ea typeface="+mn-ea"/>
                <a:cs typeface="+mn-cs"/>
              </a:rPr>
              <a:t>-transition.</a:t>
            </a:r>
            <a:endParaRPr kumimoji="0" lang="en-US" sz="3200" b="1" i="0" u="none" strike="noStrike" kern="1200" cap="none" spc="0" normalizeH="0" baseline="0" noProof="0" dirty="0" smtClean="0">
              <a:ln>
                <a:noFill/>
              </a:ln>
              <a:solidFill>
                <a:srgbClr val="FF0000"/>
              </a:solidFill>
              <a:effectLst/>
              <a:uLnTx/>
              <a:uFillTx/>
              <a:latin typeface="+mn-lt"/>
              <a:ea typeface="+mn-ea"/>
              <a:cs typeface="+mn-cs"/>
            </a:endParaRPr>
          </a:p>
          <a:p>
            <a:pPr marL="22860" marR="0" lvl="0" indent="-22860" algn="just"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GB" altLang="en-US" sz="3200" b="0" i="0" u="none" strike="noStrike" kern="1200" cap="none" spc="0" normalizeH="0" baseline="0" noProof="0" dirty="0" smtClean="0">
                <a:ln>
                  <a:noFill/>
                </a:ln>
                <a:solidFill>
                  <a:schemeClr val="tx1"/>
                </a:solidFill>
                <a:effectLst/>
                <a:uLnTx/>
                <a:uFillTx/>
                <a:latin typeface="+mn-lt"/>
                <a:ea typeface="+mn-ea"/>
                <a:cs typeface="+mn-cs"/>
              </a:rPr>
              <a:t>Formally we can </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define </a:t>
            </a:r>
            <a:r>
              <a:rPr kumimoji="0" lang="az-Cyrl-AZ" sz="3200" b="1" i="0" u="none" strike="noStrike" kern="1200" cap="none" spc="0" normalizeH="0" baseline="0" noProof="0" dirty="0" smtClean="0">
                <a:ln>
                  <a:noFill/>
                </a:ln>
                <a:solidFill>
                  <a:srgbClr val="FF0000"/>
                </a:solidFill>
                <a:effectLst/>
                <a:uLnTx/>
                <a:uFillTx/>
                <a:latin typeface="+mn-lt"/>
                <a:ea typeface="+mn-ea"/>
                <a:cs typeface="+mn-cs"/>
              </a:rPr>
              <a:t>Є</a:t>
            </a:r>
            <a:r>
              <a:rPr kumimoji="0" lang="en-US" sz="3200" b="1" i="0" u="none" strike="noStrike" kern="1200" cap="none" spc="0" normalizeH="0" baseline="0" noProof="0" dirty="0" smtClean="0">
                <a:ln>
                  <a:noFill/>
                </a:ln>
                <a:solidFill>
                  <a:srgbClr val="FF0000"/>
                </a:solidFill>
                <a:effectLst/>
                <a:uLnTx/>
                <a:uFillTx/>
                <a:latin typeface="+mn-lt"/>
                <a:ea typeface="+mn-ea"/>
                <a:cs typeface="+mn-cs"/>
              </a:rPr>
              <a:t>-closure</a:t>
            </a:r>
            <a:r>
              <a:rPr kumimoji="0" lang="en-GB" altLang="en-US" sz="3200" b="1" i="0" u="none" strike="noStrike" kern="1200" cap="none" spc="0" normalizeH="0" baseline="0" noProof="0" dirty="0" smtClean="0">
                <a:ln>
                  <a:noFill/>
                </a:ln>
                <a:solidFill>
                  <a:srgbClr val="FF0000"/>
                </a:solidFill>
                <a:effectLst/>
                <a:uLnTx/>
                <a:uFillTx/>
                <a:latin typeface="+mn-lt"/>
                <a:ea typeface="+mn-ea"/>
                <a:cs typeface="+mn-cs"/>
              </a:rPr>
              <a:t> </a:t>
            </a:r>
            <a:r>
              <a:rPr kumimoji="0" lang="en-GB" altLang="en-US" sz="3200" b="1" i="0" u="none" strike="noStrike" kern="1200" cap="none" spc="0" normalizeH="0" baseline="0" noProof="0" dirty="0" smtClean="0">
                <a:ln>
                  <a:noFill/>
                </a:ln>
                <a:solidFill>
                  <a:schemeClr val="tx1"/>
                </a:solidFill>
                <a:effectLst/>
                <a:uLnTx/>
                <a:uFillTx/>
                <a:latin typeface="+mn-lt"/>
                <a:ea typeface="+mn-ea"/>
                <a:cs typeface="+mn-cs"/>
              </a:rPr>
              <a:t>of state</a:t>
            </a:r>
            <a:r>
              <a:rPr kumimoji="0" lang="en-GB" altLang="en-US" sz="3200" b="1" i="0" u="none" strike="noStrike" kern="1200" cap="none" spc="0" normalizeH="0" baseline="0" noProof="0" dirty="0" smtClean="0">
                <a:ln>
                  <a:noFill/>
                </a:ln>
                <a:solidFill>
                  <a:srgbClr val="FF0000"/>
                </a:solidFill>
                <a:effectLst/>
                <a:uLnTx/>
                <a:uFillTx/>
                <a:latin typeface="+mn-lt"/>
                <a:ea typeface="+mn-ea"/>
                <a:cs typeface="+mn-cs"/>
              </a:rPr>
              <a:t> q </a:t>
            </a:r>
            <a:r>
              <a:rPr kumimoji="0" lang="en-US" sz="3200" b="1" i="0" u="none" strike="noStrike" kern="1200" cap="none" spc="0" normalizeH="0" baseline="0" noProof="0" dirty="0" smtClean="0">
                <a:ln>
                  <a:noFill/>
                </a:ln>
                <a:solidFill>
                  <a:srgbClr val="FF0000"/>
                </a:solidFill>
                <a:effectLst/>
                <a:uLnTx/>
                <a:uFillTx/>
                <a:latin typeface="+mn-lt"/>
                <a:ea typeface="+mn-ea"/>
                <a:cs typeface="+mn-cs"/>
              </a:rPr>
              <a:t> </a:t>
            </a:r>
            <a:r>
              <a:rPr kumimoji="0" lang="en-GB" altLang="en-US" sz="3200" b="1" i="0" u="none" strike="noStrike" kern="1200" cap="none" spc="0" normalizeH="0" baseline="0" noProof="0" dirty="0" smtClean="0">
                <a:ln>
                  <a:noFill/>
                </a:ln>
                <a:solidFill>
                  <a:srgbClr val="FF0000"/>
                </a:solidFill>
                <a:effectLst/>
                <a:uLnTx/>
                <a:uFillTx/>
                <a:latin typeface="+mn-lt"/>
                <a:ea typeface="+mn-ea"/>
                <a:cs typeface="+mn-cs"/>
              </a:rPr>
              <a:t>- </a:t>
            </a:r>
            <a:r>
              <a:rPr kumimoji="0" lang="en-US" sz="3200" b="1" i="0" u="none" strike="noStrike" kern="1200" cap="none" spc="0" normalizeH="0" baseline="0" noProof="0" dirty="0" smtClean="0">
                <a:ln>
                  <a:noFill/>
                </a:ln>
                <a:solidFill>
                  <a:srgbClr val="FF0000"/>
                </a:solidFill>
                <a:effectLst/>
                <a:uLnTx/>
                <a:uFillTx/>
                <a:latin typeface="+mn-lt"/>
                <a:ea typeface="+mn-ea"/>
                <a:cs typeface="+mn-cs"/>
              </a:rPr>
              <a:t>ECLOSE(q)</a:t>
            </a:r>
            <a:r>
              <a:rPr kumimoji="0" lang="en-GB" altLang="en-US" sz="3200" b="1" i="0" u="none" strike="noStrike" kern="1200" cap="none" spc="0" normalizeH="0" baseline="0" noProof="0" dirty="0" smtClean="0">
                <a:ln>
                  <a:noFill/>
                </a:ln>
                <a:solidFill>
                  <a:srgbClr val="FF0000"/>
                </a:solidFill>
                <a:effectLst/>
                <a:uLnTx/>
                <a:uFillTx/>
                <a:latin typeface="+mn-lt"/>
                <a:ea typeface="+mn-ea"/>
                <a:cs typeface="+mn-cs"/>
              </a:rPr>
              <a:t> </a:t>
            </a:r>
            <a:r>
              <a:rPr kumimoji="0" lang="en-GB" altLang="en-US" sz="3200" b="1" i="0" u="none" strike="noStrike" kern="1200" cap="none" spc="0" normalizeH="0" baseline="0" noProof="0" dirty="0" smtClean="0">
                <a:ln>
                  <a:noFill/>
                </a:ln>
                <a:solidFill>
                  <a:schemeClr val="tx1"/>
                </a:solidFill>
                <a:effectLst/>
                <a:uLnTx/>
                <a:uFillTx/>
                <a:latin typeface="+mn-lt"/>
                <a:ea typeface="+mn-ea"/>
                <a:cs typeface="+mn-cs"/>
              </a:rPr>
              <a:t>is</a:t>
            </a:r>
            <a:r>
              <a:rPr kumimoji="0" lang="en-US" sz="3200" b="1" i="0" u="none" strike="noStrike" kern="1200" cap="none" spc="0" normalizeH="0" baseline="0" noProof="0" dirty="0" smtClean="0">
                <a:ln>
                  <a:noFill/>
                </a:ln>
                <a:solidFill>
                  <a:srgbClr val="FF0000"/>
                </a:solidFill>
                <a:effectLst/>
                <a:uLnTx/>
                <a:uFillTx/>
                <a:latin typeface="+mn-lt"/>
                <a:ea typeface="+mn-ea"/>
                <a:cs typeface="+mn-cs"/>
              </a:rPr>
              <a:t> </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recursively as follows</a:t>
            </a:r>
            <a:r>
              <a:rPr kumimoji="0" lang="en-GB" altLang="en-US" sz="3200" b="0" i="0" u="none" strike="noStrike" kern="1200" cap="none" spc="0" normalizeH="0" baseline="0" noProof="0" dirty="0" smtClean="0">
                <a:ln>
                  <a:noFill/>
                </a:ln>
                <a:solidFill>
                  <a:schemeClr val="tx1"/>
                </a:solidFill>
                <a:effectLst/>
                <a:uLnTx/>
                <a:uFillTx/>
                <a:latin typeface="+mn-lt"/>
                <a:ea typeface="+mn-ea"/>
                <a:cs typeface="+mn-cs"/>
              </a:rPr>
              <a:t> : </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0" algn="just"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3200" b="0" i="0" u="none" strike="noStrike" kern="1200" cap="none" spc="0" normalizeH="0" baseline="0" noProof="0" dirty="0" smtClean="0">
                <a:ln>
                  <a:noFill/>
                </a:ln>
                <a:solidFill>
                  <a:srgbClr val="FF0000"/>
                </a:solidFill>
                <a:effectLst/>
                <a:uLnTx/>
                <a:uFillTx/>
                <a:latin typeface="+mn-lt"/>
                <a:ea typeface="+mn-ea"/>
                <a:cs typeface="+mn-cs"/>
              </a:rPr>
              <a:t>Basis</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 </a:t>
            </a:r>
            <a:r>
              <a:rPr kumimoji="0" lang="en-US" sz="3200" b="1" i="0" u="none" strike="noStrike" kern="1200" cap="none" spc="0" normalizeH="0" baseline="0" noProof="0" dirty="0" smtClean="0">
                <a:ln>
                  <a:noFill/>
                </a:ln>
                <a:solidFill>
                  <a:srgbClr val="FF0000"/>
                </a:solidFill>
                <a:effectLst/>
                <a:uLnTx/>
                <a:uFillTx/>
                <a:latin typeface="+mn-lt"/>
                <a:ea typeface="+mn-ea"/>
                <a:cs typeface="+mn-cs"/>
              </a:rPr>
              <a:t>State q</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is in </a:t>
            </a:r>
            <a:r>
              <a:rPr kumimoji="0" lang="en-US" sz="3200" b="1" i="0" u="none" strike="noStrike" kern="1200" cap="none" spc="0" normalizeH="0" baseline="0" noProof="0" dirty="0" smtClean="0">
                <a:ln>
                  <a:noFill/>
                </a:ln>
                <a:solidFill>
                  <a:srgbClr val="FF0000"/>
                </a:solidFill>
                <a:effectLst/>
                <a:uLnTx/>
                <a:uFillTx/>
                <a:latin typeface="+mn-lt"/>
                <a:ea typeface="+mn-ea"/>
                <a:cs typeface="+mn-cs"/>
              </a:rPr>
              <a:t>ECLOSE(q).</a:t>
            </a:r>
            <a:endParaRPr kumimoji="0" lang="en-US" sz="3200" b="1" i="0" u="none" strike="noStrike" kern="1200" cap="none" spc="0" normalizeH="0" baseline="0" noProof="0" dirty="0" smtClean="0">
              <a:ln>
                <a:noFill/>
              </a:ln>
              <a:solidFill>
                <a:srgbClr val="FF0000"/>
              </a:solidFill>
              <a:effectLst/>
              <a:uLnTx/>
              <a:uFillTx/>
              <a:latin typeface="+mn-lt"/>
              <a:ea typeface="+mn-ea"/>
              <a:cs typeface="+mn-cs"/>
            </a:endParaRPr>
          </a:p>
          <a:p>
            <a:pPr marL="342900" marR="0" lvl="0" indent="0" algn="just"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3200" b="0" i="0" u="none" strike="noStrike" kern="1200" cap="none" spc="0" normalizeH="0" baseline="0" noProof="0" dirty="0" smtClean="0">
                <a:ln>
                  <a:noFill/>
                </a:ln>
                <a:solidFill>
                  <a:srgbClr val="FF0000"/>
                </a:solidFill>
                <a:effectLst/>
                <a:uLnTx/>
                <a:uFillTx/>
                <a:latin typeface="+mn-lt"/>
                <a:ea typeface="+mn-ea"/>
                <a:cs typeface="+mn-cs"/>
              </a:rPr>
              <a:t>INDUCTION</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 If </a:t>
            </a:r>
            <a:r>
              <a:rPr kumimoji="0" lang="en-US" sz="3200" b="1" i="0" u="none" strike="noStrike" kern="1200" cap="none" spc="0" normalizeH="0" baseline="0" noProof="0" dirty="0" smtClean="0">
                <a:ln>
                  <a:noFill/>
                </a:ln>
                <a:solidFill>
                  <a:srgbClr val="FF0000"/>
                </a:solidFill>
                <a:effectLst/>
                <a:uLnTx/>
                <a:uFillTx/>
                <a:latin typeface="+mn-lt"/>
                <a:ea typeface="+mn-ea"/>
                <a:cs typeface="+mn-cs"/>
              </a:rPr>
              <a:t>state p</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is </a:t>
            </a:r>
            <a:r>
              <a:rPr kumimoji="0" lang="en-US" sz="3200" b="1" i="0" u="none" strike="noStrike" kern="1200" cap="none" spc="0" normalizeH="0" baseline="0" noProof="0" dirty="0" smtClean="0">
                <a:ln>
                  <a:noFill/>
                </a:ln>
                <a:solidFill>
                  <a:srgbClr val="FF0000"/>
                </a:solidFill>
                <a:effectLst/>
                <a:uLnTx/>
                <a:uFillTx/>
                <a:latin typeface="+mn-lt"/>
                <a:ea typeface="+mn-ea"/>
                <a:cs typeface="+mn-cs"/>
              </a:rPr>
              <a:t>ECLOSE(q)</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and there is transition from </a:t>
            </a:r>
            <a:r>
              <a:rPr kumimoji="0" lang="en-US" sz="3200" b="1" i="0" u="none" strike="noStrike" kern="1200" cap="none" spc="0" normalizeH="0" baseline="0" noProof="0" dirty="0" smtClean="0">
                <a:ln>
                  <a:noFill/>
                </a:ln>
                <a:solidFill>
                  <a:srgbClr val="FF0000"/>
                </a:solidFill>
                <a:effectLst/>
                <a:uLnTx/>
                <a:uFillTx/>
                <a:latin typeface="+mn-lt"/>
                <a:ea typeface="+mn-ea"/>
                <a:cs typeface="+mn-cs"/>
              </a:rPr>
              <a:t>state p</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to </a:t>
            </a:r>
            <a:r>
              <a:rPr kumimoji="0" lang="en-US" sz="3200" b="1" i="0" u="none" strike="noStrike" kern="1200" cap="none" spc="0" normalizeH="0" baseline="0" noProof="0" dirty="0" smtClean="0">
                <a:ln>
                  <a:noFill/>
                </a:ln>
                <a:solidFill>
                  <a:srgbClr val="FF0000"/>
                </a:solidFill>
                <a:effectLst/>
                <a:uLnTx/>
                <a:uFillTx/>
                <a:latin typeface="+mn-lt"/>
                <a:ea typeface="+mn-ea"/>
                <a:cs typeface="+mn-cs"/>
              </a:rPr>
              <a:t>state r </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labeled </a:t>
            </a:r>
            <a:r>
              <a:rPr kumimoji="0" lang="en-US" sz="3200" b="1" i="0" u="none" strike="noStrike" kern="1200" cap="none" spc="0" normalizeH="0" baseline="0" noProof="0" dirty="0" smtClean="0">
                <a:ln>
                  <a:noFill/>
                </a:ln>
                <a:solidFill>
                  <a:srgbClr val="FF0000"/>
                </a:solidFill>
                <a:effectLst/>
                <a:uLnTx/>
                <a:uFillTx/>
                <a:latin typeface="+mn-lt"/>
                <a:ea typeface="+mn-ea"/>
                <a:cs typeface="+mn-cs"/>
              </a:rPr>
              <a:t>Є</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then </a:t>
            </a:r>
            <a:r>
              <a:rPr kumimoji="0" lang="en-US" sz="3200" b="1" i="0" u="none" strike="noStrike" kern="1200" cap="none" spc="0" normalizeH="0" baseline="0" noProof="0" dirty="0" smtClean="0">
                <a:ln>
                  <a:noFill/>
                </a:ln>
                <a:solidFill>
                  <a:srgbClr val="FF0000"/>
                </a:solidFill>
                <a:effectLst/>
                <a:uLnTx/>
                <a:uFillTx/>
                <a:latin typeface="+mn-lt"/>
                <a:ea typeface="+mn-ea"/>
                <a:cs typeface="+mn-cs"/>
              </a:rPr>
              <a:t>r </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is in </a:t>
            </a:r>
            <a:r>
              <a:rPr kumimoji="0" lang="en-US" sz="3200" b="1" i="0" u="none" strike="noStrike" kern="1200" cap="none" spc="0" normalizeH="0" baseline="0" noProof="0" dirty="0" smtClean="0">
                <a:ln>
                  <a:noFill/>
                </a:ln>
                <a:solidFill>
                  <a:srgbClr val="FF0000"/>
                </a:solidFill>
                <a:effectLst/>
                <a:uLnTx/>
                <a:uFillTx/>
                <a:latin typeface="+mn-lt"/>
                <a:ea typeface="+mn-ea"/>
                <a:cs typeface="+mn-cs"/>
              </a:rPr>
              <a:t>ECLOSE(q)</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4" name="Text Box 3"/>
          <p:cNvSpPr txBox="1"/>
          <p:nvPr/>
        </p:nvSpPr>
        <p:spPr>
          <a:xfrm>
            <a:off x="467995" y="1346835"/>
            <a:ext cx="8064500" cy="953135"/>
          </a:xfrm>
          <a:prstGeom prst="rect">
            <a:avLst/>
          </a:prstGeom>
          <a:noFill/>
        </p:spPr>
        <p:txBody>
          <a:bodyPr wrap="square" rtlCol="0">
            <a:spAutoFit/>
          </a:bodyPr>
          <a:p>
            <a:r>
              <a:rPr lang="az-Cyrl-AZ" sz="2400" noProof="0" dirty="0" smtClean="0">
                <a:ln>
                  <a:noFill/>
                </a:ln>
                <a:solidFill>
                  <a:srgbClr val="FF0000"/>
                </a:solidFill>
                <a:effectLst/>
                <a:uLnTx/>
                <a:uFillTx/>
                <a:cs typeface="Arial" panose="020B0604020202020204" pitchFamily="34" charset="0"/>
                <a:sym typeface="+mn-ea"/>
              </a:rPr>
              <a:t>Ԑ</a:t>
            </a:r>
            <a:r>
              <a:rPr lang="en-GB" altLang="az-Cyrl-AZ" sz="2400" noProof="0" dirty="0" smtClean="0">
                <a:ln>
                  <a:noFill/>
                </a:ln>
                <a:solidFill>
                  <a:srgbClr val="FF0000"/>
                </a:solidFill>
                <a:effectLst/>
                <a:uLnTx/>
                <a:uFillTx/>
                <a:cs typeface="Arial" panose="020B0604020202020204" pitchFamily="34" charset="0"/>
                <a:sym typeface="+mn-ea"/>
              </a:rPr>
              <a:t>-NFA </a:t>
            </a:r>
            <a:r>
              <a:rPr lang="en-GB" altLang="az-Cyrl-AZ" sz="2400" b="1" noProof="0" dirty="0" smtClean="0">
                <a:ln>
                  <a:noFill/>
                </a:ln>
                <a:solidFill>
                  <a:srgbClr val="00B0F0"/>
                </a:solidFill>
                <a:effectLst/>
                <a:uLnTx/>
                <a:uFillTx/>
                <a:cs typeface="Arial" panose="020B0604020202020204" pitchFamily="34" charset="0"/>
                <a:sym typeface="+mn-ea"/>
              </a:rPr>
              <a:t>uses </a:t>
            </a:r>
            <a:r>
              <a:rPr lang="az-Cyrl-AZ" sz="3200" noProof="0" dirty="0" smtClean="0">
                <a:ln>
                  <a:noFill/>
                </a:ln>
                <a:solidFill>
                  <a:srgbClr val="FF0000"/>
                </a:solidFill>
                <a:effectLst/>
                <a:uLnTx/>
                <a:uFillTx/>
                <a:latin typeface="+mn-lt"/>
                <a:sym typeface="+mn-ea"/>
              </a:rPr>
              <a:t>Є-closure</a:t>
            </a:r>
            <a:r>
              <a:rPr lang="en-GB" altLang="az-Cyrl-AZ" sz="3200" noProof="0" dirty="0" smtClean="0">
                <a:ln>
                  <a:noFill/>
                </a:ln>
                <a:solidFill>
                  <a:srgbClr val="FF0000"/>
                </a:solidFill>
                <a:effectLst/>
                <a:uLnTx/>
                <a:uFillTx/>
                <a:latin typeface="+mn-lt"/>
                <a:sym typeface="+mn-ea"/>
              </a:rPr>
              <a:t>()</a:t>
            </a:r>
            <a:r>
              <a:rPr lang="en-GB" altLang="en-US" sz="2400" b="1" noProof="0" dirty="0" smtClean="0">
                <a:ln>
                  <a:noFill/>
                </a:ln>
                <a:solidFill>
                  <a:srgbClr val="00B0F0"/>
                </a:solidFill>
                <a:effectLst/>
                <a:uLnTx/>
                <a:uFillTx/>
                <a:latin typeface="+mn-lt"/>
                <a:sym typeface="+mn-ea"/>
              </a:rPr>
              <a:t> function while processing the string </a:t>
            </a:r>
            <a:r>
              <a:rPr lang="en-GB" altLang="en-US" sz="2400" b="1" noProof="0" dirty="0" smtClean="0">
                <a:ln>
                  <a:noFill/>
                </a:ln>
                <a:solidFill>
                  <a:srgbClr val="FF0000"/>
                </a:solidFill>
                <a:effectLst/>
                <a:uLnTx/>
                <a:uFillTx/>
                <a:latin typeface="+mn-lt"/>
                <a:sym typeface="+mn-ea"/>
              </a:rPr>
              <a:t>‘w</a:t>
            </a:r>
            <a:r>
              <a:rPr lang="en-GB" altLang="en-US" sz="2400" b="1" noProof="0" dirty="0" smtClean="0">
                <a:ln>
                  <a:noFill/>
                </a:ln>
                <a:solidFill>
                  <a:srgbClr val="00B0F0"/>
                </a:solidFill>
                <a:effectLst/>
                <a:uLnTx/>
                <a:uFillTx/>
                <a:latin typeface="+mn-lt"/>
                <a:sym typeface="+mn-ea"/>
              </a:rPr>
              <a:t>’ which can be defined as follows : </a:t>
            </a:r>
            <a:endParaRPr lang="en-GB" altLang="en-US" sz="2400" b="1" noProof="0" dirty="0" smtClean="0">
              <a:ln>
                <a:noFill/>
              </a:ln>
              <a:solidFill>
                <a:srgbClr val="00B0F0"/>
              </a:solidFill>
              <a:effectLst/>
              <a:uLnTx/>
              <a:uFillTx/>
              <a:latin typeface="+mn-lt"/>
              <a:sym typeface="+mn-ea"/>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l"/>
            <a:r>
              <a:rPr lang="en-GB" altLang="en-US" sz="3600"/>
              <a:t>Example to use </a:t>
            </a:r>
            <a:r>
              <a:rPr lang="az-Cyrl-AZ" sz="3600" noProof="0" dirty="0" smtClean="0">
                <a:ln>
                  <a:noFill/>
                </a:ln>
                <a:solidFill>
                  <a:srgbClr val="FF0000"/>
                </a:solidFill>
                <a:effectLst/>
                <a:uLnTx/>
                <a:uFillTx/>
                <a:latin typeface="+mn-lt"/>
                <a:ea typeface="+mn-ea"/>
                <a:cs typeface="+mn-cs"/>
                <a:sym typeface="+mn-ea"/>
              </a:rPr>
              <a:t>Є</a:t>
            </a:r>
            <a:r>
              <a:rPr lang="en-US" sz="3600" noProof="0" dirty="0" smtClean="0">
                <a:ln>
                  <a:noFill/>
                </a:ln>
                <a:solidFill>
                  <a:srgbClr val="FF0000"/>
                </a:solidFill>
                <a:effectLst/>
                <a:uLnTx/>
                <a:uFillTx/>
                <a:latin typeface="+mn-lt"/>
                <a:ea typeface="+mn-ea"/>
                <a:cs typeface="+mn-cs"/>
                <a:sym typeface="+mn-ea"/>
              </a:rPr>
              <a:t>-closure</a:t>
            </a:r>
            <a:r>
              <a:rPr lang="en-GB" altLang="en-US" sz="3600" noProof="0" dirty="0" smtClean="0">
                <a:ln>
                  <a:noFill/>
                </a:ln>
                <a:solidFill>
                  <a:srgbClr val="FF0000"/>
                </a:solidFill>
                <a:effectLst/>
                <a:uLnTx/>
                <a:uFillTx/>
                <a:latin typeface="+mn-lt"/>
                <a:ea typeface="+mn-ea"/>
                <a:cs typeface="+mn-cs"/>
                <a:sym typeface="+mn-ea"/>
              </a:rPr>
              <a:t>() function</a:t>
            </a:r>
            <a:endParaRPr lang="en-GB" altLang="en-US" sz="3600" noProof="0" dirty="0" smtClean="0">
              <a:ln>
                <a:noFill/>
              </a:ln>
              <a:solidFill>
                <a:srgbClr val="FF0000"/>
              </a:solidFill>
              <a:effectLst/>
              <a:uLnTx/>
              <a:uFillTx/>
              <a:latin typeface="+mn-lt"/>
              <a:ea typeface="+mn-ea"/>
              <a:cs typeface="+mn-cs"/>
              <a:sym typeface="+mn-ea"/>
            </a:endParaRPr>
          </a:p>
        </p:txBody>
      </p:sp>
      <p:pic>
        <p:nvPicPr>
          <p:cNvPr id="4" name="Content Placeholder 3" descr="MMM states"/>
          <p:cNvPicPr>
            <a:picLocks noChangeAspect="1"/>
          </p:cNvPicPr>
          <p:nvPr>
            <p:ph idx="1"/>
          </p:nvPr>
        </p:nvPicPr>
        <p:blipFill>
          <a:blip r:embed="rId1"/>
          <a:stretch>
            <a:fillRect/>
          </a:stretch>
        </p:blipFill>
        <p:spPr>
          <a:xfrm>
            <a:off x="1597660" y="1353185"/>
            <a:ext cx="4812665" cy="2473325"/>
          </a:xfrm>
          <a:prstGeom prst="rect">
            <a:avLst/>
          </a:prstGeom>
        </p:spPr>
      </p:pic>
      <p:sp>
        <p:nvSpPr>
          <p:cNvPr id="3" name="Text Box 2"/>
          <p:cNvSpPr txBox="1"/>
          <p:nvPr/>
        </p:nvSpPr>
        <p:spPr>
          <a:xfrm>
            <a:off x="3695700" y="2211705"/>
            <a:ext cx="3048000" cy="368300"/>
          </a:xfrm>
          <a:prstGeom prst="rect">
            <a:avLst/>
          </a:prstGeom>
          <a:noFill/>
        </p:spPr>
        <p:txBody>
          <a:bodyPr wrap="square" rtlCol="0">
            <a:spAutoFit/>
          </a:bodyPr>
          <a:p>
            <a:endParaRPr lang="en-US"/>
          </a:p>
        </p:txBody>
      </p:sp>
      <p:sp>
        <p:nvSpPr>
          <p:cNvPr id="5" name="Text Box 4"/>
          <p:cNvSpPr txBox="1"/>
          <p:nvPr/>
        </p:nvSpPr>
        <p:spPr>
          <a:xfrm>
            <a:off x="180975" y="3886200"/>
            <a:ext cx="8772525" cy="1997075"/>
          </a:xfrm>
          <a:prstGeom prst="rect">
            <a:avLst/>
          </a:prstGeom>
          <a:noFill/>
        </p:spPr>
        <p:txBody>
          <a:bodyPr wrap="square" rtlCol="0">
            <a:noAutofit/>
          </a:bodyPr>
          <a:p>
            <a:pPr algn="l">
              <a:buClrTx/>
              <a:buSzTx/>
              <a:buFontTx/>
            </a:pPr>
            <a:r>
              <a:rPr lang="az-Cyrl-AZ" noProof="0" dirty="0" smtClean="0">
                <a:ln>
                  <a:noFill/>
                </a:ln>
                <a:solidFill>
                  <a:srgbClr val="FF0000"/>
                </a:solidFill>
                <a:effectLst/>
                <a:uLnTx/>
                <a:uFillTx/>
                <a:latin typeface="+mn-lt"/>
                <a:sym typeface="+mn-ea"/>
              </a:rPr>
              <a:t>Є</a:t>
            </a:r>
            <a:r>
              <a:rPr lang="en-US" noProof="0" dirty="0" smtClean="0">
                <a:ln>
                  <a:noFill/>
                </a:ln>
                <a:solidFill>
                  <a:srgbClr val="FF0000"/>
                </a:solidFill>
                <a:effectLst/>
                <a:uLnTx/>
                <a:uFillTx/>
                <a:latin typeface="+mn-lt"/>
                <a:sym typeface="+mn-ea"/>
              </a:rPr>
              <a:t>-closure</a:t>
            </a:r>
            <a:r>
              <a:rPr lang="en-GB" altLang="en-US" noProof="0" dirty="0" smtClean="0">
                <a:ln>
                  <a:noFill/>
                </a:ln>
                <a:solidFill>
                  <a:srgbClr val="FF0000"/>
                </a:solidFill>
                <a:effectLst/>
                <a:uLnTx/>
                <a:uFillTx/>
                <a:latin typeface="+mn-lt"/>
                <a:sym typeface="+mn-ea"/>
              </a:rPr>
              <a:t>(1) = </a:t>
            </a:r>
            <a:r>
              <a:rPr lang="en-GB" altLang="en-US" noProof="0" dirty="0" smtClean="0">
                <a:ln>
                  <a:noFill/>
                </a:ln>
                <a:solidFill>
                  <a:schemeClr val="tx1"/>
                </a:solidFill>
                <a:effectLst/>
                <a:uLnTx/>
                <a:uFillTx/>
                <a:latin typeface="+mn-lt"/>
                <a:sym typeface="+mn-ea"/>
              </a:rPr>
              <a:t>{ 1 } </a:t>
            </a:r>
            <a:r>
              <a:rPr lang="en-GB" altLang="en-US" noProof="0" dirty="0" smtClean="0">
                <a:ln>
                  <a:noFill/>
                </a:ln>
                <a:solidFill>
                  <a:schemeClr val="tx1"/>
                </a:solidFill>
                <a:effectLst/>
                <a:uLnTx/>
                <a:uFillTx/>
                <a:cs typeface="Arial" panose="020B0604020202020204" pitchFamily="34" charset="0"/>
                <a:sym typeface="+mn-ea"/>
              </a:rPr>
              <a:t>→ </a:t>
            </a:r>
            <a:r>
              <a:rPr lang="en-GB" altLang="en-US" sz="1200" noProof="0" dirty="0" smtClean="0">
                <a:ln>
                  <a:noFill/>
                </a:ln>
                <a:solidFill>
                  <a:srgbClr val="00B0F0"/>
                </a:solidFill>
                <a:effectLst/>
                <a:uLnTx/>
                <a:uFillTx/>
                <a:cs typeface="Arial" panose="020B0604020202020204" pitchFamily="34" charset="0"/>
                <a:sym typeface="+mn-ea"/>
              </a:rPr>
              <a:t>By Basis  </a:t>
            </a:r>
            <a:r>
              <a:rPr lang="en-GB" altLang="en-US" sz="1200" b="1" noProof="0" dirty="0" smtClean="0">
                <a:ln>
                  <a:noFill/>
                </a:ln>
                <a:solidFill>
                  <a:srgbClr val="FF0000"/>
                </a:solidFill>
                <a:effectLst/>
                <a:uLnTx/>
                <a:uFillTx/>
                <a:cs typeface="Arial" panose="020B0604020202020204" pitchFamily="34" charset="0"/>
                <a:sym typeface="+mn-ea"/>
              </a:rPr>
              <a:t>state 1</a:t>
            </a:r>
            <a:r>
              <a:rPr lang="en-GB" altLang="en-US" sz="1200" noProof="0" dirty="0" smtClean="0">
                <a:ln>
                  <a:noFill/>
                </a:ln>
                <a:solidFill>
                  <a:srgbClr val="00B0F0"/>
                </a:solidFill>
                <a:effectLst/>
                <a:uLnTx/>
                <a:uFillTx/>
                <a:cs typeface="Arial" panose="020B0604020202020204" pitchFamily="34" charset="0"/>
                <a:sym typeface="+mn-ea"/>
              </a:rPr>
              <a:t> is included in the set</a:t>
            </a:r>
            <a:endParaRPr lang="en-GB" altLang="en-US" sz="1200" noProof="0" dirty="0" smtClean="0">
              <a:ln>
                <a:noFill/>
              </a:ln>
              <a:solidFill>
                <a:srgbClr val="00B0F0"/>
              </a:solidFill>
              <a:effectLst/>
              <a:uLnTx/>
              <a:uFillTx/>
              <a:cs typeface="Arial" panose="020B0604020202020204" pitchFamily="34" charset="0"/>
              <a:sym typeface="+mn-ea"/>
            </a:endParaRPr>
          </a:p>
          <a:p>
            <a:r>
              <a:rPr lang="en-GB" altLang="en-US" noProof="0" dirty="0" smtClean="0">
                <a:ln>
                  <a:noFill/>
                </a:ln>
                <a:solidFill>
                  <a:schemeClr val="tx1"/>
                </a:solidFill>
                <a:effectLst/>
                <a:uLnTx/>
                <a:uFillTx/>
                <a:cs typeface="Arial" panose="020B0604020202020204" pitchFamily="34" charset="0"/>
                <a:sym typeface="+mn-ea"/>
              </a:rPr>
              <a:t>                  =  { 1, </a:t>
            </a:r>
            <a:r>
              <a:rPr lang="en-GB" altLang="en-US" b="1" noProof="0" dirty="0" smtClean="0">
                <a:ln>
                  <a:noFill/>
                </a:ln>
                <a:solidFill>
                  <a:srgbClr val="FF0000"/>
                </a:solidFill>
                <a:effectLst/>
                <a:uLnTx/>
                <a:uFillTx/>
                <a:cs typeface="Arial" panose="020B0604020202020204" pitchFamily="34" charset="0"/>
                <a:sym typeface="+mn-ea"/>
              </a:rPr>
              <a:t>2, 4</a:t>
            </a:r>
            <a:r>
              <a:rPr lang="en-GB" altLang="en-US" noProof="0" dirty="0" smtClean="0">
                <a:ln>
                  <a:noFill/>
                </a:ln>
                <a:solidFill>
                  <a:schemeClr val="tx1"/>
                </a:solidFill>
                <a:effectLst/>
                <a:uLnTx/>
                <a:uFillTx/>
                <a:cs typeface="Arial" panose="020B0604020202020204" pitchFamily="34" charset="0"/>
                <a:sym typeface="+mn-ea"/>
              </a:rPr>
              <a:t> } </a:t>
            </a:r>
            <a:r>
              <a:rPr lang="en-GB" altLang="en-US" noProof="0" dirty="0" smtClean="0">
                <a:ln>
                  <a:noFill/>
                </a:ln>
                <a:effectLst/>
                <a:uLnTx/>
                <a:uFillTx/>
                <a:cs typeface="Arial" panose="020B0604020202020204" pitchFamily="34" charset="0"/>
                <a:sym typeface="+mn-ea"/>
              </a:rPr>
              <a:t>→ </a:t>
            </a:r>
            <a:r>
              <a:rPr lang="en-GB" altLang="en-US" sz="1200" noProof="0" dirty="0" smtClean="0">
                <a:ln>
                  <a:noFill/>
                </a:ln>
                <a:solidFill>
                  <a:srgbClr val="00B0F0"/>
                </a:solidFill>
                <a:effectLst/>
                <a:uLnTx/>
                <a:uFillTx/>
                <a:cs typeface="Arial" panose="020B0604020202020204" pitchFamily="34" charset="0"/>
                <a:sym typeface="+mn-ea"/>
              </a:rPr>
              <a:t>By Induction as from </a:t>
            </a:r>
            <a:r>
              <a:rPr lang="en-GB" altLang="en-US" sz="1200" b="1" noProof="0" dirty="0" smtClean="0">
                <a:ln>
                  <a:noFill/>
                </a:ln>
                <a:solidFill>
                  <a:srgbClr val="FF0000"/>
                </a:solidFill>
                <a:effectLst/>
                <a:uLnTx/>
                <a:uFillTx/>
                <a:cs typeface="Arial" panose="020B0604020202020204" pitchFamily="34" charset="0"/>
                <a:sym typeface="+mn-ea"/>
              </a:rPr>
              <a:t>state 1</a:t>
            </a:r>
            <a:r>
              <a:rPr lang="en-GB" altLang="en-US" sz="1200" noProof="0" dirty="0" smtClean="0">
                <a:ln>
                  <a:noFill/>
                </a:ln>
                <a:solidFill>
                  <a:srgbClr val="00B0F0"/>
                </a:solidFill>
                <a:effectLst/>
                <a:uLnTx/>
                <a:uFillTx/>
                <a:cs typeface="Arial" panose="020B0604020202020204" pitchFamily="34" charset="0"/>
                <a:sym typeface="+mn-ea"/>
              </a:rPr>
              <a:t>, </a:t>
            </a:r>
            <a:r>
              <a:rPr lang="en-GB" altLang="en-US" sz="1200" b="1" noProof="0" dirty="0" smtClean="0">
                <a:ln>
                  <a:noFill/>
                </a:ln>
                <a:solidFill>
                  <a:srgbClr val="FF0000"/>
                </a:solidFill>
                <a:effectLst/>
                <a:uLnTx/>
                <a:uFillTx/>
                <a:cs typeface="Arial" panose="020B0604020202020204" pitchFamily="34" charset="0"/>
                <a:sym typeface="+mn-ea"/>
              </a:rPr>
              <a:t>2 and 4</a:t>
            </a:r>
            <a:r>
              <a:rPr lang="en-GB" altLang="en-US" sz="1200" noProof="0" dirty="0" smtClean="0">
                <a:ln>
                  <a:noFill/>
                </a:ln>
                <a:solidFill>
                  <a:srgbClr val="00B0F0"/>
                </a:solidFill>
                <a:effectLst/>
                <a:uLnTx/>
                <a:uFillTx/>
                <a:cs typeface="Arial" panose="020B0604020202020204" pitchFamily="34" charset="0"/>
                <a:sym typeface="+mn-ea"/>
              </a:rPr>
              <a:t> are reachable only by </a:t>
            </a:r>
            <a:r>
              <a:rPr lang="en-GB" altLang="en-US" sz="1200" b="1" noProof="0" dirty="0" smtClean="0">
                <a:ln>
                  <a:noFill/>
                </a:ln>
                <a:solidFill>
                  <a:srgbClr val="FF0000"/>
                </a:solidFill>
                <a:effectLst/>
                <a:uLnTx/>
                <a:uFillTx/>
                <a:cs typeface="Arial" panose="020B0604020202020204" pitchFamily="34" charset="0"/>
                <a:sym typeface="+mn-ea"/>
              </a:rPr>
              <a:t> Ԑ - Treansition</a:t>
            </a:r>
            <a:endParaRPr lang="en-GB" altLang="en-US" sz="1200" b="1" noProof="0" dirty="0" smtClean="0">
              <a:ln>
                <a:noFill/>
              </a:ln>
              <a:solidFill>
                <a:srgbClr val="FF0000"/>
              </a:solidFill>
              <a:effectLst/>
              <a:uLnTx/>
              <a:uFillTx/>
              <a:cs typeface="Arial" panose="020B0604020202020204" pitchFamily="34" charset="0"/>
              <a:sym typeface="+mn-ea"/>
            </a:endParaRPr>
          </a:p>
          <a:p>
            <a:pPr algn="l">
              <a:buClrTx/>
              <a:buSzTx/>
              <a:buFontTx/>
            </a:pPr>
            <a:r>
              <a:rPr lang="en-GB" altLang="en-US" noProof="0" dirty="0" smtClean="0">
                <a:ln>
                  <a:noFill/>
                </a:ln>
                <a:effectLst/>
                <a:uLnTx/>
                <a:uFillTx/>
                <a:cs typeface="Arial" panose="020B0604020202020204" pitchFamily="34" charset="0"/>
                <a:sym typeface="+mn-ea"/>
              </a:rPr>
              <a:t>                  =  { 1, 2, 4, </a:t>
            </a:r>
            <a:r>
              <a:rPr lang="en-GB" altLang="en-US" sz="1800" b="1" noProof="0" dirty="0" smtClean="0">
                <a:ln>
                  <a:noFill/>
                </a:ln>
                <a:solidFill>
                  <a:srgbClr val="FF0000"/>
                </a:solidFill>
                <a:effectLst/>
                <a:uLnTx/>
                <a:uFillTx/>
                <a:cs typeface="Arial" panose="020B0604020202020204" pitchFamily="34" charset="0"/>
                <a:sym typeface="+mn-ea"/>
              </a:rPr>
              <a:t>3</a:t>
            </a:r>
            <a:r>
              <a:rPr lang="en-GB" altLang="en-US" noProof="0" dirty="0" smtClean="0">
                <a:ln>
                  <a:noFill/>
                </a:ln>
                <a:effectLst/>
                <a:uLnTx/>
                <a:uFillTx/>
                <a:cs typeface="Arial" panose="020B0604020202020204" pitchFamily="34" charset="0"/>
                <a:sym typeface="+mn-ea"/>
              </a:rPr>
              <a:t> } → </a:t>
            </a:r>
            <a:r>
              <a:rPr lang="en-GB" altLang="en-US" sz="1200" noProof="0" dirty="0" smtClean="0">
                <a:ln>
                  <a:noFill/>
                </a:ln>
                <a:solidFill>
                  <a:srgbClr val="00B0F0"/>
                </a:solidFill>
                <a:effectLst/>
                <a:uLnTx/>
                <a:uFillTx/>
                <a:cs typeface="Arial" panose="020B0604020202020204" pitchFamily="34" charset="0"/>
                <a:sym typeface="+mn-ea"/>
              </a:rPr>
              <a:t>By Induction as from</a:t>
            </a:r>
            <a:r>
              <a:rPr lang="en-GB" altLang="en-US" sz="1200" b="1" noProof="0" dirty="0" smtClean="0">
                <a:ln>
                  <a:noFill/>
                </a:ln>
                <a:solidFill>
                  <a:srgbClr val="FF0000"/>
                </a:solidFill>
                <a:effectLst/>
                <a:uLnTx/>
                <a:uFillTx/>
                <a:cs typeface="Arial" panose="020B0604020202020204" pitchFamily="34" charset="0"/>
                <a:sym typeface="+mn-ea"/>
              </a:rPr>
              <a:t> state 2</a:t>
            </a:r>
            <a:r>
              <a:rPr lang="en-GB" altLang="en-US" sz="1200" noProof="0" dirty="0" smtClean="0">
                <a:ln>
                  <a:noFill/>
                </a:ln>
                <a:solidFill>
                  <a:srgbClr val="00B0F0"/>
                </a:solidFill>
                <a:effectLst/>
                <a:uLnTx/>
                <a:uFillTx/>
                <a:cs typeface="Arial" panose="020B0604020202020204" pitchFamily="34" charset="0"/>
                <a:sym typeface="+mn-ea"/>
              </a:rPr>
              <a:t>, </a:t>
            </a:r>
            <a:r>
              <a:rPr lang="en-GB" altLang="en-US" sz="1200" b="1" noProof="0" dirty="0" smtClean="0">
                <a:ln>
                  <a:noFill/>
                </a:ln>
                <a:solidFill>
                  <a:srgbClr val="FF0000"/>
                </a:solidFill>
                <a:effectLst/>
                <a:uLnTx/>
                <a:uFillTx/>
                <a:cs typeface="Arial" panose="020B0604020202020204" pitchFamily="34" charset="0"/>
                <a:sym typeface="+mn-ea"/>
              </a:rPr>
              <a:t>state 3 </a:t>
            </a:r>
            <a:r>
              <a:rPr lang="en-GB" altLang="en-US" sz="1200" noProof="0" dirty="0" smtClean="0">
                <a:ln>
                  <a:noFill/>
                </a:ln>
                <a:solidFill>
                  <a:srgbClr val="00B0F0"/>
                </a:solidFill>
                <a:effectLst/>
                <a:uLnTx/>
                <a:uFillTx/>
                <a:cs typeface="Arial" panose="020B0604020202020204" pitchFamily="34" charset="0"/>
                <a:sym typeface="+mn-ea"/>
              </a:rPr>
              <a:t>is reachable only by</a:t>
            </a:r>
            <a:r>
              <a:rPr lang="en-GB" altLang="en-US" sz="1200" b="1" noProof="0" dirty="0" smtClean="0">
                <a:ln>
                  <a:noFill/>
                </a:ln>
                <a:solidFill>
                  <a:srgbClr val="FF0000"/>
                </a:solidFill>
                <a:effectLst/>
                <a:uLnTx/>
                <a:uFillTx/>
                <a:cs typeface="Arial" panose="020B0604020202020204" pitchFamily="34" charset="0"/>
                <a:sym typeface="+mn-ea"/>
              </a:rPr>
              <a:t> Ԑ - Treansition</a:t>
            </a:r>
            <a:endParaRPr lang="en-GB" altLang="en-US" sz="1200" noProof="0" dirty="0" smtClean="0">
              <a:ln>
                <a:noFill/>
              </a:ln>
              <a:solidFill>
                <a:srgbClr val="00B0F0"/>
              </a:solidFill>
              <a:effectLst/>
              <a:uLnTx/>
              <a:uFillTx/>
              <a:cs typeface="Arial" panose="020B0604020202020204" pitchFamily="34" charset="0"/>
              <a:sym typeface="+mn-ea"/>
            </a:endParaRPr>
          </a:p>
          <a:p>
            <a:r>
              <a:rPr lang="en-GB" altLang="en-US" noProof="0" dirty="0" smtClean="0">
                <a:ln>
                  <a:noFill/>
                </a:ln>
                <a:effectLst/>
                <a:uLnTx/>
                <a:uFillTx/>
                <a:cs typeface="Arial" panose="020B0604020202020204" pitchFamily="34" charset="0"/>
                <a:sym typeface="+mn-ea"/>
              </a:rPr>
              <a:t>                  =  { 1, 2, 4 3, </a:t>
            </a:r>
            <a:r>
              <a:rPr lang="en-GB" altLang="en-US" b="1" noProof="0" dirty="0" smtClean="0">
                <a:ln>
                  <a:noFill/>
                </a:ln>
                <a:solidFill>
                  <a:srgbClr val="FF0000"/>
                </a:solidFill>
                <a:effectLst/>
                <a:uLnTx/>
                <a:uFillTx/>
                <a:cs typeface="Arial" panose="020B0604020202020204" pitchFamily="34" charset="0"/>
                <a:sym typeface="+mn-ea"/>
              </a:rPr>
              <a:t>6</a:t>
            </a:r>
            <a:r>
              <a:rPr lang="en-GB" altLang="en-US" noProof="0" dirty="0" smtClean="0">
                <a:ln>
                  <a:noFill/>
                </a:ln>
                <a:effectLst/>
                <a:uLnTx/>
                <a:uFillTx/>
                <a:cs typeface="Arial" panose="020B0604020202020204" pitchFamily="34" charset="0"/>
                <a:sym typeface="+mn-ea"/>
              </a:rPr>
              <a:t> } → </a:t>
            </a:r>
            <a:r>
              <a:rPr lang="en-GB" altLang="en-US" sz="1200" noProof="0" dirty="0" smtClean="0">
                <a:ln>
                  <a:noFill/>
                </a:ln>
                <a:solidFill>
                  <a:srgbClr val="00B0F0"/>
                </a:solidFill>
                <a:effectLst/>
                <a:uLnTx/>
                <a:uFillTx/>
                <a:cs typeface="Arial" panose="020B0604020202020204" pitchFamily="34" charset="0"/>
                <a:sym typeface="+mn-ea"/>
              </a:rPr>
              <a:t>By Induction as from</a:t>
            </a:r>
            <a:r>
              <a:rPr lang="en-GB" altLang="en-US" sz="1200" b="1" noProof="0" dirty="0" smtClean="0">
                <a:ln>
                  <a:noFill/>
                </a:ln>
                <a:solidFill>
                  <a:srgbClr val="FF0000"/>
                </a:solidFill>
                <a:effectLst/>
                <a:uLnTx/>
                <a:uFillTx/>
                <a:cs typeface="Arial" panose="020B0604020202020204" pitchFamily="34" charset="0"/>
                <a:sym typeface="+mn-ea"/>
              </a:rPr>
              <a:t> state 3</a:t>
            </a:r>
            <a:r>
              <a:rPr lang="en-GB" altLang="en-US" sz="1200" noProof="0" dirty="0" smtClean="0">
                <a:ln>
                  <a:noFill/>
                </a:ln>
                <a:solidFill>
                  <a:srgbClr val="00B0F0"/>
                </a:solidFill>
                <a:effectLst/>
                <a:uLnTx/>
                <a:uFillTx/>
                <a:cs typeface="Arial" panose="020B0604020202020204" pitchFamily="34" charset="0"/>
                <a:sym typeface="+mn-ea"/>
              </a:rPr>
              <a:t>, </a:t>
            </a:r>
            <a:r>
              <a:rPr lang="en-GB" altLang="en-US" sz="1200" b="1" noProof="0" dirty="0" smtClean="0">
                <a:ln>
                  <a:noFill/>
                </a:ln>
                <a:solidFill>
                  <a:srgbClr val="FF0000"/>
                </a:solidFill>
                <a:effectLst/>
                <a:uLnTx/>
                <a:uFillTx/>
                <a:cs typeface="Arial" panose="020B0604020202020204" pitchFamily="34" charset="0"/>
                <a:sym typeface="+mn-ea"/>
              </a:rPr>
              <a:t>state 6 </a:t>
            </a:r>
            <a:r>
              <a:rPr lang="en-GB" altLang="en-US" sz="1200" noProof="0" dirty="0" smtClean="0">
                <a:ln>
                  <a:noFill/>
                </a:ln>
                <a:solidFill>
                  <a:srgbClr val="00B0F0"/>
                </a:solidFill>
                <a:effectLst/>
                <a:uLnTx/>
                <a:uFillTx/>
                <a:cs typeface="Arial" panose="020B0604020202020204" pitchFamily="34" charset="0"/>
                <a:sym typeface="+mn-ea"/>
              </a:rPr>
              <a:t>is reachable only by</a:t>
            </a:r>
            <a:r>
              <a:rPr lang="en-GB" altLang="en-US" sz="1200" b="1" noProof="0" dirty="0" smtClean="0">
                <a:ln>
                  <a:noFill/>
                </a:ln>
                <a:solidFill>
                  <a:srgbClr val="FF0000"/>
                </a:solidFill>
                <a:effectLst/>
                <a:uLnTx/>
                <a:uFillTx/>
                <a:cs typeface="Arial" panose="020B0604020202020204" pitchFamily="34" charset="0"/>
                <a:sym typeface="+mn-ea"/>
              </a:rPr>
              <a:t> Ԑ - Treansition</a:t>
            </a:r>
            <a:endParaRPr lang="en-GB" altLang="en-US" sz="1200" b="1" noProof="0" dirty="0" smtClean="0">
              <a:ln>
                <a:noFill/>
              </a:ln>
              <a:solidFill>
                <a:srgbClr val="FF0000"/>
              </a:solidFill>
              <a:effectLst/>
              <a:uLnTx/>
              <a:uFillTx/>
              <a:cs typeface="Arial" panose="020B0604020202020204" pitchFamily="34" charset="0"/>
              <a:sym typeface="+mn-ea"/>
            </a:endParaRPr>
          </a:p>
          <a:p>
            <a:r>
              <a:rPr lang="en-GB" altLang="en-US" sz="1200" noProof="0" dirty="0" smtClean="0">
                <a:ln>
                  <a:noFill/>
                </a:ln>
                <a:solidFill>
                  <a:schemeClr val="tx1"/>
                </a:solidFill>
                <a:effectLst/>
                <a:uLnTx/>
                <a:uFillTx/>
                <a:cs typeface="Arial" panose="020B0604020202020204" pitchFamily="34" charset="0"/>
                <a:sym typeface="+mn-ea"/>
              </a:rPr>
              <a:t>                           </a:t>
            </a:r>
            <a:r>
              <a:rPr lang="en-GB" altLang="en-US" sz="1800" noProof="0" dirty="0" smtClean="0">
                <a:ln>
                  <a:noFill/>
                </a:ln>
                <a:solidFill>
                  <a:schemeClr val="tx1"/>
                </a:solidFill>
                <a:effectLst/>
                <a:uLnTx/>
                <a:uFillTx/>
                <a:cs typeface="Arial" panose="020B0604020202020204" pitchFamily="34" charset="0"/>
                <a:sym typeface="+mn-ea"/>
              </a:rPr>
              <a:t>=  </a:t>
            </a:r>
            <a:r>
              <a:rPr lang="en-GB" altLang="en-US" sz="1800" noProof="0" dirty="0" smtClean="0">
                <a:ln>
                  <a:noFill/>
                </a:ln>
                <a:effectLst/>
                <a:uLnTx/>
                <a:uFillTx/>
                <a:cs typeface="Arial" panose="020B0604020202020204" pitchFamily="34" charset="0"/>
                <a:sym typeface="+mn-ea"/>
              </a:rPr>
              <a:t>{ 1, 2, 4 3, 6 } → </a:t>
            </a:r>
            <a:r>
              <a:rPr lang="en-GB" altLang="en-US" sz="1200" noProof="0" dirty="0" smtClean="0">
                <a:ln>
                  <a:noFill/>
                </a:ln>
                <a:solidFill>
                  <a:srgbClr val="00B0F0"/>
                </a:solidFill>
                <a:effectLst/>
                <a:uLnTx/>
                <a:uFillTx/>
                <a:cs typeface="Arial" panose="020B0604020202020204" pitchFamily="34" charset="0"/>
                <a:sym typeface="+mn-ea"/>
              </a:rPr>
              <a:t>Computaion stops as from states</a:t>
            </a:r>
            <a:r>
              <a:rPr lang="en-GB" altLang="en-US" sz="1800" noProof="0" dirty="0" smtClean="0">
                <a:ln>
                  <a:noFill/>
                </a:ln>
                <a:effectLst/>
                <a:uLnTx/>
                <a:uFillTx/>
                <a:cs typeface="Arial" panose="020B0604020202020204" pitchFamily="34" charset="0"/>
                <a:sym typeface="+mn-ea"/>
              </a:rPr>
              <a:t> </a:t>
            </a:r>
            <a:r>
              <a:rPr lang="en-GB" altLang="en-US" sz="1200" b="1" noProof="0" dirty="0" smtClean="0">
                <a:ln>
                  <a:noFill/>
                </a:ln>
                <a:solidFill>
                  <a:srgbClr val="FF0000"/>
                </a:solidFill>
                <a:effectLst/>
                <a:uLnTx/>
                <a:uFillTx/>
                <a:cs typeface="Arial" panose="020B0604020202020204" pitchFamily="34" charset="0"/>
                <a:sym typeface="+mn-ea"/>
              </a:rPr>
              <a:t>1,2, 4,3,6</a:t>
            </a:r>
            <a:r>
              <a:rPr lang="en-GB" altLang="en-US" sz="1800" noProof="0" dirty="0" smtClean="0">
                <a:ln>
                  <a:noFill/>
                </a:ln>
                <a:effectLst/>
                <a:uLnTx/>
                <a:uFillTx/>
                <a:cs typeface="Arial" panose="020B0604020202020204" pitchFamily="34" charset="0"/>
                <a:sym typeface="+mn-ea"/>
              </a:rPr>
              <a:t> </a:t>
            </a:r>
            <a:r>
              <a:rPr lang="en-GB" altLang="en-US" sz="1200" noProof="0" dirty="0" smtClean="0">
                <a:ln>
                  <a:noFill/>
                </a:ln>
                <a:solidFill>
                  <a:srgbClr val="00B0F0"/>
                </a:solidFill>
                <a:effectLst/>
                <a:uLnTx/>
                <a:uFillTx/>
                <a:cs typeface="Arial" panose="020B0604020202020204" pitchFamily="34" charset="0"/>
                <a:sym typeface="+mn-ea"/>
              </a:rPr>
              <a:t>no other staes can reached with</a:t>
            </a:r>
            <a:r>
              <a:rPr lang="en-GB" altLang="en-US" sz="1800" noProof="0" dirty="0" smtClean="0">
                <a:ln>
                  <a:noFill/>
                </a:ln>
                <a:effectLst/>
                <a:uLnTx/>
                <a:uFillTx/>
                <a:cs typeface="Arial" panose="020B0604020202020204" pitchFamily="34" charset="0"/>
                <a:sym typeface="+mn-ea"/>
              </a:rPr>
              <a:t> </a:t>
            </a:r>
            <a:r>
              <a:rPr lang="en-GB" altLang="en-US" sz="1800" b="1" noProof="0" dirty="0" smtClean="0">
                <a:ln>
                  <a:noFill/>
                </a:ln>
                <a:solidFill>
                  <a:srgbClr val="FF0000"/>
                </a:solidFill>
                <a:effectLst/>
                <a:uLnTx/>
                <a:uFillTx/>
                <a:cs typeface="Arial" panose="020B0604020202020204" pitchFamily="34" charset="0"/>
                <a:sym typeface="+mn-ea"/>
              </a:rPr>
              <a:t>  </a:t>
            </a:r>
            <a:endParaRPr lang="en-GB" altLang="en-US" sz="1800" b="1" noProof="0" dirty="0" smtClean="0">
              <a:ln>
                <a:noFill/>
              </a:ln>
              <a:solidFill>
                <a:srgbClr val="FF0000"/>
              </a:solidFill>
              <a:effectLst/>
              <a:uLnTx/>
              <a:uFillTx/>
              <a:cs typeface="Arial" panose="020B0604020202020204" pitchFamily="34" charset="0"/>
              <a:sym typeface="+mn-ea"/>
            </a:endParaRPr>
          </a:p>
          <a:p>
            <a:r>
              <a:rPr lang="en-GB" altLang="en-US" sz="1800" b="1" noProof="0" dirty="0" smtClean="0">
                <a:ln>
                  <a:noFill/>
                </a:ln>
                <a:solidFill>
                  <a:srgbClr val="FF0000"/>
                </a:solidFill>
                <a:effectLst/>
                <a:uLnTx/>
                <a:uFillTx/>
                <a:cs typeface="Arial" panose="020B0604020202020204" pitchFamily="34" charset="0"/>
                <a:sym typeface="+mn-ea"/>
              </a:rPr>
              <a:t>                                                 </a:t>
            </a:r>
            <a:r>
              <a:rPr lang="en-GB" altLang="en-US" sz="1200" b="1" noProof="0" dirty="0" smtClean="0">
                <a:ln>
                  <a:noFill/>
                </a:ln>
                <a:solidFill>
                  <a:srgbClr val="FF0000"/>
                </a:solidFill>
                <a:effectLst/>
                <a:uLnTx/>
                <a:uFillTx/>
                <a:cs typeface="Arial" panose="020B0604020202020204" pitchFamily="34" charset="0"/>
                <a:sym typeface="+mn-ea"/>
              </a:rPr>
              <a:t>Ԑ - Treansition</a:t>
            </a:r>
            <a:endParaRPr lang="en-GB" altLang="en-US" sz="1800" b="1" noProof="0" dirty="0" smtClean="0">
              <a:ln>
                <a:noFill/>
              </a:ln>
              <a:solidFill>
                <a:srgbClr val="FF0000"/>
              </a:solidFill>
              <a:effectLst/>
              <a:uLnTx/>
              <a:uFillTx/>
              <a:cs typeface="Arial" panose="020B0604020202020204" pitchFamily="34" charset="0"/>
              <a:sym typeface="+mn-ea"/>
            </a:endParaRPr>
          </a:p>
          <a:p>
            <a:endParaRPr lang="en-GB" altLang="en-US" sz="1800" noProof="0" dirty="0" smtClean="0">
              <a:ln>
                <a:noFill/>
              </a:ln>
              <a:solidFill>
                <a:schemeClr val="tx1"/>
              </a:solidFill>
              <a:effectLst/>
              <a:uLnTx/>
              <a:uFillTx/>
              <a:cs typeface="Arial" panose="020B0604020202020204" pitchFamily="34" charset="0"/>
              <a:sym typeface="+mn-ea"/>
            </a:endParaRPr>
          </a:p>
        </p:txBody>
      </p:sp>
      <p:sp>
        <p:nvSpPr>
          <p:cNvPr id="6" name="Footer Placeholder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Title 1"/>
          <p:cNvSpPr>
            <a:spLocks noGrp="1"/>
          </p:cNvSpPr>
          <p:nvPr>
            <p:ph type="title"/>
          </p:nvPr>
        </p:nvSpPr>
        <p:spPr>
          <a:xfrm>
            <a:off x="139065" y="274955"/>
            <a:ext cx="8547735" cy="1143000"/>
          </a:xfrm>
        </p:spPr>
        <p:txBody>
          <a:bodyPr vert="horz" wrap="square" lIns="91440" tIns="45720" rIns="91440" bIns="45720" anchor="ctr" anchorCtr="0"/>
          <a:p>
            <a:pPr algn="l" eaLnBrk="1" hangingPunct="1"/>
            <a:r>
              <a:rPr lang="en-GB" dirty="0">
                <a:sym typeface="+mn-ea"/>
              </a:rPr>
              <a:t>E</a:t>
            </a:r>
            <a:r>
              <a:rPr dirty="0">
                <a:sym typeface="+mn-ea"/>
              </a:rPr>
              <a:t>xtended transition function </a:t>
            </a:r>
            <a:r>
              <a:rPr lang="el-GR" altLang="x-none" dirty="0">
                <a:sym typeface="+mn-ea"/>
              </a:rPr>
              <a:t>δ</a:t>
            </a:r>
            <a:r>
              <a:rPr dirty="0">
                <a:sym typeface="+mn-ea"/>
              </a:rPr>
              <a:t>*</a:t>
            </a:r>
            <a:r>
              <a:rPr lang="en-GB" altLang="en-US" dirty="0"/>
              <a:t> :</a:t>
            </a:r>
            <a:endParaRPr lang="en-GB" altLang="en-US" dirty="0"/>
          </a:p>
        </p:txBody>
      </p:sp>
      <p:sp>
        <p:nvSpPr>
          <p:cNvPr id="3" name="Content Placeholder 2"/>
          <p:cNvSpPr>
            <a:spLocks noGrp="1"/>
          </p:cNvSpPr>
          <p:nvPr>
            <p:ph idx="1"/>
          </p:nvPr>
        </p:nvSpPr>
        <p:spPr>
          <a:xfrm>
            <a:off x="457200" y="1215390"/>
            <a:ext cx="8229600" cy="5490210"/>
          </a:xfrm>
        </p:spPr>
        <p:txBody>
          <a:bodyPr vert="horz" wrap="square" lIns="91440" tIns="45720" rIns="91440" bIns="45720" numCol="1" rtlCol="0" anchor="t" anchorCtr="0" compatLnSpc="1"/>
          <a:p>
            <a:pPr marL="0" indent="0" eaLnBrk="1" hangingPunct="1">
              <a:lnSpc>
                <a:spcPct val="80000"/>
              </a:lnSpc>
              <a:buNone/>
            </a:pPr>
            <a:r>
              <a:rPr sz="2400" dirty="0"/>
              <a:t>The extended transition function </a:t>
            </a:r>
            <a:r>
              <a:rPr lang="el-GR" altLang="x-none" sz="2400" dirty="0"/>
              <a:t>δ</a:t>
            </a:r>
            <a:r>
              <a:rPr sz="2400" dirty="0"/>
              <a:t>* for </a:t>
            </a:r>
            <a:r>
              <a:rPr lang="az-Cyrl-AZ" altLang="x-none" sz="2400" dirty="0"/>
              <a:t>Є</a:t>
            </a:r>
            <a:r>
              <a:rPr sz="2400" dirty="0"/>
              <a:t>- NFA is an extension of Transition function </a:t>
            </a:r>
            <a:r>
              <a:rPr lang="el-GR" altLang="x-none" sz="2400" dirty="0"/>
              <a:t>δ</a:t>
            </a:r>
            <a:r>
              <a:rPr sz="2400" dirty="0"/>
              <a:t> of </a:t>
            </a:r>
            <a:r>
              <a:rPr lang="az-Cyrl-AZ" altLang="x-none" sz="2400" dirty="0"/>
              <a:t>Є</a:t>
            </a:r>
            <a:r>
              <a:rPr sz="2400" dirty="0"/>
              <a:t>-NFA and is defined as follows</a:t>
            </a:r>
            <a:endParaRPr sz="2400" dirty="0"/>
          </a:p>
          <a:p>
            <a:pPr marL="0" indent="0" eaLnBrk="1" hangingPunct="1">
              <a:lnSpc>
                <a:spcPct val="80000"/>
              </a:lnSpc>
              <a:buNone/>
            </a:pPr>
            <a:endParaRPr sz="2400" dirty="0"/>
          </a:p>
          <a:p>
            <a:pPr eaLnBrk="1" hangingPunct="1">
              <a:lnSpc>
                <a:spcPct val="80000"/>
              </a:lnSpc>
              <a:buNone/>
            </a:pPr>
            <a:r>
              <a:rPr sz="2400" b="1" dirty="0">
                <a:solidFill>
                  <a:srgbClr val="FF0000"/>
                </a:solidFill>
              </a:rPr>
              <a:t>BASIS  : </a:t>
            </a:r>
            <a:r>
              <a:rPr lang="el-GR" altLang="x-none" sz="2400" dirty="0"/>
              <a:t>δ</a:t>
            </a:r>
            <a:r>
              <a:rPr sz="2400" dirty="0"/>
              <a:t>*(q,</a:t>
            </a:r>
            <a:r>
              <a:rPr lang="az-Cyrl-AZ" altLang="x-none" sz="2400" dirty="0"/>
              <a:t>Є</a:t>
            </a:r>
            <a:r>
              <a:rPr sz="2400" dirty="0"/>
              <a:t>) =ECLOSE(q) that is without reading any  input symbols   </a:t>
            </a:r>
            <a:r>
              <a:rPr lang="az-Cyrl-AZ" altLang="x-none" sz="2400" dirty="0"/>
              <a:t>Є</a:t>
            </a:r>
            <a:r>
              <a:rPr sz="2400" dirty="0"/>
              <a:t>- NFA is in the set of states which is </a:t>
            </a:r>
            <a:r>
              <a:rPr lang="az-Cyrl-AZ" altLang="x-none" sz="2400" dirty="0"/>
              <a:t>Є</a:t>
            </a:r>
            <a:r>
              <a:rPr sz="2400" dirty="0"/>
              <a:t>-closure of state q.</a:t>
            </a:r>
            <a:endParaRPr sz="2400" dirty="0"/>
          </a:p>
          <a:p>
            <a:pPr eaLnBrk="1" hangingPunct="1">
              <a:lnSpc>
                <a:spcPct val="80000"/>
              </a:lnSpc>
              <a:buNone/>
            </a:pPr>
            <a:r>
              <a:rPr sz="2400" b="1" dirty="0">
                <a:solidFill>
                  <a:srgbClr val="FF0000"/>
                </a:solidFill>
              </a:rPr>
              <a:t>INDUCTION: </a:t>
            </a:r>
            <a:r>
              <a:rPr sz="2400" dirty="0"/>
              <a:t>Suppose w is of the form w=xa where a is the final symbol of w and x is the rest of w. Note that a</a:t>
            </a:r>
            <a:r>
              <a:rPr lang="az-Cyrl-AZ" altLang="x-none" sz="2400" dirty="0"/>
              <a:t>Є∑</a:t>
            </a:r>
            <a:r>
              <a:rPr sz="2400" dirty="0"/>
              <a:t>  and it cannot be </a:t>
            </a:r>
            <a:r>
              <a:rPr lang="az-Cyrl-AZ" altLang="x-none" sz="2400" dirty="0"/>
              <a:t>Є</a:t>
            </a:r>
            <a:r>
              <a:rPr sz="2400" dirty="0"/>
              <a:t>.</a:t>
            </a:r>
            <a:endParaRPr sz="2400" dirty="0"/>
          </a:p>
          <a:p>
            <a:pPr eaLnBrk="1" hangingPunct="1">
              <a:lnSpc>
                <a:spcPct val="80000"/>
              </a:lnSpc>
              <a:buNone/>
            </a:pPr>
            <a:r>
              <a:rPr sz="2400" dirty="0"/>
              <a:t>                    Then </a:t>
            </a:r>
            <a:r>
              <a:rPr lang="el-GR" altLang="x-none" sz="2400" dirty="0"/>
              <a:t>δ</a:t>
            </a:r>
            <a:r>
              <a:rPr sz="2400" dirty="0"/>
              <a:t>*(q, w)=</a:t>
            </a:r>
            <a:r>
              <a:rPr lang="el-GR" altLang="x-none" sz="2400" dirty="0"/>
              <a:t> δ</a:t>
            </a:r>
            <a:r>
              <a:rPr sz="2400" dirty="0"/>
              <a:t>(</a:t>
            </a:r>
            <a:r>
              <a:rPr lang="el-GR" altLang="x-none" sz="2400" dirty="0"/>
              <a:t>δ</a:t>
            </a:r>
            <a:r>
              <a:rPr sz="2400" dirty="0"/>
              <a:t>*(q, x),a)</a:t>
            </a:r>
            <a:endParaRPr sz="2400" dirty="0"/>
          </a:p>
          <a:p>
            <a:pPr eaLnBrk="1" hangingPunct="1">
              <a:lnSpc>
                <a:spcPct val="80000"/>
              </a:lnSpc>
              <a:buNone/>
            </a:pPr>
            <a:r>
              <a:rPr sz="2400" dirty="0"/>
              <a:t>                    If </a:t>
            </a:r>
            <a:r>
              <a:rPr lang="el-GR" altLang="x-none" sz="2400" dirty="0"/>
              <a:t>δ</a:t>
            </a:r>
            <a:r>
              <a:rPr sz="2400" dirty="0"/>
              <a:t>*(q, x) ={p1, p2,……..pk} then</a:t>
            </a:r>
            <a:endParaRPr sz="2400" dirty="0"/>
          </a:p>
          <a:p>
            <a:pPr eaLnBrk="1" hangingPunct="1">
              <a:lnSpc>
                <a:spcPct val="80000"/>
              </a:lnSpc>
              <a:buNone/>
            </a:pPr>
            <a:r>
              <a:rPr sz="2400" dirty="0"/>
              <a:t>                                                  </a:t>
            </a:r>
            <a:r>
              <a:rPr sz="2400" baseline="-25000" dirty="0"/>
              <a:t>k                               </a:t>
            </a:r>
            <a:endParaRPr sz="2400" baseline="-25000" dirty="0"/>
          </a:p>
          <a:p>
            <a:pPr eaLnBrk="1" hangingPunct="1">
              <a:lnSpc>
                <a:spcPct val="80000"/>
              </a:lnSpc>
              <a:buNone/>
            </a:pPr>
            <a:r>
              <a:rPr sz="2400" dirty="0"/>
              <a:t>     </a:t>
            </a:r>
            <a:r>
              <a:rPr lang="el-GR" altLang="x-none" sz="2400" dirty="0"/>
              <a:t>δ</a:t>
            </a:r>
            <a:r>
              <a:rPr sz="2400" dirty="0"/>
              <a:t>*(q, w)=</a:t>
            </a:r>
            <a:r>
              <a:rPr lang="el-GR" altLang="x-none" sz="2400" dirty="0"/>
              <a:t> δ</a:t>
            </a:r>
            <a:r>
              <a:rPr sz="2400" dirty="0"/>
              <a:t>(</a:t>
            </a:r>
            <a:r>
              <a:rPr lang="el-GR" altLang="x-none" sz="2400" dirty="0"/>
              <a:t>δ</a:t>
            </a:r>
            <a:r>
              <a:rPr sz="2400" dirty="0"/>
              <a:t>*(q, x),a) = </a:t>
            </a:r>
            <a:r>
              <a:rPr sz="2400" dirty="0">
                <a:latin typeface="Times New Roman" panose="02020603050405020304" pitchFamily="18" charset="0"/>
                <a:cs typeface="Times New Roman" panose="02020603050405020304" pitchFamily="18" charset="0"/>
              </a:rPr>
              <a:t>Ụ </a:t>
            </a:r>
            <a:r>
              <a:rPr lang="el-GR" altLang="x-none" sz="2400" dirty="0">
                <a:latin typeface="Times New Roman" panose="02020603050405020304" pitchFamily="18" charset="0"/>
                <a:cs typeface="Times New Roman" panose="02020603050405020304" pitchFamily="18" charset="0"/>
              </a:rPr>
              <a:t>δ</a:t>
            </a:r>
            <a:r>
              <a:rPr sz="2400" dirty="0">
                <a:latin typeface="Times New Roman" panose="02020603050405020304" pitchFamily="18" charset="0"/>
                <a:cs typeface="Times New Roman" panose="02020603050405020304" pitchFamily="18" charset="0"/>
              </a:rPr>
              <a:t>(pi, a) =  {r1,r2</a:t>
            </a:r>
            <a:r>
              <a:rPr sz="2400" dirty="0">
                <a:latin typeface="Times New Roman" panose="02020603050405020304" pitchFamily="18" charset="0"/>
                <a:ea typeface="Times New Roman" panose="02020603050405020304" pitchFamily="18" charset="0"/>
              </a:rPr>
              <a:t>…</a:t>
            </a:r>
            <a:r>
              <a:rPr sz="2400" dirty="0">
                <a:latin typeface="Times New Roman" panose="02020603050405020304" pitchFamily="18" charset="0"/>
                <a:cs typeface="Times New Roman" panose="02020603050405020304" pitchFamily="18" charset="0"/>
              </a:rPr>
              <a:t>rm}</a:t>
            </a:r>
            <a:endParaRPr sz="2400" dirty="0">
              <a:latin typeface="Times New Roman" panose="02020603050405020304" pitchFamily="18" charset="0"/>
              <a:cs typeface="Times New Roman" panose="02020603050405020304" pitchFamily="18" charset="0"/>
            </a:endParaRPr>
          </a:p>
          <a:p>
            <a:pPr eaLnBrk="1" hangingPunct="1">
              <a:lnSpc>
                <a:spcPct val="80000"/>
              </a:lnSpc>
              <a:buNone/>
            </a:pPr>
            <a:r>
              <a:rPr sz="2400" dirty="0">
                <a:latin typeface="Times New Roman" panose="02020603050405020304" pitchFamily="18" charset="0"/>
                <a:cs typeface="Times New Roman" panose="02020603050405020304" pitchFamily="18" charset="0"/>
              </a:rPr>
              <a:t>                                             </a:t>
            </a:r>
            <a:r>
              <a:rPr sz="2400" baseline="30000" dirty="0">
                <a:latin typeface="Times New Roman" panose="02020603050405020304" pitchFamily="18" charset="0"/>
                <a:cs typeface="Times New Roman" panose="02020603050405020304" pitchFamily="18" charset="0"/>
              </a:rPr>
              <a:t>i=1</a:t>
            </a:r>
            <a:r>
              <a:rPr sz="2400" dirty="0">
                <a:latin typeface="Times New Roman" panose="02020603050405020304" pitchFamily="18" charset="0"/>
                <a:cs typeface="Times New Roman" panose="02020603050405020304" pitchFamily="18" charset="0"/>
              </a:rPr>
              <a:t>                </a:t>
            </a:r>
            <a:r>
              <a:rPr sz="2400" baseline="-25000" dirty="0">
                <a:latin typeface="Times New Roman" panose="02020603050405020304" pitchFamily="18" charset="0"/>
                <a:cs typeface="Times New Roman" panose="02020603050405020304" pitchFamily="18" charset="0"/>
              </a:rPr>
              <a:t>m</a:t>
            </a:r>
            <a:endParaRPr sz="2400" baseline="-25000" dirty="0">
              <a:latin typeface="Times New Roman" panose="02020603050405020304" pitchFamily="18" charset="0"/>
              <a:cs typeface="Times New Roman" panose="02020603050405020304" pitchFamily="18" charset="0"/>
            </a:endParaRPr>
          </a:p>
          <a:p>
            <a:pPr eaLnBrk="1" hangingPunct="1">
              <a:lnSpc>
                <a:spcPct val="80000"/>
              </a:lnSpc>
              <a:buNone/>
            </a:pPr>
            <a:r>
              <a:rPr sz="2400" dirty="0">
                <a:latin typeface="Times New Roman" panose="02020603050405020304" pitchFamily="18" charset="0"/>
                <a:cs typeface="Times New Roman" panose="02020603050405020304" pitchFamily="18" charset="0"/>
              </a:rPr>
              <a:t>                                                             = Ụ  ECLOSE( rj )</a:t>
            </a:r>
            <a:endParaRPr sz="2400" dirty="0">
              <a:latin typeface="Times New Roman" panose="02020603050405020304" pitchFamily="18" charset="0"/>
              <a:cs typeface="Times New Roman" panose="02020603050405020304" pitchFamily="18" charset="0"/>
            </a:endParaRPr>
          </a:p>
          <a:p>
            <a:pPr eaLnBrk="1" hangingPunct="1">
              <a:lnSpc>
                <a:spcPct val="80000"/>
              </a:lnSpc>
              <a:buNone/>
            </a:pPr>
            <a:r>
              <a:rPr sz="2400" dirty="0">
                <a:latin typeface="Times New Roman" panose="02020603050405020304" pitchFamily="18" charset="0"/>
                <a:cs typeface="Times New Roman" panose="02020603050405020304" pitchFamily="18" charset="0"/>
              </a:rPr>
              <a:t>                                             </a:t>
            </a:r>
            <a:r>
              <a:rPr sz="2400" baseline="3000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       </a:t>
            </a:r>
            <a:r>
              <a:rPr sz="2400" baseline="30000" dirty="0">
                <a:latin typeface="Times New Roman" panose="02020603050405020304" pitchFamily="18" charset="0"/>
                <a:cs typeface="Times New Roman" panose="02020603050405020304" pitchFamily="18" charset="0"/>
              </a:rPr>
              <a:t>                 j=1</a:t>
            </a:r>
            <a:endParaRPr sz="2400" baseline="30000" dirty="0"/>
          </a:p>
          <a:p>
            <a:pPr eaLnBrk="1" hangingPunct="1">
              <a:lnSpc>
                <a:spcPct val="80000"/>
              </a:lnSpc>
              <a:buNone/>
            </a:pPr>
            <a:endParaRPr sz="2200" dirty="0"/>
          </a:p>
          <a:p>
            <a:pPr eaLnBrk="1" hangingPunct="1">
              <a:lnSpc>
                <a:spcPct val="80000"/>
              </a:lnSpc>
              <a:buNone/>
            </a:pPr>
            <a:endParaRPr sz="1800" dirty="0"/>
          </a:p>
        </p:txBody>
      </p:sp>
      <p:sp>
        <p:nvSpPr>
          <p:cNvPr id="2" name="Footer Placeholder 1"/>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50190" y="3018155"/>
            <a:ext cx="8622030" cy="3632835"/>
          </a:xfrm>
        </p:spPr>
        <p:txBody>
          <a:bodyPr/>
          <a:p>
            <a:pPr algn="l"/>
            <a:r>
              <a:rPr lang="en-GB" sz="2400" b="1" dirty="0">
                <a:solidFill>
                  <a:srgbClr val="0070C0"/>
                </a:solidFill>
                <a:sym typeface="+mn-ea"/>
              </a:rPr>
              <a:t>Use of E</a:t>
            </a:r>
            <a:r>
              <a:rPr sz="2400" b="1" dirty="0">
                <a:solidFill>
                  <a:srgbClr val="0070C0"/>
                </a:solidFill>
                <a:sym typeface="+mn-ea"/>
              </a:rPr>
              <a:t>xtended transition function </a:t>
            </a:r>
            <a:r>
              <a:rPr lang="el-GR" altLang="x-none" sz="2400" b="1" dirty="0">
                <a:solidFill>
                  <a:srgbClr val="0070C0"/>
                </a:solidFill>
                <a:sym typeface="+mn-ea"/>
              </a:rPr>
              <a:t>δ</a:t>
            </a:r>
            <a:r>
              <a:rPr sz="2400" b="1" dirty="0">
                <a:solidFill>
                  <a:srgbClr val="0070C0"/>
                </a:solidFill>
                <a:sym typeface="+mn-ea"/>
              </a:rPr>
              <a:t>*</a:t>
            </a:r>
            <a:r>
              <a:rPr lang="en-GB" altLang="en-US" sz="2400" b="1" dirty="0">
                <a:solidFill>
                  <a:srgbClr val="0070C0"/>
                </a:solidFill>
                <a:sym typeface="+mn-ea"/>
              </a:rPr>
              <a:t> to validate the inputs : </a:t>
            </a:r>
            <a:br>
              <a:rPr lang="en-GB" altLang="en-US" sz="2400" b="1" dirty="0">
                <a:solidFill>
                  <a:srgbClr val="0070C0"/>
                </a:solidFill>
                <a:sym typeface="+mn-ea"/>
              </a:rPr>
            </a:br>
            <a:r>
              <a:rPr lang="en-GB" altLang="el-GR" sz="2400" b="1" dirty="0">
                <a:solidFill>
                  <a:srgbClr val="FF0000"/>
                </a:solidFill>
                <a:sym typeface="+mn-ea"/>
              </a:rPr>
              <a:t>Example -1 - Computation of </a:t>
            </a:r>
            <a:r>
              <a:rPr lang="el-GR" altLang="en-US" sz="2400" b="1" dirty="0">
                <a:solidFill>
                  <a:srgbClr val="FF0000"/>
                </a:solidFill>
                <a:sym typeface="+mn-ea"/>
              </a:rPr>
              <a:t>δ*</a:t>
            </a:r>
            <a:r>
              <a:rPr lang="en-US" altLang="en-US" sz="2400" b="1" dirty="0">
                <a:solidFill>
                  <a:srgbClr val="FF0000"/>
                </a:solidFill>
                <a:sym typeface="+mn-ea"/>
              </a:rPr>
              <a:t>(q0,</a:t>
            </a:r>
            <a:r>
              <a:rPr lang="en-GB" altLang="en-US" sz="2400" b="1" dirty="0">
                <a:solidFill>
                  <a:srgbClr val="FF0000"/>
                </a:solidFill>
                <a:sym typeface="+mn-ea"/>
              </a:rPr>
              <a:t> -2</a:t>
            </a:r>
            <a:r>
              <a:rPr lang="en-GB" altLang="en-US" sz="2400" b="1" dirty="0">
                <a:solidFill>
                  <a:srgbClr val="FF0000"/>
                </a:solidFill>
                <a:latin typeface="Arial" panose="020B0604020202020204" pitchFamily="34" charset="0"/>
                <a:cs typeface="Arial" panose="020B0604020202020204" pitchFamily="34" charset="0"/>
                <a:sym typeface="+mn-ea"/>
              </a:rPr>
              <a:t>•</a:t>
            </a:r>
            <a:r>
              <a:rPr lang="en-GB" altLang="en-US" sz="2400" b="1" dirty="0">
                <a:solidFill>
                  <a:srgbClr val="FF0000"/>
                </a:solidFill>
                <a:sym typeface="+mn-ea"/>
              </a:rPr>
              <a:t>62</a:t>
            </a:r>
            <a:r>
              <a:rPr lang="en-US" altLang="en-US" sz="2400" b="1" dirty="0">
                <a:solidFill>
                  <a:srgbClr val="FF0000"/>
                </a:solidFill>
                <a:sym typeface="+mn-ea"/>
              </a:rPr>
              <a:t>)</a:t>
            </a:r>
            <a:r>
              <a:rPr lang="en-GB" altLang="en-US" sz="2400" b="1" dirty="0">
                <a:solidFill>
                  <a:srgbClr val="FF0000"/>
                </a:solidFill>
                <a:sym typeface="+mn-ea"/>
              </a:rPr>
              <a:t> :</a:t>
            </a:r>
            <a:br>
              <a:rPr lang="en-GB" altLang="en-US" sz="2400" b="1" dirty="0">
                <a:solidFill>
                  <a:srgbClr val="FF0000"/>
                </a:solidFill>
                <a:sym typeface="+mn-ea"/>
              </a:rPr>
            </a:br>
            <a:r>
              <a:rPr lang="el-GR" altLang="en-US" sz="2400" dirty="0">
                <a:sym typeface="+mn-ea"/>
              </a:rPr>
              <a:t>δ*</a:t>
            </a:r>
            <a:r>
              <a:rPr lang="en-US" altLang="en-US" sz="2400" dirty="0">
                <a:sym typeface="+mn-ea"/>
              </a:rPr>
              <a:t>(q0,</a:t>
            </a:r>
            <a:r>
              <a:rPr lang="en-US" altLang="en-US" sz="2400" dirty="0">
                <a:latin typeface="Arial" panose="020B0604020202020204" pitchFamily="34" charset="0"/>
                <a:cs typeface="Arial" panose="020B0604020202020204" pitchFamily="34" charset="0"/>
                <a:sym typeface="+mn-ea"/>
              </a:rPr>
              <a:t>Ԑ</a:t>
            </a:r>
            <a:r>
              <a:rPr lang="en-US" altLang="en-US" sz="2400" dirty="0">
                <a:sym typeface="+mn-ea"/>
              </a:rPr>
              <a:t>)</a:t>
            </a:r>
            <a:r>
              <a:rPr lang="en-GB" altLang="en-US" sz="2400" dirty="0">
                <a:sym typeface="+mn-ea"/>
              </a:rPr>
              <a:t> = </a:t>
            </a:r>
            <a:r>
              <a:rPr lang="az-Cyrl-AZ" sz="2400" noProof="0" dirty="0" smtClean="0">
                <a:ln>
                  <a:noFill/>
                </a:ln>
                <a:solidFill>
                  <a:srgbClr val="FF0000"/>
                </a:solidFill>
                <a:effectLst/>
                <a:uLnTx/>
                <a:uFillTx/>
                <a:latin typeface="+mn-lt"/>
                <a:sym typeface="+mn-ea"/>
              </a:rPr>
              <a:t>Є-closure</a:t>
            </a:r>
            <a:r>
              <a:rPr lang="en-GB" altLang="az-Cyrl-AZ" sz="2400" noProof="0" dirty="0" smtClean="0">
                <a:ln>
                  <a:noFill/>
                </a:ln>
                <a:solidFill>
                  <a:srgbClr val="FF0000"/>
                </a:solidFill>
                <a:effectLst/>
                <a:uLnTx/>
                <a:uFillTx/>
                <a:latin typeface="+mn-lt"/>
                <a:sym typeface="+mn-ea"/>
              </a:rPr>
              <a:t>(</a:t>
            </a:r>
            <a:r>
              <a:rPr lang="en-US" altLang="en-US" sz="2400" dirty="0">
                <a:sym typeface="+mn-ea"/>
              </a:rPr>
              <a:t>q0</a:t>
            </a:r>
            <a:r>
              <a:rPr lang="en-GB" altLang="en-US" sz="2400" dirty="0">
                <a:sym typeface="+mn-ea"/>
              </a:rPr>
              <a:t>) </a:t>
            </a:r>
            <a:r>
              <a:rPr lang="en-GB" altLang="en-US" sz="2400" dirty="0">
                <a:cs typeface="Arial" panose="020B0604020202020204" pitchFamily="34" charset="0"/>
                <a:sym typeface="+mn-ea"/>
              </a:rPr>
              <a:t>→</a:t>
            </a:r>
            <a:r>
              <a:rPr lang="en-GB" altLang="en-US" sz="2400" dirty="0">
                <a:sym typeface="+mn-ea"/>
              </a:rPr>
              <a:t> By Basis</a:t>
            </a:r>
            <a:br>
              <a:rPr lang="en-GB" altLang="en-US" sz="2400" dirty="0">
                <a:sym typeface="+mn-ea"/>
              </a:rPr>
            </a:br>
            <a:r>
              <a:rPr lang="en-GB" altLang="en-US" sz="2400" dirty="0">
                <a:sym typeface="+mn-ea"/>
              </a:rPr>
              <a:t>                 = {q0,q1}</a:t>
            </a:r>
            <a:br>
              <a:rPr lang="en-GB" altLang="en-US" sz="2400" dirty="0">
                <a:sym typeface="+mn-ea"/>
              </a:rPr>
            </a:br>
            <a:r>
              <a:rPr lang="el-GR" altLang="en-US" sz="2400" dirty="0">
                <a:sym typeface="+mn-ea"/>
              </a:rPr>
              <a:t>δ*</a:t>
            </a:r>
            <a:r>
              <a:rPr lang="en-US" altLang="en-US" sz="2400" dirty="0">
                <a:sym typeface="+mn-ea"/>
              </a:rPr>
              <a:t>(q0,</a:t>
            </a:r>
            <a:r>
              <a:rPr lang="en-GB" altLang="en-US" sz="2400" dirty="0">
                <a:sym typeface="+mn-ea"/>
              </a:rPr>
              <a:t>-</a:t>
            </a:r>
            <a:r>
              <a:rPr lang="en-US" altLang="en-US" sz="2400" dirty="0">
                <a:sym typeface="+mn-ea"/>
              </a:rPr>
              <a:t>)</a:t>
            </a:r>
            <a:r>
              <a:rPr lang="en-GB" altLang="en-US" sz="2400" dirty="0">
                <a:sym typeface="+mn-ea"/>
              </a:rPr>
              <a:t> =</a:t>
            </a:r>
            <a:r>
              <a:rPr lang="el-GR" altLang="en-US" sz="2400" dirty="0">
                <a:sym typeface="+mn-ea"/>
              </a:rPr>
              <a:t>δ</a:t>
            </a:r>
            <a:r>
              <a:rPr lang="en-US" altLang="en-US" sz="2400" dirty="0">
                <a:sym typeface="+mn-ea"/>
              </a:rPr>
              <a:t>(</a:t>
            </a:r>
            <a:r>
              <a:rPr lang="el-GR" altLang="en-US" sz="2400" dirty="0">
                <a:sym typeface="+mn-ea"/>
              </a:rPr>
              <a:t>δ*</a:t>
            </a:r>
            <a:r>
              <a:rPr lang="en-US" altLang="en-US" sz="2400" dirty="0">
                <a:sym typeface="+mn-ea"/>
              </a:rPr>
              <a:t>(q0,</a:t>
            </a:r>
            <a:r>
              <a:rPr lang="en-US" altLang="en-US" sz="2400" dirty="0">
                <a:latin typeface="Arial" panose="020B0604020202020204" pitchFamily="34" charset="0"/>
                <a:cs typeface="Arial" panose="020B0604020202020204" pitchFamily="34" charset="0"/>
                <a:sym typeface="+mn-ea"/>
              </a:rPr>
              <a:t>Ԑ</a:t>
            </a:r>
            <a:r>
              <a:rPr lang="en-US" altLang="en-US" sz="2400" dirty="0">
                <a:sym typeface="+mn-ea"/>
              </a:rPr>
              <a:t>)</a:t>
            </a:r>
            <a:r>
              <a:rPr lang="en-GB" altLang="en-US" sz="2400" dirty="0">
                <a:sym typeface="+mn-ea"/>
              </a:rPr>
              <a:t>,-) = </a:t>
            </a:r>
            <a:r>
              <a:rPr lang="el-GR" altLang="en-US" sz="2400" dirty="0">
                <a:sym typeface="+mn-ea"/>
              </a:rPr>
              <a:t>δ</a:t>
            </a:r>
            <a:r>
              <a:rPr lang="en-US" altLang="en-US" sz="2400" dirty="0">
                <a:sym typeface="+mn-ea"/>
              </a:rPr>
              <a:t>(</a:t>
            </a:r>
            <a:r>
              <a:rPr lang="en-GB" altLang="en-US" sz="2400" dirty="0">
                <a:sym typeface="+mn-ea"/>
              </a:rPr>
              <a:t>{</a:t>
            </a:r>
            <a:r>
              <a:rPr lang="en-US" altLang="en-US" sz="2400" dirty="0">
                <a:sym typeface="+mn-ea"/>
              </a:rPr>
              <a:t>q0</a:t>
            </a:r>
            <a:r>
              <a:rPr lang="en-GB" altLang="en-US" sz="2400" dirty="0">
                <a:sym typeface="+mn-ea"/>
              </a:rPr>
              <a:t>,q1}</a:t>
            </a:r>
            <a:r>
              <a:rPr lang="en-US" altLang="en-US" sz="2400" dirty="0">
                <a:sym typeface="+mn-ea"/>
              </a:rPr>
              <a:t>,</a:t>
            </a:r>
            <a:r>
              <a:rPr lang="en-GB" altLang="en-US" sz="2400" dirty="0">
                <a:sym typeface="+mn-ea"/>
              </a:rPr>
              <a:t>-</a:t>
            </a:r>
            <a:r>
              <a:rPr lang="en-US" altLang="en-US" sz="2400" dirty="0">
                <a:sym typeface="+mn-ea"/>
              </a:rPr>
              <a:t>)</a:t>
            </a:r>
            <a:r>
              <a:rPr lang="en-GB" altLang="en-US" sz="2400" dirty="0">
                <a:sym typeface="+mn-ea"/>
              </a:rPr>
              <a:t> </a:t>
            </a:r>
            <a:r>
              <a:rPr lang="en-GB" altLang="en-US" sz="2400" dirty="0">
                <a:cs typeface="Arial" panose="020B0604020202020204" pitchFamily="34" charset="0"/>
                <a:sym typeface="+mn-ea"/>
              </a:rPr>
              <a:t>← By</a:t>
            </a:r>
            <a:r>
              <a:rPr lang="en-GB" altLang="en-US" sz="2400" dirty="0">
                <a:sym typeface="+mn-ea"/>
              </a:rPr>
              <a:t> induction </a:t>
            </a:r>
            <a:br>
              <a:rPr lang="en-GB" altLang="en-US" sz="2400" b="1" dirty="0">
                <a:solidFill>
                  <a:srgbClr val="FF0000"/>
                </a:solidFill>
                <a:sym typeface="+mn-ea"/>
              </a:rPr>
            </a:br>
            <a:r>
              <a:rPr lang="en-GB" altLang="en-US" sz="2400" b="1" dirty="0">
                <a:solidFill>
                  <a:srgbClr val="FF0000"/>
                </a:solidFill>
                <a:sym typeface="+mn-ea"/>
              </a:rPr>
              <a:t>                                         = </a:t>
            </a:r>
            <a:r>
              <a:rPr lang="el-GR" altLang="en-US" sz="2400" dirty="0">
                <a:sym typeface="+mn-ea"/>
              </a:rPr>
              <a:t>δ</a:t>
            </a:r>
            <a:r>
              <a:rPr lang="en-US" altLang="en-US" sz="2400" dirty="0">
                <a:sym typeface="+mn-ea"/>
              </a:rPr>
              <a:t>(</a:t>
            </a:r>
            <a:r>
              <a:rPr lang="en-GB" altLang="en-US" sz="2400" dirty="0">
                <a:sym typeface="+mn-ea"/>
              </a:rPr>
              <a:t>{</a:t>
            </a:r>
            <a:r>
              <a:rPr lang="en-US" altLang="en-US" sz="2400" dirty="0">
                <a:sym typeface="+mn-ea"/>
              </a:rPr>
              <a:t>q0</a:t>
            </a:r>
            <a:r>
              <a:rPr lang="en-GB" altLang="en-US" sz="2400" dirty="0">
                <a:sym typeface="+mn-ea"/>
              </a:rPr>
              <a:t>,-</a:t>
            </a:r>
            <a:r>
              <a:rPr lang="en-US" altLang="en-US" sz="2400" dirty="0">
                <a:sym typeface="+mn-ea"/>
              </a:rPr>
              <a:t>)</a:t>
            </a:r>
            <a:r>
              <a:rPr lang="en-GB" altLang="en-US" sz="2400" dirty="0">
                <a:sym typeface="+mn-ea"/>
              </a:rPr>
              <a:t> </a:t>
            </a:r>
            <a:r>
              <a:rPr lang="en-GB" altLang="en-US" sz="2400" dirty="0">
                <a:latin typeface="Arial" panose="020B0604020202020204" pitchFamily="34" charset="0"/>
                <a:cs typeface="Arial" panose="020B0604020202020204" pitchFamily="34" charset="0"/>
                <a:sym typeface="+mn-ea"/>
              </a:rPr>
              <a:t>Ụ </a:t>
            </a:r>
            <a:r>
              <a:rPr lang="el-GR" altLang="en-US" sz="2400" dirty="0">
                <a:sym typeface="+mn-ea"/>
              </a:rPr>
              <a:t>δ</a:t>
            </a:r>
            <a:r>
              <a:rPr lang="en-US" altLang="en-US" sz="2400" dirty="0">
                <a:sym typeface="+mn-ea"/>
              </a:rPr>
              <a:t>(</a:t>
            </a:r>
            <a:r>
              <a:rPr lang="en-GB" altLang="en-US" sz="2400" dirty="0">
                <a:sym typeface="+mn-ea"/>
              </a:rPr>
              <a:t>q1</a:t>
            </a:r>
            <a:r>
              <a:rPr lang="en-US" altLang="en-US" sz="2400" dirty="0">
                <a:sym typeface="+mn-ea"/>
              </a:rPr>
              <a:t>,</a:t>
            </a:r>
            <a:r>
              <a:rPr lang="en-GB" altLang="en-US" sz="2400" dirty="0">
                <a:sym typeface="+mn-ea"/>
              </a:rPr>
              <a:t>-</a:t>
            </a:r>
            <a:r>
              <a:rPr lang="en-US" altLang="en-US" sz="2400" dirty="0">
                <a:sym typeface="+mn-ea"/>
              </a:rPr>
              <a:t>)</a:t>
            </a:r>
            <a:br>
              <a:rPr lang="en-US" altLang="en-US" sz="2400" dirty="0">
                <a:sym typeface="+mn-ea"/>
              </a:rPr>
            </a:br>
            <a:r>
              <a:rPr lang="en-US" altLang="en-US" sz="2400" dirty="0">
                <a:sym typeface="+mn-ea"/>
              </a:rPr>
              <a:t> </a:t>
            </a:r>
            <a:r>
              <a:rPr lang="en-GB" altLang="en-US" sz="2400" dirty="0">
                <a:sym typeface="+mn-ea"/>
              </a:rPr>
              <a:t>                                        = { q1} </a:t>
            </a:r>
            <a:r>
              <a:rPr lang="en-GB" altLang="en-US" sz="2400" dirty="0">
                <a:latin typeface="Arial" panose="020B0604020202020204" pitchFamily="34" charset="0"/>
                <a:cs typeface="Arial" panose="020B0604020202020204" pitchFamily="34" charset="0"/>
                <a:sym typeface="+mn-ea"/>
              </a:rPr>
              <a:t>Ụ {Ø}</a:t>
            </a:r>
            <a:br>
              <a:rPr lang="en-GB" altLang="en-US" sz="2400" dirty="0">
                <a:latin typeface="Arial" panose="020B0604020202020204" pitchFamily="34" charset="0"/>
                <a:cs typeface="Arial" panose="020B0604020202020204" pitchFamily="34" charset="0"/>
                <a:sym typeface="+mn-ea"/>
              </a:rPr>
            </a:br>
            <a:r>
              <a:rPr lang="en-GB" altLang="en-US" sz="2400" dirty="0">
                <a:latin typeface="Arial" panose="020B0604020202020204" pitchFamily="34" charset="0"/>
                <a:cs typeface="Arial" panose="020B0604020202020204" pitchFamily="34" charset="0"/>
                <a:sym typeface="+mn-ea"/>
              </a:rPr>
              <a:t>                                  = {q1}</a:t>
            </a:r>
            <a:br>
              <a:rPr lang="en-GB" altLang="en-US" sz="2400" dirty="0">
                <a:latin typeface="Arial" panose="020B0604020202020204" pitchFamily="34" charset="0"/>
                <a:cs typeface="Arial" panose="020B0604020202020204" pitchFamily="34" charset="0"/>
                <a:sym typeface="+mn-ea"/>
              </a:rPr>
            </a:br>
            <a:r>
              <a:rPr lang="en-GB" altLang="en-US" sz="2400" dirty="0">
                <a:latin typeface="Arial" panose="020B0604020202020204" pitchFamily="34" charset="0"/>
                <a:cs typeface="Arial" panose="020B0604020202020204" pitchFamily="34" charset="0"/>
                <a:sym typeface="+mn-ea"/>
              </a:rPr>
              <a:t>                                  =  </a:t>
            </a:r>
            <a:r>
              <a:rPr lang="az-Cyrl-AZ" sz="2400" noProof="0" dirty="0" smtClean="0">
                <a:ln>
                  <a:noFill/>
                </a:ln>
                <a:solidFill>
                  <a:srgbClr val="FF0000"/>
                </a:solidFill>
                <a:effectLst/>
                <a:uLnTx/>
                <a:uFillTx/>
                <a:latin typeface="+mn-lt"/>
                <a:sym typeface="+mn-ea"/>
              </a:rPr>
              <a:t>Є-closure</a:t>
            </a:r>
            <a:r>
              <a:rPr lang="en-GB" altLang="az-Cyrl-AZ" sz="2400" noProof="0" dirty="0" smtClean="0">
                <a:ln>
                  <a:noFill/>
                </a:ln>
                <a:solidFill>
                  <a:srgbClr val="FF0000"/>
                </a:solidFill>
                <a:effectLst/>
                <a:uLnTx/>
                <a:uFillTx/>
                <a:latin typeface="+mn-lt"/>
                <a:sym typeface="+mn-ea"/>
              </a:rPr>
              <a:t>(</a:t>
            </a:r>
            <a:r>
              <a:rPr lang="en-US" altLang="en-US" sz="2400" dirty="0">
                <a:sym typeface="+mn-ea"/>
              </a:rPr>
              <a:t>q</a:t>
            </a:r>
            <a:r>
              <a:rPr lang="en-GB" altLang="en-US" sz="2400" dirty="0">
                <a:sym typeface="+mn-ea"/>
              </a:rPr>
              <a:t>1) </a:t>
            </a:r>
            <a:r>
              <a:rPr lang="en-GB" altLang="en-US" sz="2400" dirty="0">
                <a:latin typeface="Arial" panose="020B0604020202020204" pitchFamily="34" charset="0"/>
                <a:cs typeface="Arial" panose="020B0604020202020204" pitchFamily="34" charset="0"/>
                <a:sym typeface="+mn-ea"/>
              </a:rPr>
              <a:t>← By Induction</a:t>
            </a:r>
            <a:br>
              <a:rPr lang="en-GB" altLang="en-US" sz="2400" dirty="0">
                <a:latin typeface="Arial" panose="020B0604020202020204" pitchFamily="34" charset="0"/>
                <a:cs typeface="Arial" panose="020B0604020202020204" pitchFamily="34" charset="0"/>
                <a:sym typeface="+mn-ea"/>
              </a:rPr>
            </a:br>
            <a:r>
              <a:rPr lang="en-GB" altLang="en-US" sz="2400" dirty="0">
                <a:latin typeface="Arial" panose="020B0604020202020204" pitchFamily="34" charset="0"/>
                <a:cs typeface="Arial" panose="020B0604020202020204" pitchFamily="34" charset="0"/>
                <a:sym typeface="+mn-ea"/>
              </a:rPr>
              <a:t>                                  = {q1}</a:t>
            </a:r>
            <a:br>
              <a:rPr lang="en-GB" altLang="en-US" sz="2400" dirty="0">
                <a:latin typeface="Arial" panose="020B0604020202020204" pitchFamily="34" charset="0"/>
                <a:cs typeface="Arial" panose="020B0604020202020204" pitchFamily="34" charset="0"/>
                <a:sym typeface="+mn-ea"/>
              </a:rPr>
            </a:br>
            <a:r>
              <a:rPr lang="en-GB" altLang="en-US" sz="2400" dirty="0">
                <a:latin typeface="Arial" panose="020B0604020202020204" pitchFamily="34" charset="0"/>
                <a:cs typeface="Arial" panose="020B0604020202020204" pitchFamily="34" charset="0"/>
                <a:sym typeface="+mn-ea"/>
              </a:rPr>
              <a:t> </a:t>
            </a:r>
            <a:br>
              <a:rPr lang="en-GB" altLang="en-US" sz="2400" dirty="0">
                <a:latin typeface="Arial" panose="020B0604020202020204" pitchFamily="34" charset="0"/>
                <a:cs typeface="Arial" panose="020B0604020202020204" pitchFamily="34" charset="0"/>
                <a:sym typeface="+mn-ea"/>
              </a:rPr>
            </a:br>
            <a:endParaRPr lang="en-GB" altLang="en-US" sz="2400" b="1" dirty="0">
              <a:solidFill>
                <a:srgbClr val="0070C0"/>
              </a:solidFill>
              <a:latin typeface="Arial" panose="020B0604020202020204" pitchFamily="34" charset="0"/>
              <a:cs typeface="Arial" panose="020B0604020202020204" pitchFamily="34" charset="0"/>
              <a:sym typeface="+mn-ea"/>
            </a:endParaRPr>
          </a:p>
        </p:txBody>
      </p:sp>
      <p:pic>
        <p:nvPicPr>
          <p:cNvPr id="4" name="Content Placeholder 3" descr="MMM NFA"/>
          <p:cNvPicPr>
            <a:picLocks noChangeAspect="1"/>
          </p:cNvPicPr>
          <p:nvPr>
            <p:ph idx="1"/>
          </p:nvPr>
        </p:nvPicPr>
        <p:blipFill>
          <a:blip r:embed="rId1"/>
          <a:stretch>
            <a:fillRect/>
          </a:stretch>
        </p:blipFill>
        <p:spPr>
          <a:xfrm>
            <a:off x="252095" y="201295"/>
            <a:ext cx="8516620" cy="2364105"/>
          </a:xfrm>
          <a:prstGeom prst="rect">
            <a:avLst/>
          </a:prstGeom>
        </p:spPr>
      </p:pic>
      <p:sp>
        <p:nvSpPr>
          <p:cNvPr id="3" name="Footer Placeholder 2"/>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1"/>
          <p:cNvSpPr>
            <a:spLocks noGrp="1"/>
          </p:cNvSpPr>
          <p:nvPr/>
        </p:nvSpPr>
        <p:spPr>
          <a:xfrm>
            <a:off x="250190" y="220980"/>
            <a:ext cx="8622030" cy="6581775"/>
          </a:xfrm>
          <a:prstGeom prst="rect">
            <a:avLst/>
          </a:prstGeom>
          <a:noFill/>
          <a:ln w="9525">
            <a:noFill/>
          </a:ln>
        </p:spPr>
        <p:txBody>
          <a:bodyPr anchor="ctr" anchorCtr="0"/>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a:lstStyle>
          <a:p>
            <a:pPr algn="l"/>
            <a:endParaRPr lang="en-GB" sz="2400" b="1" dirty="0">
              <a:solidFill>
                <a:srgbClr val="0070C0"/>
              </a:solidFill>
              <a:sym typeface="+mn-ea"/>
            </a:endParaRPr>
          </a:p>
          <a:p>
            <a:pPr algn="l"/>
            <a:endParaRPr lang="en-GB" sz="2400" b="1" dirty="0">
              <a:solidFill>
                <a:srgbClr val="0070C0"/>
              </a:solidFill>
              <a:sym typeface="+mn-ea"/>
            </a:endParaRPr>
          </a:p>
          <a:p>
            <a:pPr algn="l"/>
            <a:endParaRPr lang="en-GB" sz="2400" b="1" dirty="0">
              <a:solidFill>
                <a:srgbClr val="0070C0"/>
              </a:solidFill>
              <a:sym typeface="+mn-ea"/>
            </a:endParaRPr>
          </a:p>
          <a:p>
            <a:pPr algn="l"/>
            <a:endParaRPr lang="en-GB" sz="2400" b="1" dirty="0">
              <a:solidFill>
                <a:srgbClr val="0070C0"/>
              </a:solidFill>
              <a:sym typeface="+mn-ea"/>
            </a:endParaRPr>
          </a:p>
          <a:p>
            <a:pPr algn="l"/>
            <a:endParaRPr lang="en-GB" sz="2400" b="1" dirty="0">
              <a:solidFill>
                <a:srgbClr val="0070C0"/>
              </a:solidFill>
              <a:sym typeface="+mn-ea"/>
            </a:endParaRPr>
          </a:p>
          <a:p>
            <a:pPr algn="l"/>
            <a:r>
              <a:rPr lang="en-GB" sz="2400" b="1" dirty="0">
                <a:solidFill>
                  <a:srgbClr val="0070C0"/>
                </a:solidFill>
                <a:sym typeface="+mn-ea"/>
              </a:rPr>
              <a:t>Use of E</a:t>
            </a:r>
            <a:r>
              <a:rPr sz="2400" b="1" dirty="0">
                <a:solidFill>
                  <a:srgbClr val="0070C0"/>
                </a:solidFill>
                <a:sym typeface="+mn-ea"/>
              </a:rPr>
              <a:t>xtended transition function </a:t>
            </a:r>
            <a:r>
              <a:rPr lang="el-GR" altLang="x-none" sz="2400" b="1" dirty="0">
                <a:solidFill>
                  <a:srgbClr val="0070C0"/>
                </a:solidFill>
                <a:sym typeface="+mn-ea"/>
              </a:rPr>
              <a:t>δ</a:t>
            </a:r>
            <a:r>
              <a:rPr sz="2400" b="1" dirty="0">
                <a:solidFill>
                  <a:srgbClr val="0070C0"/>
                </a:solidFill>
                <a:sym typeface="+mn-ea"/>
              </a:rPr>
              <a:t>*</a:t>
            </a:r>
            <a:r>
              <a:rPr lang="en-GB" altLang="en-US" sz="2400" b="1" dirty="0">
                <a:solidFill>
                  <a:srgbClr val="0070C0"/>
                </a:solidFill>
                <a:sym typeface="+mn-ea"/>
              </a:rPr>
              <a:t> to validate the inputs : </a:t>
            </a:r>
            <a:br>
              <a:rPr lang="en-GB" altLang="en-US" sz="2400" b="1" dirty="0">
                <a:solidFill>
                  <a:srgbClr val="0070C0"/>
                </a:solidFill>
                <a:sym typeface="+mn-ea"/>
              </a:rPr>
            </a:br>
            <a:r>
              <a:rPr lang="en-GB" altLang="el-GR" sz="2400" b="1" dirty="0">
                <a:solidFill>
                  <a:srgbClr val="FF0000"/>
                </a:solidFill>
                <a:sym typeface="+mn-ea"/>
              </a:rPr>
              <a:t>Example -1 - Computation of </a:t>
            </a:r>
            <a:r>
              <a:rPr lang="el-GR" altLang="en-US" sz="2400" b="1" dirty="0">
                <a:solidFill>
                  <a:srgbClr val="FF0000"/>
                </a:solidFill>
                <a:sym typeface="+mn-ea"/>
              </a:rPr>
              <a:t>δ*</a:t>
            </a:r>
            <a:r>
              <a:rPr lang="en-US" altLang="en-US" sz="2400" b="1" dirty="0">
                <a:solidFill>
                  <a:srgbClr val="FF0000"/>
                </a:solidFill>
                <a:sym typeface="+mn-ea"/>
              </a:rPr>
              <a:t>(q0,</a:t>
            </a:r>
            <a:r>
              <a:rPr lang="en-GB" altLang="en-US" sz="2400" b="1" dirty="0">
                <a:solidFill>
                  <a:srgbClr val="FF0000"/>
                </a:solidFill>
                <a:sym typeface="+mn-ea"/>
              </a:rPr>
              <a:t> -2</a:t>
            </a:r>
            <a:r>
              <a:rPr lang="en-GB" altLang="en-US" sz="2400" b="1" dirty="0">
                <a:solidFill>
                  <a:srgbClr val="FF0000"/>
                </a:solidFill>
                <a:latin typeface="Arial" panose="020B0604020202020204" pitchFamily="34" charset="0"/>
                <a:cs typeface="Arial" panose="020B0604020202020204" pitchFamily="34" charset="0"/>
                <a:sym typeface="+mn-ea"/>
              </a:rPr>
              <a:t>•</a:t>
            </a:r>
            <a:r>
              <a:rPr lang="en-GB" altLang="en-US" sz="2400" b="1" dirty="0">
                <a:solidFill>
                  <a:srgbClr val="FF0000"/>
                </a:solidFill>
                <a:sym typeface="+mn-ea"/>
              </a:rPr>
              <a:t>62</a:t>
            </a:r>
            <a:r>
              <a:rPr lang="en-US" altLang="en-US" sz="2400" b="1" dirty="0">
                <a:solidFill>
                  <a:srgbClr val="FF0000"/>
                </a:solidFill>
                <a:sym typeface="+mn-ea"/>
              </a:rPr>
              <a:t>)</a:t>
            </a:r>
            <a:r>
              <a:rPr lang="en-GB" altLang="en-US" sz="2400" b="1" dirty="0">
                <a:solidFill>
                  <a:srgbClr val="FF0000"/>
                </a:solidFill>
                <a:sym typeface="+mn-ea"/>
              </a:rPr>
              <a:t> :</a:t>
            </a:r>
            <a:br>
              <a:rPr lang="en-GB" altLang="en-US" sz="2400" b="1" dirty="0">
                <a:solidFill>
                  <a:srgbClr val="FF0000"/>
                </a:solidFill>
                <a:sym typeface="+mn-ea"/>
              </a:rPr>
            </a:br>
            <a:r>
              <a:rPr lang="el-GR" altLang="en-US" sz="2400" dirty="0">
                <a:sym typeface="+mn-ea"/>
              </a:rPr>
              <a:t>δ*</a:t>
            </a:r>
            <a:r>
              <a:rPr lang="en-US" altLang="en-US" sz="2400" dirty="0">
                <a:sym typeface="+mn-ea"/>
              </a:rPr>
              <a:t>(q0,</a:t>
            </a:r>
            <a:r>
              <a:rPr lang="en-GB" altLang="en-US" sz="2400" dirty="0">
                <a:sym typeface="+mn-ea"/>
              </a:rPr>
              <a:t>-2</a:t>
            </a:r>
            <a:r>
              <a:rPr lang="en-US" altLang="en-US" sz="2400" dirty="0">
                <a:sym typeface="+mn-ea"/>
              </a:rPr>
              <a:t>)</a:t>
            </a:r>
            <a:r>
              <a:rPr lang="en-GB" altLang="en-US" sz="2400" dirty="0">
                <a:sym typeface="+mn-ea"/>
              </a:rPr>
              <a:t> =</a:t>
            </a:r>
            <a:r>
              <a:rPr lang="el-GR" altLang="en-US" sz="2400" dirty="0">
                <a:sym typeface="+mn-ea"/>
              </a:rPr>
              <a:t>δ</a:t>
            </a:r>
            <a:r>
              <a:rPr lang="en-US" altLang="en-US" sz="2400" dirty="0">
                <a:sym typeface="+mn-ea"/>
              </a:rPr>
              <a:t>(</a:t>
            </a:r>
            <a:r>
              <a:rPr lang="el-GR" altLang="en-US" sz="2400" dirty="0">
                <a:sym typeface="+mn-ea"/>
              </a:rPr>
              <a:t>δ*</a:t>
            </a:r>
            <a:r>
              <a:rPr lang="en-US" altLang="en-US" sz="2400" dirty="0">
                <a:sym typeface="+mn-ea"/>
              </a:rPr>
              <a:t>(q0,</a:t>
            </a:r>
            <a:r>
              <a:rPr lang="en-GB" altLang="en-US" sz="2400" dirty="0">
                <a:sym typeface="+mn-ea"/>
              </a:rPr>
              <a:t>-</a:t>
            </a:r>
            <a:r>
              <a:rPr lang="en-US" altLang="en-US" sz="2400" dirty="0">
                <a:sym typeface="+mn-ea"/>
              </a:rPr>
              <a:t>)</a:t>
            </a:r>
            <a:r>
              <a:rPr lang="en-GB" altLang="en-US" sz="2400" dirty="0">
                <a:sym typeface="+mn-ea"/>
              </a:rPr>
              <a:t>, 2) = </a:t>
            </a:r>
            <a:r>
              <a:rPr lang="el-GR" altLang="en-US" sz="2400" dirty="0">
                <a:sym typeface="+mn-ea"/>
              </a:rPr>
              <a:t>δ</a:t>
            </a:r>
            <a:r>
              <a:rPr lang="en-US" altLang="en-US" sz="2400" dirty="0">
                <a:sym typeface="+mn-ea"/>
              </a:rPr>
              <a:t>(</a:t>
            </a:r>
            <a:r>
              <a:rPr lang="en-GB" altLang="en-US" sz="2400" dirty="0">
                <a:sym typeface="+mn-ea"/>
              </a:rPr>
              <a:t>{q1}</a:t>
            </a:r>
            <a:r>
              <a:rPr lang="en-US" altLang="en-US" sz="2400" dirty="0">
                <a:sym typeface="+mn-ea"/>
              </a:rPr>
              <a:t>,</a:t>
            </a:r>
            <a:r>
              <a:rPr lang="en-GB" altLang="en-US" sz="2400" dirty="0">
                <a:sym typeface="+mn-ea"/>
              </a:rPr>
              <a:t> 2</a:t>
            </a:r>
            <a:r>
              <a:rPr lang="en-US" altLang="en-US" sz="2400" dirty="0">
                <a:sym typeface="+mn-ea"/>
              </a:rPr>
              <a:t>)</a:t>
            </a:r>
            <a:r>
              <a:rPr lang="en-GB" altLang="en-US" sz="2400" dirty="0">
                <a:sym typeface="+mn-ea"/>
              </a:rPr>
              <a:t> </a:t>
            </a:r>
            <a:r>
              <a:rPr lang="en-GB" altLang="en-US" sz="2400" dirty="0">
                <a:cs typeface="Arial" panose="020B0604020202020204" pitchFamily="34" charset="0"/>
                <a:sym typeface="+mn-ea"/>
              </a:rPr>
              <a:t>← By</a:t>
            </a:r>
            <a:r>
              <a:rPr lang="en-GB" altLang="en-US" sz="2400" dirty="0">
                <a:sym typeface="+mn-ea"/>
              </a:rPr>
              <a:t> induction </a:t>
            </a:r>
            <a:br>
              <a:rPr lang="en-GB" altLang="en-US" sz="2400" b="1" dirty="0">
                <a:solidFill>
                  <a:srgbClr val="FF0000"/>
                </a:solidFill>
                <a:sym typeface="+mn-ea"/>
              </a:rPr>
            </a:br>
            <a:r>
              <a:rPr lang="en-GB" altLang="en-US" sz="2400" b="1" dirty="0">
                <a:solidFill>
                  <a:srgbClr val="FF0000"/>
                </a:solidFill>
                <a:sym typeface="+mn-ea"/>
              </a:rPr>
              <a:t>                                            = </a:t>
            </a:r>
            <a:r>
              <a:rPr lang="el-GR" altLang="en-US" sz="2400" dirty="0">
                <a:sym typeface="+mn-ea"/>
              </a:rPr>
              <a:t>δ</a:t>
            </a:r>
            <a:r>
              <a:rPr lang="en-US" altLang="en-US" sz="2400" dirty="0">
                <a:sym typeface="+mn-ea"/>
              </a:rPr>
              <a:t>(</a:t>
            </a:r>
            <a:r>
              <a:rPr lang="en-GB" altLang="en-US" sz="2400" dirty="0">
                <a:sym typeface="+mn-ea"/>
              </a:rPr>
              <a:t>{</a:t>
            </a:r>
            <a:r>
              <a:rPr lang="en-US" altLang="en-US" sz="2400" dirty="0">
                <a:sym typeface="+mn-ea"/>
              </a:rPr>
              <a:t>q</a:t>
            </a:r>
            <a:r>
              <a:rPr lang="en-GB" altLang="en-US" sz="2400" dirty="0">
                <a:sym typeface="+mn-ea"/>
              </a:rPr>
              <a:t>1}, 2</a:t>
            </a:r>
            <a:r>
              <a:rPr lang="en-US" altLang="en-US" sz="2400" dirty="0">
                <a:sym typeface="+mn-ea"/>
              </a:rPr>
              <a:t>)</a:t>
            </a:r>
            <a:r>
              <a:rPr lang="en-GB" altLang="en-US" sz="2400" dirty="0">
                <a:sym typeface="+mn-ea"/>
              </a:rPr>
              <a:t> </a:t>
            </a:r>
            <a:br>
              <a:rPr lang="en-US" altLang="en-US" sz="2400" dirty="0">
                <a:sym typeface="+mn-ea"/>
              </a:rPr>
            </a:br>
            <a:r>
              <a:rPr lang="en-US" altLang="en-US" sz="2400" dirty="0">
                <a:sym typeface="+mn-ea"/>
              </a:rPr>
              <a:t> </a:t>
            </a:r>
            <a:r>
              <a:rPr lang="en-GB" altLang="en-US" sz="2400" dirty="0">
                <a:sym typeface="+mn-ea"/>
              </a:rPr>
              <a:t>                                           = { q1, q4} </a:t>
            </a:r>
            <a:br>
              <a:rPr lang="en-GB" altLang="en-US" sz="2400" dirty="0">
                <a:latin typeface="Arial" panose="020B0604020202020204" pitchFamily="34" charset="0"/>
                <a:cs typeface="Arial" panose="020B0604020202020204" pitchFamily="34" charset="0"/>
                <a:sym typeface="+mn-ea"/>
              </a:rPr>
            </a:br>
            <a:r>
              <a:rPr lang="en-GB" altLang="en-US" sz="2400" dirty="0">
                <a:latin typeface="Arial" panose="020B0604020202020204" pitchFamily="34" charset="0"/>
                <a:cs typeface="Arial" panose="020B0604020202020204" pitchFamily="34" charset="0"/>
                <a:sym typeface="+mn-ea"/>
              </a:rPr>
              <a:t>                                    =  </a:t>
            </a:r>
            <a:r>
              <a:rPr lang="az-Cyrl-AZ" sz="2400" noProof="0" dirty="0" smtClean="0">
                <a:ln>
                  <a:noFill/>
                </a:ln>
                <a:solidFill>
                  <a:srgbClr val="FF0000"/>
                </a:solidFill>
                <a:effectLst/>
                <a:uLnTx/>
                <a:uFillTx/>
                <a:latin typeface="+mn-lt"/>
                <a:sym typeface="+mn-ea"/>
              </a:rPr>
              <a:t>Є-closure</a:t>
            </a:r>
            <a:r>
              <a:rPr lang="en-GB" altLang="az-Cyrl-AZ" sz="2400" noProof="0" dirty="0" smtClean="0">
                <a:ln>
                  <a:noFill/>
                </a:ln>
                <a:solidFill>
                  <a:srgbClr val="FF0000"/>
                </a:solidFill>
                <a:effectLst/>
                <a:uLnTx/>
                <a:uFillTx/>
                <a:latin typeface="+mn-lt"/>
                <a:sym typeface="+mn-ea"/>
              </a:rPr>
              <a:t>(</a:t>
            </a:r>
            <a:r>
              <a:rPr lang="en-US" altLang="en-US" sz="2400" dirty="0">
                <a:sym typeface="+mn-ea"/>
              </a:rPr>
              <a:t>q</a:t>
            </a:r>
            <a:r>
              <a:rPr lang="en-GB" altLang="en-US" sz="2400" dirty="0">
                <a:sym typeface="+mn-ea"/>
              </a:rPr>
              <a:t>1,q4) </a:t>
            </a:r>
            <a:r>
              <a:rPr lang="en-GB" altLang="en-US" sz="2400" dirty="0">
                <a:latin typeface="Arial" panose="020B0604020202020204" pitchFamily="34" charset="0"/>
                <a:cs typeface="Arial" panose="020B0604020202020204" pitchFamily="34" charset="0"/>
                <a:sym typeface="+mn-ea"/>
              </a:rPr>
              <a:t>← By Induction</a:t>
            </a:r>
            <a:br>
              <a:rPr lang="en-GB" altLang="en-US" sz="2400" dirty="0">
                <a:latin typeface="Arial" panose="020B0604020202020204" pitchFamily="34" charset="0"/>
                <a:cs typeface="Arial" panose="020B0604020202020204" pitchFamily="34" charset="0"/>
                <a:sym typeface="+mn-ea"/>
              </a:rPr>
            </a:br>
            <a:r>
              <a:rPr lang="en-GB" altLang="en-US" sz="2400" dirty="0">
                <a:latin typeface="Arial" panose="020B0604020202020204" pitchFamily="34" charset="0"/>
                <a:cs typeface="Arial" panose="020B0604020202020204" pitchFamily="34" charset="0"/>
                <a:sym typeface="+mn-ea"/>
              </a:rPr>
              <a:t>                                    = {q1,q4}</a:t>
            </a:r>
            <a:endParaRPr lang="en-GB" altLang="en-US" sz="2400" dirty="0">
              <a:latin typeface="Arial" panose="020B0604020202020204" pitchFamily="34" charset="0"/>
              <a:cs typeface="Arial" panose="020B0604020202020204" pitchFamily="34" charset="0"/>
              <a:sym typeface="+mn-ea"/>
            </a:endParaRPr>
          </a:p>
          <a:p>
            <a:pPr algn="l"/>
            <a:r>
              <a:rPr lang="el-GR" altLang="en-US" sz="2400" dirty="0">
                <a:sym typeface="+mn-ea"/>
              </a:rPr>
              <a:t>δ*</a:t>
            </a:r>
            <a:r>
              <a:rPr lang="en-US" altLang="en-US" sz="2400" dirty="0">
                <a:sym typeface="+mn-ea"/>
              </a:rPr>
              <a:t>(q0,</a:t>
            </a:r>
            <a:r>
              <a:rPr lang="en-GB" altLang="en-US" sz="2400" dirty="0">
                <a:sym typeface="+mn-ea"/>
              </a:rPr>
              <a:t>-2</a:t>
            </a:r>
            <a:r>
              <a:rPr lang="en-GB" altLang="en-US" sz="2400" dirty="0">
                <a:latin typeface="Arial" panose="020B0604020202020204" pitchFamily="34" charset="0"/>
                <a:cs typeface="Arial" panose="020B0604020202020204" pitchFamily="34" charset="0"/>
                <a:sym typeface="+mn-ea"/>
              </a:rPr>
              <a:t>•</a:t>
            </a:r>
            <a:r>
              <a:rPr lang="en-US" altLang="en-US" sz="2400" dirty="0">
                <a:sym typeface="+mn-ea"/>
              </a:rPr>
              <a:t>)</a:t>
            </a:r>
            <a:r>
              <a:rPr lang="en-GB" altLang="en-US" sz="2400" dirty="0">
                <a:sym typeface="+mn-ea"/>
              </a:rPr>
              <a:t> =</a:t>
            </a:r>
            <a:r>
              <a:rPr lang="el-GR" altLang="en-US" sz="2400" dirty="0">
                <a:sym typeface="+mn-ea"/>
              </a:rPr>
              <a:t>δ</a:t>
            </a:r>
            <a:r>
              <a:rPr lang="en-US" altLang="en-US" sz="2400" dirty="0">
                <a:sym typeface="+mn-ea"/>
              </a:rPr>
              <a:t>(</a:t>
            </a:r>
            <a:r>
              <a:rPr lang="el-GR" altLang="en-US" sz="2400" dirty="0">
                <a:sym typeface="+mn-ea"/>
              </a:rPr>
              <a:t>δ*</a:t>
            </a:r>
            <a:r>
              <a:rPr lang="en-US" altLang="en-US" sz="2400" dirty="0">
                <a:sym typeface="+mn-ea"/>
              </a:rPr>
              <a:t>(q0,</a:t>
            </a:r>
            <a:r>
              <a:rPr lang="en-GB" altLang="en-US" sz="2400" dirty="0">
                <a:sym typeface="+mn-ea"/>
              </a:rPr>
              <a:t>-2</a:t>
            </a:r>
            <a:r>
              <a:rPr lang="en-US" altLang="en-US" sz="2400" dirty="0">
                <a:sym typeface="+mn-ea"/>
              </a:rPr>
              <a:t>)</a:t>
            </a:r>
            <a:r>
              <a:rPr lang="en-GB" altLang="en-US" sz="2400" dirty="0">
                <a:sym typeface="+mn-ea"/>
              </a:rPr>
              <a:t>, </a:t>
            </a:r>
            <a:r>
              <a:rPr lang="en-GB" altLang="en-US" sz="2400" dirty="0">
                <a:latin typeface="Arial" panose="020B0604020202020204" pitchFamily="34" charset="0"/>
                <a:cs typeface="Arial" panose="020B0604020202020204" pitchFamily="34" charset="0"/>
                <a:sym typeface="+mn-ea"/>
              </a:rPr>
              <a:t>•</a:t>
            </a:r>
            <a:r>
              <a:rPr lang="en-GB" altLang="en-US" sz="2400" dirty="0">
                <a:sym typeface="+mn-ea"/>
              </a:rPr>
              <a:t>) = </a:t>
            </a:r>
            <a:r>
              <a:rPr lang="el-GR" altLang="en-US" sz="2400" dirty="0">
                <a:sym typeface="+mn-ea"/>
              </a:rPr>
              <a:t>δ</a:t>
            </a:r>
            <a:r>
              <a:rPr lang="en-US" altLang="en-US" sz="2400" dirty="0">
                <a:sym typeface="+mn-ea"/>
              </a:rPr>
              <a:t>(</a:t>
            </a:r>
            <a:r>
              <a:rPr lang="en-GB" altLang="en-US" sz="2400" dirty="0">
                <a:sym typeface="+mn-ea"/>
              </a:rPr>
              <a:t>{q1,q4}</a:t>
            </a:r>
            <a:r>
              <a:rPr lang="en-US" altLang="en-US" sz="2400" dirty="0">
                <a:sym typeface="+mn-ea"/>
              </a:rPr>
              <a:t>,</a:t>
            </a:r>
            <a:r>
              <a:rPr lang="en-GB" altLang="en-US" sz="2400" dirty="0">
                <a:sym typeface="+mn-ea"/>
              </a:rPr>
              <a:t> </a:t>
            </a:r>
            <a:r>
              <a:rPr lang="en-GB" altLang="en-US" sz="2400" dirty="0">
                <a:latin typeface="Arial" panose="020B0604020202020204" pitchFamily="34" charset="0"/>
                <a:cs typeface="Arial" panose="020B0604020202020204" pitchFamily="34" charset="0"/>
                <a:sym typeface="+mn-ea"/>
              </a:rPr>
              <a:t>•</a:t>
            </a:r>
            <a:r>
              <a:rPr lang="en-US" altLang="en-US" sz="2400" dirty="0">
                <a:sym typeface="+mn-ea"/>
              </a:rPr>
              <a:t>)</a:t>
            </a:r>
            <a:r>
              <a:rPr lang="en-GB" altLang="en-US" sz="2400" dirty="0">
                <a:sym typeface="+mn-ea"/>
              </a:rPr>
              <a:t> </a:t>
            </a:r>
            <a:r>
              <a:rPr lang="en-GB" altLang="en-US" sz="2400" dirty="0">
                <a:cs typeface="Arial" panose="020B0604020202020204" pitchFamily="34" charset="0"/>
                <a:sym typeface="+mn-ea"/>
              </a:rPr>
              <a:t>← By</a:t>
            </a:r>
            <a:r>
              <a:rPr lang="en-GB" altLang="en-US" sz="2400" dirty="0">
                <a:sym typeface="+mn-ea"/>
              </a:rPr>
              <a:t> induction </a:t>
            </a:r>
            <a:br>
              <a:rPr lang="en-GB" altLang="en-US" sz="2400" b="1" dirty="0">
                <a:solidFill>
                  <a:srgbClr val="FF0000"/>
                </a:solidFill>
                <a:sym typeface="+mn-ea"/>
              </a:rPr>
            </a:br>
            <a:r>
              <a:rPr lang="en-GB" altLang="en-US" sz="2400" b="1" dirty="0">
                <a:solidFill>
                  <a:srgbClr val="FF0000"/>
                </a:solidFill>
                <a:sym typeface="+mn-ea"/>
              </a:rPr>
              <a:t>                                               = </a:t>
            </a:r>
            <a:r>
              <a:rPr lang="el-GR" altLang="en-US" sz="2400" dirty="0">
                <a:sym typeface="+mn-ea"/>
              </a:rPr>
              <a:t>δ</a:t>
            </a:r>
            <a:r>
              <a:rPr lang="en-US" altLang="en-US" sz="2400" dirty="0">
                <a:sym typeface="+mn-ea"/>
              </a:rPr>
              <a:t>(</a:t>
            </a:r>
            <a:r>
              <a:rPr lang="en-GB" altLang="en-US" sz="2400" dirty="0">
                <a:sym typeface="+mn-ea"/>
              </a:rPr>
              <a:t>{</a:t>
            </a:r>
            <a:r>
              <a:rPr lang="en-US" altLang="en-US" sz="2400" dirty="0">
                <a:sym typeface="+mn-ea"/>
              </a:rPr>
              <a:t>q</a:t>
            </a:r>
            <a:r>
              <a:rPr lang="en-GB" altLang="en-US" sz="2400" dirty="0">
                <a:sym typeface="+mn-ea"/>
              </a:rPr>
              <a:t>1}, </a:t>
            </a:r>
            <a:r>
              <a:rPr lang="en-GB" altLang="en-US" sz="2400" dirty="0">
                <a:latin typeface="Arial" panose="020B0604020202020204" pitchFamily="34" charset="0"/>
                <a:cs typeface="Arial" panose="020B0604020202020204" pitchFamily="34" charset="0"/>
                <a:sym typeface="+mn-ea"/>
              </a:rPr>
              <a:t>•</a:t>
            </a:r>
            <a:r>
              <a:rPr lang="en-US" altLang="en-US" sz="2400" dirty="0">
                <a:sym typeface="+mn-ea"/>
              </a:rPr>
              <a:t>)</a:t>
            </a:r>
            <a:r>
              <a:rPr lang="en-GB" altLang="en-US" sz="2400" dirty="0">
                <a:sym typeface="+mn-ea"/>
              </a:rPr>
              <a:t> </a:t>
            </a:r>
            <a:r>
              <a:rPr lang="en-GB" altLang="en-US" sz="2400" dirty="0">
                <a:latin typeface="Arial" panose="020B0604020202020204" pitchFamily="34" charset="0"/>
                <a:cs typeface="Arial" panose="020B0604020202020204" pitchFamily="34" charset="0"/>
                <a:sym typeface="+mn-ea"/>
              </a:rPr>
              <a:t>Ụ </a:t>
            </a:r>
            <a:r>
              <a:rPr lang="el-GR" altLang="en-US" sz="2400" dirty="0">
                <a:sym typeface="+mn-ea"/>
              </a:rPr>
              <a:t>δ</a:t>
            </a:r>
            <a:r>
              <a:rPr lang="en-US" altLang="en-US" sz="2400" dirty="0">
                <a:sym typeface="+mn-ea"/>
              </a:rPr>
              <a:t>(</a:t>
            </a:r>
            <a:r>
              <a:rPr lang="en-GB" altLang="en-US" sz="2400" dirty="0">
                <a:sym typeface="+mn-ea"/>
              </a:rPr>
              <a:t>{</a:t>
            </a:r>
            <a:r>
              <a:rPr lang="en-US" altLang="en-US" sz="2400" dirty="0">
                <a:sym typeface="+mn-ea"/>
              </a:rPr>
              <a:t>q</a:t>
            </a:r>
            <a:r>
              <a:rPr lang="en-GB" altLang="en-US" sz="2400" dirty="0">
                <a:sym typeface="+mn-ea"/>
              </a:rPr>
              <a:t>4}, </a:t>
            </a:r>
            <a:r>
              <a:rPr lang="en-GB" altLang="en-US" sz="2400" dirty="0">
                <a:latin typeface="Arial" panose="020B0604020202020204" pitchFamily="34" charset="0"/>
                <a:cs typeface="Arial" panose="020B0604020202020204" pitchFamily="34" charset="0"/>
                <a:sym typeface="+mn-ea"/>
              </a:rPr>
              <a:t>•</a:t>
            </a:r>
            <a:r>
              <a:rPr lang="en-US" altLang="en-US" sz="2400" dirty="0">
                <a:sym typeface="+mn-ea"/>
              </a:rPr>
              <a:t>)</a:t>
            </a:r>
            <a:br>
              <a:rPr lang="en-US" altLang="en-US" sz="2400" dirty="0">
                <a:sym typeface="+mn-ea"/>
              </a:rPr>
            </a:br>
            <a:r>
              <a:rPr lang="en-US" altLang="en-US" sz="2400" dirty="0">
                <a:sym typeface="+mn-ea"/>
              </a:rPr>
              <a:t> </a:t>
            </a:r>
            <a:r>
              <a:rPr lang="en-GB" altLang="en-US" sz="2400" dirty="0">
                <a:sym typeface="+mn-ea"/>
              </a:rPr>
              <a:t>                                              = { q2} </a:t>
            </a:r>
            <a:r>
              <a:rPr lang="en-GB" altLang="en-US" sz="2400" dirty="0">
                <a:latin typeface="Arial" panose="020B0604020202020204" pitchFamily="34" charset="0"/>
                <a:cs typeface="Arial" panose="020B0604020202020204" pitchFamily="34" charset="0"/>
                <a:sym typeface="+mn-ea"/>
              </a:rPr>
              <a:t>Ụ {q3}</a:t>
            </a:r>
            <a:br>
              <a:rPr lang="en-GB" altLang="en-US" sz="2400" dirty="0">
                <a:latin typeface="Arial" panose="020B0604020202020204" pitchFamily="34" charset="0"/>
                <a:cs typeface="Arial" panose="020B0604020202020204" pitchFamily="34" charset="0"/>
                <a:sym typeface="+mn-ea"/>
              </a:rPr>
            </a:br>
            <a:r>
              <a:rPr lang="en-GB" altLang="en-US" sz="2400" dirty="0">
                <a:latin typeface="Arial" panose="020B0604020202020204" pitchFamily="34" charset="0"/>
                <a:cs typeface="Arial" panose="020B0604020202020204" pitchFamily="34" charset="0"/>
                <a:sym typeface="+mn-ea"/>
              </a:rPr>
              <a:t>                                      =  </a:t>
            </a:r>
            <a:r>
              <a:rPr lang="az-Cyrl-AZ" sz="2400" noProof="0" dirty="0" smtClean="0">
                <a:ln>
                  <a:noFill/>
                </a:ln>
                <a:solidFill>
                  <a:srgbClr val="FF0000"/>
                </a:solidFill>
                <a:effectLst/>
                <a:uLnTx/>
                <a:uFillTx/>
                <a:latin typeface="+mn-lt"/>
                <a:sym typeface="+mn-ea"/>
              </a:rPr>
              <a:t>Є-closure</a:t>
            </a:r>
            <a:r>
              <a:rPr lang="en-GB" altLang="az-Cyrl-AZ" sz="2400" noProof="0" dirty="0" smtClean="0">
                <a:ln>
                  <a:noFill/>
                </a:ln>
                <a:solidFill>
                  <a:srgbClr val="FF0000"/>
                </a:solidFill>
                <a:effectLst/>
                <a:uLnTx/>
                <a:uFillTx/>
                <a:latin typeface="+mn-lt"/>
                <a:sym typeface="+mn-ea"/>
              </a:rPr>
              <a:t>(</a:t>
            </a:r>
            <a:r>
              <a:rPr lang="en-GB" altLang="en-US" sz="2400" dirty="0">
                <a:sym typeface="+mn-ea"/>
              </a:rPr>
              <a:t>q2,q3) </a:t>
            </a:r>
            <a:r>
              <a:rPr lang="en-GB" altLang="en-US" sz="2400" dirty="0">
                <a:latin typeface="Arial" panose="020B0604020202020204" pitchFamily="34" charset="0"/>
                <a:cs typeface="Arial" panose="020B0604020202020204" pitchFamily="34" charset="0"/>
                <a:sym typeface="+mn-ea"/>
              </a:rPr>
              <a:t>← By Induction</a:t>
            </a:r>
            <a:br>
              <a:rPr lang="en-GB" altLang="en-US" sz="2400" dirty="0">
                <a:latin typeface="Arial" panose="020B0604020202020204" pitchFamily="34" charset="0"/>
                <a:cs typeface="Arial" panose="020B0604020202020204" pitchFamily="34" charset="0"/>
                <a:sym typeface="+mn-ea"/>
              </a:rPr>
            </a:br>
            <a:r>
              <a:rPr lang="en-GB" altLang="en-US" sz="2400" dirty="0">
                <a:latin typeface="Arial" panose="020B0604020202020204" pitchFamily="34" charset="0"/>
                <a:cs typeface="Arial" panose="020B0604020202020204" pitchFamily="34" charset="0"/>
                <a:sym typeface="+mn-ea"/>
              </a:rPr>
              <a:t>                                      = {q2,q3,q5}</a:t>
            </a:r>
            <a:br>
              <a:rPr lang="en-GB" altLang="en-US" sz="2400" dirty="0">
                <a:latin typeface="Arial" panose="020B0604020202020204" pitchFamily="34" charset="0"/>
                <a:cs typeface="Arial" panose="020B0604020202020204" pitchFamily="34" charset="0"/>
                <a:sym typeface="+mn-ea"/>
              </a:rPr>
            </a:br>
            <a:r>
              <a:rPr lang="en-GB" altLang="en-US" sz="2400" dirty="0">
                <a:latin typeface="Arial" panose="020B0604020202020204" pitchFamily="34" charset="0"/>
                <a:cs typeface="Arial" panose="020B0604020202020204" pitchFamily="34" charset="0"/>
                <a:sym typeface="+mn-ea"/>
              </a:rPr>
              <a:t> </a:t>
            </a:r>
            <a:r>
              <a:rPr lang="el-GR" altLang="en-US" sz="2400" dirty="0">
                <a:sym typeface="+mn-ea"/>
              </a:rPr>
              <a:t>δ*</a:t>
            </a:r>
            <a:r>
              <a:rPr lang="en-US" altLang="en-US" sz="2400" dirty="0">
                <a:sym typeface="+mn-ea"/>
              </a:rPr>
              <a:t>(q0,</a:t>
            </a:r>
            <a:r>
              <a:rPr lang="en-GB" altLang="en-US" sz="2400" dirty="0">
                <a:sym typeface="+mn-ea"/>
              </a:rPr>
              <a:t>-2</a:t>
            </a:r>
            <a:r>
              <a:rPr lang="en-GB" altLang="en-US" sz="2400" dirty="0">
                <a:latin typeface="Arial" panose="020B0604020202020204" pitchFamily="34" charset="0"/>
                <a:cs typeface="Arial" panose="020B0604020202020204" pitchFamily="34" charset="0"/>
                <a:sym typeface="+mn-ea"/>
              </a:rPr>
              <a:t>•</a:t>
            </a:r>
            <a:r>
              <a:rPr lang="en-GB" altLang="en-US" sz="2400" dirty="0">
                <a:sym typeface="+mn-ea"/>
              </a:rPr>
              <a:t>6</a:t>
            </a:r>
            <a:r>
              <a:rPr lang="en-US" altLang="en-US" sz="2400" dirty="0">
                <a:sym typeface="+mn-ea"/>
              </a:rPr>
              <a:t>)</a:t>
            </a:r>
            <a:r>
              <a:rPr lang="en-GB" altLang="en-US" sz="2400" dirty="0">
                <a:sym typeface="+mn-ea"/>
              </a:rPr>
              <a:t> =</a:t>
            </a:r>
            <a:r>
              <a:rPr lang="el-GR" altLang="en-US" sz="2400" dirty="0">
                <a:sym typeface="+mn-ea"/>
              </a:rPr>
              <a:t>δ</a:t>
            </a:r>
            <a:r>
              <a:rPr lang="en-US" altLang="en-US" sz="2400" dirty="0">
                <a:sym typeface="+mn-ea"/>
              </a:rPr>
              <a:t>(</a:t>
            </a:r>
            <a:r>
              <a:rPr lang="el-GR" altLang="en-US" sz="2400" dirty="0">
                <a:sym typeface="+mn-ea"/>
              </a:rPr>
              <a:t>δ*</a:t>
            </a:r>
            <a:r>
              <a:rPr lang="en-US" altLang="en-US" sz="2400" dirty="0">
                <a:sym typeface="+mn-ea"/>
              </a:rPr>
              <a:t>(q0,</a:t>
            </a:r>
            <a:r>
              <a:rPr lang="en-GB" altLang="en-US" sz="2400" dirty="0">
                <a:sym typeface="+mn-ea"/>
              </a:rPr>
              <a:t>-2</a:t>
            </a:r>
            <a:r>
              <a:rPr lang="en-GB" altLang="en-US" sz="2400" dirty="0">
                <a:latin typeface="Arial" panose="020B0604020202020204" pitchFamily="34" charset="0"/>
                <a:cs typeface="Arial" panose="020B0604020202020204" pitchFamily="34" charset="0"/>
                <a:sym typeface="+mn-ea"/>
              </a:rPr>
              <a:t>•</a:t>
            </a:r>
            <a:r>
              <a:rPr lang="en-GB" altLang="en-US" sz="2400" dirty="0">
                <a:sym typeface="+mn-ea"/>
              </a:rPr>
              <a:t>), 6) = </a:t>
            </a:r>
            <a:r>
              <a:rPr lang="el-GR" altLang="en-US" sz="2400" dirty="0">
                <a:sym typeface="+mn-ea"/>
              </a:rPr>
              <a:t>δ</a:t>
            </a:r>
            <a:r>
              <a:rPr lang="en-US" altLang="en-US" sz="2400" dirty="0">
                <a:sym typeface="+mn-ea"/>
              </a:rPr>
              <a:t>(</a:t>
            </a:r>
            <a:r>
              <a:rPr lang="en-GB" altLang="en-US" sz="2400" dirty="0">
                <a:sym typeface="+mn-ea"/>
              </a:rPr>
              <a:t>{q2,q3,q5}</a:t>
            </a:r>
            <a:r>
              <a:rPr lang="en-US" altLang="en-US" sz="2400" dirty="0">
                <a:sym typeface="+mn-ea"/>
              </a:rPr>
              <a:t>,</a:t>
            </a:r>
            <a:r>
              <a:rPr lang="en-GB" altLang="en-US" sz="2400" dirty="0">
                <a:sym typeface="+mn-ea"/>
              </a:rPr>
              <a:t> 6</a:t>
            </a:r>
            <a:r>
              <a:rPr lang="en-US" altLang="en-US" sz="2400" dirty="0">
                <a:sym typeface="+mn-ea"/>
              </a:rPr>
              <a:t>)</a:t>
            </a:r>
            <a:r>
              <a:rPr lang="en-GB" altLang="en-US" sz="2400" dirty="0">
                <a:sym typeface="+mn-ea"/>
              </a:rPr>
              <a:t> </a:t>
            </a:r>
            <a:r>
              <a:rPr lang="en-GB" altLang="en-US" sz="2400" dirty="0">
                <a:cs typeface="Arial" panose="020B0604020202020204" pitchFamily="34" charset="0"/>
                <a:sym typeface="+mn-ea"/>
              </a:rPr>
              <a:t>← By</a:t>
            </a:r>
            <a:r>
              <a:rPr lang="en-GB" altLang="en-US" sz="2400" dirty="0">
                <a:sym typeface="+mn-ea"/>
              </a:rPr>
              <a:t> induction </a:t>
            </a:r>
            <a:br>
              <a:rPr lang="en-GB" altLang="en-US" sz="2400" b="1" dirty="0">
                <a:solidFill>
                  <a:srgbClr val="FF0000"/>
                </a:solidFill>
                <a:sym typeface="+mn-ea"/>
              </a:rPr>
            </a:br>
            <a:r>
              <a:rPr lang="en-GB" altLang="en-US" sz="2400" b="1" dirty="0">
                <a:solidFill>
                  <a:srgbClr val="FF0000"/>
                </a:solidFill>
                <a:sym typeface="+mn-ea"/>
              </a:rPr>
              <a:t>                                                     = </a:t>
            </a:r>
            <a:r>
              <a:rPr lang="el-GR" altLang="en-US" sz="2400" dirty="0">
                <a:sym typeface="+mn-ea"/>
              </a:rPr>
              <a:t>δ</a:t>
            </a:r>
            <a:r>
              <a:rPr lang="en-US" altLang="en-US" sz="2400" dirty="0">
                <a:sym typeface="+mn-ea"/>
              </a:rPr>
              <a:t>(</a:t>
            </a:r>
            <a:r>
              <a:rPr lang="en-GB" altLang="en-US" sz="2400" dirty="0">
                <a:sym typeface="+mn-ea"/>
              </a:rPr>
              <a:t>{</a:t>
            </a:r>
            <a:r>
              <a:rPr lang="en-US" altLang="en-US" sz="2400" dirty="0">
                <a:sym typeface="+mn-ea"/>
              </a:rPr>
              <a:t>q</a:t>
            </a:r>
            <a:r>
              <a:rPr lang="en-GB" altLang="en-US" sz="2400" dirty="0">
                <a:sym typeface="+mn-ea"/>
              </a:rPr>
              <a:t>2}, 6</a:t>
            </a:r>
            <a:r>
              <a:rPr lang="en-US" altLang="en-US" sz="2400" dirty="0">
                <a:sym typeface="+mn-ea"/>
              </a:rPr>
              <a:t>)</a:t>
            </a:r>
            <a:r>
              <a:rPr lang="en-GB" altLang="en-US" sz="2400" dirty="0">
                <a:sym typeface="+mn-ea"/>
              </a:rPr>
              <a:t> </a:t>
            </a:r>
            <a:r>
              <a:rPr lang="en-GB" altLang="en-US" sz="2400" dirty="0">
                <a:latin typeface="Arial" panose="020B0604020202020204" pitchFamily="34" charset="0"/>
                <a:cs typeface="Arial" panose="020B0604020202020204" pitchFamily="34" charset="0"/>
                <a:sym typeface="+mn-ea"/>
              </a:rPr>
              <a:t>Ụ </a:t>
            </a:r>
            <a:r>
              <a:rPr lang="el-GR" altLang="en-US" sz="2400" dirty="0">
                <a:sym typeface="+mn-ea"/>
              </a:rPr>
              <a:t>δ</a:t>
            </a:r>
            <a:r>
              <a:rPr lang="en-US" altLang="en-US" sz="2400" dirty="0">
                <a:sym typeface="+mn-ea"/>
              </a:rPr>
              <a:t>(</a:t>
            </a:r>
            <a:r>
              <a:rPr lang="en-GB" altLang="en-US" sz="2400" dirty="0">
                <a:sym typeface="+mn-ea"/>
              </a:rPr>
              <a:t>{</a:t>
            </a:r>
            <a:r>
              <a:rPr lang="en-US" altLang="en-US" sz="2400" dirty="0">
                <a:sym typeface="+mn-ea"/>
              </a:rPr>
              <a:t>q</a:t>
            </a:r>
            <a:r>
              <a:rPr lang="en-GB" altLang="en-US" sz="2400" dirty="0">
                <a:sym typeface="+mn-ea"/>
              </a:rPr>
              <a:t>3}, 6</a:t>
            </a:r>
            <a:r>
              <a:rPr lang="en-US" altLang="en-US" sz="2400" dirty="0">
                <a:sym typeface="+mn-ea"/>
              </a:rPr>
              <a:t>)</a:t>
            </a:r>
            <a:r>
              <a:rPr lang="en-GB" altLang="en-US" sz="2400" dirty="0">
                <a:sym typeface="+mn-ea"/>
              </a:rPr>
              <a:t> </a:t>
            </a:r>
            <a:r>
              <a:rPr lang="en-GB" altLang="en-US" sz="2400" dirty="0">
                <a:latin typeface="Arial" panose="020B0604020202020204" pitchFamily="34" charset="0"/>
                <a:cs typeface="Arial" panose="020B0604020202020204" pitchFamily="34" charset="0"/>
                <a:sym typeface="+mn-ea"/>
              </a:rPr>
              <a:t>Ụ </a:t>
            </a:r>
            <a:r>
              <a:rPr lang="el-GR" altLang="en-US" sz="2400" dirty="0">
                <a:sym typeface="+mn-ea"/>
              </a:rPr>
              <a:t>δ</a:t>
            </a:r>
            <a:r>
              <a:rPr lang="en-US" altLang="en-US" sz="2400" dirty="0">
                <a:sym typeface="+mn-ea"/>
              </a:rPr>
              <a:t>(</a:t>
            </a:r>
            <a:r>
              <a:rPr lang="en-GB" altLang="en-US" sz="2400" dirty="0">
                <a:sym typeface="+mn-ea"/>
              </a:rPr>
              <a:t>{</a:t>
            </a:r>
            <a:r>
              <a:rPr lang="en-US" altLang="en-US" sz="2400" dirty="0">
                <a:sym typeface="+mn-ea"/>
              </a:rPr>
              <a:t>q</a:t>
            </a:r>
            <a:r>
              <a:rPr lang="en-GB" altLang="en-US" sz="2400" dirty="0">
                <a:sym typeface="+mn-ea"/>
              </a:rPr>
              <a:t>5}, 6</a:t>
            </a:r>
            <a:r>
              <a:rPr lang="en-US" altLang="en-US" sz="2400" dirty="0">
                <a:sym typeface="+mn-ea"/>
              </a:rPr>
              <a:t>)</a:t>
            </a:r>
            <a:br>
              <a:rPr lang="en-US" altLang="en-US" sz="2400" dirty="0">
                <a:sym typeface="+mn-ea"/>
              </a:rPr>
            </a:br>
            <a:r>
              <a:rPr lang="en-US" altLang="en-US" sz="2400" dirty="0">
                <a:sym typeface="+mn-ea"/>
              </a:rPr>
              <a:t> </a:t>
            </a:r>
            <a:r>
              <a:rPr lang="en-GB" altLang="en-US" sz="2400" dirty="0">
                <a:sym typeface="+mn-ea"/>
              </a:rPr>
              <a:t>                                                    = { q3 } </a:t>
            </a:r>
            <a:r>
              <a:rPr lang="en-GB" altLang="en-US" sz="2400" dirty="0">
                <a:latin typeface="Arial" panose="020B0604020202020204" pitchFamily="34" charset="0"/>
                <a:cs typeface="Arial" panose="020B0604020202020204" pitchFamily="34" charset="0"/>
                <a:sym typeface="+mn-ea"/>
              </a:rPr>
              <a:t>Ụ {</a:t>
            </a:r>
            <a:r>
              <a:rPr lang="en-GB" altLang="en-US" sz="2400" dirty="0">
                <a:sym typeface="+mn-ea"/>
              </a:rPr>
              <a:t>q3} </a:t>
            </a:r>
            <a:r>
              <a:rPr lang="en-GB" altLang="en-US" sz="2400" dirty="0">
                <a:latin typeface="Arial" panose="020B0604020202020204" pitchFamily="34" charset="0"/>
                <a:cs typeface="Arial" panose="020B0604020202020204" pitchFamily="34" charset="0"/>
                <a:sym typeface="+mn-ea"/>
              </a:rPr>
              <a:t>Ụ {Ø} </a:t>
            </a:r>
            <a:endParaRPr lang="en-GB" altLang="en-US" sz="2400" dirty="0">
              <a:latin typeface="Arial" panose="020B0604020202020204" pitchFamily="34" charset="0"/>
              <a:cs typeface="Arial" panose="020B0604020202020204" pitchFamily="34" charset="0"/>
              <a:sym typeface="+mn-ea"/>
            </a:endParaRPr>
          </a:p>
          <a:p>
            <a:pPr algn="l"/>
            <a:r>
              <a:rPr lang="en-GB" altLang="en-US" sz="2400" dirty="0">
                <a:latin typeface="Arial" panose="020B0604020202020204" pitchFamily="34" charset="0"/>
                <a:cs typeface="Arial" panose="020B0604020202020204" pitchFamily="34" charset="0"/>
                <a:sym typeface="+mn-ea"/>
              </a:rPr>
              <a:t>                                           = {q3} </a:t>
            </a:r>
            <a:br>
              <a:rPr lang="en-GB" altLang="en-US" sz="2400" dirty="0">
                <a:latin typeface="Arial" panose="020B0604020202020204" pitchFamily="34" charset="0"/>
                <a:cs typeface="Arial" panose="020B0604020202020204" pitchFamily="34" charset="0"/>
                <a:sym typeface="+mn-ea"/>
              </a:rPr>
            </a:br>
            <a:r>
              <a:rPr lang="en-GB" altLang="en-US" sz="2400" dirty="0">
                <a:latin typeface="Arial" panose="020B0604020202020204" pitchFamily="34" charset="0"/>
                <a:cs typeface="Arial" panose="020B0604020202020204" pitchFamily="34" charset="0"/>
                <a:sym typeface="+mn-ea"/>
              </a:rPr>
              <a:t>                                           =  </a:t>
            </a:r>
            <a:r>
              <a:rPr lang="az-Cyrl-AZ" sz="2400" noProof="0" dirty="0" smtClean="0">
                <a:ln>
                  <a:noFill/>
                </a:ln>
                <a:solidFill>
                  <a:srgbClr val="FF0000"/>
                </a:solidFill>
                <a:effectLst/>
                <a:uLnTx/>
                <a:uFillTx/>
                <a:latin typeface="+mn-lt"/>
                <a:sym typeface="+mn-ea"/>
              </a:rPr>
              <a:t>Є-closure</a:t>
            </a:r>
            <a:r>
              <a:rPr lang="en-GB" altLang="az-Cyrl-AZ" sz="2400" noProof="0" dirty="0" smtClean="0">
                <a:ln>
                  <a:noFill/>
                </a:ln>
                <a:solidFill>
                  <a:srgbClr val="FF0000"/>
                </a:solidFill>
                <a:effectLst/>
                <a:uLnTx/>
                <a:uFillTx/>
                <a:latin typeface="+mn-lt"/>
                <a:sym typeface="+mn-ea"/>
              </a:rPr>
              <a:t>(</a:t>
            </a:r>
            <a:r>
              <a:rPr lang="en-US" altLang="en-US" sz="2400" dirty="0">
                <a:sym typeface="+mn-ea"/>
              </a:rPr>
              <a:t>q</a:t>
            </a:r>
            <a:r>
              <a:rPr lang="en-GB" altLang="en-US" sz="2400" dirty="0">
                <a:sym typeface="+mn-ea"/>
              </a:rPr>
              <a:t>3) </a:t>
            </a:r>
            <a:r>
              <a:rPr lang="en-GB" altLang="en-US" sz="2400" dirty="0">
                <a:latin typeface="Arial" panose="020B0604020202020204" pitchFamily="34" charset="0"/>
                <a:cs typeface="Arial" panose="020B0604020202020204" pitchFamily="34" charset="0"/>
                <a:sym typeface="+mn-ea"/>
              </a:rPr>
              <a:t>← By Induction</a:t>
            </a:r>
            <a:br>
              <a:rPr lang="en-GB" altLang="en-US" sz="2400" dirty="0">
                <a:latin typeface="Arial" panose="020B0604020202020204" pitchFamily="34" charset="0"/>
                <a:cs typeface="Arial" panose="020B0604020202020204" pitchFamily="34" charset="0"/>
                <a:sym typeface="+mn-ea"/>
              </a:rPr>
            </a:br>
            <a:r>
              <a:rPr lang="en-GB" altLang="en-US" sz="2400" dirty="0">
                <a:latin typeface="Arial" panose="020B0604020202020204" pitchFamily="34" charset="0"/>
                <a:cs typeface="Arial" panose="020B0604020202020204" pitchFamily="34" charset="0"/>
                <a:sym typeface="+mn-ea"/>
              </a:rPr>
              <a:t>                                           = {q3,q5}</a:t>
            </a:r>
            <a:br>
              <a:rPr lang="en-GB" altLang="en-US" sz="2400" dirty="0">
                <a:latin typeface="Arial" panose="020B0604020202020204" pitchFamily="34" charset="0"/>
                <a:cs typeface="Arial" panose="020B0604020202020204" pitchFamily="34" charset="0"/>
                <a:sym typeface="+mn-ea"/>
              </a:rPr>
            </a:br>
            <a:r>
              <a:rPr lang="en-GB" altLang="en-US" sz="2400" dirty="0">
                <a:latin typeface="Arial" panose="020B0604020202020204" pitchFamily="34" charset="0"/>
                <a:cs typeface="Arial" panose="020B0604020202020204" pitchFamily="34" charset="0"/>
                <a:sym typeface="+mn-ea"/>
              </a:rPr>
              <a:t> </a:t>
            </a:r>
            <a:br>
              <a:rPr lang="en-GB" altLang="en-US" sz="2400" dirty="0">
                <a:latin typeface="Arial" panose="020B0604020202020204" pitchFamily="34" charset="0"/>
                <a:cs typeface="Arial" panose="020B0604020202020204" pitchFamily="34" charset="0"/>
                <a:sym typeface="+mn-ea"/>
              </a:rPr>
            </a:br>
            <a:br>
              <a:rPr lang="en-GB" altLang="en-US" sz="2400" dirty="0">
                <a:latin typeface="Arial" panose="020B0604020202020204" pitchFamily="34" charset="0"/>
                <a:cs typeface="Arial" panose="020B0604020202020204" pitchFamily="34" charset="0"/>
                <a:sym typeface="+mn-ea"/>
              </a:rPr>
            </a:br>
            <a:br>
              <a:rPr lang="en-GB" altLang="en-US" sz="2400" dirty="0">
                <a:latin typeface="Arial" panose="020B0604020202020204" pitchFamily="34" charset="0"/>
                <a:cs typeface="Arial" panose="020B0604020202020204" pitchFamily="34" charset="0"/>
                <a:sym typeface="+mn-ea"/>
              </a:rPr>
            </a:br>
            <a:r>
              <a:rPr lang="en-GB" altLang="en-US" sz="2400" dirty="0">
                <a:latin typeface="Arial" panose="020B0604020202020204" pitchFamily="34" charset="0"/>
                <a:cs typeface="Arial" panose="020B0604020202020204" pitchFamily="34" charset="0"/>
                <a:sym typeface="+mn-ea"/>
              </a:rPr>
              <a:t> </a:t>
            </a:r>
            <a:br>
              <a:rPr lang="en-GB" altLang="en-US" sz="2400" dirty="0">
                <a:latin typeface="Arial" panose="020B0604020202020204" pitchFamily="34" charset="0"/>
                <a:cs typeface="Arial" panose="020B0604020202020204" pitchFamily="34" charset="0"/>
                <a:sym typeface="+mn-ea"/>
              </a:rPr>
            </a:br>
            <a:endParaRPr lang="en-GB" altLang="en-US" sz="2400" b="1" dirty="0">
              <a:solidFill>
                <a:srgbClr val="0070C0"/>
              </a:solidFill>
              <a:latin typeface="Arial" panose="020B0604020202020204" pitchFamily="34" charset="0"/>
              <a:cs typeface="Arial" panose="020B0604020202020204" pitchFamily="34" charset="0"/>
              <a:sym typeface="+mn-ea"/>
            </a:endParaRPr>
          </a:p>
        </p:txBody>
      </p:sp>
      <p:sp>
        <p:nvSpPr>
          <p:cNvPr id="2" name="Footer Placeholder 1"/>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407670" y="797560"/>
            <a:ext cx="8364220" cy="6038215"/>
          </a:xfrm>
          <a:prstGeom prst="rect">
            <a:avLst/>
          </a:prstGeom>
          <a:noFill/>
        </p:spPr>
        <p:txBody>
          <a:bodyPr wrap="square" rtlCol="0" anchor="t">
            <a:noAutofit/>
          </a:bodyPr>
          <a:p>
            <a:pPr algn="l"/>
            <a:r>
              <a:rPr lang="en-GB" altLang="en-US" sz="2400" dirty="0">
                <a:cs typeface="Arial" panose="020B0604020202020204" pitchFamily="34" charset="0"/>
                <a:sym typeface="+mn-ea"/>
              </a:rPr>
              <a:t> </a:t>
            </a:r>
            <a:r>
              <a:rPr lang="en-GB" altLang="en-US" sz="2400" dirty="0">
                <a:latin typeface="+mj-lt"/>
                <a:ea typeface="+mj-ea"/>
                <a:cs typeface="+mj-cs"/>
                <a:sym typeface="+mn-ea"/>
              </a:rPr>
              <a:t>δ*(q0,-2•62) =δ(δ*(q0,-2•6), 2) ← By induction </a:t>
            </a:r>
            <a:br>
              <a:rPr lang="en-GB" altLang="en-US" sz="2400" dirty="0">
                <a:latin typeface="+mj-lt"/>
                <a:ea typeface="+mj-ea"/>
                <a:cs typeface="+mj-cs"/>
                <a:sym typeface="+mn-ea"/>
              </a:rPr>
            </a:br>
            <a:r>
              <a:rPr lang="en-GB" altLang="en-US" sz="2400" dirty="0">
                <a:latin typeface="+mj-lt"/>
                <a:ea typeface="+mj-ea"/>
                <a:cs typeface="+mj-cs"/>
                <a:sym typeface="+mn-ea"/>
              </a:rPr>
              <a:t>                         = δ({q3,q5}, 2)                                                      =     </a:t>
            </a:r>
            <a:endParaRPr lang="en-GB" altLang="en-US" sz="2400" dirty="0">
              <a:latin typeface="+mj-lt"/>
              <a:ea typeface="+mj-ea"/>
              <a:cs typeface="+mj-cs"/>
              <a:sym typeface="+mn-ea"/>
            </a:endParaRPr>
          </a:p>
          <a:p>
            <a:pPr algn="l"/>
            <a:r>
              <a:rPr lang="en-GB" altLang="en-US" sz="2400" dirty="0">
                <a:latin typeface="+mj-lt"/>
                <a:ea typeface="+mj-ea"/>
                <a:cs typeface="+mj-cs"/>
                <a:sym typeface="+mn-ea"/>
              </a:rPr>
              <a:t>                         = δ({q3}, 2) Ụ δ({q5}, 6)                                                       </a:t>
            </a:r>
            <a:endParaRPr lang="en-GB" altLang="en-US" sz="2400" dirty="0">
              <a:latin typeface="+mj-lt"/>
              <a:ea typeface="+mj-ea"/>
              <a:cs typeface="+mj-cs"/>
              <a:sym typeface="+mn-ea"/>
            </a:endParaRPr>
          </a:p>
          <a:p>
            <a:pPr algn="l"/>
            <a:r>
              <a:rPr lang="en-GB" altLang="en-US" sz="2400" dirty="0">
                <a:latin typeface="+mj-lt"/>
                <a:ea typeface="+mj-ea"/>
                <a:cs typeface="+mj-cs"/>
                <a:sym typeface="+mn-ea"/>
              </a:rPr>
              <a:t>                         = { q3 } Ụ {Ø} </a:t>
            </a:r>
            <a:endParaRPr lang="en-GB" altLang="en-US" sz="2400" dirty="0">
              <a:latin typeface="+mj-lt"/>
              <a:ea typeface="+mj-ea"/>
              <a:cs typeface="+mj-cs"/>
              <a:sym typeface="+mn-ea"/>
            </a:endParaRPr>
          </a:p>
          <a:p>
            <a:pPr algn="l"/>
            <a:r>
              <a:rPr lang="en-GB" altLang="en-US" sz="2400" dirty="0">
                <a:latin typeface="+mj-lt"/>
                <a:ea typeface="+mj-ea"/>
                <a:cs typeface="+mj-cs"/>
                <a:sym typeface="+mn-ea"/>
              </a:rPr>
              <a:t>                         = {q3} </a:t>
            </a:r>
            <a:br>
              <a:rPr lang="en-GB" altLang="en-US" sz="2400" dirty="0">
                <a:latin typeface="+mj-lt"/>
                <a:ea typeface="+mj-ea"/>
                <a:cs typeface="+mj-cs"/>
                <a:sym typeface="+mn-ea"/>
              </a:rPr>
            </a:br>
            <a:r>
              <a:rPr lang="en-GB" altLang="en-US" sz="2400" dirty="0">
                <a:latin typeface="+mj-lt"/>
                <a:ea typeface="+mj-ea"/>
                <a:cs typeface="+mj-cs"/>
                <a:sym typeface="+mn-ea"/>
              </a:rPr>
              <a:t>                         =  Є-closure(q3) ← By Induction</a:t>
            </a:r>
            <a:br>
              <a:rPr lang="en-GB" altLang="en-US" sz="2400" dirty="0">
                <a:latin typeface="+mj-lt"/>
                <a:ea typeface="+mj-ea"/>
                <a:cs typeface="+mj-cs"/>
                <a:sym typeface="+mn-ea"/>
              </a:rPr>
            </a:br>
            <a:r>
              <a:rPr lang="en-GB" altLang="en-US" sz="2400" dirty="0">
                <a:latin typeface="+mj-lt"/>
                <a:ea typeface="+mj-ea"/>
                <a:cs typeface="+mj-cs"/>
                <a:sym typeface="+mn-ea"/>
              </a:rPr>
              <a:t>                         = {q3,q5}</a:t>
            </a:r>
            <a:endParaRPr lang="en-GB" altLang="en-US" sz="2400" dirty="0">
              <a:latin typeface="+mj-lt"/>
              <a:ea typeface="+mj-ea"/>
              <a:cs typeface="+mj-cs"/>
              <a:sym typeface="+mn-ea"/>
            </a:endParaRPr>
          </a:p>
          <a:p>
            <a:pPr algn="l"/>
            <a:r>
              <a:rPr lang="en-GB" altLang="en-US" sz="2400" dirty="0">
                <a:cs typeface="Arial" panose="020B0604020202020204" pitchFamily="34" charset="0"/>
                <a:sym typeface="+mn-ea"/>
              </a:rPr>
              <a:t>The string </a:t>
            </a:r>
            <a:r>
              <a:rPr lang="en-GB" altLang="en-US" sz="2400" b="1" dirty="0">
                <a:solidFill>
                  <a:srgbClr val="FF0000"/>
                </a:solidFill>
                <a:cs typeface="Arial" panose="020B0604020202020204" pitchFamily="34" charset="0"/>
                <a:sym typeface="+mn-ea"/>
              </a:rPr>
              <a:t>w = -2•62  is valid as </a:t>
            </a:r>
            <a:r>
              <a:rPr lang="en-GB" altLang="en-US" sz="2400" b="1" dirty="0">
                <a:solidFill>
                  <a:srgbClr val="FF0000"/>
                </a:solidFill>
                <a:cs typeface="Arial" panose="020B0604020202020204" pitchFamily="34" charset="0"/>
                <a:sym typeface="+mn-ea"/>
              </a:rPr>
              <a:t>Ԑ-NFA </a:t>
            </a:r>
            <a:r>
              <a:rPr lang="en-GB" altLang="en-US" sz="2400" dirty="0">
                <a:cs typeface="Arial" panose="020B0604020202020204" pitchFamily="34" charset="0"/>
                <a:sym typeface="+mn-ea"/>
              </a:rPr>
              <a:t>remains in {q3,q5} and contains </a:t>
            </a:r>
            <a:r>
              <a:rPr lang="en-GB" altLang="en-US" sz="2400" b="1" dirty="0">
                <a:solidFill>
                  <a:srgbClr val="FF0000"/>
                </a:solidFill>
                <a:cs typeface="Arial" panose="020B0604020202020204" pitchFamily="34" charset="0"/>
                <a:sym typeface="+mn-ea"/>
              </a:rPr>
              <a:t> q5, the final state</a:t>
            </a:r>
            <a:endParaRPr lang="en-GB" altLang="en-US" sz="2400" b="1" dirty="0">
              <a:solidFill>
                <a:srgbClr val="FF0000"/>
              </a:solidFill>
              <a:cs typeface="Arial" panose="020B0604020202020204" pitchFamily="34" charset="0"/>
              <a:sym typeface="+mn-ea"/>
            </a:endParaRPr>
          </a:p>
          <a:p>
            <a:pPr algn="l"/>
            <a:endParaRPr lang="en-GB" altLang="en-US" sz="2400" b="1" dirty="0">
              <a:solidFill>
                <a:srgbClr val="FF0000"/>
              </a:solidFill>
              <a:cs typeface="Arial" panose="020B0604020202020204" pitchFamily="34" charset="0"/>
              <a:sym typeface="+mn-ea"/>
            </a:endParaRPr>
          </a:p>
          <a:p>
            <a:pPr algn="l"/>
            <a:r>
              <a:rPr lang="en-GB" altLang="en-US" sz="2400" b="1" dirty="0">
                <a:solidFill>
                  <a:srgbClr val="FF0000"/>
                </a:solidFill>
                <a:cs typeface="Arial" panose="020B0604020202020204" pitchFamily="34" charset="0"/>
                <a:sym typeface="+mn-ea"/>
              </a:rPr>
              <a:t>Exercise problems :</a:t>
            </a:r>
            <a:endParaRPr lang="en-GB" altLang="en-US" sz="2400" b="1" dirty="0">
              <a:solidFill>
                <a:srgbClr val="FF0000"/>
              </a:solidFill>
              <a:cs typeface="Arial" panose="020B0604020202020204" pitchFamily="34" charset="0"/>
              <a:sym typeface="+mn-ea"/>
            </a:endParaRPr>
          </a:p>
          <a:p>
            <a:pPr algn="l"/>
            <a:r>
              <a:rPr lang="en-GB" altLang="en-US" sz="2400" b="1" dirty="0">
                <a:solidFill>
                  <a:srgbClr val="FF0000"/>
                </a:solidFill>
                <a:cs typeface="Arial" panose="020B0604020202020204" pitchFamily="34" charset="0"/>
                <a:sym typeface="+mn-ea"/>
              </a:rPr>
              <a:t>   Validate the following input Decimal Numbers :</a:t>
            </a:r>
            <a:endParaRPr lang="en-GB" altLang="en-US" sz="2400" b="1" dirty="0">
              <a:solidFill>
                <a:srgbClr val="FF0000"/>
              </a:solidFill>
              <a:cs typeface="Arial" panose="020B0604020202020204" pitchFamily="34" charset="0"/>
              <a:sym typeface="+mn-ea"/>
            </a:endParaRPr>
          </a:p>
          <a:p>
            <a:pPr algn="l"/>
            <a:r>
              <a:rPr lang="en-GB" altLang="en-US" sz="2400" b="1" dirty="0">
                <a:solidFill>
                  <a:srgbClr val="FF0000"/>
                </a:solidFill>
                <a:cs typeface="Arial" panose="020B0604020202020204" pitchFamily="34" charset="0"/>
                <a:sym typeface="+mn-ea"/>
              </a:rPr>
              <a:t>   { +8.98, 56.92 and 23..45 }</a:t>
            </a:r>
            <a:endParaRPr lang="en-GB" altLang="en-US" sz="2400" b="1" dirty="0">
              <a:solidFill>
                <a:srgbClr val="FF0000"/>
              </a:solidFill>
              <a:cs typeface="Arial" panose="020B0604020202020204" pitchFamily="34" charset="0"/>
              <a:sym typeface="+mn-ea"/>
            </a:endParaRPr>
          </a:p>
          <a:p>
            <a:pPr algn="l"/>
            <a:br>
              <a:rPr lang="en-GB" altLang="en-US" sz="2400" dirty="0">
                <a:latin typeface="+mj-lt"/>
                <a:ea typeface="+mj-ea"/>
                <a:cs typeface="+mj-cs"/>
                <a:sym typeface="+mn-ea"/>
              </a:rPr>
            </a:br>
            <a:endParaRPr lang="en-GB" altLang="en-US" sz="2400" dirty="0">
              <a:latin typeface="+mj-lt"/>
              <a:ea typeface="+mj-ea"/>
              <a:cs typeface="+mj-cs"/>
              <a:sym typeface="+mn-ea"/>
            </a:endParaRPr>
          </a:p>
        </p:txBody>
      </p:sp>
      <p:sp>
        <p:nvSpPr>
          <p:cNvPr id="2" name="Footer Placeholder 1"/>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Title 1"/>
          <p:cNvSpPr>
            <a:spLocks noGrp="1"/>
          </p:cNvSpPr>
          <p:nvPr>
            <p:ph type="title"/>
          </p:nvPr>
        </p:nvSpPr>
        <p:spPr/>
        <p:txBody>
          <a:bodyPr vert="horz" wrap="square" lIns="91440" tIns="45720" rIns="91440" bIns="45720" anchor="ctr" anchorCtr="0"/>
          <a:p>
            <a:pPr eaLnBrk="1" hangingPunct="1"/>
            <a:r>
              <a:rPr lang="en-US" altLang="en-US" dirty="0"/>
              <a:t>Languages of an </a:t>
            </a:r>
            <a:r>
              <a:rPr lang="az-Cyrl-AZ" altLang="en-US" dirty="0"/>
              <a:t>Є</a:t>
            </a:r>
            <a:r>
              <a:rPr lang="en-US" altLang="en-US" dirty="0"/>
              <a:t>-NFA</a:t>
            </a:r>
            <a:endParaRPr lang="en-US" altLang="en-US" dirty="0"/>
          </a:p>
        </p:txBody>
      </p:sp>
      <p:sp>
        <p:nvSpPr>
          <p:cNvPr id="33795" name="Content Placeholder 2"/>
          <p:cNvSpPr>
            <a:spLocks noGrp="1"/>
          </p:cNvSpPr>
          <p:nvPr>
            <p:ph idx="1"/>
          </p:nvPr>
        </p:nvSpPr>
        <p:spPr/>
        <p:txBody>
          <a:bodyPr vert="horz" wrap="square" lIns="91440" tIns="45720" rIns="91440" bIns="45720" anchor="t" anchorCtr="0"/>
          <a:p>
            <a:pPr eaLnBrk="1" hangingPunct="1"/>
            <a:r>
              <a:rPr lang="en-US" altLang="en-US" dirty="0"/>
              <a:t>If E={Q,∑,</a:t>
            </a:r>
            <a:r>
              <a:rPr lang="el-GR" altLang="en-US" dirty="0"/>
              <a:t>δ</a:t>
            </a:r>
            <a:r>
              <a:rPr lang="en-US" altLang="en-US" dirty="0"/>
              <a:t>, q0, F} is an </a:t>
            </a:r>
            <a:r>
              <a:rPr lang="az-Cyrl-AZ" altLang="en-US" dirty="0"/>
              <a:t>Є</a:t>
            </a:r>
            <a:r>
              <a:rPr lang="en-US" altLang="en-US" dirty="0"/>
              <a:t>-NFA then</a:t>
            </a:r>
            <a:endParaRPr lang="en-US" altLang="en-US" dirty="0"/>
          </a:p>
          <a:p>
            <a:pPr eaLnBrk="1" hangingPunct="1">
              <a:buNone/>
            </a:pPr>
            <a:r>
              <a:rPr lang="en-US" altLang="en-US" dirty="0"/>
              <a:t>         L(E) = {w | </a:t>
            </a:r>
            <a:r>
              <a:rPr lang="el-GR" altLang="en-US" dirty="0"/>
              <a:t>δ*</a:t>
            </a:r>
            <a:r>
              <a:rPr lang="en-US" altLang="en-US" dirty="0"/>
              <a:t>(q0,w) </a:t>
            </a:r>
            <a:r>
              <a:rPr lang="az-Cyrl-AZ" altLang="en-US" dirty="0"/>
              <a:t>П</a:t>
            </a:r>
            <a:r>
              <a:rPr lang="en-US" altLang="en-US" dirty="0"/>
              <a:t> F&lt;&gt; </a:t>
            </a:r>
            <a:r>
              <a:rPr lang="el-GR" altLang="en-US" dirty="0"/>
              <a:t>φ</a:t>
            </a:r>
            <a:r>
              <a:rPr lang="en-US" altLang="en-US" dirty="0"/>
              <a:t> }</a:t>
            </a:r>
            <a:endParaRPr lang="en-US" altLang="en-US" dirty="0"/>
          </a:p>
          <a:p>
            <a:pPr eaLnBrk="1" hangingPunct="1">
              <a:buNone/>
            </a:pPr>
            <a:r>
              <a:rPr lang="en-US" altLang="en-US" dirty="0"/>
              <a:t>   that is L(E) is the set of strings w in ∑ * such that </a:t>
            </a:r>
            <a:r>
              <a:rPr lang="el-GR" altLang="en-US" dirty="0"/>
              <a:t>δ</a:t>
            </a:r>
            <a:r>
              <a:rPr lang="en-US" altLang="en-US" dirty="0"/>
              <a:t>*(q0,w) contains at least one accepting state</a:t>
            </a:r>
            <a:endParaRPr lang="en-US" altLang="en-US" dirty="0"/>
          </a:p>
          <a:p>
            <a:pPr eaLnBrk="1" hangingPunct="1">
              <a:buNone/>
            </a:pPr>
            <a:endParaRPr lang="en-US" altLang="en-US" dirty="0"/>
          </a:p>
        </p:txBody>
      </p:sp>
      <p:sp>
        <p:nvSpPr>
          <p:cNvPr id="2" name="Footer Placeholder 1"/>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16535" y="274955"/>
            <a:ext cx="8721725" cy="916305"/>
          </a:xfrm>
        </p:spPr>
        <p:txBody>
          <a:bodyPr/>
          <a:p>
            <a:pPr algn="l"/>
            <a:r>
              <a:rPr lang="en-US" sz="3200" b="1" noProof="0" dirty="0" smtClean="0">
                <a:ln>
                  <a:noFill/>
                </a:ln>
                <a:solidFill>
                  <a:srgbClr val="FF0000"/>
                </a:solidFill>
                <a:effectLst/>
                <a:uLnTx/>
                <a:uFillTx/>
                <a:sym typeface="+mn-ea"/>
              </a:rPr>
              <a:t>Conversion of </a:t>
            </a:r>
            <a:r>
              <a:rPr lang="en-US" sz="3200" b="1" noProof="0" dirty="0" smtClean="0">
                <a:ln>
                  <a:noFill/>
                </a:ln>
                <a:solidFill>
                  <a:srgbClr val="FF0000"/>
                </a:solidFill>
                <a:effectLst/>
                <a:uLnTx/>
                <a:uFillTx/>
                <a:latin typeface="Arial" panose="020B0604020202020204" pitchFamily="34" charset="0"/>
                <a:cs typeface="Arial" panose="020B0604020202020204" pitchFamily="34" charset="0"/>
                <a:sym typeface="+mn-ea"/>
              </a:rPr>
              <a:t>Ԑ</a:t>
            </a:r>
            <a:r>
              <a:rPr lang="en-GB" altLang="en-US" sz="3200" b="1" noProof="0" dirty="0" smtClean="0">
                <a:ln>
                  <a:noFill/>
                </a:ln>
                <a:solidFill>
                  <a:srgbClr val="FF0000"/>
                </a:solidFill>
                <a:effectLst/>
                <a:uLnTx/>
                <a:uFillTx/>
                <a:latin typeface="Arial" panose="020B0604020202020204" pitchFamily="34" charset="0"/>
                <a:cs typeface="Arial" panose="020B0604020202020204" pitchFamily="34" charset="0"/>
                <a:sym typeface="+mn-ea"/>
              </a:rPr>
              <a:t>-</a:t>
            </a:r>
            <a:r>
              <a:rPr lang="en-US" sz="3200" b="1" noProof="0" dirty="0" smtClean="0">
                <a:ln>
                  <a:noFill/>
                </a:ln>
                <a:solidFill>
                  <a:srgbClr val="FF0000"/>
                </a:solidFill>
                <a:effectLst/>
                <a:uLnTx/>
                <a:uFillTx/>
                <a:sym typeface="+mn-ea"/>
              </a:rPr>
              <a:t>NFA to DFA </a:t>
            </a:r>
            <a:r>
              <a:rPr lang="en-GB" altLang="en-US" sz="3200" b="1" noProof="0" dirty="0" smtClean="0">
                <a:ln>
                  <a:noFill/>
                </a:ln>
                <a:solidFill>
                  <a:srgbClr val="FF0000"/>
                </a:solidFill>
                <a:effectLst/>
                <a:uLnTx/>
                <a:uFillTx/>
                <a:sym typeface="+mn-ea"/>
              </a:rPr>
              <a:t>by </a:t>
            </a:r>
            <a:r>
              <a:rPr lang="en-US" sz="3200" b="1" noProof="0" dirty="0" smtClean="0">
                <a:ln>
                  <a:noFill/>
                </a:ln>
                <a:solidFill>
                  <a:srgbClr val="FF0000"/>
                </a:solidFill>
                <a:effectLst/>
                <a:uLnTx/>
                <a:uFillTx/>
                <a:sym typeface="+mn-ea"/>
              </a:rPr>
              <a:t>using </a:t>
            </a:r>
            <a:r>
              <a:rPr lang="en-GB" altLang="en-US" sz="3200" b="1" noProof="0" dirty="0" smtClean="0">
                <a:ln>
                  <a:noFill/>
                </a:ln>
                <a:solidFill>
                  <a:srgbClr val="00B0F0"/>
                </a:solidFill>
                <a:effectLst/>
                <a:uLnTx/>
                <a:uFillTx/>
                <a:sym typeface="+mn-ea"/>
              </a:rPr>
              <a:t>Subset Construction Scheme by Lasy Evaluation</a:t>
            </a:r>
            <a:endParaRPr lang="en-US" sz="3200" b="1"/>
          </a:p>
        </p:txBody>
      </p:sp>
      <p:sp>
        <p:nvSpPr>
          <p:cNvPr id="3" name="Content Placeholder 2"/>
          <p:cNvSpPr>
            <a:spLocks noGrp="1"/>
          </p:cNvSpPr>
          <p:nvPr>
            <p:ph idx="1"/>
          </p:nvPr>
        </p:nvSpPr>
        <p:spPr>
          <a:xfrm>
            <a:off x="457200" y="1368425"/>
            <a:ext cx="8229600" cy="4758055"/>
          </a:xfrm>
        </p:spPr>
        <p:txBody>
          <a:bodyPr/>
          <a:p>
            <a:pPr marL="0" indent="0">
              <a:buNone/>
            </a:pPr>
            <a:r>
              <a:rPr kumimoji="0" lang="en-GB" altLang="en-US" b="0" i="0" u="none" strike="noStrike" kern="1200" cap="none" spc="0" normalizeH="0" baseline="0" noProof="0" dirty="0" smtClean="0">
                <a:ln>
                  <a:noFill/>
                </a:ln>
                <a:solidFill>
                  <a:srgbClr val="FF0000"/>
                </a:solidFill>
                <a:effectLst/>
                <a:uLnTx/>
                <a:uFillTx/>
                <a:latin typeface="+mj-lt"/>
                <a:ea typeface="+mj-ea"/>
                <a:cs typeface="+mj-cs"/>
                <a:sym typeface="+mn-ea"/>
              </a:rPr>
              <a:t>   </a:t>
            </a:r>
            <a:r>
              <a:rPr kumimoji="0" lang="en-GB" altLang="en-US" b="0" i="0" u="none" strike="noStrike" kern="1200" cap="none" spc="0" normalizeH="0" baseline="0" noProof="0" dirty="0" smtClean="0">
                <a:ln>
                  <a:noFill/>
                </a:ln>
                <a:solidFill>
                  <a:schemeClr val="tx1"/>
                </a:solidFill>
                <a:effectLst/>
                <a:uLnTx/>
                <a:uFillTx/>
                <a:latin typeface="+mj-lt"/>
                <a:ea typeface="+mj-ea"/>
                <a:cs typeface="+mj-cs"/>
                <a:sym typeface="+mn-ea"/>
              </a:rPr>
              <a:t>In this method we will not consider </a:t>
            </a:r>
            <a:r>
              <a:rPr kumimoji="0" lang="en-GB" altLang="en-US" b="1" i="0" u="none" strike="noStrike" kern="1200" cap="none" spc="0" normalizeH="0" baseline="0" noProof="0" dirty="0" smtClean="0">
                <a:ln>
                  <a:noFill/>
                </a:ln>
                <a:solidFill>
                  <a:srgbClr val="FF0000"/>
                </a:solidFill>
                <a:effectLst/>
                <a:uLnTx/>
                <a:uFillTx/>
                <a:latin typeface="+mj-lt"/>
                <a:ea typeface="+mj-ea"/>
                <a:cs typeface="+mj-cs"/>
                <a:sym typeface="+mn-ea"/>
              </a:rPr>
              <a:t>2</a:t>
            </a:r>
            <a:r>
              <a:rPr kumimoji="0" lang="en-GB" altLang="en-US" b="1" i="0" u="none" strike="noStrike" kern="1200" cap="none" spc="0" normalizeH="0" baseline="30000" noProof="0" dirty="0" smtClean="0">
                <a:ln>
                  <a:noFill/>
                </a:ln>
                <a:solidFill>
                  <a:srgbClr val="FF0000"/>
                </a:solidFill>
                <a:effectLst/>
                <a:uLnTx/>
                <a:uFillTx/>
                <a:latin typeface="+mj-lt"/>
                <a:ea typeface="+mj-ea"/>
                <a:cs typeface="+mj-cs"/>
                <a:sym typeface="+mn-ea"/>
              </a:rPr>
              <a:t>N</a:t>
            </a:r>
            <a:r>
              <a:rPr kumimoji="0" lang="en-GB" altLang="en-US" b="1" i="0" u="none" strike="noStrike" kern="1200" cap="none" spc="0" normalizeH="0" baseline="0" noProof="0" dirty="0" smtClean="0">
                <a:ln>
                  <a:noFill/>
                </a:ln>
                <a:solidFill>
                  <a:srgbClr val="FF0000"/>
                </a:solidFill>
                <a:effectLst/>
                <a:uLnTx/>
                <a:uFillTx/>
                <a:latin typeface="+mj-lt"/>
                <a:ea typeface="+mj-ea"/>
                <a:cs typeface="+mj-cs"/>
                <a:sym typeface="+mn-ea"/>
              </a:rPr>
              <a:t> number of states </a:t>
            </a:r>
            <a:r>
              <a:rPr kumimoji="0" lang="en-GB" altLang="en-US" b="0" i="0" u="none" strike="noStrike" kern="1200" cap="none" spc="0" normalizeH="0" baseline="0" noProof="0" dirty="0" smtClean="0">
                <a:ln>
                  <a:noFill/>
                </a:ln>
                <a:solidFill>
                  <a:schemeClr val="tx1"/>
                </a:solidFill>
                <a:effectLst/>
                <a:uLnTx/>
                <a:uFillTx/>
                <a:latin typeface="+mj-lt"/>
                <a:ea typeface="+mj-ea"/>
                <a:cs typeface="+mj-cs"/>
                <a:sym typeface="+mn-ea"/>
              </a:rPr>
              <a:t>in finding </a:t>
            </a:r>
            <a:r>
              <a:rPr lang="el-GR" altLang="x-none" b="1" dirty="0">
                <a:solidFill>
                  <a:srgbClr val="FF0000"/>
                </a:solidFill>
                <a:sym typeface="+mn-ea"/>
              </a:rPr>
              <a:t>δ</a:t>
            </a:r>
            <a:r>
              <a:rPr b="1" baseline="-25000" dirty="0">
                <a:solidFill>
                  <a:srgbClr val="FF0000"/>
                </a:solidFill>
                <a:sym typeface="+mn-ea"/>
              </a:rPr>
              <a:t>D</a:t>
            </a:r>
            <a:r>
              <a:rPr lang="en-GB" b="1" baseline="-25000" dirty="0">
                <a:solidFill>
                  <a:srgbClr val="FF0000"/>
                </a:solidFill>
                <a:sym typeface="+mn-ea"/>
              </a:rPr>
              <a:t> </a:t>
            </a:r>
            <a:r>
              <a:rPr kumimoji="0" lang="en-GB" altLang="en-US" b="0" i="0" u="none" strike="noStrike" kern="1200" cap="none" spc="0" normalizeH="0" baseline="0" noProof="0" dirty="0" smtClean="0">
                <a:ln>
                  <a:noFill/>
                </a:ln>
                <a:solidFill>
                  <a:schemeClr val="tx1"/>
                </a:solidFill>
                <a:effectLst/>
                <a:uLnTx/>
                <a:uFillTx/>
                <a:latin typeface="+mj-lt"/>
                <a:ea typeface="+mj-ea"/>
                <a:cs typeface="+mj-cs"/>
                <a:sym typeface="+mn-ea"/>
              </a:rPr>
              <a:t> as not all states are relevant. </a:t>
            </a:r>
            <a:endParaRPr kumimoji="0" lang="en-GB" altLang="en-US" b="0" i="0" u="none" strike="noStrike" kern="1200" cap="none" spc="0" normalizeH="0" baseline="0" noProof="0" dirty="0" smtClean="0">
              <a:ln>
                <a:noFill/>
              </a:ln>
              <a:solidFill>
                <a:schemeClr val="tx1"/>
              </a:solidFill>
              <a:effectLst/>
              <a:uLnTx/>
              <a:uFillTx/>
              <a:latin typeface="+mj-lt"/>
              <a:ea typeface="+mj-ea"/>
              <a:cs typeface="+mj-cs"/>
              <a:sym typeface="+mn-ea"/>
            </a:endParaRPr>
          </a:p>
          <a:p>
            <a:pPr marL="0" indent="0">
              <a:buNone/>
            </a:pPr>
            <a:r>
              <a:rPr kumimoji="0" lang="en-GB" altLang="en-US" b="0" i="0" u="none" strike="noStrike" kern="1200" cap="none" spc="0" normalizeH="0" baseline="0" noProof="0" dirty="0" smtClean="0">
                <a:ln>
                  <a:noFill/>
                </a:ln>
                <a:solidFill>
                  <a:schemeClr val="tx1"/>
                </a:solidFill>
                <a:effectLst/>
                <a:uLnTx/>
                <a:uFillTx/>
                <a:latin typeface="+mj-lt"/>
                <a:ea typeface="+mj-ea"/>
                <a:cs typeface="+mj-cs"/>
                <a:sym typeface="+mn-ea"/>
              </a:rPr>
              <a:t>   i.e few states which are </a:t>
            </a:r>
            <a:r>
              <a:rPr kumimoji="0" lang="en-GB" altLang="en-US" b="1" i="0" u="none" strike="noStrike" kern="1200" cap="none" spc="0" normalizeH="0" baseline="0" noProof="0" dirty="0" smtClean="0">
                <a:ln>
                  <a:noFill/>
                </a:ln>
                <a:solidFill>
                  <a:srgbClr val="FF0000"/>
                </a:solidFill>
                <a:effectLst/>
                <a:uLnTx/>
                <a:uFillTx/>
                <a:latin typeface="+mj-lt"/>
                <a:ea typeface="+mj-ea"/>
                <a:cs typeface="+mj-cs"/>
                <a:sym typeface="+mn-ea"/>
              </a:rPr>
              <a:t>not reachable</a:t>
            </a:r>
            <a:r>
              <a:rPr kumimoji="0" lang="en-GB" altLang="en-US" b="0" i="0" u="none" strike="noStrike" kern="1200" cap="none" spc="0" normalizeH="0" baseline="0" noProof="0" dirty="0" smtClean="0">
                <a:ln>
                  <a:noFill/>
                </a:ln>
                <a:solidFill>
                  <a:schemeClr val="tx1"/>
                </a:solidFill>
                <a:effectLst/>
                <a:uLnTx/>
                <a:uFillTx/>
                <a:latin typeface="+mj-lt"/>
                <a:ea typeface="+mj-ea"/>
                <a:cs typeface="+mj-cs"/>
                <a:sym typeface="+mn-ea"/>
              </a:rPr>
              <a:t> from start state are irrelavant and those states should not be considered in computing </a:t>
            </a:r>
            <a:r>
              <a:rPr lang="el-GR" altLang="x-none" b="1" dirty="0">
                <a:solidFill>
                  <a:srgbClr val="FF0000"/>
                </a:solidFill>
                <a:sym typeface="+mn-ea"/>
              </a:rPr>
              <a:t>δ</a:t>
            </a:r>
            <a:r>
              <a:rPr b="1" baseline="-25000" dirty="0">
                <a:solidFill>
                  <a:srgbClr val="FF0000"/>
                </a:solidFill>
                <a:sym typeface="+mn-ea"/>
              </a:rPr>
              <a:t>D</a:t>
            </a:r>
            <a:r>
              <a:rPr lang="en-GB" b="1" baseline="-25000" dirty="0">
                <a:sym typeface="+mn-ea"/>
              </a:rPr>
              <a:t> </a:t>
            </a:r>
            <a:r>
              <a:rPr kumimoji="0" lang="en-GB" altLang="en-US" b="0" i="0" u="none" strike="noStrike" kern="1200" cap="none" spc="0" normalizeH="0" baseline="0" noProof="0" dirty="0" smtClean="0">
                <a:ln>
                  <a:noFill/>
                </a:ln>
                <a:solidFill>
                  <a:schemeClr val="tx1"/>
                </a:solidFill>
                <a:effectLst/>
                <a:uLnTx/>
                <a:uFillTx/>
                <a:latin typeface="+mj-lt"/>
                <a:ea typeface="+mj-ea"/>
                <a:cs typeface="+mj-cs"/>
                <a:sym typeface="+mn-ea"/>
              </a:rPr>
              <a:t>. </a:t>
            </a:r>
            <a:endParaRPr kumimoji="0" lang="en-GB" altLang="en-US" b="0" i="0" u="none" strike="noStrike" kern="1200" cap="none" spc="0" normalizeH="0" baseline="0" noProof="0" dirty="0" smtClean="0">
              <a:ln>
                <a:noFill/>
              </a:ln>
              <a:solidFill>
                <a:schemeClr val="tx1"/>
              </a:solidFill>
              <a:effectLst/>
              <a:uLnTx/>
              <a:uFillTx/>
              <a:latin typeface="+mj-lt"/>
              <a:ea typeface="+mj-ea"/>
              <a:cs typeface="+mj-cs"/>
              <a:sym typeface="+mn-ea"/>
            </a:endParaRPr>
          </a:p>
          <a:p>
            <a:pPr marL="0" indent="0">
              <a:buNone/>
            </a:pPr>
            <a:r>
              <a:rPr kumimoji="0" lang="en-GB" altLang="en-US" b="0" i="0" u="none" strike="noStrike" kern="1200" cap="none" spc="0" normalizeH="0" baseline="0" noProof="0" dirty="0" smtClean="0">
                <a:ln>
                  <a:noFill/>
                </a:ln>
                <a:solidFill>
                  <a:schemeClr val="tx1"/>
                </a:solidFill>
                <a:effectLst/>
                <a:uLnTx/>
                <a:uFillTx/>
                <a:latin typeface="+mj-lt"/>
                <a:ea typeface="+mj-ea"/>
                <a:cs typeface="+mj-cs"/>
                <a:sym typeface="+mn-ea"/>
              </a:rPr>
              <a:t>  This method of computing </a:t>
            </a:r>
            <a:r>
              <a:rPr lang="el-GR" altLang="x-none" b="1" dirty="0">
                <a:solidFill>
                  <a:srgbClr val="FF0000"/>
                </a:solidFill>
                <a:sym typeface="+mn-ea"/>
              </a:rPr>
              <a:t>δ</a:t>
            </a:r>
            <a:r>
              <a:rPr b="1" baseline="-25000" dirty="0">
                <a:solidFill>
                  <a:srgbClr val="FF0000"/>
                </a:solidFill>
                <a:sym typeface="+mn-ea"/>
              </a:rPr>
              <a:t>D</a:t>
            </a:r>
            <a:r>
              <a:rPr lang="en-GB" b="1" baseline="-25000" dirty="0">
                <a:solidFill>
                  <a:srgbClr val="FF0000"/>
                </a:solidFill>
                <a:sym typeface="+mn-ea"/>
              </a:rPr>
              <a:t> </a:t>
            </a:r>
            <a:r>
              <a:rPr kumimoji="0" lang="en-GB" altLang="en-US" b="0" i="0" u="none" strike="noStrike" kern="1200" cap="none" spc="0" normalizeH="0" baseline="0" noProof="0" dirty="0" smtClean="0">
                <a:ln>
                  <a:noFill/>
                </a:ln>
                <a:solidFill>
                  <a:schemeClr val="tx1"/>
                </a:solidFill>
                <a:effectLst/>
                <a:uLnTx/>
                <a:uFillTx/>
                <a:latin typeface="+mj-lt"/>
                <a:ea typeface="+mj-ea"/>
                <a:cs typeface="+mj-cs"/>
                <a:sym typeface="+mn-ea"/>
              </a:rPr>
              <a:t>for only relevant state (reachable state) is called </a:t>
            </a:r>
            <a:r>
              <a:rPr kumimoji="0" lang="en-GB" altLang="en-US" b="1" i="0" u="none" strike="noStrike" kern="1200" cap="none" spc="0" normalizeH="0" baseline="0" noProof="0" dirty="0" smtClean="0">
                <a:ln>
                  <a:noFill/>
                </a:ln>
                <a:solidFill>
                  <a:srgbClr val="00B0F0"/>
                </a:solidFill>
                <a:effectLst/>
                <a:uLnTx/>
                <a:uFillTx/>
                <a:latin typeface="+mj-lt"/>
                <a:ea typeface="+mj-ea"/>
                <a:cs typeface="+mj-cs"/>
                <a:sym typeface="+mn-ea"/>
              </a:rPr>
              <a:t>subset construction scheme by Lazy evaluation</a:t>
            </a:r>
            <a:endParaRPr kumimoji="0" lang="en-GB" altLang="en-US" b="1" i="0" u="none" strike="noStrike" kern="1200" cap="none" spc="0" normalizeH="0" baseline="0" noProof="0" dirty="0" smtClean="0">
              <a:ln>
                <a:noFill/>
              </a:ln>
              <a:solidFill>
                <a:srgbClr val="00B0F0"/>
              </a:solidFill>
              <a:effectLst/>
              <a:uLnTx/>
              <a:uFillTx/>
              <a:latin typeface="+mj-lt"/>
              <a:ea typeface="+mj-ea"/>
              <a:cs typeface="+mj-cs"/>
              <a:sym typeface="+mn-ea"/>
            </a:endParaRPr>
          </a:p>
          <a:p>
            <a:pPr marL="0" indent="0">
              <a:buNone/>
            </a:pPr>
            <a:endParaRPr kumimoji="0" lang="en-US" b="0" i="0" u="none" strike="noStrike" kern="1200" cap="none" spc="0" normalizeH="0" baseline="0" noProof="0" dirty="0" smtClean="0">
              <a:ln>
                <a:noFill/>
              </a:ln>
              <a:solidFill>
                <a:schemeClr val="tx1"/>
              </a:solidFill>
              <a:effectLst/>
              <a:uLnTx/>
              <a:uFillTx/>
              <a:latin typeface="+mj-lt"/>
              <a:ea typeface="+mj-ea"/>
              <a:cs typeface="+mj-cs"/>
            </a:endParaRPr>
          </a:p>
          <a:p>
            <a:pPr marL="0" indent="0">
              <a:buNone/>
            </a:pPr>
            <a:endParaRPr kumimoji="0" lang="en-US" b="0" i="0" u="none" strike="noStrike" kern="1200" cap="none" spc="0" normalizeH="0" baseline="0" noProof="0" dirty="0" smtClean="0">
              <a:ln>
                <a:noFill/>
              </a:ln>
              <a:solidFill>
                <a:schemeClr val="tx1"/>
              </a:solidFill>
              <a:effectLst/>
              <a:uLnTx/>
              <a:uFillTx/>
              <a:latin typeface="+mj-lt"/>
              <a:ea typeface="+mj-ea"/>
              <a:cs typeface="+mj-cs"/>
            </a:endParaRPr>
          </a:p>
        </p:txBody>
      </p:sp>
      <p:sp>
        <p:nvSpPr>
          <p:cNvPr id="4" name="Footer Placeholder 3"/>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338455" y="68580"/>
            <a:ext cx="8617585" cy="6664325"/>
          </a:xfrm>
        </p:spPr>
        <p:txBody>
          <a:bodyPr vert="horz" wrap="square" lIns="91440" tIns="45720" rIns="91440" bIns="45720" numCol="1" rtlCol="0" anchor="t" anchorCtr="0" compatLnSpc="1"/>
          <a:p>
            <a:pPr eaLnBrk="1" hangingPunct="1">
              <a:lnSpc>
                <a:spcPct val="90000"/>
              </a:lnSpc>
              <a:buNone/>
            </a:pPr>
            <a:r>
              <a:rPr lang="en-US" altLang="en-US" sz="2700" dirty="0">
                <a:sym typeface="+mn-ea"/>
              </a:rPr>
              <a:t>1. </a:t>
            </a:r>
            <a:r>
              <a:rPr lang="en-US" altLang="en-US" sz="2400" dirty="0">
                <a:sym typeface="+mn-ea"/>
              </a:rPr>
              <a:t>Initialize DFA state </a:t>
            </a:r>
            <a:r>
              <a:rPr lang="en-US" altLang="en-US" sz="2400" b="1" dirty="0">
                <a:solidFill>
                  <a:srgbClr val="FF0000"/>
                </a:solidFill>
                <a:sym typeface="+mn-ea"/>
              </a:rPr>
              <a:t>set QD to </a:t>
            </a:r>
            <a:r>
              <a:rPr sz="2400" b="1" dirty="0">
                <a:solidFill>
                  <a:srgbClr val="0070C0"/>
                </a:solidFill>
                <a:sym typeface="+mn-ea"/>
              </a:rPr>
              <a:t>ECLOSE(q0)</a:t>
            </a:r>
            <a:r>
              <a:rPr lang="en-US" altLang="en-US" sz="2400" dirty="0">
                <a:sym typeface="+mn-ea"/>
              </a:rPr>
              <a:t> </a:t>
            </a:r>
            <a:r>
              <a:rPr lang="en-GB" altLang="en-US" sz="2400" dirty="0">
                <a:sym typeface="+mn-ea"/>
              </a:rPr>
              <a:t>and </a:t>
            </a:r>
            <a:r>
              <a:rPr lang="en-US" altLang="en-US" sz="2400" dirty="0">
                <a:sym typeface="+mn-ea"/>
              </a:rPr>
              <a:t>is the </a:t>
            </a:r>
            <a:r>
              <a:rPr lang="en-US" altLang="en-US" sz="2400" b="1" dirty="0">
                <a:solidFill>
                  <a:srgbClr val="FF0000"/>
                </a:solidFill>
                <a:sym typeface="+mn-ea"/>
              </a:rPr>
              <a:t>start state of DFA D</a:t>
            </a:r>
            <a:r>
              <a:rPr lang="en-US" altLang="en-US" sz="2400" dirty="0">
                <a:sym typeface="+mn-ea"/>
              </a:rPr>
              <a:t> which is the set containing only the </a:t>
            </a:r>
            <a:r>
              <a:rPr lang="en-US" altLang="en-US" sz="2400" b="1" dirty="0">
                <a:solidFill>
                  <a:srgbClr val="FF0000"/>
                </a:solidFill>
                <a:sym typeface="+mn-ea"/>
              </a:rPr>
              <a:t>start state of </a:t>
            </a:r>
            <a:r>
              <a:rPr lang="en-US" altLang="en-US" sz="2400" b="1" dirty="0">
                <a:solidFill>
                  <a:srgbClr val="FF0000"/>
                </a:solidFill>
                <a:latin typeface="Arial" panose="020B0604020202020204" pitchFamily="34" charset="0"/>
                <a:cs typeface="Arial" panose="020B0604020202020204" pitchFamily="34" charset="0"/>
                <a:sym typeface="+mn-ea"/>
              </a:rPr>
              <a:t>Ԑ</a:t>
            </a:r>
            <a:r>
              <a:rPr lang="en-GB" altLang="en-US" sz="2400" b="1" dirty="0">
                <a:solidFill>
                  <a:srgbClr val="FF0000"/>
                </a:solidFill>
                <a:latin typeface="Arial" panose="020B0604020202020204" pitchFamily="34" charset="0"/>
                <a:cs typeface="Arial" panose="020B0604020202020204" pitchFamily="34" charset="0"/>
                <a:sym typeface="+mn-ea"/>
              </a:rPr>
              <a:t>-</a:t>
            </a:r>
            <a:r>
              <a:rPr lang="en-US" altLang="en-US" sz="2400" b="1" dirty="0">
                <a:solidFill>
                  <a:srgbClr val="FF0000"/>
                </a:solidFill>
                <a:sym typeface="+mn-ea"/>
              </a:rPr>
              <a:t>NFA N.</a:t>
            </a:r>
            <a:endParaRPr lang="en-US" altLang="en-US" sz="2400" b="1" baseline="-25000" dirty="0">
              <a:solidFill>
                <a:srgbClr val="FF0000"/>
              </a:solidFill>
            </a:endParaRPr>
          </a:p>
          <a:p>
            <a:pPr eaLnBrk="1" hangingPunct="1">
              <a:lnSpc>
                <a:spcPct val="90000"/>
              </a:lnSpc>
              <a:buNone/>
            </a:pPr>
            <a:r>
              <a:rPr sz="2700" dirty="0"/>
              <a:t>2.</a:t>
            </a:r>
            <a:r>
              <a:rPr sz="2700" b="1" dirty="0"/>
              <a:t> While</a:t>
            </a:r>
            <a:r>
              <a:rPr sz="2700" dirty="0"/>
              <a:t> (</a:t>
            </a:r>
            <a:r>
              <a:rPr lang="el-GR" altLang="x-none" sz="2700" b="1" dirty="0">
                <a:solidFill>
                  <a:srgbClr val="FF0000"/>
                </a:solidFill>
              </a:rPr>
              <a:t>δ</a:t>
            </a:r>
            <a:r>
              <a:rPr sz="2700" b="1" baseline="-25000" dirty="0">
                <a:solidFill>
                  <a:srgbClr val="FF0000"/>
                </a:solidFill>
              </a:rPr>
              <a:t>D</a:t>
            </a:r>
            <a:r>
              <a:rPr sz="2700" dirty="0"/>
              <a:t> for all DFA state in </a:t>
            </a:r>
            <a:r>
              <a:rPr sz="2700" dirty="0">
                <a:solidFill>
                  <a:srgbClr val="FF0000"/>
                </a:solidFill>
              </a:rPr>
              <a:t>Q</a:t>
            </a:r>
            <a:r>
              <a:rPr sz="2700" baseline="-25000" dirty="0">
                <a:solidFill>
                  <a:srgbClr val="FF0000"/>
                </a:solidFill>
              </a:rPr>
              <a:t>D</a:t>
            </a:r>
            <a:r>
              <a:rPr sz="2700" dirty="0"/>
              <a:t> is not defined) </a:t>
            </a:r>
            <a:r>
              <a:rPr sz="2700" b="1" dirty="0"/>
              <a:t>Do </a:t>
            </a:r>
            <a:endParaRPr sz="2700" b="1" dirty="0"/>
          </a:p>
          <a:p>
            <a:pPr eaLnBrk="1" hangingPunct="1">
              <a:lnSpc>
                <a:spcPct val="90000"/>
              </a:lnSpc>
              <a:buNone/>
            </a:pPr>
            <a:r>
              <a:rPr sz="2700" b="1" dirty="0"/>
              <a:t> </a:t>
            </a:r>
            <a:r>
              <a:rPr lang="en-GB" sz="2700" b="1" dirty="0"/>
              <a:t>    </a:t>
            </a:r>
            <a:r>
              <a:rPr sz="2700" b="1" dirty="0"/>
              <a:t>Begin</a:t>
            </a:r>
            <a:endParaRPr sz="2700" b="1" dirty="0"/>
          </a:p>
          <a:p>
            <a:pPr marL="1062990" indent="-1062990" eaLnBrk="1" hangingPunct="1">
              <a:lnSpc>
                <a:spcPct val="90000"/>
              </a:lnSpc>
              <a:buNone/>
            </a:pPr>
            <a:r>
              <a:rPr sz="2700" b="1" dirty="0"/>
              <a:t>              </a:t>
            </a:r>
            <a:r>
              <a:rPr sz="2400" dirty="0"/>
              <a:t>For each state </a:t>
            </a:r>
            <a:r>
              <a:rPr sz="2400" b="1" dirty="0">
                <a:solidFill>
                  <a:srgbClr val="FF0000"/>
                </a:solidFill>
              </a:rPr>
              <a:t>‘S’ in Q</a:t>
            </a:r>
            <a:r>
              <a:rPr sz="2400" b="1" baseline="-25000" dirty="0">
                <a:solidFill>
                  <a:srgbClr val="FF0000"/>
                </a:solidFill>
              </a:rPr>
              <a:t>D</a:t>
            </a:r>
            <a:r>
              <a:rPr sz="2400" dirty="0"/>
              <a:t> and for each </a:t>
            </a:r>
            <a:r>
              <a:rPr sz="2400" b="1" dirty="0">
                <a:solidFill>
                  <a:srgbClr val="FF0000"/>
                </a:solidFill>
              </a:rPr>
              <a:t>‘a’  in ∑</a:t>
            </a:r>
            <a:r>
              <a:rPr sz="2400" b="1" dirty="0"/>
              <a:t>   </a:t>
            </a:r>
            <a:r>
              <a:rPr sz="2400" dirty="0"/>
              <a:t>find </a:t>
            </a:r>
            <a:r>
              <a:rPr lang="en-GB" sz="2400" dirty="0"/>
              <a:t>	   </a:t>
            </a:r>
            <a:r>
              <a:rPr sz="2400" dirty="0"/>
              <a:t>next state </a:t>
            </a:r>
            <a:r>
              <a:rPr sz="2400" dirty="0">
                <a:solidFill>
                  <a:srgbClr val="FF0000"/>
                </a:solidFill>
              </a:rPr>
              <a:t>T</a:t>
            </a:r>
            <a:r>
              <a:rPr sz="2400" baseline="-25000" dirty="0">
                <a:solidFill>
                  <a:srgbClr val="FF0000"/>
                </a:solidFill>
              </a:rPr>
              <a:t>D</a:t>
            </a:r>
            <a:r>
              <a:rPr sz="2400" dirty="0">
                <a:solidFill>
                  <a:srgbClr val="FF0000"/>
                </a:solidFill>
              </a:rPr>
              <a:t> </a:t>
            </a:r>
            <a:r>
              <a:rPr sz="2400" dirty="0"/>
              <a:t>by applying transition function </a:t>
            </a:r>
            <a:r>
              <a:rPr lang="el-GR" altLang="x-none" sz="2400" b="1" dirty="0">
                <a:solidFill>
                  <a:srgbClr val="FF0000"/>
                </a:solidFill>
              </a:rPr>
              <a:t>δ</a:t>
            </a:r>
            <a:r>
              <a:rPr lang="en-GB" altLang="el-GR" sz="2400" b="1" baseline="-25000" dirty="0">
                <a:solidFill>
                  <a:srgbClr val="FF0000"/>
                </a:solidFill>
              </a:rPr>
              <a:t>N</a:t>
            </a:r>
            <a:r>
              <a:rPr sz="2400" dirty="0"/>
              <a:t> </a:t>
            </a:r>
            <a:r>
              <a:rPr lang="en-GB" sz="2400" dirty="0"/>
              <a:t>    </a:t>
            </a:r>
            <a:endParaRPr lang="en-GB" sz="2400" dirty="0"/>
          </a:p>
          <a:p>
            <a:pPr eaLnBrk="1" hangingPunct="1">
              <a:lnSpc>
                <a:spcPct val="90000"/>
              </a:lnSpc>
              <a:buNone/>
            </a:pPr>
            <a:r>
              <a:rPr lang="en-GB" sz="2400" dirty="0"/>
              <a:t>              </a:t>
            </a:r>
            <a:r>
              <a:rPr sz="2400" dirty="0"/>
              <a:t>and </a:t>
            </a:r>
            <a:r>
              <a:rPr lang="en-GB" sz="2400" dirty="0"/>
              <a:t> </a:t>
            </a:r>
            <a:r>
              <a:rPr sz="2400" dirty="0"/>
              <a:t>add </a:t>
            </a:r>
            <a:r>
              <a:rPr sz="2400" dirty="0">
                <a:solidFill>
                  <a:srgbClr val="FF0000"/>
                </a:solidFill>
              </a:rPr>
              <a:t>T</a:t>
            </a:r>
            <a:r>
              <a:rPr sz="2400" baseline="-25000" dirty="0">
                <a:solidFill>
                  <a:srgbClr val="FF0000"/>
                </a:solidFill>
              </a:rPr>
              <a:t>D</a:t>
            </a:r>
            <a:r>
              <a:rPr sz="2400" dirty="0"/>
              <a:t> to </a:t>
            </a:r>
            <a:r>
              <a:rPr sz="2400" dirty="0">
                <a:solidFill>
                  <a:srgbClr val="FF0000"/>
                </a:solidFill>
              </a:rPr>
              <a:t>Q</a:t>
            </a:r>
            <a:r>
              <a:rPr sz="2400" baseline="-25000" dirty="0">
                <a:solidFill>
                  <a:srgbClr val="FF0000"/>
                </a:solidFill>
              </a:rPr>
              <a:t>D</a:t>
            </a:r>
            <a:r>
              <a:rPr sz="2400" dirty="0"/>
              <a:t> if it is  not already there.</a:t>
            </a:r>
            <a:endParaRPr sz="2400" dirty="0"/>
          </a:p>
          <a:p>
            <a:pPr eaLnBrk="1" hangingPunct="1">
              <a:lnSpc>
                <a:spcPct val="90000"/>
              </a:lnSpc>
              <a:buNone/>
            </a:pPr>
            <a:r>
              <a:rPr sz="2700" b="1" dirty="0"/>
              <a:t>        </a:t>
            </a:r>
            <a:r>
              <a:rPr lang="en-GB" sz="2700" b="1" dirty="0"/>
              <a:t>	</a:t>
            </a:r>
            <a:r>
              <a:rPr sz="2700" b="1" dirty="0"/>
              <a:t>   </a:t>
            </a:r>
            <a:r>
              <a:rPr sz="2700" b="1" dirty="0">
                <a:solidFill>
                  <a:srgbClr val="FF0000"/>
                </a:solidFill>
              </a:rPr>
              <a:t>i.e </a:t>
            </a:r>
            <a:r>
              <a:rPr lang="el-GR" altLang="x-none" sz="2700" b="1" dirty="0">
                <a:solidFill>
                  <a:srgbClr val="FF0000"/>
                </a:solidFill>
              </a:rPr>
              <a:t>δ</a:t>
            </a:r>
            <a:r>
              <a:rPr sz="2700" b="1" baseline="-25000" dirty="0">
                <a:solidFill>
                  <a:srgbClr val="FF0000"/>
                </a:solidFill>
              </a:rPr>
              <a:t>D</a:t>
            </a:r>
            <a:r>
              <a:rPr sz="2700" b="1" dirty="0">
                <a:solidFill>
                  <a:srgbClr val="FF0000"/>
                </a:solidFill>
              </a:rPr>
              <a:t>(S, a) =  </a:t>
            </a:r>
            <a:r>
              <a:rPr sz="2700" b="1" dirty="0">
                <a:solidFill>
                  <a:srgbClr val="FF0000"/>
                </a:solidFill>
                <a:latin typeface="Times New Roman" panose="02020603050405020304" pitchFamily="18" charset="0"/>
                <a:cs typeface="Times New Roman" panose="02020603050405020304" pitchFamily="18" charset="0"/>
              </a:rPr>
              <a:t>Ụ </a:t>
            </a:r>
            <a:r>
              <a:rPr lang="el-GR" altLang="x-none" sz="2700" b="1" dirty="0">
                <a:solidFill>
                  <a:srgbClr val="FF0000"/>
                </a:solidFill>
                <a:latin typeface="Times New Roman" panose="02020603050405020304" pitchFamily="18" charset="0"/>
                <a:cs typeface="Times New Roman" panose="02020603050405020304" pitchFamily="18" charset="0"/>
              </a:rPr>
              <a:t>δ</a:t>
            </a:r>
            <a:r>
              <a:rPr sz="2700" b="1" baseline="-25000" dirty="0">
                <a:solidFill>
                  <a:srgbClr val="FF0000"/>
                </a:solidFill>
                <a:latin typeface="Times New Roman" panose="02020603050405020304" pitchFamily="18" charset="0"/>
                <a:cs typeface="Times New Roman" panose="02020603050405020304" pitchFamily="18" charset="0"/>
              </a:rPr>
              <a:t>N</a:t>
            </a:r>
            <a:r>
              <a:rPr sz="2700" b="1" dirty="0">
                <a:solidFill>
                  <a:srgbClr val="FF0000"/>
                </a:solidFill>
                <a:latin typeface="Times New Roman" panose="02020603050405020304" pitchFamily="18" charset="0"/>
                <a:cs typeface="Times New Roman" panose="02020603050405020304" pitchFamily="18" charset="0"/>
              </a:rPr>
              <a:t>(p, a)  → T</a:t>
            </a:r>
            <a:r>
              <a:rPr sz="2700" b="1" baseline="-25000" dirty="0">
                <a:solidFill>
                  <a:srgbClr val="FF0000"/>
                </a:solidFill>
                <a:latin typeface="Times New Roman" panose="02020603050405020304" pitchFamily="18" charset="0"/>
                <a:cs typeface="Times New Roman" panose="02020603050405020304" pitchFamily="18" charset="0"/>
              </a:rPr>
              <a:t>D</a:t>
            </a:r>
            <a:endParaRPr sz="2700" b="1" baseline="-25000" dirty="0">
              <a:solidFill>
                <a:srgbClr val="FF0000"/>
              </a:solidFill>
              <a:latin typeface="Times New Roman" panose="02020603050405020304" pitchFamily="18" charset="0"/>
              <a:cs typeface="Times New Roman" panose="02020603050405020304" pitchFamily="18" charset="0"/>
            </a:endParaRPr>
          </a:p>
          <a:p>
            <a:pPr eaLnBrk="1" hangingPunct="1">
              <a:lnSpc>
                <a:spcPct val="90000"/>
              </a:lnSpc>
              <a:buNone/>
            </a:pPr>
            <a:r>
              <a:rPr sz="2700" b="1" dirty="0">
                <a:solidFill>
                  <a:srgbClr val="FF0000"/>
                </a:solidFill>
              </a:rPr>
              <a:t>                                 </a:t>
            </a:r>
            <a:r>
              <a:rPr sz="2700" b="1" baseline="30000" dirty="0">
                <a:solidFill>
                  <a:srgbClr val="FF0000"/>
                </a:solidFill>
              </a:rPr>
              <a:t>p in S</a:t>
            </a:r>
            <a:endParaRPr sz="2700" b="1" baseline="30000" dirty="0">
              <a:solidFill>
                <a:srgbClr val="FF0000"/>
              </a:solidFill>
            </a:endParaRPr>
          </a:p>
          <a:p>
            <a:pPr eaLnBrk="1" hangingPunct="1">
              <a:lnSpc>
                <a:spcPct val="90000"/>
              </a:lnSpc>
              <a:buNone/>
            </a:pPr>
            <a:r>
              <a:rPr sz="2700" b="1" baseline="30000" dirty="0"/>
              <a:t> </a:t>
            </a:r>
            <a:r>
              <a:rPr lang="en-GB" sz="2700" b="1" baseline="30000" dirty="0"/>
              <a:t>                  </a:t>
            </a:r>
            <a:r>
              <a:rPr sz="2700" b="1" dirty="0"/>
              <a:t> </a:t>
            </a:r>
            <a:r>
              <a:rPr sz="2700" b="1" dirty="0">
                <a:solidFill>
                  <a:srgbClr val="0070C0"/>
                </a:solidFill>
                <a:sym typeface="+mn-ea"/>
              </a:rPr>
              <a:t> </a:t>
            </a:r>
            <a:r>
              <a:rPr sz="2400" b="1" dirty="0">
                <a:solidFill>
                  <a:srgbClr val="0070C0"/>
                </a:solidFill>
                <a:sym typeface="+mn-ea"/>
              </a:rPr>
              <a:t>and then Find  ECLOSE(T</a:t>
            </a:r>
            <a:r>
              <a:rPr sz="2400" b="1" baseline="-25000" dirty="0">
                <a:solidFill>
                  <a:srgbClr val="0070C0"/>
                </a:solidFill>
                <a:sym typeface="+mn-ea"/>
              </a:rPr>
              <a:t>D</a:t>
            </a:r>
            <a:r>
              <a:rPr sz="2400" b="1" dirty="0">
                <a:solidFill>
                  <a:srgbClr val="0070C0"/>
                </a:solidFill>
                <a:sym typeface="+mn-ea"/>
              </a:rPr>
              <a:t>) and add to Q</a:t>
            </a:r>
            <a:r>
              <a:rPr sz="2400" b="1" baseline="-25000" dirty="0">
                <a:solidFill>
                  <a:srgbClr val="0070C0"/>
                </a:solidFill>
                <a:sym typeface="+mn-ea"/>
              </a:rPr>
              <a:t>D</a:t>
            </a:r>
            <a:r>
              <a:rPr sz="2400" b="1" dirty="0">
                <a:solidFill>
                  <a:srgbClr val="0070C0"/>
                </a:solidFill>
                <a:sym typeface="+mn-ea"/>
              </a:rPr>
              <a:t> if it is    </a:t>
            </a:r>
            <a:endParaRPr sz="2400" b="1" dirty="0">
              <a:solidFill>
                <a:srgbClr val="0070C0"/>
              </a:solidFill>
            </a:endParaRPr>
          </a:p>
          <a:p>
            <a:pPr eaLnBrk="1" hangingPunct="1">
              <a:lnSpc>
                <a:spcPct val="90000"/>
              </a:lnSpc>
              <a:buNone/>
            </a:pPr>
            <a:r>
              <a:rPr sz="2400" b="1" dirty="0">
                <a:solidFill>
                  <a:srgbClr val="0070C0"/>
                </a:solidFill>
                <a:sym typeface="+mn-ea"/>
              </a:rPr>
              <a:t>           </a:t>
            </a:r>
            <a:r>
              <a:rPr lang="en-GB" sz="2400" b="1" dirty="0">
                <a:solidFill>
                  <a:srgbClr val="0070C0"/>
                </a:solidFill>
                <a:sym typeface="+mn-ea"/>
              </a:rPr>
              <a:t>    </a:t>
            </a:r>
            <a:r>
              <a:rPr sz="2400" b="1" dirty="0">
                <a:solidFill>
                  <a:srgbClr val="0070C0"/>
                </a:solidFill>
                <a:sym typeface="+mn-ea"/>
              </a:rPr>
              <a:t>not  already there</a:t>
            </a:r>
            <a:endParaRPr sz="2700" b="1" dirty="0">
              <a:solidFill>
                <a:srgbClr val="0070C0"/>
              </a:solidFill>
            </a:endParaRPr>
          </a:p>
          <a:p>
            <a:pPr eaLnBrk="1" hangingPunct="1">
              <a:lnSpc>
                <a:spcPct val="90000"/>
              </a:lnSpc>
              <a:buNone/>
            </a:pPr>
            <a:r>
              <a:rPr sz="2700" b="1" dirty="0"/>
              <a:t> </a:t>
            </a:r>
            <a:r>
              <a:rPr lang="en-GB" sz="2700" b="1" dirty="0"/>
              <a:t>   </a:t>
            </a:r>
            <a:r>
              <a:rPr sz="2700" b="1" dirty="0"/>
              <a:t> END</a:t>
            </a:r>
            <a:endParaRPr sz="2700" b="1" dirty="0"/>
          </a:p>
          <a:p>
            <a:pPr eaLnBrk="1" hangingPunct="1">
              <a:lnSpc>
                <a:spcPct val="90000"/>
              </a:lnSpc>
              <a:buNone/>
            </a:pPr>
            <a:r>
              <a:rPr lang="en-GB" sz="2700" b="1" dirty="0"/>
              <a:t>3. </a:t>
            </a:r>
            <a:r>
              <a:rPr lang="en-US" altLang="en-US" sz="2700" b="1" dirty="0">
                <a:solidFill>
                  <a:srgbClr val="FF0000"/>
                </a:solidFill>
                <a:sym typeface="+mn-ea"/>
              </a:rPr>
              <a:t>FD</a:t>
            </a:r>
            <a:r>
              <a:rPr lang="en-US" altLang="en-US" sz="2700" dirty="0">
                <a:sym typeface="+mn-ea"/>
              </a:rPr>
              <a:t> is final states of DFA which contains all sets of </a:t>
            </a:r>
            <a:r>
              <a:rPr lang="en-US" altLang="en-US" sz="2400" b="1" dirty="0">
                <a:solidFill>
                  <a:srgbClr val="FF0000"/>
                </a:solidFill>
                <a:sym typeface="+mn-ea"/>
              </a:rPr>
              <a:t>Ԑ-NFA’s</a:t>
            </a:r>
            <a:r>
              <a:rPr lang="en-US" altLang="en-US" sz="2700" dirty="0">
                <a:sym typeface="+mn-ea"/>
              </a:rPr>
              <a:t> states that include at least one </a:t>
            </a:r>
            <a:r>
              <a:rPr lang="en-US" altLang="en-US" sz="2400" b="1" dirty="0">
                <a:solidFill>
                  <a:srgbClr val="FF0000"/>
                </a:solidFill>
                <a:sym typeface="+mn-ea"/>
              </a:rPr>
              <a:t>final state of</a:t>
            </a:r>
            <a:r>
              <a:rPr lang="en-US" altLang="en-US" sz="2700" dirty="0">
                <a:sym typeface="+mn-ea"/>
              </a:rPr>
              <a:t> </a:t>
            </a:r>
            <a:r>
              <a:rPr lang="en-US" altLang="en-US" sz="2400" b="1" dirty="0">
                <a:solidFill>
                  <a:srgbClr val="FF0000"/>
                </a:solidFill>
                <a:sym typeface="+mn-ea"/>
              </a:rPr>
              <a:t>Ԑ-NFA.</a:t>
            </a:r>
            <a:endParaRPr lang="en-US" altLang="en-US" sz="2400" b="1" dirty="0">
              <a:solidFill>
                <a:srgbClr val="FF0000"/>
              </a:solidFill>
              <a:sym typeface="+mn-ea"/>
            </a:endParaRPr>
          </a:p>
          <a:p>
            <a:pPr eaLnBrk="1" hangingPunct="1">
              <a:lnSpc>
                <a:spcPct val="90000"/>
              </a:lnSpc>
              <a:buNone/>
            </a:pPr>
            <a:r>
              <a:rPr lang="en-US" altLang="en-US" sz="2700" dirty="0">
                <a:sym typeface="+mn-ea"/>
              </a:rPr>
              <a:t> </a:t>
            </a:r>
            <a:r>
              <a:rPr lang="en-GB" altLang="en-US" sz="2700" dirty="0">
                <a:sym typeface="+mn-ea"/>
              </a:rPr>
              <a:t>              i.e if </a:t>
            </a:r>
            <a:r>
              <a:rPr lang="en-GB" altLang="en-US" sz="2700" b="1" dirty="0">
                <a:solidFill>
                  <a:srgbClr val="FF0000"/>
                </a:solidFill>
                <a:sym typeface="+mn-ea"/>
              </a:rPr>
              <a:t>State S</a:t>
            </a:r>
            <a:r>
              <a:rPr lang="en-GB" altLang="en-US" sz="2700" dirty="0">
                <a:sym typeface="+mn-ea"/>
              </a:rPr>
              <a:t> in FD then </a:t>
            </a:r>
            <a:r>
              <a:rPr lang="en-GB" altLang="en-US" sz="2700" b="1" dirty="0">
                <a:solidFill>
                  <a:srgbClr val="FF0000"/>
                </a:solidFill>
                <a:sym typeface="+mn-ea"/>
              </a:rPr>
              <a:t>S </a:t>
            </a:r>
            <a:r>
              <a:rPr lang="en-GB" altLang="en-US" sz="2700" b="1" dirty="0">
                <a:solidFill>
                  <a:srgbClr val="FF0000"/>
                </a:solidFill>
                <a:latin typeface="Arial" panose="020B0604020202020204" pitchFamily="34" charset="0"/>
                <a:cs typeface="Arial" panose="020B0604020202020204" pitchFamily="34" charset="0"/>
                <a:sym typeface="+mn-ea"/>
              </a:rPr>
              <a:t>∩ </a:t>
            </a:r>
            <a:r>
              <a:rPr lang="en-GB" altLang="en-US" sz="2700" b="1" dirty="0">
                <a:solidFill>
                  <a:srgbClr val="FF0000"/>
                </a:solidFill>
                <a:sym typeface="+mn-ea"/>
              </a:rPr>
              <a:t>F</a:t>
            </a:r>
            <a:r>
              <a:rPr lang="en-GB" altLang="en-US" sz="2700" b="1" baseline="-25000" dirty="0">
                <a:solidFill>
                  <a:srgbClr val="FF0000"/>
                </a:solidFill>
                <a:sym typeface="+mn-ea"/>
              </a:rPr>
              <a:t>N</a:t>
            </a:r>
            <a:r>
              <a:rPr lang="en-GB" altLang="en-US" sz="2700" b="1" dirty="0">
                <a:solidFill>
                  <a:srgbClr val="FF0000"/>
                </a:solidFill>
                <a:latin typeface="Arial" panose="020B0604020202020204" pitchFamily="34" charset="0"/>
                <a:cs typeface="Arial" panose="020B0604020202020204" pitchFamily="34" charset="0"/>
                <a:sym typeface="+mn-ea"/>
              </a:rPr>
              <a:t> &lt;&gt; Ø</a:t>
            </a:r>
            <a:endParaRPr lang="en-US" altLang="en-US" sz="2700" dirty="0"/>
          </a:p>
          <a:p>
            <a:pPr eaLnBrk="1" hangingPunct="1">
              <a:lnSpc>
                <a:spcPct val="90000"/>
              </a:lnSpc>
              <a:buNone/>
            </a:pPr>
            <a:endParaRPr sz="2700" b="1" dirty="0"/>
          </a:p>
          <a:p>
            <a:pPr eaLnBrk="1" hangingPunct="1">
              <a:lnSpc>
                <a:spcPct val="90000"/>
              </a:lnSpc>
              <a:buNone/>
            </a:pPr>
            <a:r>
              <a:rPr sz="2700" b="1" dirty="0"/>
              <a:t>      </a:t>
            </a:r>
            <a:endParaRPr sz="2700" b="1" dirty="0"/>
          </a:p>
        </p:txBody>
      </p:sp>
      <p:sp>
        <p:nvSpPr>
          <p:cNvPr id="2" name="Footer Placeholder 1"/>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6" name="Content Placeholder 5"/>
          <p:cNvGraphicFramePr/>
          <p:nvPr>
            <p:ph idx="1"/>
          </p:nvPr>
        </p:nvGraphicFramePr>
        <p:xfrm>
          <a:off x="401320" y="3532505"/>
          <a:ext cx="8366125" cy="3241040"/>
        </p:xfrm>
        <a:graphic>
          <a:graphicData uri="http://schemas.openxmlformats.org/drawingml/2006/table">
            <a:tbl>
              <a:tblPr firstRow="1" bandRow="1">
                <a:tableStyleId>{5C22544A-7EE6-4342-B048-85BDC9FD1C3A}</a:tableStyleId>
              </a:tblPr>
              <a:tblGrid>
                <a:gridCol w="1224915"/>
                <a:gridCol w="1204595"/>
                <a:gridCol w="5936615"/>
              </a:tblGrid>
              <a:tr h="372745">
                <a:tc>
                  <a:txBody>
                    <a:bodyPr/>
                    <a:p>
                      <a:pPr>
                        <a:buNone/>
                      </a:pPr>
                      <a:r>
                        <a:rPr lang="el-GR" altLang="x-none" sz="1800" dirty="0">
                          <a:solidFill>
                            <a:srgbClr val="FF0000"/>
                          </a:solidFill>
                          <a:sym typeface="+mn-ea"/>
                        </a:rPr>
                        <a:t>δ</a:t>
                      </a:r>
                      <a:r>
                        <a:rPr sz="1800" baseline="-25000" dirty="0">
                          <a:solidFill>
                            <a:srgbClr val="FF0000"/>
                          </a:solidFill>
                          <a:sym typeface="+mn-ea"/>
                        </a:rPr>
                        <a:t>D</a:t>
                      </a:r>
                      <a:endParaRPr lang="en-US"/>
                    </a:p>
                  </a:txBody>
                  <a:tcPr/>
                </a:tc>
                <a:tc>
                  <a:txBody>
                    <a:bodyPr/>
                    <a:p>
                      <a:pPr>
                        <a:buNone/>
                      </a:pPr>
                      <a:r>
                        <a:rPr lang="en-GB" altLang="en-US"/>
                        <a:t>a</a:t>
                      </a:r>
                      <a:endParaRPr lang="en-GB" altLang="en-US"/>
                    </a:p>
                  </a:txBody>
                  <a:tcPr/>
                </a:tc>
                <a:tc>
                  <a:txBody>
                    <a:bodyPr/>
                    <a:p>
                      <a:pPr>
                        <a:buNone/>
                      </a:pPr>
                      <a:r>
                        <a:rPr lang="el-GR" altLang="x-none" sz="1800" dirty="0">
                          <a:solidFill>
                            <a:srgbClr val="FF0000"/>
                          </a:solidFill>
                          <a:sym typeface="+mn-ea"/>
                        </a:rPr>
                        <a:t>δ</a:t>
                      </a:r>
                      <a:r>
                        <a:rPr sz="1800" baseline="-25000" dirty="0">
                          <a:solidFill>
                            <a:srgbClr val="FF0000"/>
                          </a:solidFill>
                          <a:sym typeface="+mn-ea"/>
                        </a:rPr>
                        <a:t>D</a:t>
                      </a:r>
                      <a:r>
                        <a:rPr lang="en-GB" sz="1800" baseline="-25000" dirty="0">
                          <a:solidFill>
                            <a:srgbClr val="FF0000"/>
                          </a:solidFill>
                          <a:sym typeface="+mn-ea"/>
                        </a:rPr>
                        <a:t> </a:t>
                      </a:r>
                      <a:r>
                        <a:rPr lang="en-GB" altLang="en-US" sz="1800">
                          <a:sym typeface="+mn-ea"/>
                        </a:rPr>
                        <a:t> </a:t>
                      </a:r>
                      <a:r>
                        <a:rPr lang="en-GB" altLang="en-US" sz="1800">
                          <a:latin typeface="Arial" panose="020B0604020202020204" pitchFamily="34" charset="0"/>
                          <a:cs typeface="Arial" panose="020B0604020202020204" pitchFamily="34" charset="0"/>
                          <a:sym typeface="+mn-ea"/>
                        </a:rPr>
                        <a:t>→ C</a:t>
                      </a:r>
                      <a:r>
                        <a:rPr lang="en-GB" altLang="en-US" sz="1800">
                          <a:sym typeface="+mn-ea"/>
                        </a:rPr>
                        <a:t>alulations for inputs </a:t>
                      </a:r>
                      <a:r>
                        <a:rPr lang="en-IN" altLang="en-GB" sz="1800">
                          <a:sym typeface="+mn-ea"/>
                        </a:rPr>
                        <a:t>a </a:t>
                      </a:r>
                      <a:r>
                        <a:rPr lang="en-IN" altLang="en-GB" sz="1800">
                          <a:latin typeface="Arial" panose="020B0604020202020204" pitchFamily="34" charset="0"/>
                          <a:cs typeface="Arial" panose="020B0604020202020204" pitchFamily="34" charset="0"/>
                          <a:sym typeface="+mn-ea"/>
                        </a:rPr>
                        <a:t>€ ∑</a:t>
                      </a:r>
                      <a:endParaRPr lang="en-IN" altLang="en-GB" sz="1800" baseline="-25000" dirty="0">
                        <a:solidFill>
                          <a:srgbClr val="FF0000"/>
                        </a:solidFill>
                        <a:latin typeface="Arial" panose="020B0604020202020204" pitchFamily="34" charset="0"/>
                        <a:cs typeface="Arial" panose="020B0604020202020204" pitchFamily="34" charset="0"/>
                        <a:sym typeface="+mn-ea"/>
                      </a:endParaRPr>
                    </a:p>
                  </a:txBody>
                  <a:tcPr/>
                </a:tc>
              </a:tr>
              <a:tr h="701040">
                <a:tc>
                  <a:txBody>
                    <a:bodyPr/>
                    <a:p>
                      <a:pPr>
                        <a:buNone/>
                      </a:pPr>
                      <a:r>
                        <a:rPr lang="en-GB" altLang="en-US" sz="1600" b="1">
                          <a:latin typeface="Arial" panose="020B0604020202020204" pitchFamily="34" charset="0"/>
                          <a:cs typeface="Arial" panose="020B0604020202020204" pitchFamily="34" charset="0"/>
                        </a:rPr>
                        <a:t>→</a:t>
                      </a:r>
                      <a:r>
                        <a:rPr lang="en-GB" altLang="en-US" sz="1600" b="1"/>
                        <a:t>{q0</a:t>
                      </a:r>
                      <a:r>
                        <a:rPr lang="en-GB" altLang="en-US" sz="1600"/>
                        <a:t>}</a:t>
                      </a:r>
                      <a:endParaRPr lang="en-GB" altLang="en-US" sz="1600"/>
                    </a:p>
                  </a:txBody>
                  <a:tcPr/>
                </a:tc>
                <a:tc>
                  <a:txBody>
                    <a:bodyPr/>
                    <a:p>
                      <a:pPr>
                        <a:buNone/>
                      </a:pPr>
                      <a:r>
                        <a:rPr lang="en-GB" altLang="en-US" sz="1600">
                          <a:sym typeface="+mn-ea"/>
                        </a:rPr>
                        <a:t>{q1,q2, q0}</a:t>
                      </a:r>
                      <a:endParaRPr lang="en-GB" altLang="en-US" sz="1600"/>
                    </a:p>
                    <a:p>
                      <a:pPr>
                        <a:buNone/>
                      </a:pPr>
                      <a:endParaRPr lang="en-GB" altLang="en-US" sz="1600"/>
                    </a:p>
                  </a:txBody>
                  <a:tcPr/>
                </a:tc>
                <a:tc>
                  <a:txBody>
                    <a:bodyPr/>
                    <a:p>
                      <a:pPr>
                        <a:buNone/>
                      </a:pPr>
                      <a:r>
                        <a:rPr lang="el-GR" altLang="x-none" sz="1600" b="1" dirty="0">
                          <a:solidFill>
                            <a:srgbClr val="FF0000"/>
                          </a:solidFill>
                          <a:sym typeface="+mn-ea"/>
                        </a:rPr>
                        <a:t>δ</a:t>
                      </a:r>
                      <a:r>
                        <a:rPr sz="1600" b="1" baseline="-25000" dirty="0">
                          <a:solidFill>
                            <a:srgbClr val="FF0000"/>
                          </a:solidFill>
                          <a:sym typeface="+mn-ea"/>
                        </a:rPr>
                        <a:t>D</a:t>
                      </a:r>
                      <a:r>
                        <a:rPr lang="en-GB" altLang="el-GR" sz="1600" b="1" dirty="0">
                          <a:solidFill>
                            <a:schemeClr val="tx1"/>
                          </a:solidFill>
                          <a:latin typeface="Times New Roman" panose="02020603050405020304" pitchFamily="18" charset="0"/>
                          <a:cs typeface="Times New Roman" panose="02020603050405020304" pitchFamily="18" charset="0"/>
                          <a:sym typeface="+mn-ea"/>
                        </a:rPr>
                        <a:t>({q0}, a) = </a:t>
                      </a:r>
                      <a:r>
                        <a:rPr lang="el-GR" altLang="x-none" sz="1600" b="1" dirty="0">
                          <a:solidFill>
                            <a:srgbClr val="FF0000"/>
                          </a:solidFill>
                          <a:latin typeface="Times New Roman" panose="02020603050405020304" pitchFamily="18" charset="0"/>
                          <a:cs typeface="Times New Roman" panose="02020603050405020304" pitchFamily="18" charset="0"/>
                          <a:sym typeface="+mn-ea"/>
                        </a:rPr>
                        <a:t>δ</a:t>
                      </a:r>
                      <a:r>
                        <a:rPr sz="1600" b="1" baseline="-25000" dirty="0">
                          <a:solidFill>
                            <a:srgbClr val="FF0000"/>
                          </a:solidFill>
                          <a:latin typeface="Times New Roman" panose="02020603050405020304" pitchFamily="18" charset="0"/>
                          <a:cs typeface="Times New Roman" panose="02020603050405020304" pitchFamily="18" charset="0"/>
                          <a:sym typeface="+mn-ea"/>
                        </a:rPr>
                        <a:t>N</a:t>
                      </a:r>
                      <a:r>
                        <a:rPr lang="en-GB" altLang="en-US" sz="1600"/>
                        <a:t>(q0, a) = {q1}  and</a:t>
                      </a:r>
                      <a:endParaRPr lang="en-GB" altLang="en-US" sz="1600"/>
                    </a:p>
                    <a:p>
                      <a:pPr>
                        <a:buNone/>
                      </a:pPr>
                      <a:r>
                        <a:rPr lang="en-US" sz="1600">
                          <a:cs typeface="Arial" panose="020B0604020202020204" pitchFamily="34" charset="0"/>
                          <a:sym typeface="+mn-ea"/>
                        </a:rPr>
                        <a:t>Ԑ</a:t>
                      </a:r>
                      <a:r>
                        <a:rPr lang="en-GB" altLang="en-US" sz="1600">
                          <a:cs typeface="Arial" panose="020B0604020202020204" pitchFamily="34" charset="0"/>
                          <a:sym typeface="+mn-ea"/>
                        </a:rPr>
                        <a:t>-Closure(q1) = </a:t>
                      </a:r>
                      <a:r>
                        <a:rPr lang="en-GB" altLang="en-US" sz="1600">
                          <a:solidFill>
                            <a:srgbClr val="FF0000"/>
                          </a:solidFill>
                          <a:highlight>
                            <a:srgbClr val="FFFF00"/>
                          </a:highlight>
                          <a:cs typeface="Arial" panose="020B0604020202020204" pitchFamily="34" charset="0"/>
                          <a:sym typeface="+mn-ea"/>
                        </a:rPr>
                        <a:t>{q1,q2,,q0}</a:t>
                      </a:r>
                      <a:r>
                        <a:rPr lang="en-IN" altLang="en-GB" sz="1600">
                          <a:solidFill>
                            <a:srgbClr val="FF0000"/>
                          </a:solidFill>
                          <a:highlight>
                            <a:srgbClr val="FFFF00"/>
                          </a:highlight>
                          <a:cs typeface="Arial" panose="020B0604020202020204" pitchFamily="34" charset="0"/>
                          <a:sym typeface="+mn-ea"/>
                        </a:rPr>
                        <a:t> </a:t>
                      </a:r>
                      <a:r>
                        <a:rPr lang="en-IN" altLang="en-GB" sz="1600">
                          <a:solidFill>
                            <a:srgbClr val="FF0000"/>
                          </a:solidFill>
                          <a:highlight>
                            <a:srgbClr val="FFFF00"/>
                          </a:highlight>
                          <a:latin typeface="Arial" panose="020B0604020202020204" pitchFamily="34" charset="0"/>
                          <a:cs typeface="Arial" panose="020B0604020202020204" pitchFamily="34" charset="0"/>
                          <a:sym typeface="+mn-ea"/>
                        </a:rPr>
                        <a:t>→ New set for DFA added to </a:t>
                      </a:r>
                      <a:r>
                        <a:rPr lang="en-GB" altLang="en-US" sz="2400">
                          <a:highlight>
                            <a:srgbClr val="FFFF00"/>
                          </a:highlight>
                          <a:sym typeface="+mn-ea"/>
                        </a:rPr>
                        <a:t>Q</a:t>
                      </a:r>
                      <a:r>
                        <a:rPr lang="en-GB" altLang="en-US" sz="2400" baseline="-25000">
                          <a:highlight>
                            <a:srgbClr val="FFFF00"/>
                          </a:highlight>
                          <a:sym typeface="+mn-ea"/>
                        </a:rPr>
                        <a:t>D</a:t>
                      </a:r>
                      <a:endParaRPr lang="en-IN" altLang="en-GB" sz="1600" b="1">
                        <a:solidFill>
                          <a:srgbClr val="FF0000"/>
                        </a:solidFill>
                        <a:highlight>
                          <a:srgbClr val="FFFF00"/>
                        </a:highlight>
                        <a:latin typeface="Arial" panose="020B0604020202020204" pitchFamily="34" charset="0"/>
                        <a:cs typeface="Arial" panose="020B0604020202020204" pitchFamily="34" charset="0"/>
                        <a:sym typeface="+mn-ea"/>
                      </a:endParaRPr>
                    </a:p>
                  </a:txBody>
                  <a:tcPr/>
                </a:tc>
              </a:tr>
              <a:tr h="1188720">
                <a:tc>
                  <a:txBody>
                    <a:bodyPr/>
                    <a:p>
                      <a:pPr>
                        <a:buNone/>
                      </a:pPr>
                      <a:r>
                        <a:rPr lang="en-GB" altLang="en-US" sz="1600" b="1">
                          <a:latin typeface="Arial" panose="020B0604020202020204" pitchFamily="34" charset="0"/>
                          <a:cs typeface="Arial" panose="020B0604020202020204" pitchFamily="34" charset="0"/>
                        </a:rPr>
                        <a:t>ӿ</a:t>
                      </a:r>
                      <a:r>
                        <a:rPr lang="en-GB" altLang="en-US" sz="1600" b="1"/>
                        <a:t>{q1,q2,q0}</a:t>
                      </a:r>
                      <a:endParaRPr lang="en-GB" altLang="en-US" sz="1600" b="1"/>
                    </a:p>
                  </a:txBody>
                  <a:tcPr/>
                </a:tc>
                <a:tc>
                  <a:txBody>
                    <a:bodyPr/>
                    <a:p>
                      <a:pPr>
                        <a:buNone/>
                      </a:pPr>
                      <a:r>
                        <a:rPr lang="en-GB" altLang="en-US" sz="1600">
                          <a:sym typeface="+mn-ea"/>
                        </a:rPr>
                        <a:t>{q1,q2,q0}</a:t>
                      </a:r>
                      <a:endParaRPr lang="en-GB" altLang="en-US" sz="1600"/>
                    </a:p>
                  </a:txBody>
                  <a:tcPr/>
                </a:tc>
                <a:tc>
                  <a:txBody>
                    <a:bodyPr/>
                    <a:p>
                      <a:pPr>
                        <a:buNone/>
                      </a:pPr>
                      <a:r>
                        <a:rPr lang="el-GR" altLang="x-none" sz="1600" b="1" dirty="0">
                          <a:solidFill>
                            <a:srgbClr val="FF0000"/>
                          </a:solidFill>
                          <a:sym typeface="+mn-ea"/>
                        </a:rPr>
                        <a:t>δ</a:t>
                      </a:r>
                      <a:r>
                        <a:rPr sz="1600" b="1" baseline="-25000" dirty="0">
                          <a:solidFill>
                            <a:srgbClr val="FF0000"/>
                          </a:solidFill>
                          <a:sym typeface="+mn-ea"/>
                        </a:rPr>
                        <a:t>D</a:t>
                      </a:r>
                      <a:r>
                        <a:rPr lang="en-GB" altLang="el-GR" sz="1600" b="1" dirty="0">
                          <a:solidFill>
                            <a:schemeClr val="tx1"/>
                          </a:solidFill>
                          <a:latin typeface="Times New Roman" panose="02020603050405020304" pitchFamily="18" charset="0"/>
                          <a:cs typeface="Times New Roman" panose="02020603050405020304" pitchFamily="18" charset="0"/>
                          <a:sym typeface="+mn-ea"/>
                        </a:rPr>
                        <a:t>({q1,q2,q0}, a) = </a:t>
                      </a:r>
                      <a:r>
                        <a:rPr lang="el-GR" altLang="x-none" sz="1600" b="1" dirty="0">
                          <a:solidFill>
                            <a:srgbClr val="FF0000"/>
                          </a:solidFill>
                          <a:latin typeface="Times New Roman" panose="02020603050405020304" pitchFamily="18" charset="0"/>
                          <a:cs typeface="Times New Roman" panose="02020603050405020304" pitchFamily="18" charset="0"/>
                          <a:sym typeface="+mn-ea"/>
                        </a:rPr>
                        <a:t>δ</a:t>
                      </a:r>
                      <a:r>
                        <a:rPr sz="1600" b="1" baseline="-25000" dirty="0">
                          <a:solidFill>
                            <a:srgbClr val="FF0000"/>
                          </a:solidFill>
                          <a:latin typeface="Times New Roman" panose="02020603050405020304" pitchFamily="18" charset="0"/>
                          <a:cs typeface="Times New Roman" panose="02020603050405020304" pitchFamily="18" charset="0"/>
                          <a:sym typeface="+mn-ea"/>
                        </a:rPr>
                        <a:t>N</a:t>
                      </a:r>
                      <a:r>
                        <a:rPr lang="en-GB" altLang="en-US" sz="1600">
                          <a:sym typeface="+mn-ea"/>
                        </a:rPr>
                        <a:t>(q1, </a:t>
                      </a:r>
                      <a:r>
                        <a:rPr lang="en-IN" altLang="en-GB" sz="1600">
                          <a:sym typeface="+mn-ea"/>
                        </a:rPr>
                        <a:t>a</a:t>
                      </a:r>
                      <a:r>
                        <a:rPr lang="en-GB" altLang="en-US" sz="1600">
                          <a:sym typeface="+mn-ea"/>
                        </a:rPr>
                        <a:t>) </a:t>
                      </a:r>
                      <a:r>
                        <a:rPr lang="en-GB" altLang="en-US" sz="1600">
                          <a:latin typeface="Arial" panose="020B0604020202020204" pitchFamily="34" charset="0"/>
                          <a:cs typeface="Arial" panose="020B0604020202020204" pitchFamily="34" charset="0"/>
                          <a:sym typeface="+mn-ea"/>
                        </a:rPr>
                        <a:t>Ụ </a:t>
                      </a:r>
                      <a:r>
                        <a:rPr lang="el-GR" altLang="x-none" sz="1600" b="1" dirty="0">
                          <a:solidFill>
                            <a:srgbClr val="FF0000"/>
                          </a:solidFill>
                          <a:latin typeface="Times New Roman" panose="02020603050405020304" pitchFamily="18" charset="0"/>
                          <a:cs typeface="Times New Roman" panose="02020603050405020304" pitchFamily="18" charset="0"/>
                          <a:sym typeface="+mn-ea"/>
                        </a:rPr>
                        <a:t>δ</a:t>
                      </a:r>
                      <a:r>
                        <a:rPr sz="1600" b="1" baseline="-25000" dirty="0">
                          <a:solidFill>
                            <a:srgbClr val="FF0000"/>
                          </a:solidFill>
                          <a:latin typeface="Times New Roman" panose="02020603050405020304" pitchFamily="18" charset="0"/>
                          <a:cs typeface="Times New Roman" panose="02020603050405020304" pitchFamily="18" charset="0"/>
                          <a:sym typeface="+mn-ea"/>
                        </a:rPr>
                        <a:t>N</a:t>
                      </a:r>
                      <a:r>
                        <a:rPr lang="en-GB" altLang="en-US" sz="1600">
                          <a:sym typeface="+mn-ea"/>
                        </a:rPr>
                        <a:t>(q</a:t>
                      </a:r>
                      <a:r>
                        <a:rPr lang="en-IN" altLang="en-GB" sz="1600">
                          <a:sym typeface="+mn-ea"/>
                        </a:rPr>
                        <a:t>2</a:t>
                      </a:r>
                      <a:r>
                        <a:rPr lang="en-GB" altLang="en-US" sz="1600">
                          <a:sym typeface="+mn-ea"/>
                        </a:rPr>
                        <a:t>, </a:t>
                      </a:r>
                      <a:r>
                        <a:rPr lang="en-IN" altLang="en-GB" sz="1600">
                          <a:sym typeface="+mn-ea"/>
                        </a:rPr>
                        <a:t>a</a:t>
                      </a:r>
                      <a:r>
                        <a:rPr lang="en-GB" altLang="en-US" sz="1600">
                          <a:sym typeface="+mn-ea"/>
                        </a:rPr>
                        <a:t>)</a:t>
                      </a:r>
                      <a:r>
                        <a:rPr lang="en-GB" altLang="en-US" sz="1600">
                          <a:sym typeface="+mn-ea"/>
                        </a:rPr>
                        <a:t> </a:t>
                      </a:r>
                      <a:r>
                        <a:rPr lang="en-GB" altLang="en-US" sz="1600">
                          <a:latin typeface="Arial" panose="020B0604020202020204" pitchFamily="34" charset="0"/>
                          <a:cs typeface="Arial" panose="020B0604020202020204" pitchFamily="34" charset="0"/>
                          <a:sym typeface="+mn-ea"/>
                        </a:rPr>
                        <a:t>Ụ </a:t>
                      </a:r>
                      <a:r>
                        <a:rPr lang="el-GR" altLang="x-none" sz="1600" b="1" dirty="0">
                          <a:solidFill>
                            <a:srgbClr val="FF0000"/>
                          </a:solidFill>
                          <a:latin typeface="Times New Roman" panose="02020603050405020304" pitchFamily="18" charset="0"/>
                          <a:cs typeface="Times New Roman" panose="02020603050405020304" pitchFamily="18" charset="0"/>
                          <a:sym typeface="+mn-ea"/>
                        </a:rPr>
                        <a:t>δ</a:t>
                      </a:r>
                      <a:r>
                        <a:rPr sz="1600" b="1" baseline="-25000" dirty="0">
                          <a:solidFill>
                            <a:srgbClr val="FF0000"/>
                          </a:solidFill>
                          <a:latin typeface="Times New Roman" panose="02020603050405020304" pitchFamily="18" charset="0"/>
                          <a:cs typeface="Times New Roman" panose="02020603050405020304" pitchFamily="18" charset="0"/>
                          <a:sym typeface="+mn-ea"/>
                        </a:rPr>
                        <a:t>N</a:t>
                      </a:r>
                      <a:r>
                        <a:rPr lang="en-GB" altLang="en-US" sz="1600">
                          <a:sym typeface="+mn-ea"/>
                        </a:rPr>
                        <a:t>(q</a:t>
                      </a:r>
                      <a:r>
                        <a:rPr lang="en-IN" altLang="en-GB" sz="1600">
                          <a:sym typeface="+mn-ea"/>
                        </a:rPr>
                        <a:t>0</a:t>
                      </a:r>
                      <a:r>
                        <a:rPr lang="en-GB" altLang="en-US" sz="1600">
                          <a:sym typeface="+mn-ea"/>
                        </a:rPr>
                        <a:t>, </a:t>
                      </a:r>
                      <a:r>
                        <a:rPr lang="en-IN" altLang="en-GB" sz="1600">
                          <a:sym typeface="+mn-ea"/>
                        </a:rPr>
                        <a:t>a</a:t>
                      </a:r>
                      <a:r>
                        <a:rPr lang="en-GB" altLang="en-US" sz="1600">
                          <a:sym typeface="+mn-ea"/>
                        </a:rPr>
                        <a:t>)</a:t>
                      </a:r>
                      <a:endParaRPr lang="en-GB" altLang="en-US" sz="1600">
                        <a:sym typeface="+mn-ea"/>
                      </a:endParaRPr>
                    </a:p>
                    <a:p>
                      <a:pPr>
                        <a:buNone/>
                      </a:pPr>
                      <a:r>
                        <a:rPr lang="en-GB" altLang="en-US" sz="1600">
                          <a:latin typeface="Arial" panose="020B0604020202020204" pitchFamily="34" charset="0"/>
                          <a:cs typeface="Arial" panose="020B0604020202020204" pitchFamily="34" charset="0"/>
                          <a:sym typeface="+mn-ea"/>
                        </a:rPr>
                        <a:t>                      = {Ø} Ụ { Ø} Ụ </a:t>
                      </a:r>
                      <a:r>
                        <a:rPr lang="en-GB" altLang="en-US" sz="1600">
                          <a:sym typeface="+mn-ea"/>
                        </a:rPr>
                        <a:t>{</a:t>
                      </a:r>
                      <a:r>
                        <a:rPr lang="en-IN" altLang="en-GB" sz="1600">
                          <a:sym typeface="+mn-ea"/>
                        </a:rPr>
                        <a:t>q1</a:t>
                      </a:r>
                      <a:r>
                        <a:rPr lang="en-GB" altLang="en-US" sz="1600">
                          <a:sym typeface="+mn-ea"/>
                        </a:rPr>
                        <a:t>}  </a:t>
                      </a:r>
                      <a:r>
                        <a:rPr lang="en-GB" altLang="en-US" sz="1600">
                          <a:latin typeface="Arial" panose="020B0604020202020204" pitchFamily="34" charset="0"/>
                          <a:cs typeface="Arial" panose="020B0604020202020204" pitchFamily="34" charset="0"/>
                          <a:sym typeface="+mn-ea"/>
                        </a:rPr>
                        <a:t> </a:t>
                      </a:r>
                      <a:endParaRPr lang="en-GB" altLang="en-US" sz="1600">
                        <a:latin typeface="Arial" panose="020B0604020202020204" pitchFamily="34" charset="0"/>
                        <a:cs typeface="Arial" panose="020B0604020202020204" pitchFamily="34" charset="0"/>
                        <a:sym typeface="+mn-ea"/>
                      </a:endParaRPr>
                    </a:p>
                    <a:p>
                      <a:pPr>
                        <a:buNone/>
                      </a:pPr>
                      <a:r>
                        <a:rPr lang="en-GB" altLang="en-US" sz="1600">
                          <a:latin typeface="Arial" panose="020B0604020202020204" pitchFamily="34" charset="0"/>
                          <a:cs typeface="Arial" panose="020B0604020202020204" pitchFamily="34" charset="0"/>
                          <a:sym typeface="+mn-ea"/>
                        </a:rPr>
                        <a:t> </a:t>
                      </a:r>
                      <a:r>
                        <a:rPr lang="en-IN" altLang="en-GB" sz="1600">
                          <a:latin typeface="Arial" panose="020B0604020202020204" pitchFamily="34" charset="0"/>
                          <a:cs typeface="Arial" panose="020B0604020202020204" pitchFamily="34" charset="0"/>
                          <a:sym typeface="+mn-ea"/>
                        </a:rPr>
                        <a:t>                     = {q1}</a:t>
                      </a:r>
                      <a:r>
                        <a:rPr lang="en-GB" altLang="en-US" sz="1600">
                          <a:latin typeface="Arial" panose="020B0604020202020204" pitchFamily="34" charset="0"/>
                          <a:cs typeface="Arial" panose="020B0604020202020204" pitchFamily="34" charset="0"/>
                          <a:sym typeface="+mn-ea"/>
                        </a:rPr>
                        <a:t>    </a:t>
                      </a:r>
                      <a:endParaRPr lang="en-GB" altLang="en-US" sz="1600">
                        <a:latin typeface="Arial" panose="020B0604020202020204" pitchFamily="34" charset="0"/>
                        <a:cs typeface="Arial" panose="020B0604020202020204" pitchFamily="34" charset="0"/>
                        <a:sym typeface="+mn-ea"/>
                      </a:endParaRPr>
                    </a:p>
                    <a:p>
                      <a:pPr>
                        <a:buNone/>
                      </a:pPr>
                      <a:r>
                        <a:rPr lang="en-GB" altLang="en-US" sz="1600" b="1">
                          <a:solidFill>
                            <a:schemeClr val="tx1"/>
                          </a:solidFill>
                          <a:latin typeface="Arial" panose="020B0604020202020204" pitchFamily="34" charset="0"/>
                          <a:cs typeface="Arial" panose="020B0604020202020204" pitchFamily="34" charset="0"/>
                          <a:sym typeface="+mn-ea"/>
                        </a:rPr>
                        <a:t>Ԑ</a:t>
                      </a:r>
                      <a:r>
                        <a:rPr lang="en-IN" altLang="en-GB" sz="1600" b="1">
                          <a:solidFill>
                            <a:schemeClr val="tx1"/>
                          </a:solidFill>
                          <a:latin typeface="Arial" panose="020B0604020202020204" pitchFamily="34" charset="0"/>
                          <a:cs typeface="Arial" panose="020B0604020202020204" pitchFamily="34" charset="0"/>
                          <a:sym typeface="+mn-ea"/>
                        </a:rPr>
                        <a:t>-Closure(q1) = {q1,q2,q0} Not ADDED to </a:t>
                      </a:r>
                      <a:r>
                        <a:rPr lang="en-GB" altLang="en-US" sz="2400" b="1">
                          <a:solidFill>
                            <a:srgbClr val="FF0000"/>
                          </a:solidFill>
                          <a:sym typeface="+mn-ea"/>
                        </a:rPr>
                        <a:t>Q</a:t>
                      </a:r>
                      <a:r>
                        <a:rPr lang="en-GB" altLang="en-US" sz="2400" b="1" baseline="-25000">
                          <a:solidFill>
                            <a:srgbClr val="FF0000"/>
                          </a:solidFill>
                          <a:sym typeface="+mn-ea"/>
                        </a:rPr>
                        <a:t>D</a:t>
                      </a:r>
                      <a:endParaRPr lang="en-GB" altLang="en-US" sz="2400" b="1" baseline="-25000">
                        <a:solidFill>
                          <a:srgbClr val="FF0000"/>
                        </a:solidFill>
                        <a:latin typeface="Arial" panose="020B0604020202020204" pitchFamily="34" charset="0"/>
                        <a:cs typeface="Arial" panose="020B0604020202020204" pitchFamily="34" charset="0"/>
                        <a:sym typeface="+mn-ea"/>
                      </a:endParaRPr>
                    </a:p>
                  </a:txBody>
                  <a:tcPr/>
                </a:tc>
              </a:tr>
              <a:tr h="978535">
                <a:tc gridSpan="3">
                  <a:txBody>
                    <a:bodyPr/>
                    <a:p>
                      <a:pPr>
                        <a:buNone/>
                      </a:pPr>
                      <a:r>
                        <a:rPr lang="en-IN" altLang="en-GB" sz="1600"/>
                        <a:t>       </a:t>
                      </a:r>
                      <a:endParaRPr lang="en-IN" altLang="en-GB" sz="1600"/>
                    </a:p>
                    <a:p>
                      <a:pPr>
                        <a:buNone/>
                      </a:pPr>
                      <a:r>
                        <a:rPr lang="en-IN" altLang="el-GR" sz="1600" b="1" dirty="0">
                          <a:solidFill>
                            <a:srgbClr val="FF0000"/>
                          </a:solidFill>
                          <a:sym typeface="+mn-ea"/>
                        </a:rPr>
                        <a:t>          </a:t>
                      </a:r>
                      <a:r>
                        <a:rPr lang="en-IN" altLang="el-GR" sz="2400" b="1" dirty="0">
                          <a:solidFill>
                            <a:srgbClr val="FF0000"/>
                          </a:solidFill>
                          <a:sym typeface="+mn-ea"/>
                        </a:rPr>
                        <a:t>  </a:t>
                      </a:r>
                      <a:r>
                        <a:rPr lang="el-GR" altLang="x-none" sz="2400" b="1" dirty="0">
                          <a:solidFill>
                            <a:srgbClr val="FF0000"/>
                          </a:solidFill>
                          <a:sym typeface="+mn-ea"/>
                        </a:rPr>
                        <a:t>δ</a:t>
                      </a:r>
                      <a:r>
                        <a:rPr sz="2400" b="1" baseline="-25000" dirty="0">
                          <a:solidFill>
                            <a:srgbClr val="FF0000"/>
                          </a:solidFill>
                          <a:sym typeface="+mn-ea"/>
                        </a:rPr>
                        <a:t>D</a:t>
                      </a:r>
                      <a:r>
                        <a:rPr sz="2400" dirty="0">
                          <a:sym typeface="+mn-ea"/>
                        </a:rPr>
                        <a:t> for all DFA state in </a:t>
                      </a:r>
                      <a:r>
                        <a:rPr sz="2400" dirty="0">
                          <a:solidFill>
                            <a:srgbClr val="FF0000"/>
                          </a:solidFill>
                          <a:sym typeface="+mn-ea"/>
                        </a:rPr>
                        <a:t>Q</a:t>
                      </a:r>
                      <a:r>
                        <a:rPr sz="2400" baseline="-25000" dirty="0">
                          <a:solidFill>
                            <a:srgbClr val="FF0000"/>
                          </a:solidFill>
                          <a:sym typeface="+mn-ea"/>
                        </a:rPr>
                        <a:t>D</a:t>
                      </a:r>
                      <a:r>
                        <a:rPr sz="2400" dirty="0">
                          <a:sym typeface="+mn-ea"/>
                        </a:rPr>
                        <a:t> </a:t>
                      </a:r>
                      <a:r>
                        <a:rPr lang="en-IN" sz="2400" dirty="0">
                          <a:sym typeface="+mn-ea"/>
                        </a:rPr>
                        <a:t>have been</a:t>
                      </a:r>
                      <a:r>
                        <a:rPr sz="2400" dirty="0">
                          <a:sym typeface="+mn-ea"/>
                        </a:rPr>
                        <a:t> defined</a:t>
                      </a:r>
                      <a:endParaRPr lang="en-IN" altLang="en-GB" sz="2400"/>
                    </a:p>
                  </a:txBody>
                  <a:tcPr/>
                </a:tc>
                <a:tc hMerge="1">
                  <a:tcPr/>
                </a:tc>
                <a:tc hMerge="1">
                  <a:tcPr/>
                </a:tc>
              </a:tr>
            </a:tbl>
          </a:graphicData>
        </a:graphic>
      </p:graphicFrame>
      <p:sp>
        <p:nvSpPr>
          <p:cNvPr id="7" name="Text Box 6"/>
          <p:cNvSpPr txBox="1"/>
          <p:nvPr/>
        </p:nvSpPr>
        <p:spPr>
          <a:xfrm>
            <a:off x="397510" y="2950210"/>
            <a:ext cx="7428865" cy="645160"/>
          </a:xfrm>
          <a:prstGeom prst="rect">
            <a:avLst/>
          </a:prstGeom>
          <a:noFill/>
        </p:spPr>
        <p:txBody>
          <a:bodyPr wrap="square" rtlCol="0">
            <a:spAutoFit/>
          </a:bodyPr>
          <a:p>
            <a:r>
              <a:rPr lang="en-US">
                <a:cs typeface="Arial" panose="020B0604020202020204" pitchFamily="34" charset="0"/>
              </a:rPr>
              <a:t>Ԑ</a:t>
            </a:r>
            <a:r>
              <a:rPr lang="en-GB" altLang="en-US">
                <a:cs typeface="Arial" panose="020B0604020202020204" pitchFamily="34" charset="0"/>
              </a:rPr>
              <a:t>-Closure(q0) = {q0}</a:t>
            </a:r>
            <a:r>
              <a:rPr lang="en-IN" altLang="en-GB">
                <a:cs typeface="Arial" panose="020B0604020202020204" pitchFamily="34" charset="0"/>
              </a:rPr>
              <a:t> </a:t>
            </a:r>
            <a:r>
              <a:rPr lang="en-IN" altLang="en-GB">
                <a:cs typeface="Arial" panose="020B0604020202020204" pitchFamily="34" charset="0"/>
              </a:rPr>
              <a:t>→ </a:t>
            </a:r>
            <a:r>
              <a:rPr lang="en-IN" altLang="en-GB">
                <a:solidFill>
                  <a:srgbClr val="FF0000"/>
                </a:solidFill>
                <a:highlight>
                  <a:srgbClr val="FFFF00"/>
                </a:highlight>
                <a:cs typeface="Arial" panose="020B0604020202020204" pitchFamily="34" charset="0"/>
                <a:sym typeface="+mn-ea"/>
              </a:rPr>
              <a:t> Initial state for DFA and  added to </a:t>
            </a:r>
            <a:r>
              <a:rPr lang="en-GB" altLang="en-US">
                <a:highlight>
                  <a:srgbClr val="FFFF00"/>
                </a:highlight>
                <a:sym typeface="+mn-ea"/>
              </a:rPr>
              <a:t>Q</a:t>
            </a:r>
            <a:r>
              <a:rPr lang="en-GB" altLang="en-US" baseline="-25000">
                <a:highlight>
                  <a:srgbClr val="FFFF00"/>
                </a:highlight>
                <a:sym typeface="+mn-ea"/>
              </a:rPr>
              <a:t>D</a:t>
            </a:r>
            <a:endParaRPr lang="en-IN" altLang="en-GB" b="1">
              <a:solidFill>
                <a:srgbClr val="FF0000"/>
              </a:solidFill>
              <a:highlight>
                <a:srgbClr val="FFFF00"/>
              </a:highlight>
              <a:latin typeface="Arial" panose="020B0604020202020204" pitchFamily="34" charset="0"/>
              <a:cs typeface="Arial" panose="020B0604020202020204" pitchFamily="34" charset="0"/>
              <a:sym typeface="+mn-ea"/>
            </a:endParaRPr>
          </a:p>
          <a:p>
            <a:r>
              <a:rPr lang="en-IN" altLang="en-GB">
                <a:cs typeface="Arial" panose="020B0604020202020204" pitchFamily="34" charset="0"/>
              </a:rPr>
              <a:t> </a:t>
            </a:r>
            <a:endParaRPr lang="en-IN" altLang="en-GB">
              <a:cs typeface="Arial" panose="020B0604020202020204" pitchFamily="34" charset="0"/>
            </a:endParaRPr>
          </a:p>
        </p:txBody>
      </p:sp>
      <p:pic>
        <p:nvPicPr>
          <p:cNvPr id="8" name="Picture 7" descr="MMM 2.10"/>
          <p:cNvPicPr>
            <a:picLocks noChangeAspect="1"/>
          </p:cNvPicPr>
          <p:nvPr/>
        </p:nvPicPr>
        <p:blipFill>
          <a:blip r:embed="rId1"/>
          <a:stretch>
            <a:fillRect/>
          </a:stretch>
        </p:blipFill>
        <p:spPr>
          <a:xfrm>
            <a:off x="2005330" y="915670"/>
            <a:ext cx="4116070" cy="1850390"/>
          </a:xfrm>
          <a:prstGeom prst="rect">
            <a:avLst/>
          </a:prstGeom>
        </p:spPr>
      </p:pic>
      <p:sp>
        <p:nvSpPr>
          <p:cNvPr id="9" name="Text Box 8"/>
          <p:cNvSpPr txBox="1"/>
          <p:nvPr/>
        </p:nvSpPr>
        <p:spPr>
          <a:xfrm>
            <a:off x="534035" y="210820"/>
            <a:ext cx="5491480" cy="497840"/>
          </a:xfrm>
          <a:prstGeom prst="rect">
            <a:avLst/>
          </a:prstGeom>
          <a:noFill/>
        </p:spPr>
        <p:txBody>
          <a:bodyPr wrap="square" rtlCol="0">
            <a:noAutofit/>
          </a:bodyPr>
          <a:p>
            <a:r>
              <a:rPr lang="en-IN" altLang="en-US"/>
              <a:t>Example -1 </a:t>
            </a:r>
            <a:r>
              <a:rPr lang="en-IN" altLang="en-US">
                <a:cs typeface="Arial" panose="020B0604020202020204" pitchFamily="34" charset="0"/>
              </a:rPr>
              <a:t>Ԑ-NFA to DFA conversion</a:t>
            </a:r>
            <a:endParaRPr lang="en-IN" altLang="en-US">
              <a:cs typeface="Arial" panose="020B0604020202020204" pitchFamily="34" charset="0"/>
            </a:endParaRPr>
          </a:p>
        </p:txBody>
      </p:sp>
      <p:sp>
        <p:nvSpPr>
          <p:cNvPr id="4" name="Text Box 3"/>
          <p:cNvSpPr txBox="1"/>
          <p:nvPr/>
        </p:nvSpPr>
        <p:spPr>
          <a:xfrm>
            <a:off x="6353175" y="2200275"/>
            <a:ext cx="3048000" cy="368300"/>
          </a:xfrm>
          <a:prstGeom prst="rect">
            <a:avLst/>
          </a:prstGeom>
          <a:noFill/>
        </p:spPr>
        <p:txBody>
          <a:bodyPr wrap="square" rtlCol="0">
            <a:spAutoFit/>
          </a:bodyPr>
          <a:p>
            <a:r>
              <a:rPr lang="en-GB" altLang="en-US" b="1">
                <a:solidFill>
                  <a:srgbClr val="FF0000"/>
                </a:solidFill>
                <a:sym typeface="+mn-ea"/>
              </a:rPr>
              <a:t>Q</a:t>
            </a:r>
            <a:r>
              <a:rPr lang="en-GB" altLang="en-US" b="1" baseline="-25000">
                <a:solidFill>
                  <a:srgbClr val="FF0000"/>
                </a:solidFill>
                <a:sym typeface="+mn-ea"/>
              </a:rPr>
              <a:t>D</a:t>
            </a:r>
            <a:r>
              <a:rPr lang="en-IN" altLang="en-US"/>
              <a:t>= { {q0}, {q1,q2,q0} }</a:t>
            </a:r>
            <a:endParaRPr lang="en-IN" altLang="en-US"/>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 Box 4"/>
          <p:cNvSpPr txBox="1"/>
          <p:nvPr/>
        </p:nvSpPr>
        <p:spPr>
          <a:xfrm>
            <a:off x="664210" y="532765"/>
            <a:ext cx="3926840" cy="1897380"/>
          </a:xfrm>
          <a:prstGeom prst="rect">
            <a:avLst/>
          </a:prstGeom>
          <a:noFill/>
        </p:spPr>
        <p:txBody>
          <a:bodyPr wrap="square" rtlCol="0">
            <a:noAutofit/>
          </a:bodyPr>
          <a:p>
            <a:r>
              <a:rPr lang="en-IN" altLang="en-GB" sz="2000"/>
              <a:t>We can rename the states and write the Final DFA diagram.</a:t>
            </a:r>
            <a:endParaRPr lang="en-IN" altLang="en-GB" sz="2000"/>
          </a:p>
          <a:p>
            <a:r>
              <a:rPr lang="en-GB" altLang="en-US" sz="2000"/>
              <a:t>Q</a:t>
            </a:r>
            <a:r>
              <a:rPr lang="en-GB" altLang="en-US" sz="2000" baseline="-25000"/>
              <a:t>D</a:t>
            </a:r>
            <a:r>
              <a:rPr lang="en-GB" altLang="en-US" sz="2000"/>
              <a:t> = { {q0}</a:t>
            </a:r>
            <a:r>
              <a:rPr lang="en-IN" altLang="en-GB" sz="2000"/>
              <a:t> </a:t>
            </a:r>
            <a:r>
              <a:rPr lang="en-IN" altLang="en-GB" sz="2000">
                <a:cs typeface="Arial" panose="020B0604020202020204" pitchFamily="34" charset="0"/>
              </a:rPr>
              <a:t>→ </a:t>
            </a:r>
            <a:r>
              <a:rPr lang="en-IN" altLang="en-GB" sz="2000" b="1">
                <a:solidFill>
                  <a:srgbClr val="FF0000"/>
                </a:solidFill>
                <a:cs typeface="Arial" panose="020B0604020202020204" pitchFamily="34" charset="0"/>
              </a:rPr>
              <a:t>A</a:t>
            </a:r>
            <a:r>
              <a:rPr lang="en-GB" altLang="en-US" sz="2000" b="1">
                <a:solidFill>
                  <a:srgbClr val="FF0000"/>
                </a:solidFill>
              </a:rPr>
              <a:t>,</a:t>
            </a:r>
            <a:r>
              <a:rPr lang="en-GB" altLang="en-US" sz="2000"/>
              <a:t> </a:t>
            </a:r>
            <a:endParaRPr lang="en-GB" altLang="en-US" sz="2000"/>
          </a:p>
          <a:p>
            <a:r>
              <a:rPr lang="en-GB" altLang="en-US" sz="2000"/>
              <a:t> </a:t>
            </a:r>
            <a:r>
              <a:rPr lang="en-IN" altLang="en-GB" sz="2000"/>
              <a:t>          </a:t>
            </a:r>
            <a:r>
              <a:rPr lang="en-GB" altLang="en-US" sz="2000">
                <a:sym typeface="+mn-ea"/>
              </a:rPr>
              <a:t>{q</a:t>
            </a:r>
            <a:r>
              <a:rPr lang="en-IN" altLang="en-GB" sz="2000">
                <a:sym typeface="+mn-ea"/>
              </a:rPr>
              <a:t>1</a:t>
            </a:r>
            <a:r>
              <a:rPr lang="en-GB" altLang="en-US" sz="2000">
                <a:sym typeface="+mn-ea"/>
              </a:rPr>
              <a:t>, q</a:t>
            </a:r>
            <a:r>
              <a:rPr lang="en-IN" altLang="en-GB" sz="2000">
                <a:sym typeface="+mn-ea"/>
              </a:rPr>
              <a:t>2</a:t>
            </a:r>
            <a:r>
              <a:rPr lang="en-GB" altLang="en-US" sz="2000">
                <a:sym typeface="+mn-ea"/>
              </a:rPr>
              <a:t>, q</a:t>
            </a:r>
            <a:r>
              <a:rPr lang="en-IN" altLang="en-GB" sz="2000">
                <a:sym typeface="+mn-ea"/>
              </a:rPr>
              <a:t>0</a:t>
            </a:r>
            <a:r>
              <a:rPr lang="en-GB" altLang="en-US" sz="2000">
                <a:sym typeface="+mn-ea"/>
              </a:rPr>
              <a:t>}</a:t>
            </a:r>
            <a:r>
              <a:rPr lang="en-IN" altLang="en-GB" sz="2000"/>
              <a:t> </a:t>
            </a:r>
            <a:r>
              <a:rPr lang="en-IN" altLang="en-GB" sz="2000">
                <a:cs typeface="Arial" panose="020B0604020202020204" pitchFamily="34" charset="0"/>
              </a:rPr>
              <a:t>→ </a:t>
            </a:r>
            <a:r>
              <a:rPr lang="en-IN" altLang="en-GB" sz="2000" b="1">
                <a:solidFill>
                  <a:srgbClr val="FF0000"/>
                </a:solidFill>
                <a:cs typeface="Arial" panose="020B0604020202020204" pitchFamily="34" charset="0"/>
              </a:rPr>
              <a:t>B</a:t>
            </a:r>
            <a:r>
              <a:rPr lang="en-GB" altLang="en-US" sz="2000"/>
              <a:t>, </a:t>
            </a:r>
            <a:endParaRPr lang="en-GB" altLang="en-US" sz="2000"/>
          </a:p>
          <a:p>
            <a:r>
              <a:rPr lang="en-GB" altLang="en-US" sz="2000"/>
              <a:t> </a:t>
            </a:r>
            <a:r>
              <a:rPr lang="en-IN" altLang="en-GB" sz="2000"/>
              <a:t>      </a:t>
            </a:r>
            <a:r>
              <a:rPr lang="en-IN" altLang="en-GB" sz="2000">
                <a:cs typeface="Arial" panose="020B0604020202020204" pitchFamily="34" charset="0"/>
              </a:rPr>
              <a:t>  </a:t>
            </a:r>
            <a:r>
              <a:rPr lang="en-GB" altLang="en-US" sz="2000"/>
              <a:t>}</a:t>
            </a:r>
            <a:endParaRPr lang="en-GB" altLang="en-US" sz="2000"/>
          </a:p>
        </p:txBody>
      </p:sp>
      <p:pic>
        <p:nvPicPr>
          <p:cNvPr id="6" name="Picture 5" descr="IMG_20240410_153435(1)"/>
          <p:cNvPicPr>
            <a:picLocks noChangeAspect="1"/>
          </p:cNvPicPr>
          <p:nvPr/>
        </p:nvPicPr>
        <p:blipFill>
          <a:blip r:embed="rId1"/>
          <a:stretch>
            <a:fillRect/>
          </a:stretch>
        </p:blipFill>
        <p:spPr>
          <a:xfrm>
            <a:off x="582295" y="2895600"/>
            <a:ext cx="5851525" cy="1962150"/>
          </a:xfrm>
          <a:prstGeom prst="rect">
            <a:avLst/>
          </a:prstGeom>
        </p:spPr>
      </p:pic>
      <p:sp>
        <p:nvSpPr>
          <p:cNvPr id="2" name="Footer Placeholder 1"/>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Text Box 8"/>
          <p:cNvSpPr txBox="1"/>
          <p:nvPr/>
        </p:nvSpPr>
        <p:spPr>
          <a:xfrm>
            <a:off x="534035" y="210820"/>
            <a:ext cx="5491480" cy="497840"/>
          </a:xfrm>
          <a:prstGeom prst="rect">
            <a:avLst/>
          </a:prstGeom>
          <a:noFill/>
        </p:spPr>
        <p:txBody>
          <a:bodyPr wrap="square" rtlCol="0">
            <a:noAutofit/>
          </a:bodyPr>
          <a:p>
            <a:r>
              <a:rPr lang="en-IN" altLang="en-US"/>
              <a:t>Example -2 </a:t>
            </a:r>
            <a:r>
              <a:rPr lang="en-IN" altLang="en-US">
                <a:cs typeface="Arial" panose="020B0604020202020204" pitchFamily="34" charset="0"/>
              </a:rPr>
              <a:t>Ԑ-NFA to DFA conversion</a:t>
            </a:r>
            <a:endParaRPr lang="en-IN" altLang="en-US">
              <a:cs typeface="Arial" panose="020B0604020202020204" pitchFamily="34" charset="0"/>
            </a:endParaRPr>
          </a:p>
        </p:txBody>
      </p:sp>
      <p:sp>
        <p:nvSpPr>
          <p:cNvPr id="5" name="Text Box 4"/>
          <p:cNvSpPr txBox="1"/>
          <p:nvPr/>
        </p:nvSpPr>
        <p:spPr>
          <a:xfrm>
            <a:off x="645795" y="4654550"/>
            <a:ext cx="7738745" cy="922020"/>
          </a:xfrm>
          <a:prstGeom prst="rect">
            <a:avLst/>
          </a:prstGeom>
          <a:noFill/>
        </p:spPr>
        <p:txBody>
          <a:bodyPr wrap="square" rtlCol="0">
            <a:spAutoFit/>
          </a:bodyPr>
          <a:p>
            <a:r>
              <a:rPr lang="en-US">
                <a:cs typeface="Arial" panose="020B0604020202020204" pitchFamily="34" charset="0"/>
              </a:rPr>
              <a:t>Ԑ</a:t>
            </a:r>
            <a:r>
              <a:rPr lang="en-IN" altLang="en-US">
                <a:cs typeface="Arial" panose="020B0604020202020204" pitchFamily="34" charset="0"/>
              </a:rPr>
              <a:t>-closure (q0)  = { q0, q1, q3 } </a:t>
            </a:r>
            <a:r>
              <a:rPr lang="en-IN" altLang="en-GB">
                <a:solidFill>
                  <a:srgbClr val="FF0000"/>
                </a:solidFill>
                <a:highlight>
                  <a:srgbClr val="FFFF00"/>
                </a:highlight>
                <a:cs typeface="Arial" panose="020B0604020202020204" pitchFamily="34" charset="0"/>
                <a:sym typeface="+mn-ea"/>
              </a:rPr>
              <a:t> </a:t>
            </a:r>
            <a:r>
              <a:rPr lang="en-IN" altLang="en-GB">
                <a:solidFill>
                  <a:srgbClr val="FF0000"/>
                </a:solidFill>
                <a:highlight>
                  <a:srgbClr val="FFFF00"/>
                </a:highlight>
                <a:cs typeface="Arial" panose="020B0604020202020204" pitchFamily="34" charset="0"/>
                <a:sym typeface="+mn-ea"/>
              </a:rPr>
              <a:t>→ Initial state for DFA and  added to </a:t>
            </a:r>
            <a:r>
              <a:rPr lang="en-GB" altLang="en-US">
                <a:highlight>
                  <a:srgbClr val="FFFF00"/>
                </a:highlight>
                <a:sym typeface="+mn-ea"/>
              </a:rPr>
              <a:t>Q</a:t>
            </a:r>
            <a:r>
              <a:rPr lang="en-GB" altLang="en-US" baseline="-25000">
                <a:highlight>
                  <a:srgbClr val="FFFF00"/>
                </a:highlight>
                <a:sym typeface="+mn-ea"/>
              </a:rPr>
              <a:t>D</a:t>
            </a:r>
            <a:endParaRPr lang="en-IN" altLang="en-GB" b="1">
              <a:solidFill>
                <a:srgbClr val="FF0000"/>
              </a:solidFill>
              <a:highlight>
                <a:srgbClr val="FFFF00"/>
              </a:highlight>
              <a:latin typeface="Arial" panose="020B0604020202020204" pitchFamily="34" charset="0"/>
              <a:cs typeface="Arial" panose="020B0604020202020204" pitchFamily="34" charset="0"/>
              <a:sym typeface="+mn-ea"/>
            </a:endParaRPr>
          </a:p>
          <a:p>
            <a:endParaRPr lang="en-IN" altLang="en-GB" b="1">
              <a:solidFill>
                <a:srgbClr val="FF0000"/>
              </a:solidFill>
              <a:highlight>
                <a:srgbClr val="FFFF00"/>
              </a:highlight>
              <a:latin typeface="Arial" panose="020B0604020202020204" pitchFamily="34" charset="0"/>
              <a:cs typeface="Arial" panose="020B0604020202020204" pitchFamily="34" charset="0"/>
              <a:sym typeface="+mn-ea"/>
            </a:endParaRPr>
          </a:p>
          <a:p>
            <a:endParaRPr lang="en-IN" altLang="en-US">
              <a:cs typeface="Arial" panose="020B0604020202020204" pitchFamily="34" charset="0"/>
            </a:endParaRPr>
          </a:p>
        </p:txBody>
      </p:sp>
      <p:sp>
        <p:nvSpPr>
          <p:cNvPr id="7" name="Text Box 6"/>
          <p:cNvSpPr txBox="1"/>
          <p:nvPr/>
        </p:nvSpPr>
        <p:spPr>
          <a:xfrm>
            <a:off x="542290" y="3777615"/>
            <a:ext cx="3843020" cy="579755"/>
          </a:xfrm>
          <a:prstGeom prst="rect">
            <a:avLst/>
          </a:prstGeom>
          <a:noFill/>
        </p:spPr>
        <p:txBody>
          <a:bodyPr wrap="square" rtlCol="0">
            <a:noAutofit/>
          </a:bodyPr>
          <a:p>
            <a:r>
              <a:rPr lang="en-GB" altLang="en-US" sz="2400"/>
              <a:t>Q</a:t>
            </a:r>
            <a:r>
              <a:rPr lang="en-GB" altLang="en-US" sz="2400" baseline="-25000"/>
              <a:t>D</a:t>
            </a:r>
            <a:r>
              <a:rPr lang="en-GB" altLang="en-US" sz="2400"/>
              <a:t> = {</a:t>
            </a:r>
            <a:r>
              <a:rPr lang="en-IN" altLang="en-US" sz="2400">
                <a:cs typeface="Arial" panose="020B0604020202020204" pitchFamily="34" charset="0"/>
                <a:sym typeface="+mn-ea"/>
              </a:rPr>
              <a:t> { q0, q1, q3 } </a:t>
            </a:r>
            <a:r>
              <a:rPr lang="en-GB" altLang="en-US" sz="2400"/>
              <a:t>}</a:t>
            </a:r>
            <a:endParaRPr lang="en-GB" altLang="en-US" sz="2400"/>
          </a:p>
        </p:txBody>
      </p:sp>
      <p:pic>
        <p:nvPicPr>
          <p:cNvPr id="3" name="Picture 2" descr="MMM dig"/>
          <p:cNvPicPr>
            <a:picLocks noChangeAspect="1"/>
          </p:cNvPicPr>
          <p:nvPr/>
        </p:nvPicPr>
        <p:blipFill>
          <a:blip r:embed="rId1"/>
          <a:stretch>
            <a:fillRect/>
          </a:stretch>
        </p:blipFill>
        <p:spPr>
          <a:xfrm>
            <a:off x="666750" y="812800"/>
            <a:ext cx="6370320" cy="2673985"/>
          </a:xfrm>
          <a:prstGeom prst="rect">
            <a:avLst/>
          </a:prstGeom>
        </p:spPr>
      </p:pic>
      <p:sp>
        <p:nvSpPr>
          <p:cNvPr id="2" name="Footer Placeholder 1"/>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6" name="Content Placeholder 5"/>
          <p:cNvGraphicFramePr/>
          <p:nvPr>
            <p:ph idx="1"/>
          </p:nvPr>
        </p:nvGraphicFramePr>
        <p:xfrm>
          <a:off x="401320" y="484505"/>
          <a:ext cx="8366125" cy="6295390"/>
        </p:xfrm>
        <a:graphic>
          <a:graphicData uri="http://schemas.openxmlformats.org/drawingml/2006/table">
            <a:tbl>
              <a:tblPr firstRow="1" bandRow="1">
                <a:tableStyleId>{5C22544A-7EE6-4342-B048-85BDC9FD1C3A}</a:tableStyleId>
              </a:tblPr>
              <a:tblGrid>
                <a:gridCol w="1337945"/>
                <a:gridCol w="814775"/>
                <a:gridCol w="953138"/>
                <a:gridCol w="5260267"/>
              </a:tblGrid>
              <a:tr h="372745">
                <a:tc>
                  <a:txBody>
                    <a:bodyPr/>
                    <a:p>
                      <a:pPr>
                        <a:buNone/>
                      </a:pPr>
                      <a:r>
                        <a:rPr lang="el-GR" altLang="x-none" sz="1800" dirty="0">
                          <a:solidFill>
                            <a:srgbClr val="FF0000"/>
                          </a:solidFill>
                          <a:sym typeface="+mn-ea"/>
                        </a:rPr>
                        <a:t>δ</a:t>
                      </a:r>
                      <a:r>
                        <a:rPr sz="1800" baseline="-25000" dirty="0">
                          <a:solidFill>
                            <a:srgbClr val="FF0000"/>
                          </a:solidFill>
                          <a:sym typeface="+mn-ea"/>
                        </a:rPr>
                        <a:t>D</a:t>
                      </a:r>
                      <a:endParaRPr lang="en-US"/>
                    </a:p>
                  </a:txBody>
                  <a:tcPr/>
                </a:tc>
                <a:tc>
                  <a:txBody>
                    <a:bodyPr/>
                    <a:p>
                      <a:pPr>
                        <a:buNone/>
                      </a:pPr>
                      <a:r>
                        <a:rPr lang="en-GB" altLang="en-US"/>
                        <a:t>a</a:t>
                      </a:r>
                      <a:endParaRPr lang="en-GB" altLang="en-US"/>
                    </a:p>
                  </a:txBody>
                  <a:tcPr/>
                </a:tc>
                <a:tc>
                  <a:txBody>
                    <a:bodyPr/>
                    <a:p>
                      <a:pPr>
                        <a:buNone/>
                      </a:pPr>
                      <a:r>
                        <a:rPr lang="en-IN" altLang="en-GB"/>
                        <a:t>b</a:t>
                      </a:r>
                      <a:endParaRPr lang="en-IN" altLang="en-GB"/>
                    </a:p>
                  </a:txBody>
                  <a:tcPr/>
                </a:tc>
                <a:tc>
                  <a:txBody>
                    <a:bodyPr/>
                    <a:p>
                      <a:pPr>
                        <a:buNone/>
                      </a:pPr>
                      <a:r>
                        <a:rPr lang="el-GR" altLang="x-none" sz="1800" dirty="0">
                          <a:solidFill>
                            <a:srgbClr val="FF0000"/>
                          </a:solidFill>
                          <a:sym typeface="+mn-ea"/>
                        </a:rPr>
                        <a:t>δ</a:t>
                      </a:r>
                      <a:r>
                        <a:rPr sz="1800" baseline="-25000" dirty="0">
                          <a:solidFill>
                            <a:srgbClr val="FF0000"/>
                          </a:solidFill>
                          <a:sym typeface="+mn-ea"/>
                        </a:rPr>
                        <a:t>D</a:t>
                      </a:r>
                      <a:r>
                        <a:rPr lang="en-GB" sz="1800" baseline="-25000" dirty="0">
                          <a:solidFill>
                            <a:srgbClr val="FF0000"/>
                          </a:solidFill>
                          <a:sym typeface="+mn-ea"/>
                        </a:rPr>
                        <a:t> </a:t>
                      </a:r>
                      <a:r>
                        <a:rPr lang="en-GB" altLang="en-US" sz="1800">
                          <a:sym typeface="+mn-ea"/>
                        </a:rPr>
                        <a:t> </a:t>
                      </a:r>
                      <a:r>
                        <a:rPr lang="en-GB" altLang="en-US" sz="1800">
                          <a:latin typeface="Arial" panose="020B0604020202020204" pitchFamily="34" charset="0"/>
                          <a:cs typeface="Arial" panose="020B0604020202020204" pitchFamily="34" charset="0"/>
                          <a:sym typeface="+mn-ea"/>
                        </a:rPr>
                        <a:t>→ C</a:t>
                      </a:r>
                      <a:r>
                        <a:rPr lang="en-GB" altLang="en-US" sz="1800">
                          <a:sym typeface="+mn-ea"/>
                        </a:rPr>
                        <a:t>alulations for inputs </a:t>
                      </a:r>
                      <a:r>
                        <a:rPr lang="en-IN" altLang="en-GB" sz="1800">
                          <a:sym typeface="+mn-ea"/>
                        </a:rPr>
                        <a:t>a,b </a:t>
                      </a:r>
                      <a:r>
                        <a:rPr lang="en-IN" altLang="en-GB" sz="1800">
                          <a:latin typeface="Arial" panose="020B0604020202020204" pitchFamily="34" charset="0"/>
                          <a:cs typeface="Arial" panose="020B0604020202020204" pitchFamily="34" charset="0"/>
                          <a:sym typeface="+mn-ea"/>
                        </a:rPr>
                        <a:t>€ ∑</a:t>
                      </a:r>
                      <a:endParaRPr lang="en-IN" altLang="en-GB" sz="1800" baseline="-25000" dirty="0">
                        <a:solidFill>
                          <a:srgbClr val="FF0000"/>
                        </a:solidFill>
                        <a:latin typeface="Arial" panose="020B0604020202020204" pitchFamily="34" charset="0"/>
                        <a:cs typeface="Arial" panose="020B0604020202020204" pitchFamily="34" charset="0"/>
                        <a:sym typeface="+mn-ea"/>
                      </a:endParaRPr>
                    </a:p>
                  </a:txBody>
                  <a:tcPr/>
                </a:tc>
              </a:tr>
              <a:tr h="701040">
                <a:tc>
                  <a:txBody>
                    <a:bodyPr/>
                    <a:p>
                      <a:pPr>
                        <a:buNone/>
                      </a:pPr>
                      <a:r>
                        <a:rPr lang="en-GB" altLang="en-US" sz="1600" b="1">
                          <a:latin typeface="Arial" panose="020B0604020202020204" pitchFamily="34" charset="0"/>
                          <a:cs typeface="Arial" panose="020B0604020202020204" pitchFamily="34" charset="0"/>
                        </a:rPr>
                        <a:t>→</a:t>
                      </a:r>
                      <a:r>
                        <a:rPr lang="en-GB" altLang="en-US" sz="1600" b="1"/>
                        <a:t>{q0</a:t>
                      </a:r>
                      <a:r>
                        <a:rPr lang="en-IN" altLang="en-GB" sz="1600" b="1"/>
                        <a:t>,q1,q3</a:t>
                      </a:r>
                      <a:r>
                        <a:rPr lang="en-GB" altLang="en-US" sz="1600"/>
                        <a:t>}</a:t>
                      </a:r>
                      <a:endParaRPr lang="en-GB" altLang="en-US" sz="1600"/>
                    </a:p>
                  </a:txBody>
                  <a:tcPr/>
                </a:tc>
                <a:tc>
                  <a:txBody>
                    <a:bodyPr/>
                    <a:p>
                      <a:pPr>
                        <a:buNone/>
                      </a:pPr>
                      <a:r>
                        <a:rPr lang="en-IN" altLang="en-GB" sz="1600"/>
                        <a:t>{q2}</a:t>
                      </a:r>
                      <a:endParaRPr lang="en-IN" altLang="en-GB" sz="1600"/>
                    </a:p>
                  </a:txBody>
                  <a:tcPr/>
                </a:tc>
                <a:tc>
                  <a:txBody>
                    <a:bodyPr/>
                    <a:p>
                      <a:pPr>
                        <a:buNone/>
                      </a:pPr>
                      <a:r>
                        <a:rPr lang="en-IN" altLang="en-GB" sz="1600"/>
                        <a:t>{q4}</a:t>
                      </a:r>
                      <a:endParaRPr lang="en-IN" altLang="en-GB" sz="1600"/>
                    </a:p>
                  </a:txBody>
                  <a:tcPr/>
                </a:tc>
                <a:tc>
                  <a:txBody>
                    <a:bodyPr/>
                    <a:p>
                      <a:pPr>
                        <a:buNone/>
                      </a:pPr>
                      <a:r>
                        <a:rPr lang="el-GR" altLang="x-none" sz="1600" b="1" dirty="0">
                          <a:solidFill>
                            <a:srgbClr val="FF0000"/>
                          </a:solidFill>
                          <a:sym typeface="+mn-ea"/>
                        </a:rPr>
                        <a:t>δ</a:t>
                      </a:r>
                      <a:r>
                        <a:rPr sz="1600" b="1" baseline="-25000" dirty="0">
                          <a:solidFill>
                            <a:srgbClr val="FF0000"/>
                          </a:solidFill>
                          <a:sym typeface="+mn-ea"/>
                        </a:rPr>
                        <a:t>D</a:t>
                      </a:r>
                      <a:r>
                        <a:rPr lang="en-GB" altLang="el-GR" sz="1600" b="1" dirty="0">
                          <a:solidFill>
                            <a:schemeClr val="tx1"/>
                          </a:solidFill>
                          <a:latin typeface="Times New Roman" panose="02020603050405020304" pitchFamily="18" charset="0"/>
                          <a:cs typeface="Times New Roman" panose="02020603050405020304" pitchFamily="18" charset="0"/>
                          <a:sym typeface="+mn-ea"/>
                        </a:rPr>
                        <a:t>({q0</a:t>
                      </a:r>
                      <a:r>
                        <a:rPr lang="en-IN" altLang="en-GB" sz="1600" b="1" dirty="0">
                          <a:solidFill>
                            <a:schemeClr val="tx1"/>
                          </a:solidFill>
                          <a:latin typeface="Times New Roman" panose="02020603050405020304" pitchFamily="18" charset="0"/>
                          <a:cs typeface="Times New Roman" panose="02020603050405020304" pitchFamily="18" charset="0"/>
                          <a:sym typeface="+mn-ea"/>
                        </a:rPr>
                        <a:t>,q1,q3</a:t>
                      </a:r>
                      <a:r>
                        <a:rPr lang="en-GB" altLang="el-GR" sz="1600" b="1" dirty="0">
                          <a:solidFill>
                            <a:schemeClr val="tx1"/>
                          </a:solidFill>
                          <a:latin typeface="Times New Roman" panose="02020603050405020304" pitchFamily="18" charset="0"/>
                          <a:cs typeface="Times New Roman" panose="02020603050405020304" pitchFamily="18" charset="0"/>
                          <a:sym typeface="+mn-ea"/>
                        </a:rPr>
                        <a:t>}, a) = </a:t>
                      </a:r>
                      <a:r>
                        <a:rPr lang="el-GR" altLang="x-none" sz="1600" b="1" dirty="0">
                          <a:solidFill>
                            <a:srgbClr val="FF0000"/>
                          </a:solidFill>
                          <a:latin typeface="Times New Roman" panose="02020603050405020304" pitchFamily="18" charset="0"/>
                          <a:cs typeface="Times New Roman" panose="02020603050405020304" pitchFamily="18" charset="0"/>
                          <a:sym typeface="+mn-ea"/>
                        </a:rPr>
                        <a:t>δ</a:t>
                      </a:r>
                      <a:r>
                        <a:rPr sz="1600" b="1" baseline="-25000" dirty="0">
                          <a:solidFill>
                            <a:srgbClr val="FF0000"/>
                          </a:solidFill>
                          <a:latin typeface="Times New Roman" panose="02020603050405020304" pitchFamily="18" charset="0"/>
                          <a:cs typeface="Times New Roman" panose="02020603050405020304" pitchFamily="18" charset="0"/>
                          <a:sym typeface="+mn-ea"/>
                        </a:rPr>
                        <a:t>N</a:t>
                      </a:r>
                      <a:r>
                        <a:rPr lang="en-GB" altLang="en-US" sz="1600">
                          <a:sym typeface="+mn-ea"/>
                        </a:rPr>
                        <a:t>(q</a:t>
                      </a:r>
                      <a:r>
                        <a:rPr lang="en-IN" altLang="en-GB" sz="1600">
                          <a:sym typeface="+mn-ea"/>
                        </a:rPr>
                        <a:t>0</a:t>
                      </a:r>
                      <a:r>
                        <a:rPr lang="en-GB" altLang="en-US" sz="1600">
                          <a:sym typeface="+mn-ea"/>
                        </a:rPr>
                        <a:t>, </a:t>
                      </a:r>
                      <a:r>
                        <a:rPr lang="en-IN" altLang="en-GB" sz="1600">
                          <a:sym typeface="+mn-ea"/>
                        </a:rPr>
                        <a:t>a</a:t>
                      </a:r>
                      <a:r>
                        <a:rPr lang="en-GB" altLang="en-US" sz="1600">
                          <a:sym typeface="+mn-ea"/>
                        </a:rPr>
                        <a:t>) </a:t>
                      </a:r>
                      <a:r>
                        <a:rPr lang="en-GB" altLang="en-US" sz="1600">
                          <a:latin typeface="Arial" panose="020B0604020202020204" pitchFamily="34" charset="0"/>
                          <a:cs typeface="Arial" panose="020B0604020202020204" pitchFamily="34" charset="0"/>
                          <a:sym typeface="+mn-ea"/>
                        </a:rPr>
                        <a:t>Ụ </a:t>
                      </a:r>
                      <a:r>
                        <a:rPr lang="el-GR" altLang="x-none" sz="1600" b="1" dirty="0">
                          <a:solidFill>
                            <a:srgbClr val="FF0000"/>
                          </a:solidFill>
                          <a:latin typeface="Times New Roman" panose="02020603050405020304" pitchFamily="18" charset="0"/>
                          <a:cs typeface="Times New Roman" panose="02020603050405020304" pitchFamily="18" charset="0"/>
                          <a:sym typeface="+mn-ea"/>
                        </a:rPr>
                        <a:t>δ</a:t>
                      </a:r>
                      <a:r>
                        <a:rPr sz="1600" b="1" baseline="-25000" dirty="0">
                          <a:solidFill>
                            <a:srgbClr val="FF0000"/>
                          </a:solidFill>
                          <a:latin typeface="Times New Roman" panose="02020603050405020304" pitchFamily="18" charset="0"/>
                          <a:cs typeface="Times New Roman" panose="02020603050405020304" pitchFamily="18" charset="0"/>
                          <a:sym typeface="+mn-ea"/>
                        </a:rPr>
                        <a:t>N</a:t>
                      </a:r>
                      <a:r>
                        <a:rPr lang="en-GB" altLang="en-US" sz="1600">
                          <a:sym typeface="+mn-ea"/>
                        </a:rPr>
                        <a:t>(q</a:t>
                      </a:r>
                      <a:r>
                        <a:rPr lang="en-IN" altLang="en-GB" sz="1600">
                          <a:sym typeface="+mn-ea"/>
                        </a:rPr>
                        <a:t>1</a:t>
                      </a:r>
                      <a:r>
                        <a:rPr lang="en-GB" altLang="en-US" sz="1600">
                          <a:sym typeface="+mn-ea"/>
                        </a:rPr>
                        <a:t>, </a:t>
                      </a:r>
                      <a:r>
                        <a:rPr lang="en-IN" altLang="en-GB" sz="1600">
                          <a:sym typeface="+mn-ea"/>
                        </a:rPr>
                        <a:t>a</a:t>
                      </a:r>
                      <a:r>
                        <a:rPr lang="en-GB" altLang="en-US" sz="1600">
                          <a:sym typeface="+mn-ea"/>
                        </a:rPr>
                        <a:t>) </a:t>
                      </a:r>
                      <a:r>
                        <a:rPr lang="en-GB" altLang="en-US" sz="1600">
                          <a:latin typeface="Arial" panose="020B0604020202020204" pitchFamily="34" charset="0"/>
                          <a:cs typeface="Arial" panose="020B0604020202020204" pitchFamily="34" charset="0"/>
                          <a:sym typeface="+mn-ea"/>
                        </a:rPr>
                        <a:t>Ụ </a:t>
                      </a:r>
                      <a:r>
                        <a:rPr lang="el-GR" altLang="x-none" sz="1600" b="1" dirty="0">
                          <a:solidFill>
                            <a:srgbClr val="FF0000"/>
                          </a:solidFill>
                          <a:latin typeface="Times New Roman" panose="02020603050405020304" pitchFamily="18" charset="0"/>
                          <a:cs typeface="Times New Roman" panose="02020603050405020304" pitchFamily="18" charset="0"/>
                          <a:sym typeface="+mn-ea"/>
                        </a:rPr>
                        <a:t>δ</a:t>
                      </a:r>
                      <a:r>
                        <a:rPr sz="1600" b="1" baseline="-25000" dirty="0">
                          <a:solidFill>
                            <a:srgbClr val="FF0000"/>
                          </a:solidFill>
                          <a:latin typeface="Times New Roman" panose="02020603050405020304" pitchFamily="18" charset="0"/>
                          <a:cs typeface="Times New Roman" panose="02020603050405020304" pitchFamily="18" charset="0"/>
                          <a:sym typeface="+mn-ea"/>
                        </a:rPr>
                        <a:t>N</a:t>
                      </a:r>
                      <a:r>
                        <a:rPr lang="en-GB" altLang="en-US" sz="1600">
                          <a:sym typeface="+mn-ea"/>
                        </a:rPr>
                        <a:t>(q</a:t>
                      </a:r>
                      <a:r>
                        <a:rPr lang="en-IN" altLang="en-GB" sz="1600">
                          <a:sym typeface="+mn-ea"/>
                        </a:rPr>
                        <a:t>3</a:t>
                      </a:r>
                      <a:r>
                        <a:rPr lang="en-GB" altLang="en-US" sz="1600">
                          <a:sym typeface="+mn-ea"/>
                        </a:rPr>
                        <a:t>, </a:t>
                      </a:r>
                      <a:r>
                        <a:rPr lang="en-IN" altLang="en-GB" sz="1600">
                          <a:sym typeface="+mn-ea"/>
                        </a:rPr>
                        <a:t>a</a:t>
                      </a:r>
                      <a:r>
                        <a:rPr lang="en-GB" altLang="en-US" sz="1600">
                          <a:sym typeface="+mn-ea"/>
                        </a:rPr>
                        <a:t>)</a:t>
                      </a:r>
                      <a:endParaRPr lang="en-GB" altLang="en-US" sz="1600">
                        <a:sym typeface="+mn-ea"/>
                      </a:endParaRPr>
                    </a:p>
                    <a:p>
                      <a:pPr>
                        <a:buNone/>
                      </a:pPr>
                      <a:r>
                        <a:rPr lang="en-GB" altLang="en-US" sz="1600">
                          <a:sym typeface="+mn-ea"/>
                        </a:rPr>
                        <a:t> </a:t>
                      </a:r>
                      <a:r>
                        <a:rPr lang="en-IN" altLang="en-GB" sz="1600">
                          <a:sym typeface="+mn-ea"/>
                        </a:rPr>
                        <a:t>                               </a:t>
                      </a:r>
                      <a:r>
                        <a:rPr lang="en-GB" altLang="en-US" sz="1600"/>
                        <a:t> = </a:t>
                      </a:r>
                      <a:r>
                        <a:rPr lang="en-GB" altLang="en-US" sz="1600">
                          <a:latin typeface="Arial" panose="020B0604020202020204" pitchFamily="34" charset="0"/>
                          <a:cs typeface="Arial" panose="020B0604020202020204" pitchFamily="34" charset="0"/>
                          <a:sym typeface="+mn-ea"/>
                        </a:rPr>
                        <a:t>{Ø} Ụ {</a:t>
                      </a:r>
                      <a:r>
                        <a:rPr lang="en-IN" altLang="en-GB" sz="1600">
                          <a:latin typeface="Arial" panose="020B0604020202020204" pitchFamily="34" charset="0"/>
                          <a:cs typeface="Arial" panose="020B0604020202020204" pitchFamily="34" charset="0"/>
                          <a:sym typeface="+mn-ea"/>
                        </a:rPr>
                        <a:t>q2</a:t>
                      </a:r>
                      <a:r>
                        <a:rPr lang="en-GB" altLang="en-US" sz="1600">
                          <a:latin typeface="Arial" panose="020B0604020202020204" pitchFamily="34" charset="0"/>
                          <a:cs typeface="Arial" panose="020B0604020202020204" pitchFamily="34" charset="0"/>
                          <a:sym typeface="+mn-ea"/>
                        </a:rPr>
                        <a:t>} Ụ </a:t>
                      </a:r>
                      <a:r>
                        <a:rPr lang="en-GB" altLang="en-US" sz="1600">
                          <a:sym typeface="+mn-ea"/>
                        </a:rPr>
                        <a:t>{</a:t>
                      </a:r>
                      <a:r>
                        <a:rPr lang="en-GB" altLang="en-US" sz="1600">
                          <a:latin typeface="Arial" panose="020B0604020202020204" pitchFamily="34" charset="0"/>
                          <a:cs typeface="Arial" panose="020B0604020202020204" pitchFamily="34" charset="0"/>
                          <a:sym typeface="+mn-ea"/>
                        </a:rPr>
                        <a:t>Ø</a:t>
                      </a:r>
                      <a:r>
                        <a:rPr lang="en-GB" altLang="en-US" sz="1600">
                          <a:sym typeface="+mn-ea"/>
                        </a:rPr>
                        <a:t>}  </a:t>
                      </a:r>
                      <a:r>
                        <a:rPr lang="en-GB" altLang="en-US" sz="1600">
                          <a:latin typeface="Arial" panose="020B0604020202020204" pitchFamily="34" charset="0"/>
                          <a:cs typeface="Arial" panose="020B0604020202020204" pitchFamily="34" charset="0"/>
                          <a:sym typeface="+mn-ea"/>
                        </a:rPr>
                        <a:t> = {q2}</a:t>
                      </a:r>
                      <a:endParaRPr lang="en-GB" altLang="en-US" sz="1600">
                        <a:latin typeface="Arial" panose="020B0604020202020204" pitchFamily="34" charset="0"/>
                        <a:cs typeface="Arial" panose="020B0604020202020204" pitchFamily="34" charset="0"/>
                        <a:sym typeface="+mn-ea"/>
                      </a:endParaRPr>
                    </a:p>
                    <a:p>
                      <a:pPr>
                        <a:buNone/>
                      </a:pPr>
                      <a:r>
                        <a:rPr lang="en-US" sz="1600" b="1">
                          <a:cs typeface="Arial" panose="020B0604020202020204" pitchFamily="34" charset="0"/>
                          <a:sym typeface="+mn-ea"/>
                        </a:rPr>
                        <a:t>Ԑ</a:t>
                      </a:r>
                      <a:r>
                        <a:rPr lang="en-GB" altLang="en-US" sz="1600" b="1">
                          <a:cs typeface="Arial" panose="020B0604020202020204" pitchFamily="34" charset="0"/>
                          <a:sym typeface="+mn-ea"/>
                        </a:rPr>
                        <a:t>-Closure(q</a:t>
                      </a:r>
                      <a:r>
                        <a:rPr lang="en-IN" altLang="en-GB" sz="1600" b="1">
                          <a:cs typeface="Arial" panose="020B0604020202020204" pitchFamily="34" charset="0"/>
                          <a:sym typeface="+mn-ea"/>
                        </a:rPr>
                        <a:t>2</a:t>
                      </a:r>
                      <a:r>
                        <a:rPr lang="en-GB" altLang="en-US" sz="1600" b="1">
                          <a:cs typeface="Arial" panose="020B0604020202020204" pitchFamily="34" charset="0"/>
                          <a:sym typeface="+mn-ea"/>
                        </a:rPr>
                        <a:t>) </a:t>
                      </a:r>
                      <a:r>
                        <a:rPr lang="en-GB" altLang="en-US" sz="1600">
                          <a:cs typeface="Arial" panose="020B0604020202020204" pitchFamily="34" charset="0"/>
                          <a:sym typeface="+mn-ea"/>
                        </a:rPr>
                        <a:t>= </a:t>
                      </a:r>
                      <a:r>
                        <a:rPr lang="en-GB" altLang="en-US" sz="1600">
                          <a:solidFill>
                            <a:srgbClr val="FF0000"/>
                          </a:solidFill>
                          <a:highlight>
                            <a:srgbClr val="FFFF00"/>
                          </a:highlight>
                          <a:cs typeface="Arial" panose="020B0604020202020204" pitchFamily="34" charset="0"/>
                          <a:sym typeface="+mn-ea"/>
                        </a:rPr>
                        <a:t>{q2}</a:t>
                      </a:r>
                      <a:r>
                        <a:rPr lang="en-IN" altLang="en-GB" sz="1600">
                          <a:solidFill>
                            <a:srgbClr val="FF0000"/>
                          </a:solidFill>
                          <a:highlight>
                            <a:srgbClr val="FFFF00"/>
                          </a:highlight>
                          <a:cs typeface="Arial" panose="020B0604020202020204" pitchFamily="34" charset="0"/>
                          <a:sym typeface="+mn-ea"/>
                        </a:rPr>
                        <a:t> </a:t>
                      </a:r>
                      <a:r>
                        <a:rPr lang="en-IN" altLang="en-GB" sz="1600">
                          <a:solidFill>
                            <a:srgbClr val="FF0000"/>
                          </a:solidFill>
                          <a:highlight>
                            <a:srgbClr val="FFFF00"/>
                          </a:highlight>
                          <a:latin typeface="Arial" panose="020B0604020202020204" pitchFamily="34" charset="0"/>
                          <a:cs typeface="Arial" panose="020B0604020202020204" pitchFamily="34" charset="0"/>
                          <a:sym typeface="+mn-ea"/>
                        </a:rPr>
                        <a:t>→ New set for DFA added to </a:t>
                      </a:r>
                      <a:r>
                        <a:rPr lang="en-GB" altLang="en-US" sz="2400">
                          <a:highlight>
                            <a:srgbClr val="FFFF00"/>
                          </a:highlight>
                          <a:sym typeface="+mn-ea"/>
                        </a:rPr>
                        <a:t>Q</a:t>
                      </a:r>
                      <a:r>
                        <a:rPr lang="en-GB" altLang="en-US" sz="2400" baseline="-25000">
                          <a:highlight>
                            <a:srgbClr val="FFFF00"/>
                          </a:highlight>
                          <a:sym typeface="+mn-ea"/>
                        </a:rPr>
                        <a:t>D</a:t>
                      </a:r>
                      <a:endParaRPr lang="en-GB" altLang="en-US" sz="2400" baseline="-25000">
                        <a:highlight>
                          <a:srgbClr val="FFFF00"/>
                        </a:highlight>
                        <a:sym typeface="+mn-ea"/>
                      </a:endParaRPr>
                    </a:p>
                    <a:p>
                      <a:pPr>
                        <a:buNone/>
                      </a:pPr>
                      <a:r>
                        <a:rPr lang="el-GR" altLang="x-none" sz="1600" b="1" dirty="0">
                          <a:solidFill>
                            <a:srgbClr val="FF0000"/>
                          </a:solidFill>
                          <a:sym typeface="+mn-ea"/>
                        </a:rPr>
                        <a:t>δ</a:t>
                      </a:r>
                      <a:r>
                        <a:rPr sz="1600" b="1" baseline="-25000" dirty="0">
                          <a:solidFill>
                            <a:srgbClr val="FF0000"/>
                          </a:solidFill>
                          <a:sym typeface="+mn-ea"/>
                        </a:rPr>
                        <a:t>D</a:t>
                      </a:r>
                      <a:r>
                        <a:rPr lang="en-GB" altLang="el-GR" sz="1600" b="1" dirty="0">
                          <a:solidFill>
                            <a:schemeClr val="tx1"/>
                          </a:solidFill>
                          <a:latin typeface="Times New Roman" panose="02020603050405020304" pitchFamily="18" charset="0"/>
                          <a:cs typeface="Times New Roman" panose="02020603050405020304" pitchFamily="18" charset="0"/>
                          <a:sym typeface="+mn-ea"/>
                        </a:rPr>
                        <a:t>({q0</a:t>
                      </a:r>
                      <a:r>
                        <a:rPr lang="en-IN" altLang="en-GB" sz="1600" b="1" dirty="0">
                          <a:solidFill>
                            <a:schemeClr val="tx1"/>
                          </a:solidFill>
                          <a:latin typeface="Times New Roman" panose="02020603050405020304" pitchFamily="18" charset="0"/>
                          <a:cs typeface="Times New Roman" panose="02020603050405020304" pitchFamily="18" charset="0"/>
                          <a:sym typeface="+mn-ea"/>
                        </a:rPr>
                        <a:t>,q1,q3</a:t>
                      </a:r>
                      <a:r>
                        <a:rPr lang="en-GB" altLang="el-GR" sz="1600" b="1" dirty="0">
                          <a:solidFill>
                            <a:schemeClr val="tx1"/>
                          </a:solidFill>
                          <a:latin typeface="Times New Roman" panose="02020603050405020304" pitchFamily="18" charset="0"/>
                          <a:cs typeface="Times New Roman" panose="02020603050405020304" pitchFamily="18" charset="0"/>
                          <a:sym typeface="+mn-ea"/>
                        </a:rPr>
                        <a:t>}, </a:t>
                      </a:r>
                      <a:r>
                        <a:rPr lang="en-IN" altLang="en-GB" sz="1600" b="1" dirty="0">
                          <a:solidFill>
                            <a:schemeClr val="tx1"/>
                          </a:solidFill>
                          <a:latin typeface="Times New Roman" panose="02020603050405020304" pitchFamily="18" charset="0"/>
                          <a:cs typeface="Times New Roman" panose="02020603050405020304" pitchFamily="18" charset="0"/>
                          <a:sym typeface="+mn-ea"/>
                        </a:rPr>
                        <a:t>b</a:t>
                      </a:r>
                      <a:r>
                        <a:rPr lang="en-GB" altLang="el-GR" sz="1600" b="1" dirty="0">
                          <a:solidFill>
                            <a:schemeClr val="tx1"/>
                          </a:solidFill>
                          <a:latin typeface="Times New Roman" panose="02020603050405020304" pitchFamily="18" charset="0"/>
                          <a:cs typeface="Times New Roman" panose="02020603050405020304" pitchFamily="18" charset="0"/>
                          <a:sym typeface="+mn-ea"/>
                        </a:rPr>
                        <a:t>) = </a:t>
                      </a:r>
                      <a:r>
                        <a:rPr lang="el-GR" altLang="x-none" sz="1600" b="1" dirty="0">
                          <a:solidFill>
                            <a:srgbClr val="FF0000"/>
                          </a:solidFill>
                          <a:latin typeface="Times New Roman" panose="02020603050405020304" pitchFamily="18" charset="0"/>
                          <a:cs typeface="Times New Roman" panose="02020603050405020304" pitchFamily="18" charset="0"/>
                          <a:sym typeface="+mn-ea"/>
                        </a:rPr>
                        <a:t>δ</a:t>
                      </a:r>
                      <a:r>
                        <a:rPr sz="1600" b="1" baseline="-25000" dirty="0">
                          <a:solidFill>
                            <a:srgbClr val="FF0000"/>
                          </a:solidFill>
                          <a:latin typeface="Times New Roman" panose="02020603050405020304" pitchFamily="18" charset="0"/>
                          <a:cs typeface="Times New Roman" panose="02020603050405020304" pitchFamily="18" charset="0"/>
                          <a:sym typeface="+mn-ea"/>
                        </a:rPr>
                        <a:t>N</a:t>
                      </a:r>
                      <a:r>
                        <a:rPr lang="en-GB" altLang="en-US" sz="1600">
                          <a:sym typeface="+mn-ea"/>
                        </a:rPr>
                        <a:t>(q</a:t>
                      </a:r>
                      <a:r>
                        <a:rPr lang="en-IN" altLang="en-GB" sz="1600">
                          <a:sym typeface="+mn-ea"/>
                        </a:rPr>
                        <a:t>0</a:t>
                      </a:r>
                      <a:r>
                        <a:rPr lang="en-GB" altLang="en-US" sz="1600">
                          <a:sym typeface="+mn-ea"/>
                        </a:rPr>
                        <a:t>, </a:t>
                      </a:r>
                      <a:r>
                        <a:rPr lang="en-IN" altLang="en-GB" sz="1600">
                          <a:sym typeface="+mn-ea"/>
                        </a:rPr>
                        <a:t>b</a:t>
                      </a:r>
                      <a:r>
                        <a:rPr lang="en-GB" altLang="en-US" sz="1600">
                          <a:sym typeface="+mn-ea"/>
                        </a:rPr>
                        <a:t>) </a:t>
                      </a:r>
                      <a:r>
                        <a:rPr lang="en-GB" altLang="en-US" sz="1600">
                          <a:latin typeface="Arial" panose="020B0604020202020204" pitchFamily="34" charset="0"/>
                          <a:cs typeface="Arial" panose="020B0604020202020204" pitchFamily="34" charset="0"/>
                          <a:sym typeface="+mn-ea"/>
                        </a:rPr>
                        <a:t>Ụ </a:t>
                      </a:r>
                      <a:r>
                        <a:rPr lang="el-GR" altLang="x-none" sz="1600" b="1" dirty="0">
                          <a:solidFill>
                            <a:srgbClr val="FF0000"/>
                          </a:solidFill>
                          <a:latin typeface="Times New Roman" panose="02020603050405020304" pitchFamily="18" charset="0"/>
                          <a:cs typeface="Times New Roman" panose="02020603050405020304" pitchFamily="18" charset="0"/>
                          <a:sym typeface="+mn-ea"/>
                        </a:rPr>
                        <a:t>δ</a:t>
                      </a:r>
                      <a:r>
                        <a:rPr sz="1600" b="1" baseline="-25000" dirty="0">
                          <a:solidFill>
                            <a:srgbClr val="FF0000"/>
                          </a:solidFill>
                          <a:latin typeface="Times New Roman" panose="02020603050405020304" pitchFamily="18" charset="0"/>
                          <a:cs typeface="Times New Roman" panose="02020603050405020304" pitchFamily="18" charset="0"/>
                          <a:sym typeface="+mn-ea"/>
                        </a:rPr>
                        <a:t>N</a:t>
                      </a:r>
                      <a:r>
                        <a:rPr lang="en-GB" altLang="en-US" sz="1600">
                          <a:sym typeface="+mn-ea"/>
                        </a:rPr>
                        <a:t>(q</a:t>
                      </a:r>
                      <a:r>
                        <a:rPr lang="en-IN" altLang="en-GB" sz="1600">
                          <a:sym typeface="+mn-ea"/>
                        </a:rPr>
                        <a:t>1</a:t>
                      </a:r>
                      <a:r>
                        <a:rPr lang="en-GB" altLang="en-US" sz="1600">
                          <a:sym typeface="+mn-ea"/>
                        </a:rPr>
                        <a:t>, </a:t>
                      </a:r>
                      <a:r>
                        <a:rPr lang="en-IN" altLang="en-GB" sz="1600">
                          <a:sym typeface="+mn-ea"/>
                        </a:rPr>
                        <a:t>b</a:t>
                      </a:r>
                      <a:r>
                        <a:rPr lang="en-GB" altLang="en-US" sz="1600">
                          <a:sym typeface="+mn-ea"/>
                        </a:rPr>
                        <a:t>) </a:t>
                      </a:r>
                      <a:r>
                        <a:rPr lang="en-GB" altLang="en-US" sz="1600">
                          <a:latin typeface="Arial" panose="020B0604020202020204" pitchFamily="34" charset="0"/>
                          <a:cs typeface="Arial" panose="020B0604020202020204" pitchFamily="34" charset="0"/>
                          <a:sym typeface="+mn-ea"/>
                        </a:rPr>
                        <a:t>Ụ </a:t>
                      </a:r>
                      <a:r>
                        <a:rPr lang="el-GR" altLang="x-none" sz="1600" b="1" dirty="0">
                          <a:solidFill>
                            <a:srgbClr val="FF0000"/>
                          </a:solidFill>
                          <a:latin typeface="Times New Roman" panose="02020603050405020304" pitchFamily="18" charset="0"/>
                          <a:cs typeface="Times New Roman" panose="02020603050405020304" pitchFamily="18" charset="0"/>
                          <a:sym typeface="+mn-ea"/>
                        </a:rPr>
                        <a:t>δ</a:t>
                      </a:r>
                      <a:r>
                        <a:rPr sz="1600" b="1" baseline="-25000" dirty="0">
                          <a:solidFill>
                            <a:srgbClr val="FF0000"/>
                          </a:solidFill>
                          <a:latin typeface="Times New Roman" panose="02020603050405020304" pitchFamily="18" charset="0"/>
                          <a:cs typeface="Times New Roman" panose="02020603050405020304" pitchFamily="18" charset="0"/>
                          <a:sym typeface="+mn-ea"/>
                        </a:rPr>
                        <a:t>N</a:t>
                      </a:r>
                      <a:r>
                        <a:rPr lang="en-GB" altLang="en-US" sz="1600">
                          <a:sym typeface="+mn-ea"/>
                        </a:rPr>
                        <a:t>(q</a:t>
                      </a:r>
                      <a:r>
                        <a:rPr lang="en-IN" altLang="en-GB" sz="1600">
                          <a:sym typeface="+mn-ea"/>
                        </a:rPr>
                        <a:t>3</a:t>
                      </a:r>
                      <a:r>
                        <a:rPr lang="en-GB" altLang="en-US" sz="1600">
                          <a:sym typeface="+mn-ea"/>
                        </a:rPr>
                        <a:t>, </a:t>
                      </a:r>
                      <a:r>
                        <a:rPr lang="en-IN" altLang="en-GB" sz="1600">
                          <a:sym typeface="+mn-ea"/>
                        </a:rPr>
                        <a:t>b</a:t>
                      </a:r>
                      <a:r>
                        <a:rPr lang="en-GB" altLang="en-US" sz="1600">
                          <a:sym typeface="+mn-ea"/>
                        </a:rPr>
                        <a:t>)</a:t>
                      </a:r>
                      <a:endParaRPr lang="en-GB" altLang="en-US" sz="1600">
                        <a:sym typeface="+mn-ea"/>
                      </a:endParaRPr>
                    </a:p>
                    <a:p>
                      <a:pPr>
                        <a:buNone/>
                      </a:pPr>
                      <a:r>
                        <a:rPr lang="en-GB" altLang="en-US" sz="1600">
                          <a:sym typeface="+mn-ea"/>
                        </a:rPr>
                        <a:t> </a:t>
                      </a:r>
                      <a:r>
                        <a:rPr lang="en-IN" altLang="en-GB" sz="1600">
                          <a:sym typeface="+mn-ea"/>
                        </a:rPr>
                        <a:t>                               </a:t>
                      </a:r>
                      <a:r>
                        <a:rPr lang="en-GB" altLang="en-US" sz="1600">
                          <a:sym typeface="+mn-ea"/>
                        </a:rPr>
                        <a:t> = </a:t>
                      </a:r>
                      <a:r>
                        <a:rPr lang="en-GB" altLang="en-US" sz="1600">
                          <a:latin typeface="Arial" panose="020B0604020202020204" pitchFamily="34" charset="0"/>
                          <a:cs typeface="Arial" panose="020B0604020202020204" pitchFamily="34" charset="0"/>
                          <a:sym typeface="+mn-ea"/>
                        </a:rPr>
                        <a:t>{Ø} Ụ {Ø} Ụ </a:t>
                      </a:r>
                      <a:r>
                        <a:rPr lang="en-GB" altLang="en-US" sz="1600">
                          <a:sym typeface="+mn-ea"/>
                        </a:rPr>
                        <a:t>{</a:t>
                      </a:r>
                      <a:r>
                        <a:rPr lang="en-IN" altLang="en-GB" sz="1600">
                          <a:sym typeface="+mn-ea"/>
                        </a:rPr>
                        <a:t>q4</a:t>
                      </a:r>
                      <a:r>
                        <a:rPr lang="en-GB" altLang="en-US" sz="1600">
                          <a:sym typeface="+mn-ea"/>
                        </a:rPr>
                        <a:t>}  </a:t>
                      </a:r>
                      <a:r>
                        <a:rPr lang="en-GB" altLang="en-US" sz="1600">
                          <a:latin typeface="Arial" panose="020B0604020202020204" pitchFamily="34" charset="0"/>
                          <a:cs typeface="Arial" panose="020B0604020202020204" pitchFamily="34" charset="0"/>
                          <a:sym typeface="+mn-ea"/>
                        </a:rPr>
                        <a:t>  = {q</a:t>
                      </a:r>
                      <a:r>
                        <a:rPr lang="en-IN" altLang="en-GB" sz="1600">
                          <a:latin typeface="Arial" panose="020B0604020202020204" pitchFamily="34" charset="0"/>
                          <a:cs typeface="Arial" panose="020B0604020202020204" pitchFamily="34" charset="0"/>
                          <a:sym typeface="+mn-ea"/>
                        </a:rPr>
                        <a:t>4</a:t>
                      </a:r>
                      <a:r>
                        <a:rPr lang="en-GB" altLang="en-US" sz="1600">
                          <a:latin typeface="Arial" panose="020B0604020202020204" pitchFamily="34" charset="0"/>
                          <a:cs typeface="Arial" panose="020B0604020202020204" pitchFamily="34" charset="0"/>
                          <a:sym typeface="+mn-ea"/>
                        </a:rPr>
                        <a:t>}</a:t>
                      </a:r>
                      <a:endParaRPr lang="en-GB" altLang="en-US" sz="1600">
                        <a:latin typeface="Arial" panose="020B0604020202020204" pitchFamily="34" charset="0"/>
                        <a:cs typeface="Arial" panose="020B0604020202020204" pitchFamily="34" charset="0"/>
                        <a:sym typeface="+mn-ea"/>
                      </a:endParaRPr>
                    </a:p>
                    <a:p>
                      <a:pPr>
                        <a:buNone/>
                      </a:pPr>
                      <a:r>
                        <a:rPr lang="en-US" sz="1600">
                          <a:cs typeface="Arial" panose="020B0604020202020204" pitchFamily="34" charset="0"/>
                          <a:sym typeface="+mn-ea"/>
                        </a:rPr>
                        <a:t>Ԑ</a:t>
                      </a:r>
                      <a:r>
                        <a:rPr lang="en-GB" altLang="en-US" sz="1600">
                          <a:cs typeface="Arial" panose="020B0604020202020204" pitchFamily="34" charset="0"/>
                          <a:sym typeface="+mn-ea"/>
                        </a:rPr>
                        <a:t>-Closure(q</a:t>
                      </a:r>
                      <a:r>
                        <a:rPr lang="en-IN" altLang="en-GB" sz="1600">
                          <a:cs typeface="Arial" panose="020B0604020202020204" pitchFamily="34" charset="0"/>
                          <a:sym typeface="+mn-ea"/>
                        </a:rPr>
                        <a:t>4</a:t>
                      </a:r>
                      <a:r>
                        <a:rPr lang="en-GB" altLang="en-US" sz="1600">
                          <a:cs typeface="Arial" panose="020B0604020202020204" pitchFamily="34" charset="0"/>
                          <a:sym typeface="+mn-ea"/>
                        </a:rPr>
                        <a:t>) = </a:t>
                      </a:r>
                      <a:r>
                        <a:rPr lang="en-GB" altLang="en-US" sz="1600">
                          <a:solidFill>
                            <a:srgbClr val="FF0000"/>
                          </a:solidFill>
                          <a:cs typeface="Arial" panose="020B0604020202020204" pitchFamily="34" charset="0"/>
                          <a:sym typeface="+mn-ea"/>
                        </a:rPr>
                        <a:t>{</a:t>
                      </a:r>
                      <a:r>
                        <a:rPr lang="en-GB" altLang="en-US" sz="1600">
                          <a:solidFill>
                            <a:srgbClr val="FF0000"/>
                          </a:solidFill>
                          <a:highlight>
                            <a:srgbClr val="FFFF00"/>
                          </a:highlight>
                          <a:cs typeface="Arial" panose="020B0604020202020204" pitchFamily="34" charset="0"/>
                          <a:sym typeface="+mn-ea"/>
                        </a:rPr>
                        <a:t>q</a:t>
                      </a:r>
                      <a:r>
                        <a:rPr lang="en-IN" altLang="en-GB" sz="1600">
                          <a:solidFill>
                            <a:srgbClr val="FF0000"/>
                          </a:solidFill>
                          <a:highlight>
                            <a:srgbClr val="FFFF00"/>
                          </a:highlight>
                          <a:cs typeface="Arial" panose="020B0604020202020204" pitchFamily="34" charset="0"/>
                          <a:sym typeface="+mn-ea"/>
                        </a:rPr>
                        <a:t>4</a:t>
                      </a:r>
                      <a:r>
                        <a:rPr lang="en-GB" altLang="en-US" sz="1600">
                          <a:solidFill>
                            <a:srgbClr val="FF0000"/>
                          </a:solidFill>
                          <a:highlight>
                            <a:srgbClr val="FFFF00"/>
                          </a:highlight>
                          <a:cs typeface="Arial" panose="020B0604020202020204" pitchFamily="34" charset="0"/>
                          <a:sym typeface="+mn-ea"/>
                        </a:rPr>
                        <a:t>}</a:t>
                      </a:r>
                      <a:r>
                        <a:rPr lang="en-IN" altLang="en-GB" sz="1600">
                          <a:solidFill>
                            <a:srgbClr val="FF0000"/>
                          </a:solidFill>
                          <a:highlight>
                            <a:srgbClr val="FFFF00"/>
                          </a:highlight>
                          <a:cs typeface="Arial" panose="020B0604020202020204" pitchFamily="34" charset="0"/>
                          <a:sym typeface="+mn-ea"/>
                        </a:rPr>
                        <a:t> </a:t>
                      </a:r>
                      <a:r>
                        <a:rPr lang="en-IN" altLang="en-GB" sz="1600">
                          <a:solidFill>
                            <a:srgbClr val="FF0000"/>
                          </a:solidFill>
                          <a:highlight>
                            <a:srgbClr val="FFFF00"/>
                          </a:highlight>
                          <a:latin typeface="Arial" panose="020B0604020202020204" pitchFamily="34" charset="0"/>
                          <a:cs typeface="Arial" panose="020B0604020202020204" pitchFamily="34" charset="0"/>
                          <a:sym typeface="+mn-ea"/>
                        </a:rPr>
                        <a:t>→ New set for DFA added to </a:t>
                      </a:r>
                      <a:r>
                        <a:rPr lang="en-GB" altLang="en-US" sz="2400">
                          <a:highlight>
                            <a:srgbClr val="FFFF00"/>
                          </a:highlight>
                          <a:sym typeface="+mn-ea"/>
                        </a:rPr>
                        <a:t>Q</a:t>
                      </a:r>
                      <a:r>
                        <a:rPr lang="en-GB" altLang="en-US" sz="2400" baseline="-25000">
                          <a:highlight>
                            <a:srgbClr val="FFFF00"/>
                          </a:highlight>
                          <a:sym typeface="+mn-ea"/>
                        </a:rPr>
                        <a:t>D</a:t>
                      </a:r>
                      <a:endParaRPr lang="en-IN" altLang="en-GB" sz="1600" b="1">
                        <a:solidFill>
                          <a:srgbClr val="FF0000"/>
                        </a:solidFill>
                        <a:highlight>
                          <a:srgbClr val="FFFF00"/>
                        </a:highlight>
                        <a:latin typeface="Arial" panose="020B0604020202020204" pitchFamily="34" charset="0"/>
                        <a:cs typeface="Arial" panose="020B0604020202020204" pitchFamily="34" charset="0"/>
                        <a:sym typeface="+mn-ea"/>
                      </a:endParaRPr>
                    </a:p>
                  </a:txBody>
                  <a:tcPr/>
                </a:tc>
              </a:tr>
              <a:tr h="1188720">
                <a:tc>
                  <a:txBody>
                    <a:bodyPr/>
                    <a:p>
                      <a:pPr>
                        <a:buNone/>
                      </a:pPr>
                      <a:r>
                        <a:rPr lang="en-GB" altLang="en-US" sz="1600" b="1">
                          <a:latin typeface="Arial" panose="020B0604020202020204" pitchFamily="34" charset="0"/>
                          <a:cs typeface="Arial" panose="020B0604020202020204" pitchFamily="34" charset="0"/>
                        </a:rPr>
                        <a:t>ӿ</a:t>
                      </a:r>
                      <a:r>
                        <a:rPr lang="en-GB" altLang="en-US" sz="1600" b="1"/>
                        <a:t>{q</a:t>
                      </a:r>
                      <a:r>
                        <a:rPr lang="en-IN" altLang="en-GB" sz="1600" b="1"/>
                        <a:t>2</a:t>
                      </a:r>
                      <a:r>
                        <a:rPr lang="en-GB" altLang="en-US" sz="1600" b="1"/>
                        <a:t>}</a:t>
                      </a:r>
                      <a:endParaRPr lang="en-GB" altLang="en-US" sz="1600" b="1"/>
                    </a:p>
                  </a:txBody>
                  <a:tcPr/>
                </a:tc>
                <a:tc>
                  <a:txBody>
                    <a:bodyPr/>
                    <a:p>
                      <a:pPr>
                        <a:buNone/>
                      </a:pPr>
                      <a:r>
                        <a:rPr lang="en-IN" altLang="en-GB" sz="1600"/>
                        <a:t>{q2}</a:t>
                      </a:r>
                      <a:endParaRPr lang="en-IN" altLang="en-GB" sz="1600"/>
                    </a:p>
                  </a:txBody>
                  <a:tcPr/>
                </a:tc>
                <a:tc>
                  <a:txBody>
                    <a:bodyPr/>
                    <a:p>
                      <a:pPr>
                        <a:buNone/>
                      </a:pPr>
                      <a:r>
                        <a:rPr lang="en-IN" altLang="en-GB" sz="1600"/>
                        <a:t>{</a:t>
                      </a:r>
                      <a:r>
                        <a:rPr lang="en-IN" altLang="en-GB" sz="1600">
                          <a:latin typeface="Arial" panose="020B0604020202020204" pitchFamily="34" charset="0"/>
                          <a:cs typeface="Arial" panose="020B0604020202020204" pitchFamily="34" charset="0"/>
                        </a:rPr>
                        <a:t>Ø</a:t>
                      </a:r>
                      <a:r>
                        <a:rPr lang="en-IN" altLang="en-GB" sz="1600"/>
                        <a:t>}</a:t>
                      </a:r>
                      <a:endParaRPr lang="en-IN" altLang="en-GB" sz="1600"/>
                    </a:p>
                  </a:txBody>
                  <a:tcPr/>
                </a:tc>
                <a:tc>
                  <a:txBody>
                    <a:bodyPr/>
                    <a:p>
                      <a:pPr>
                        <a:buNone/>
                      </a:pPr>
                      <a:r>
                        <a:rPr lang="el-GR" altLang="x-none" sz="1600" b="1" dirty="0">
                          <a:solidFill>
                            <a:srgbClr val="FF0000"/>
                          </a:solidFill>
                          <a:sym typeface="+mn-ea"/>
                        </a:rPr>
                        <a:t>δ</a:t>
                      </a:r>
                      <a:r>
                        <a:rPr sz="1600" b="1" baseline="-25000" dirty="0">
                          <a:solidFill>
                            <a:srgbClr val="FF0000"/>
                          </a:solidFill>
                          <a:sym typeface="+mn-ea"/>
                        </a:rPr>
                        <a:t>D</a:t>
                      </a:r>
                      <a:r>
                        <a:rPr lang="en-GB" altLang="el-GR" sz="1600" b="1" dirty="0">
                          <a:solidFill>
                            <a:schemeClr val="tx1"/>
                          </a:solidFill>
                          <a:latin typeface="Times New Roman" panose="02020603050405020304" pitchFamily="18" charset="0"/>
                          <a:cs typeface="Times New Roman" panose="02020603050405020304" pitchFamily="18" charset="0"/>
                          <a:sym typeface="+mn-ea"/>
                        </a:rPr>
                        <a:t>({q2}, a) = </a:t>
                      </a:r>
                      <a:r>
                        <a:rPr lang="el-GR" altLang="x-none" sz="1600" b="1" dirty="0">
                          <a:solidFill>
                            <a:srgbClr val="FF0000"/>
                          </a:solidFill>
                          <a:latin typeface="Times New Roman" panose="02020603050405020304" pitchFamily="18" charset="0"/>
                          <a:cs typeface="Times New Roman" panose="02020603050405020304" pitchFamily="18" charset="0"/>
                          <a:sym typeface="+mn-ea"/>
                        </a:rPr>
                        <a:t>δ</a:t>
                      </a:r>
                      <a:r>
                        <a:rPr sz="1600" b="1" baseline="-25000" dirty="0">
                          <a:solidFill>
                            <a:srgbClr val="FF0000"/>
                          </a:solidFill>
                          <a:latin typeface="Times New Roman" panose="02020603050405020304" pitchFamily="18" charset="0"/>
                          <a:cs typeface="Times New Roman" panose="02020603050405020304" pitchFamily="18" charset="0"/>
                          <a:sym typeface="+mn-ea"/>
                        </a:rPr>
                        <a:t>N</a:t>
                      </a:r>
                      <a:r>
                        <a:rPr lang="en-GB" altLang="en-US" sz="1600">
                          <a:sym typeface="+mn-ea"/>
                        </a:rPr>
                        <a:t>(q</a:t>
                      </a:r>
                      <a:r>
                        <a:rPr lang="en-IN" altLang="en-GB" sz="1600">
                          <a:sym typeface="+mn-ea"/>
                        </a:rPr>
                        <a:t>2</a:t>
                      </a:r>
                      <a:r>
                        <a:rPr lang="en-GB" altLang="en-US" sz="1600">
                          <a:sym typeface="+mn-ea"/>
                        </a:rPr>
                        <a:t>, </a:t>
                      </a:r>
                      <a:r>
                        <a:rPr lang="en-IN" altLang="en-GB" sz="1600">
                          <a:sym typeface="+mn-ea"/>
                        </a:rPr>
                        <a:t>a</a:t>
                      </a:r>
                      <a:r>
                        <a:rPr lang="en-GB" altLang="en-US" sz="1600">
                          <a:sym typeface="+mn-ea"/>
                        </a:rPr>
                        <a:t>) </a:t>
                      </a:r>
                      <a:r>
                        <a:rPr lang="en-GB" altLang="en-US" sz="1600">
                          <a:latin typeface="Arial" panose="020B0604020202020204" pitchFamily="34" charset="0"/>
                          <a:cs typeface="Arial" panose="020B0604020202020204" pitchFamily="34" charset="0"/>
                          <a:sym typeface="+mn-ea"/>
                        </a:rPr>
                        <a:t>= </a:t>
                      </a:r>
                      <a:r>
                        <a:rPr lang="en-GB" altLang="en-US" sz="1600">
                          <a:sym typeface="+mn-ea"/>
                        </a:rPr>
                        <a:t>{</a:t>
                      </a:r>
                      <a:r>
                        <a:rPr lang="en-IN" altLang="en-GB" sz="1600">
                          <a:sym typeface="+mn-ea"/>
                        </a:rPr>
                        <a:t>q2</a:t>
                      </a:r>
                      <a:r>
                        <a:rPr lang="en-GB" altLang="en-US" sz="1600">
                          <a:sym typeface="+mn-ea"/>
                        </a:rPr>
                        <a:t>}  </a:t>
                      </a:r>
                      <a:r>
                        <a:rPr lang="en-GB" altLang="en-US" sz="1600">
                          <a:latin typeface="Arial" panose="020B0604020202020204" pitchFamily="34" charset="0"/>
                          <a:cs typeface="Arial" panose="020B0604020202020204" pitchFamily="34" charset="0"/>
                          <a:sym typeface="+mn-ea"/>
                        </a:rPr>
                        <a:t>  </a:t>
                      </a:r>
                      <a:endParaRPr lang="en-GB" altLang="en-US" sz="1600">
                        <a:latin typeface="Arial" panose="020B0604020202020204" pitchFamily="34" charset="0"/>
                        <a:cs typeface="Arial" panose="020B0604020202020204" pitchFamily="34" charset="0"/>
                        <a:sym typeface="+mn-ea"/>
                      </a:endParaRPr>
                    </a:p>
                    <a:p>
                      <a:pPr>
                        <a:buNone/>
                      </a:pPr>
                      <a:r>
                        <a:rPr lang="en-GB" altLang="en-US" sz="1600" b="1">
                          <a:solidFill>
                            <a:schemeClr val="tx1"/>
                          </a:solidFill>
                          <a:latin typeface="Arial" panose="020B0604020202020204" pitchFamily="34" charset="0"/>
                          <a:cs typeface="Arial" panose="020B0604020202020204" pitchFamily="34" charset="0"/>
                          <a:sym typeface="+mn-ea"/>
                        </a:rPr>
                        <a:t>Ԑ</a:t>
                      </a:r>
                      <a:r>
                        <a:rPr lang="en-IN" altLang="en-GB" sz="1600" b="1">
                          <a:solidFill>
                            <a:schemeClr val="tx1"/>
                          </a:solidFill>
                          <a:latin typeface="Arial" panose="020B0604020202020204" pitchFamily="34" charset="0"/>
                          <a:cs typeface="Arial" panose="020B0604020202020204" pitchFamily="34" charset="0"/>
                          <a:sym typeface="+mn-ea"/>
                        </a:rPr>
                        <a:t>-Closure(q2) = {q2} Not ADDED to </a:t>
                      </a:r>
                      <a:r>
                        <a:rPr lang="en-GB" altLang="en-US" sz="2400" b="1">
                          <a:solidFill>
                            <a:srgbClr val="FF0000"/>
                          </a:solidFill>
                          <a:sym typeface="+mn-ea"/>
                        </a:rPr>
                        <a:t>Q</a:t>
                      </a:r>
                      <a:r>
                        <a:rPr lang="en-GB" altLang="en-US" sz="2400" b="1" baseline="-25000">
                          <a:solidFill>
                            <a:srgbClr val="FF0000"/>
                          </a:solidFill>
                          <a:sym typeface="+mn-ea"/>
                        </a:rPr>
                        <a:t>D</a:t>
                      </a:r>
                      <a:endParaRPr lang="en-GB" altLang="en-US" sz="2400" b="1" baseline="-25000">
                        <a:solidFill>
                          <a:srgbClr val="FF0000"/>
                        </a:solidFill>
                        <a:sym typeface="+mn-ea"/>
                      </a:endParaRPr>
                    </a:p>
                    <a:p>
                      <a:pPr>
                        <a:buNone/>
                      </a:pPr>
                      <a:r>
                        <a:rPr lang="el-GR" altLang="x-none" sz="1600" b="1" dirty="0">
                          <a:solidFill>
                            <a:srgbClr val="FF0000"/>
                          </a:solidFill>
                          <a:sym typeface="+mn-ea"/>
                        </a:rPr>
                        <a:t>δ</a:t>
                      </a:r>
                      <a:r>
                        <a:rPr sz="1600" b="1" baseline="-25000" dirty="0">
                          <a:solidFill>
                            <a:srgbClr val="FF0000"/>
                          </a:solidFill>
                          <a:sym typeface="+mn-ea"/>
                        </a:rPr>
                        <a:t>D</a:t>
                      </a:r>
                      <a:r>
                        <a:rPr lang="en-GB" altLang="el-GR" sz="1600" b="1" dirty="0">
                          <a:solidFill>
                            <a:schemeClr val="tx1"/>
                          </a:solidFill>
                          <a:latin typeface="Times New Roman" panose="02020603050405020304" pitchFamily="18" charset="0"/>
                          <a:cs typeface="Times New Roman" panose="02020603050405020304" pitchFamily="18" charset="0"/>
                          <a:sym typeface="+mn-ea"/>
                        </a:rPr>
                        <a:t>({q2}, </a:t>
                      </a:r>
                      <a:r>
                        <a:rPr lang="en-IN" altLang="en-GB" sz="1600" b="1" dirty="0">
                          <a:solidFill>
                            <a:schemeClr val="tx1"/>
                          </a:solidFill>
                          <a:latin typeface="Times New Roman" panose="02020603050405020304" pitchFamily="18" charset="0"/>
                          <a:cs typeface="Times New Roman" panose="02020603050405020304" pitchFamily="18" charset="0"/>
                          <a:sym typeface="+mn-ea"/>
                        </a:rPr>
                        <a:t>b</a:t>
                      </a:r>
                      <a:r>
                        <a:rPr lang="en-GB" altLang="el-GR" sz="1600" b="1" dirty="0">
                          <a:solidFill>
                            <a:schemeClr val="tx1"/>
                          </a:solidFill>
                          <a:latin typeface="Times New Roman" panose="02020603050405020304" pitchFamily="18" charset="0"/>
                          <a:cs typeface="Times New Roman" panose="02020603050405020304" pitchFamily="18" charset="0"/>
                          <a:sym typeface="+mn-ea"/>
                        </a:rPr>
                        <a:t>) = </a:t>
                      </a:r>
                      <a:r>
                        <a:rPr lang="el-GR" altLang="x-none" sz="1600" b="1" dirty="0">
                          <a:solidFill>
                            <a:srgbClr val="FF0000"/>
                          </a:solidFill>
                          <a:latin typeface="Times New Roman" panose="02020603050405020304" pitchFamily="18" charset="0"/>
                          <a:cs typeface="Times New Roman" panose="02020603050405020304" pitchFamily="18" charset="0"/>
                          <a:sym typeface="+mn-ea"/>
                        </a:rPr>
                        <a:t>δ</a:t>
                      </a:r>
                      <a:r>
                        <a:rPr sz="1600" b="1" baseline="-25000" dirty="0">
                          <a:solidFill>
                            <a:srgbClr val="FF0000"/>
                          </a:solidFill>
                          <a:latin typeface="Times New Roman" panose="02020603050405020304" pitchFamily="18" charset="0"/>
                          <a:cs typeface="Times New Roman" panose="02020603050405020304" pitchFamily="18" charset="0"/>
                          <a:sym typeface="+mn-ea"/>
                        </a:rPr>
                        <a:t>N</a:t>
                      </a:r>
                      <a:r>
                        <a:rPr lang="en-GB" altLang="en-US" sz="1600">
                          <a:sym typeface="+mn-ea"/>
                        </a:rPr>
                        <a:t>(q</a:t>
                      </a:r>
                      <a:r>
                        <a:rPr lang="en-IN" altLang="en-GB" sz="1600">
                          <a:sym typeface="+mn-ea"/>
                        </a:rPr>
                        <a:t>2</a:t>
                      </a:r>
                      <a:r>
                        <a:rPr lang="en-GB" altLang="en-US" sz="1600">
                          <a:sym typeface="+mn-ea"/>
                        </a:rPr>
                        <a:t>, </a:t>
                      </a:r>
                      <a:r>
                        <a:rPr lang="en-IN" altLang="en-GB" sz="1600">
                          <a:sym typeface="+mn-ea"/>
                        </a:rPr>
                        <a:t>b</a:t>
                      </a:r>
                      <a:r>
                        <a:rPr lang="en-GB" altLang="en-US" sz="1600">
                          <a:sym typeface="+mn-ea"/>
                        </a:rPr>
                        <a:t>) </a:t>
                      </a:r>
                      <a:r>
                        <a:rPr lang="en-IN" altLang="en-GB" sz="1600">
                          <a:sym typeface="+mn-ea"/>
                        </a:rPr>
                        <a:t>= {</a:t>
                      </a:r>
                      <a:r>
                        <a:rPr lang="en-IN" altLang="en-GB" sz="1600">
                          <a:latin typeface="Arial" panose="020B0604020202020204" pitchFamily="34" charset="0"/>
                          <a:cs typeface="Arial" panose="020B0604020202020204" pitchFamily="34" charset="0"/>
                          <a:sym typeface="+mn-ea"/>
                        </a:rPr>
                        <a:t>Ø</a:t>
                      </a:r>
                      <a:r>
                        <a:rPr lang="en-IN" altLang="en-GB" sz="1600">
                          <a:sym typeface="+mn-ea"/>
                        </a:rPr>
                        <a:t>}</a:t>
                      </a:r>
                      <a:endParaRPr lang="en-GB" altLang="en-US" sz="1600">
                        <a:sym typeface="+mn-ea"/>
                      </a:endParaRPr>
                    </a:p>
                    <a:p>
                      <a:pPr>
                        <a:buNone/>
                      </a:pPr>
                      <a:r>
                        <a:rPr lang="en-GB" altLang="en-US" sz="1600" b="1">
                          <a:solidFill>
                            <a:schemeClr val="tx1"/>
                          </a:solidFill>
                          <a:latin typeface="Arial" panose="020B0604020202020204" pitchFamily="34" charset="0"/>
                          <a:cs typeface="Arial" panose="020B0604020202020204" pitchFamily="34" charset="0"/>
                          <a:sym typeface="+mn-ea"/>
                        </a:rPr>
                        <a:t>Ԑ</a:t>
                      </a:r>
                      <a:r>
                        <a:rPr lang="en-IN" altLang="en-GB" sz="1600" b="1">
                          <a:solidFill>
                            <a:schemeClr val="tx1"/>
                          </a:solidFill>
                          <a:latin typeface="Arial" panose="020B0604020202020204" pitchFamily="34" charset="0"/>
                          <a:cs typeface="Arial" panose="020B0604020202020204" pitchFamily="34" charset="0"/>
                          <a:sym typeface="+mn-ea"/>
                        </a:rPr>
                        <a:t>-Closure(Ø)</a:t>
                      </a:r>
                      <a:r>
                        <a:rPr lang="en-GB" altLang="en-US" sz="1600">
                          <a:latin typeface="Arial" panose="020B0604020202020204" pitchFamily="34" charset="0"/>
                          <a:cs typeface="Arial" panose="020B0604020202020204" pitchFamily="34" charset="0"/>
                          <a:sym typeface="+mn-ea"/>
                        </a:rPr>
                        <a:t> = </a:t>
                      </a:r>
                      <a:r>
                        <a:rPr lang="en-GB" altLang="en-US" sz="1600">
                          <a:highlight>
                            <a:srgbClr val="FFFF00"/>
                          </a:highlight>
                          <a:sym typeface="+mn-ea"/>
                        </a:rPr>
                        <a:t>{</a:t>
                      </a:r>
                      <a:r>
                        <a:rPr lang="en-IN" altLang="en-GB" sz="1600">
                          <a:highlight>
                            <a:srgbClr val="FFFF00"/>
                          </a:highlight>
                          <a:sym typeface="+mn-ea"/>
                        </a:rPr>
                        <a:t> </a:t>
                      </a:r>
                      <a:r>
                        <a:rPr lang="en-IN" altLang="en-GB" sz="1600">
                          <a:highlight>
                            <a:srgbClr val="FFFF00"/>
                          </a:highlight>
                          <a:latin typeface="Arial" panose="020B0604020202020204" pitchFamily="34" charset="0"/>
                          <a:cs typeface="Arial" panose="020B0604020202020204" pitchFamily="34" charset="0"/>
                          <a:sym typeface="+mn-ea"/>
                        </a:rPr>
                        <a:t>Ø</a:t>
                      </a:r>
                      <a:r>
                        <a:rPr lang="en-GB" altLang="en-US" sz="1600">
                          <a:highlight>
                            <a:srgbClr val="FFFF00"/>
                          </a:highlight>
                          <a:sym typeface="+mn-ea"/>
                        </a:rPr>
                        <a:t>} </a:t>
                      </a:r>
                      <a:r>
                        <a:rPr lang="en-IN" altLang="en-GB" sz="1600">
                          <a:solidFill>
                            <a:srgbClr val="FF0000"/>
                          </a:solidFill>
                          <a:highlight>
                            <a:srgbClr val="FFFF00"/>
                          </a:highlight>
                          <a:latin typeface="Arial" panose="020B0604020202020204" pitchFamily="34" charset="0"/>
                          <a:cs typeface="Arial" panose="020B0604020202020204" pitchFamily="34" charset="0"/>
                          <a:sym typeface="+mn-ea"/>
                        </a:rPr>
                        <a:t>→ New set for DFA added to </a:t>
                      </a:r>
                      <a:r>
                        <a:rPr lang="en-GB" altLang="en-US" sz="1600">
                          <a:highlight>
                            <a:srgbClr val="FFFF00"/>
                          </a:highlight>
                          <a:sym typeface="+mn-ea"/>
                        </a:rPr>
                        <a:t>Q</a:t>
                      </a:r>
                      <a:r>
                        <a:rPr lang="en-GB" altLang="en-US" sz="1600" baseline="-25000">
                          <a:highlight>
                            <a:srgbClr val="FFFF00"/>
                          </a:highlight>
                          <a:sym typeface="+mn-ea"/>
                        </a:rPr>
                        <a:t>D</a:t>
                      </a:r>
                      <a:endParaRPr lang="en-GB" altLang="en-US" sz="1600" b="1" baseline="-25000">
                        <a:solidFill>
                          <a:srgbClr val="FF0000"/>
                        </a:solidFill>
                        <a:latin typeface="Arial" panose="020B0604020202020204" pitchFamily="34" charset="0"/>
                        <a:cs typeface="Arial" panose="020B0604020202020204" pitchFamily="34" charset="0"/>
                        <a:sym typeface="+mn-ea"/>
                      </a:endParaRPr>
                    </a:p>
                  </a:txBody>
                  <a:tcPr/>
                </a:tc>
              </a:tr>
              <a:tr h="1188720">
                <a:tc>
                  <a:txBody>
                    <a:bodyPr/>
                    <a:p>
                      <a:pPr>
                        <a:buNone/>
                      </a:pPr>
                      <a:r>
                        <a:rPr lang="en-IN" altLang="en-GB" sz="1600" b="1">
                          <a:latin typeface="Arial" panose="020B0604020202020204" pitchFamily="34" charset="0"/>
                          <a:cs typeface="Arial" panose="020B0604020202020204" pitchFamily="34" charset="0"/>
                        </a:rPr>
                        <a:t>ӿ</a:t>
                      </a:r>
                      <a:r>
                        <a:rPr lang="en-IN" altLang="en-GB" sz="1600" b="1"/>
                        <a:t>{q4}</a:t>
                      </a:r>
                      <a:endParaRPr lang="en-IN" altLang="en-GB" sz="1600" b="1"/>
                    </a:p>
                  </a:txBody>
                  <a:tcPr/>
                </a:tc>
                <a:tc>
                  <a:txBody>
                    <a:bodyPr/>
                    <a:p>
                      <a:pPr>
                        <a:buNone/>
                      </a:pPr>
                      <a:r>
                        <a:rPr lang="en-IN" altLang="en-GB" sz="1600">
                          <a:sym typeface="+mn-ea"/>
                        </a:rPr>
                        <a:t>{</a:t>
                      </a:r>
                      <a:r>
                        <a:rPr lang="en-IN" altLang="en-GB" sz="1600">
                          <a:latin typeface="Arial" panose="020B0604020202020204" pitchFamily="34" charset="0"/>
                          <a:cs typeface="Arial" panose="020B0604020202020204" pitchFamily="34" charset="0"/>
                          <a:sym typeface="+mn-ea"/>
                        </a:rPr>
                        <a:t>Ø</a:t>
                      </a:r>
                      <a:r>
                        <a:rPr lang="en-IN" altLang="en-GB" sz="1600">
                          <a:sym typeface="+mn-ea"/>
                        </a:rPr>
                        <a:t>}</a:t>
                      </a:r>
                      <a:endParaRPr lang="en-IN" altLang="en-GB" sz="1600"/>
                    </a:p>
                    <a:p>
                      <a:pPr>
                        <a:buNone/>
                      </a:pPr>
                      <a:endParaRPr lang="en-IN" altLang="en-GB" sz="1600"/>
                    </a:p>
                  </a:txBody>
                  <a:tcPr/>
                </a:tc>
                <a:tc>
                  <a:txBody>
                    <a:bodyPr/>
                    <a:p>
                      <a:pPr>
                        <a:buNone/>
                      </a:pPr>
                      <a:r>
                        <a:rPr lang="en-IN" altLang="en-GB" sz="1600"/>
                        <a:t>{q4}</a:t>
                      </a:r>
                      <a:endParaRPr lang="en-IN" altLang="en-GB" sz="1600"/>
                    </a:p>
                  </a:txBody>
                  <a:tcPr/>
                </a:tc>
                <a:tc>
                  <a:txBody>
                    <a:bodyPr/>
                    <a:p>
                      <a:pPr>
                        <a:buNone/>
                      </a:pPr>
                      <a:r>
                        <a:rPr lang="el-GR" altLang="x-none" sz="1600" b="1" dirty="0">
                          <a:solidFill>
                            <a:srgbClr val="FF0000"/>
                          </a:solidFill>
                          <a:sym typeface="+mn-ea"/>
                        </a:rPr>
                        <a:t>δ</a:t>
                      </a:r>
                      <a:r>
                        <a:rPr sz="1600" b="1" baseline="-25000" dirty="0">
                          <a:solidFill>
                            <a:srgbClr val="FF0000"/>
                          </a:solidFill>
                          <a:sym typeface="+mn-ea"/>
                        </a:rPr>
                        <a:t>D</a:t>
                      </a:r>
                      <a:r>
                        <a:rPr lang="en-GB" altLang="el-GR" sz="1600" b="1" dirty="0">
                          <a:solidFill>
                            <a:schemeClr val="tx1"/>
                          </a:solidFill>
                          <a:latin typeface="Times New Roman" panose="02020603050405020304" pitchFamily="18" charset="0"/>
                          <a:cs typeface="Times New Roman" panose="02020603050405020304" pitchFamily="18" charset="0"/>
                          <a:sym typeface="+mn-ea"/>
                        </a:rPr>
                        <a:t>({q</a:t>
                      </a:r>
                      <a:r>
                        <a:rPr lang="en-IN" altLang="en-GB" sz="1600" b="1" dirty="0">
                          <a:solidFill>
                            <a:schemeClr val="tx1"/>
                          </a:solidFill>
                          <a:latin typeface="Times New Roman" panose="02020603050405020304" pitchFamily="18" charset="0"/>
                          <a:cs typeface="Times New Roman" panose="02020603050405020304" pitchFamily="18" charset="0"/>
                          <a:sym typeface="+mn-ea"/>
                        </a:rPr>
                        <a:t>4</a:t>
                      </a:r>
                      <a:r>
                        <a:rPr lang="en-GB" altLang="el-GR" sz="1600" b="1" dirty="0">
                          <a:solidFill>
                            <a:schemeClr val="tx1"/>
                          </a:solidFill>
                          <a:latin typeface="Times New Roman" panose="02020603050405020304" pitchFamily="18" charset="0"/>
                          <a:cs typeface="Times New Roman" panose="02020603050405020304" pitchFamily="18" charset="0"/>
                          <a:sym typeface="+mn-ea"/>
                        </a:rPr>
                        <a:t>}, a) = </a:t>
                      </a:r>
                      <a:r>
                        <a:rPr lang="el-GR" altLang="x-none" sz="1600" b="1" dirty="0">
                          <a:solidFill>
                            <a:srgbClr val="FF0000"/>
                          </a:solidFill>
                          <a:latin typeface="Times New Roman" panose="02020603050405020304" pitchFamily="18" charset="0"/>
                          <a:cs typeface="Times New Roman" panose="02020603050405020304" pitchFamily="18" charset="0"/>
                          <a:sym typeface="+mn-ea"/>
                        </a:rPr>
                        <a:t>δ</a:t>
                      </a:r>
                      <a:r>
                        <a:rPr sz="1600" b="1" baseline="-25000" dirty="0">
                          <a:solidFill>
                            <a:srgbClr val="FF0000"/>
                          </a:solidFill>
                          <a:latin typeface="Times New Roman" panose="02020603050405020304" pitchFamily="18" charset="0"/>
                          <a:cs typeface="Times New Roman" panose="02020603050405020304" pitchFamily="18" charset="0"/>
                          <a:sym typeface="+mn-ea"/>
                        </a:rPr>
                        <a:t>N</a:t>
                      </a:r>
                      <a:r>
                        <a:rPr lang="en-GB" altLang="en-US" sz="1600">
                          <a:sym typeface="+mn-ea"/>
                        </a:rPr>
                        <a:t>(q</a:t>
                      </a:r>
                      <a:r>
                        <a:rPr lang="en-IN" altLang="en-GB" sz="1600">
                          <a:sym typeface="+mn-ea"/>
                        </a:rPr>
                        <a:t>4</a:t>
                      </a:r>
                      <a:r>
                        <a:rPr lang="en-GB" altLang="en-US" sz="1600">
                          <a:sym typeface="+mn-ea"/>
                        </a:rPr>
                        <a:t>, </a:t>
                      </a:r>
                      <a:r>
                        <a:rPr lang="en-IN" altLang="en-GB" sz="1600">
                          <a:sym typeface="+mn-ea"/>
                        </a:rPr>
                        <a:t>a</a:t>
                      </a:r>
                      <a:r>
                        <a:rPr lang="en-GB" altLang="en-US" sz="1600">
                          <a:sym typeface="+mn-ea"/>
                        </a:rPr>
                        <a:t>) </a:t>
                      </a:r>
                      <a:r>
                        <a:rPr lang="en-GB" altLang="en-US" sz="1600">
                          <a:latin typeface="Arial" panose="020B0604020202020204" pitchFamily="34" charset="0"/>
                          <a:cs typeface="Arial" panose="020B0604020202020204" pitchFamily="34" charset="0"/>
                          <a:sym typeface="+mn-ea"/>
                        </a:rPr>
                        <a:t>= </a:t>
                      </a:r>
                      <a:r>
                        <a:rPr lang="en-GB" altLang="en-US" sz="1600">
                          <a:sym typeface="+mn-ea"/>
                        </a:rPr>
                        <a:t>{</a:t>
                      </a:r>
                      <a:r>
                        <a:rPr lang="en-GB" altLang="en-US" sz="1600">
                          <a:latin typeface="Arial" panose="020B0604020202020204" pitchFamily="34" charset="0"/>
                          <a:cs typeface="Arial" panose="020B0604020202020204" pitchFamily="34" charset="0"/>
                          <a:sym typeface="+mn-ea"/>
                        </a:rPr>
                        <a:t>Ø</a:t>
                      </a:r>
                      <a:r>
                        <a:rPr lang="en-GB" altLang="en-US" sz="1600">
                          <a:sym typeface="+mn-ea"/>
                        </a:rPr>
                        <a:t>}  </a:t>
                      </a:r>
                      <a:r>
                        <a:rPr lang="en-GB" altLang="en-US" sz="1600">
                          <a:latin typeface="Arial" panose="020B0604020202020204" pitchFamily="34" charset="0"/>
                          <a:cs typeface="Arial" panose="020B0604020202020204" pitchFamily="34" charset="0"/>
                          <a:sym typeface="+mn-ea"/>
                        </a:rPr>
                        <a:t>  </a:t>
                      </a:r>
                      <a:endParaRPr lang="en-GB" altLang="en-US" sz="1600">
                        <a:latin typeface="Arial" panose="020B0604020202020204" pitchFamily="34" charset="0"/>
                        <a:cs typeface="Arial" panose="020B0604020202020204" pitchFamily="34" charset="0"/>
                        <a:sym typeface="+mn-ea"/>
                      </a:endParaRPr>
                    </a:p>
                    <a:p>
                      <a:pPr>
                        <a:buNone/>
                      </a:pPr>
                      <a:r>
                        <a:rPr lang="en-GB" altLang="en-US" sz="1600" b="1">
                          <a:solidFill>
                            <a:schemeClr val="tx1"/>
                          </a:solidFill>
                          <a:latin typeface="Arial" panose="020B0604020202020204" pitchFamily="34" charset="0"/>
                          <a:cs typeface="Arial" panose="020B0604020202020204" pitchFamily="34" charset="0"/>
                          <a:sym typeface="+mn-ea"/>
                        </a:rPr>
                        <a:t>Ԑ</a:t>
                      </a:r>
                      <a:r>
                        <a:rPr lang="en-IN" altLang="en-GB" sz="1600" b="1">
                          <a:solidFill>
                            <a:schemeClr val="tx1"/>
                          </a:solidFill>
                          <a:latin typeface="Arial" panose="020B0604020202020204" pitchFamily="34" charset="0"/>
                          <a:cs typeface="Arial" panose="020B0604020202020204" pitchFamily="34" charset="0"/>
                          <a:sym typeface="+mn-ea"/>
                        </a:rPr>
                        <a:t>-Closure(Ø) = {Ø} Not ADDED to </a:t>
                      </a:r>
                      <a:r>
                        <a:rPr lang="en-GB" altLang="en-US" sz="2000" b="1">
                          <a:solidFill>
                            <a:srgbClr val="FF0000"/>
                          </a:solidFill>
                          <a:sym typeface="+mn-ea"/>
                        </a:rPr>
                        <a:t>Q</a:t>
                      </a:r>
                      <a:r>
                        <a:rPr lang="en-GB" altLang="en-US" sz="2000" b="1" baseline="-25000">
                          <a:solidFill>
                            <a:srgbClr val="FF0000"/>
                          </a:solidFill>
                          <a:sym typeface="+mn-ea"/>
                        </a:rPr>
                        <a:t>D</a:t>
                      </a:r>
                      <a:endParaRPr lang="en-GB" altLang="en-US" sz="2000" b="1" baseline="-25000">
                        <a:solidFill>
                          <a:srgbClr val="FF0000"/>
                        </a:solidFill>
                        <a:sym typeface="+mn-ea"/>
                      </a:endParaRPr>
                    </a:p>
                    <a:p>
                      <a:pPr>
                        <a:buNone/>
                      </a:pPr>
                      <a:r>
                        <a:rPr lang="el-GR" altLang="x-none" sz="1600" b="1" dirty="0">
                          <a:solidFill>
                            <a:srgbClr val="FF0000"/>
                          </a:solidFill>
                          <a:sym typeface="+mn-ea"/>
                        </a:rPr>
                        <a:t>δ</a:t>
                      </a:r>
                      <a:r>
                        <a:rPr sz="1600" b="1" baseline="-25000" dirty="0">
                          <a:solidFill>
                            <a:srgbClr val="FF0000"/>
                          </a:solidFill>
                          <a:sym typeface="+mn-ea"/>
                        </a:rPr>
                        <a:t>D</a:t>
                      </a:r>
                      <a:r>
                        <a:rPr lang="en-GB" altLang="el-GR" sz="1600" b="1" dirty="0">
                          <a:solidFill>
                            <a:schemeClr val="tx1"/>
                          </a:solidFill>
                          <a:latin typeface="Times New Roman" panose="02020603050405020304" pitchFamily="18" charset="0"/>
                          <a:cs typeface="Times New Roman" panose="02020603050405020304" pitchFamily="18" charset="0"/>
                          <a:sym typeface="+mn-ea"/>
                        </a:rPr>
                        <a:t>({q</a:t>
                      </a:r>
                      <a:r>
                        <a:rPr lang="en-IN" altLang="en-GB" sz="1600" b="1" dirty="0">
                          <a:solidFill>
                            <a:schemeClr val="tx1"/>
                          </a:solidFill>
                          <a:latin typeface="Times New Roman" panose="02020603050405020304" pitchFamily="18" charset="0"/>
                          <a:cs typeface="Times New Roman" panose="02020603050405020304" pitchFamily="18" charset="0"/>
                          <a:sym typeface="+mn-ea"/>
                        </a:rPr>
                        <a:t>4</a:t>
                      </a:r>
                      <a:r>
                        <a:rPr lang="en-GB" altLang="el-GR" sz="1600" b="1" dirty="0">
                          <a:solidFill>
                            <a:schemeClr val="tx1"/>
                          </a:solidFill>
                          <a:latin typeface="Times New Roman" panose="02020603050405020304" pitchFamily="18" charset="0"/>
                          <a:cs typeface="Times New Roman" panose="02020603050405020304" pitchFamily="18" charset="0"/>
                          <a:sym typeface="+mn-ea"/>
                        </a:rPr>
                        <a:t>}, </a:t>
                      </a:r>
                      <a:r>
                        <a:rPr lang="en-IN" altLang="en-GB" sz="1600" b="1" dirty="0">
                          <a:solidFill>
                            <a:schemeClr val="tx1"/>
                          </a:solidFill>
                          <a:latin typeface="Times New Roman" panose="02020603050405020304" pitchFamily="18" charset="0"/>
                          <a:cs typeface="Times New Roman" panose="02020603050405020304" pitchFamily="18" charset="0"/>
                          <a:sym typeface="+mn-ea"/>
                        </a:rPr>
                        <a:t>b</a:t>
                      </a:r>
                      <a:r>
                        <a:rPr lang="en-GB" altLang="el-GR" sz="1600" b="1" dirty="0">
                          <a:solidFill>
                            <a:schemeClr val="tx1"/>
                          </a:solidFill>
                          <a:latin typeface="Times New Roman" panose="02020603050405020304" pitchFamily="18" charset="0"/>
                          <a:cs typeface="Times New Roman" panose="02020603050405020304" pitchFamily="18" charset="0"/>
                          <a:sym typeface="+mn-ea"/>
                        </a:rPr>
                        <a:t>) = </a:t>
                      </a:r>
                      <a:r>
                        <a:rPr lang="el-GR" altLang="x-none" sz="1600" b="1" dirty="0">
                          <a:solidFill>
                            <a:srgbClr val="FF0000"/>
                          </a:solidFill>
                          <a:latin typeface="Times New Roman" panose="02020603050405020304" pitchFamily="18" charset="0"/>
                          <a:cs typeface="Times New Roman" panose="02020603050405020304" pitchFamily="18" charset="0"/>
                          <a:sym typeface="+mn-ea"/>
                        </a:rPr>
                        <a:t>δ</a:t>
                      </a:r>
                      <a:r>
                        <a:rPr sz="1600" b="1" baseline="-25000" dirty="0">
                          <a:solidFill>
                            <a:srgbClr val="FF0000"/>
                          </a:solidFill>
                          <a:latin typeface="Times New Roman" panose="02020603050405020304" pitchFamily="18" charset="0"/>
                          <a:cs typeface="Times New Roman" panose="02020603050405020304" pitchFamily="18" charset="0"/>
                          <a:sym typeface="+mn-ea"/>
                        </a:rPr>
                        <a:t>N</a:t>
                      </a:r>
                      <a:r>
                        <a:rPr lang="en-GB" altLang="en-US" sz="1600">
                          <a:sym typeface="+mn-ea"/>
                        </a:rPr>
                        <a:t>(q</a:t>
                      </a:r>
                      <a:r>
                        <a:rPr lang="en-IN" altLang="en-GB" sz="1600">
                          <a:sym typeface="+mn-ea"/>
                        </a:rPr>
                        <a:t>4</a:t>
                      </a:r>
                      <a:r>
                        <a:rPr lang="en-GB" altLang="en-US" sz="1600">
                          <a:sym typeface="+mn-ea"/>
                        </a:rPr>
                        <a:t>, </a:t>
                      </a:r>
                      <a:r>
                        <a:rPr lang="en-IN" altLang="en-GB" sz="1600">
                          <a:sym typeface="+mn-ea"/>
                        </a:rPr>
                        <a:t>b</a:t>
                      </a:r>
                      <a:r>
                        <a:rPr lang="en-GB" altLang="en-US" sz="1600">
                          <a:sym typeface="+mn-ea"/>
                        </a:rPr>
                        <a:t>) </a:t>
                      </a:r>
                      <a:r>
                        <a:rPr lang="en-IN" altLang="en-GB" sz="1600">
                          <a:sym typeface="+mn-ea"/>
                        </a:rPr>
                        <a:t>= {q4}</a:t>
                      </a:r>
                      <a:endParaRPr lang="en-GB" altLang="en-US" sz="1600">
                        <a:sym typeface="+mn-ea"/>
                      </a:endParaRPr>
                    </a:p>
                    <a:p>
                      <a:pPr>
                        <a:buNone/>
                      </a:pPr>
                      <a:r>
                        <a:rPr lang="en-GB" altLang="en-US" sz="1600" b="1">
                          <a:solidFill>
                            <a:schemeClr val="tx1"/>
                          </a:solidFill>
                          <a:latin typeface="Arial" panose="020B0604020202020204" pitchFamily="34" charset="0"/>
                          <a:cs typeface="Arial" panose="020B0604020202020204" pitchFamily="34" charset="0"/>
                          <a:sym typeface="+mn-ea"/>
                        </a:rPr>
                        <a:t>Ԑ</a:t>
                      </a:r>
                      <a:r>
                        <a:rPr lang="en-IN" altLang="en-GB" sz="1600" b="1">
                          <a:solidFill>
                            <a:schemeClr val="tx1"/>
                          </a:solidFill>
                          <a:latin typeface="Arial" panose="020B0604020202020204" pitchFamily="34" charset="0"/>
                          <a:cs typeface="Arial" panose="020B0604020202020204" pitchFamily="34" charset="0"/>
                          <a:sym typeface="+mn-ea"/>
                        </a:rPr>
                        <a:t>-Closure(q4)</a:t>
                      </a:r>
                      <a:r>
                        <a:rPr lang="en-GB" altLang="en-US" sz="1600">
                          <a:latin typeface="Arial" panose="020B0604020202020204" pitchFamily="34" charset="0"/>
                          <a:cs typeface="Arial" panose="020B0604020202020204" pitchFamily="34" charset="0"/>
                          <a:sym typeface="+mn-ea"/>
                        </a:rPr>
                        <a:t> = </a:t>
                      </a:r>
                      <a:r>
                        <a:rPr lang="en-GB" altLang="en-US" sz="1600">
                          <a:highlight>
                            <a:srgbClr val="FFFF00"/>
                          </a:highlight>
                          <a:sym typeface="+mn-ea"/>
                        </a:rPr>
                        <a:t>{</a:t>
                      </a:r>
                      <a:r>
                        <a:rPr lang="en-IN" altLang="en-GB" sz="1600">
                          <a:highlight>
                            <a:srgbClr val="FFFF00"/>
                          </a:highlight>
                          <a:sym typeface="+mn-ea"/>
                        </a:rPr>
                        <a:t> q4</a:t>
                      </a:r>
                      <a:r>
                        <a:rPr lang="en-GB" altLang="en-US" sz="1600">
                          <a:highlight>
                            <a:srgbClr val="FFFF00"/>
                          </a:highlight>
                          <a:sym typeface="+mn-ea"/>
                        </a:rPr>
                        <a:t>} </a:t>
                      </a:r>
                      <a:r>
                        <a:rPr lang="en-IN" altLang="en-GB" sz="1600">
                          <a:solidFill>
                            <a:srgbClr val="FF0000"/>
                          </a:solidFill>
                          <a:highlight>
                            <a:srgbClr val="FFFF00"/>
                          </a:highlight>
                          <a:latin typeface="Arial" panose="020B0604020202020204" pitchFamily="34" charset="0"/>
                          <a:cs typeface="Arial" panose="020B0604020202020204" pitchFamily="34" charset="0"/>
                          <a:sym typeface="+mn-ea"/>
                        </a:rPr>
                        <a:t>→ New set for DFA added to </a:t>
                      </a:r>
                      <a:r>
                        <a:rPr lang="en-GB" altLang="en-US" sz="1600">
                          <a:highlight>
                            <a:srgbClr val="FFFF00"/>
                          </a:highlight>
                          <a:sym typeface="+mn-ea"/>
                        </a:rPr>
                        <a:t>Q</a:t>
                      </a:r>
                      <a:r>
                        <a:rPr lang="en-GB" altLang="en-US" sz="1600" baseline="-25000">
                          <a:highlight>
                            <a:srgbClr val="FFFF00"/>
                          </a:highlight>
                          <a:sym typeface="+mn-ea"/>
                        </a:rPr>
                        <a:t>D</a:t>
                      </a:r>
                      <a:endParaRPr lang="en-GB" altLang="en-US" sz="1600" b="1" baseline="-25000">
                        <a:solidFill>
                          <a:srgbClr val="FF0000"/>
                        </a:solidFill>
                        <a:latin typeface="Arial" panose="020B0604020202020204" pitchFamily="34" charset="0"/>
                        <a:cs typeface="Arial" panose="020B0604020202020204" pitchFamily="34" charset="0"/>
                        <a:sym typeface="+mn-ea"/>
                      </a:endParaRPr>
                    </a:p>
                    <a:p>
                      <a:pPr>
                        <a:buNone/>
                      </a:pPr>
                      <a:endParaRPr lang="en-GB" altLang="en-US" sz="1600" b="1" baseline="-25000">
                        <a:solidFill>
                          <a:srgbClr val="FF0000"/>
                        </a:solidFill>
                        <a:latin typeface="Arial" panose="020B0604020202020204" pitchFamily="34" charset="0"/>
                        <a:cs typeface="Arial" panose="020B0604020202020204" pitchFamily="34" charset="0"/>
                        <a:sym typeface="+mn-ea"/>
                      </a:endParaRPr>
                    </a:p>
                  </a:txBody>
                  <a:tcPr/>
                </a:tc>
              </a:tr>
              <a:tr h="1188720">
                <a:tc>
                  <a:txBody>
                    <a:bodyPr/>
                    <a:p>
                      <a:pPr>
                        <a:buNone/>
                      </a:pPr>
                      <a:r>
                        <a:rPr lang="en-IN" altLang="en-GB" sz="1600">
                          <a:sym typeface="+mn-ea"/>
                        </a:rPr>
                        <a:t>{</a:t>
                      </a:r>
                      <a:r>
                        <a:rPr lang="en-IN" altLang="en-GB" sz="1600">
                          <a:latin typeface="Arial" panose="020B0604020202020204" pitchFamily="34" charset="0"/>
                          <a:cs typeface="Arial" panose="020B0604020202020204" pitchFamily="34" charset="0"/>
                          <a:sym typeface="+mn-ea"/>
                        </a:rPr>
                        <a:t>Ø</a:t>
                      </a:r>
                      <a:r>
                        <a:rPr lang="en-IN" altLang="en-GB" sz="1600">
                          <a:sym typeface="+mn-ea"/>
                        </a:rPr>
                        <a:t>}</a:t>
                      </a:r>
                      <a:endParaRPr lang="en-IN" altLang="en-GB" sz="1600"/>
                    </a:p>
                    <a:p>
                      <a:pPr>
                        <a:buNone/>
                      </a:pPr>
                      <a:endParaRPr lang="en-IN" altLang="en-GB" sz="1600" b="1"/>
                    </a:p>
                  </a:txBody>
                  <a:tcPr/>
                </a:tc>
                <a:tc>
                  <a:txBody>
                    <a:bodyPr/>
                    <a:p>
                      <a:pPr>
                        <a:buNone/>
                      </a:pPr>
                      <a:r>
                        <a:rPr lang="en-IN" altLang="en-GB" sz="1600">
                          <a:sym typeface="+mn-ea"/>
                        </a:rPr>
                        <a:t>{</a:t>
                      </a:r>
                      <a:r>
                        <a:rPr lang="en-IN" altLang="en-GB" sz="1600">
                          <a:latin typeface="Arial" panose="020B0604020202020204" pitchFamily="34" charset="0"/>
                          <a:cs typeface="Arial" panose="020B0604020202020204" pitchFamily="34" charset="0"/>
                          <a:sym typeface="+mn-ea"/>
                        </a:rPr>
                        <a:t>Ø</a:t>
                      </a:r>
                      <a:r>
                        <a:rPr lang="en-IN" altLang="en-GB" sz="1600">
                          <a:sym typeface="+mn-ea"/>
                        </a:rPr>
                        <a:t>}</a:t>
                      </a:r>
                      <a:endParaRPr lang="en-IN" altLang="en-GB" sz="1600"/>
                    </a:p>
                    <a:p>
                      <a:pPr>
                        <a:buNone/>
                      </a:pPr>
                      <a:endParaRPr lang="en-IN" altLang="en-GB" sz="1600"/>
                    </a:p>
                  </a:txBody>
                  <a:tcPr/>
                </a:tc>
                <a:tc>
                  <a:txBody>
                    <a:bodyPr/>
                    <a:p>
                      <a:pPr>
                        <a:buNone/>
                      </a:pPr>
                      <a:r>
                        <a:rPr lang="en-IN" altLang="en-GB" sz="1600">
                          <a:sym typeface="+mn-ea"/>
                        </a:rPr>
                        <a:t>{</a:t>
                      </a:r>
                      <a:r>
                        <a:rPr lang="en-IN" altLang="en-GB" sz="1600">
                          <a:latin typeface="Arial" panose="020B0604020202020204" pitchFamily="34" charset="0"/>
                          <a:cs typeface="Arial" panose="020B0604020202020204" pitchFamily="34" charset="0"/>
                          <a:sym typeface="+mn-ea"/>
                        </a:rPr>
                        <a:t>Ø</a:t>
                      </a:r>
                      <a:r>
                        <a:rPr lang="en-IN" altLang="en-GB" sz="1600">
                          <a:sym typeface="+mn-ea"/>
                        </a:rPr>
                        <a:t>}</a:t>
                      </a:r>
                      <a:endParaRPr lang="en-IN" altLang="en-GB" sz="1600"/>
                    </a:p>
                    <a:p>
                      <a:pPr>
                        <a:buNone/>
                      </a:pPr>
                      <a:endParaRPr lang="en-IN" altLang="en-GB" sz="1600"/>
                    </a:p>
                  </a:txBody>
                  <a:tcPr/>
                </a:tc>
                <a:tc>
                  <a:txBody>
                    <a:bodyPr/>
                    <a:p>
                      <a:pPr>
                        <a:buNone/>
                      </a:pPr>
                      <a:r>
                        <a:rPr lang="el-GR" altLang="x-none" sz="1600" b="1" dirty="0">
                          <a:solidFill>
                            <a:srgbClr val="FF0000"/>
                          </a:solidFill>
                          <a:sym typeface="+mn-ea"/>
                        </a:rPr>
                        <a:t>δ</a:t>
                      </a:r>
                      <a:r>
                        <a:rPr sz="1600" b="1" baseline="-25000" dirty="0">
                          <a:solidFill>
                            <a:srgbClr val="FF0000"/>
                          </a:solidFill>
                          <a:sym typeface="+mn-ea"/>
                        </a:rPr>
                        <a:t>D</a:t>
                      </a:r>
                      <a:r>
                        <a:rPr lang="en-GB" altLang="el-GR" sz="1600" b="1" dirty="0">
                          <a:solidFill>
                            <a:schemeClr val="tx1"/>
                          </a:solidFill>
                          <a:latin typeface="Times New Roman" panose="02020603050405020304" pitchFamily="18" charset="0"/>
                          <a:cs typeface="Times New Roman" panose="02020603050405020304" pitchFamily="18" charset="0"/>
                          <a:sym typeface="+mn-ea"/>
                        </a:rPr>
                        <a:t>(</a:t>
                      </a:r>
                      <a:r>
                        <a:rPr lang="en-IN" altLang="en-GB" sz="1600">
                          <a:sym typeface="+mn-ea"/>
                        </a:rPr>
                        <a:t>{</a:t>
                      </a:r>
                      <a:r>
                        <a:rPr lang="en-IN" altLang="en-GB" sz="1600">
                          <a:latin typeface="Arial" panose="020B0604020202020204" pitchFamily="34" charset="0"/>
                          <a:cs typeface="Arial" panose="020B0604020202020204" pitchFamily="34" charset="0"/>
                          <a:sym typeface="+mn-ea"/>
                        </a:rPr>
                        <a:t>Ø</a:t>
                      </a:r>
                      <a:r>
                        <a:rPr lang="en-IN" altLang="en-GB" sz="1600">
                          <a:sym typeface="+mn-ea"/>
                        </a:rPr>
                        <a:t>}</a:t>
                      </a:r>
                      <a:r>
                        <a:rPr lang="en-GB" altLang="el-GR" sz="1600" b="1" dirty="0">
                          <a:solidFill>
                            <a:schemeClr val="tx1"/>
                          </a:solidFill>
                          <a:latin typeface="Times New Roman" panose="02020603050405020304" pitchFamily="18" charset="0"/>
                          <a:cs typeface="Times New Roman" panose="02020603050405020304" pitchFamily="18" charset="0"/>
                          <a:sym typeface="+mn-ea"/>
                        </a:rPr>
                        <a:t>, a) = </a:t>
                      </a:r>
                      <a:r>
                        <a:rPr lang="el-GR" altLang="x-none" sz="1600" b="1" dirty="0">
                          <a:solidFill>
                            <a:srgbClr val="FF0000"/>
                          </a:solidFill>
                          <a:latin typeface="Times New Roman" panose="02020603050405020304" pitchFamily="18" charset="0"/>
                          <a:cs typeface="Times New Roman" panose="02020603050405020304" pitchFamily="18" charset="0"/>
                          <a:sym typeface="+mn-ea"/>
                        </a:rPr>
                        <a:t>δ</a:t>
                      </a:r>
                      <a:r>
                        <a:rPr sz="1600" b="1" baseline="-25000" dirty="0">
                          <a:solidFill>
                            <a:srgbClr val="FF0000"/>
                          </a:solidFill>
                          <a:latin typeface="Times New Roman" panose="02020603050405020304" pitchFamily="18" charset="0"/>
                          <a:cs typeface="Times New Roman" panose="02020603050405020304" pitchFamily="18" charset="0"/>
                          <a:sym typeface="+mn-ea"/>
                        </a:rPr>
                        <a:t>N</a:t>
                      </a:r>
                      <a:r>
                        <a:rPr lang="en-GB" altLang="en-US" sz="1600">
                          <a:sym typeface="+mn-ea"/>
                        </a:rPr>
                        <a:t>(</a:t>
                      </a:r>
                      <a:r>
                        <a:rPr lang="en-IN" altLang="en-GB" sz="1600">
                          <a:sym typeface="+mn-ea"/>
                        </a:rPr>
                        <a:t>{</a:t>
                      </a:r>
                      <a:r>
                        <a:rPr lang="en-IN" altLang="en-GB" sz="1600">
                          <a:latin typeface="Arial" panose="020B0604020202020204" pitchFamily="34" charset="0"/>
                          <a:cs typeface="Arial" panose="020B0604020202020204" pitchFamily="34" charset="0"/>
                          <a:sym typeface="+mn-ea"/>
                        </a:rPr>
                        <a:t>Ø</a:t>
                      </a:r>
                      <a:r>
                        <a:rPr lang="en-IN" altLang="en-GB" sz="1600">
                          <a:sym typeface="+mn-ea"/>
                        </a:rPr>
                        <a:t>}</a:t>
                      </a:r>
                      <a:r>
                        <a:rPr lang="en-GB" altLang="en-US" sz="1600">
                          <a:sym typeface="+mn-ea"/>
                        </a:rPr>
                        <a:t>, </a:t>
                      </a:r>
                      <a:r>
                        <a:rPr lang="en-IN" altLang="en-GB" sz="1600">
                          <a:sym typeface="+mn-ea"/>
                        </a:rPr>
                        <a:t>a</a:t>
                      </a:r>
                      <a:r>
                        <a:rPr lang="en-GB" altLang="en-US" sz="1600">
                          <a:sym typeface="+mn-ea"/>
                        </a:rPr>
                        <a:t>) </a:t>
                      </a:r>
                      <a:r>
                        <a:rPr lang="en-GB" altLang="en-US" sz="1600">
                          <a:latin typeface="Arial" panose="020B0604020202020204" pitchFamily="34" charset="0"/>
                          <a:cs typeface="Arial" panose="020B0604020202020204" pitchFamily="34" charset="0"/>
                          <a:sym typeface="+mn-ea"/>
                        </a:rPr>
                        <a:t>= </a:t>
                      </a:r>
                      <a:r>
                        <a:rPr lang="en-GB" altLang="en-US" sz="1600">
                          <a:sym typeface="+mn-ea"/>
                        </a:rPr>
                        <a:t>{</a:t>
                      </a:r>
                      <a:r>
                        <a:rPr lang="en-GB" altLang="en-US" sz="1600">
                          <a:latin typeface="Arial" panose="020B0604020202020204" pitchFamily="34" charset="0"/>
                          <a:cs typeface="Arial" panose="020B0604020202020204" pitchFamily="34" charset="0"/>
                          <a:sym typeface="+mn-ea"/>
                        </a:rPr>
                        <a:t>Ø</a:t>
                      </a:r>
                      <a:r>
                        <a:rPr lang="en-GB" altLang="en-US" sz="1600">
                          <a:sym typeface="+mn-ea"/>
                        </a:rPr>
                        <a:t>}  </a:t>
                      </a:r>
                      <a:r>
                        <a:rPr lang="en-GB" altLang="en-US" sz="1600">
                          <a:latin typeface="Arial" panose="020B0604020202020204" pitchFamily="34" charset="0"/>
                          <a:cs typeface="Arial" panose="020B0604020202020204" pitchFamily="34" charset="0"/>
                          <a:sym typeface="+mn-ea"/>
                        </a:rPr>
                        <a:t>  </a:t>
                      </a:r>
                      <a:endParaRPr lang="en-GB" altLang="en-US" sz="1600">
                        <a:latin typeface="Arial" panose="020B0604020202020204" pitchFamily="34" charset="0"/>
                        <a:cs typeface="Arial" panose="020B0604020202020204" pitchFamily="34" charset="0"/>
                        <a:sym typeface="+mn-ea"/>
                      </a:endParaRPr>
                    </a:p>
                    <a:p>
                      <a:pPr>
                        <a:buNone/>
                      </a:pPr>
                      <a:r>
                        <a:rPr lang="en-GB" altLang="en-US" sz="1600" b="1">
                          <a:solidFill>
                            <a:schemeClr val="tx1"/>
                          </a:solidFill>
                          <a:latin typeface="Arial" panose="020B0604020202020204" pitchFamily="34" charset="0"/>
                          <a:cs typeface="Arial" panose="020B0604020202020204" pitchFamily="34" charset="0"/>
                          <a:sym typeface="+mn-ea"/>
                        </a:rPr>
                        <a:t>Ԑ</a:t>
                      </a:r>
                      <a:r>
                        <a:rPr lang="en-IN" altLang="en-GB" sz="1600" b="1">
                          <a:solidFill>
                            <a:schemeClr val="tx1"/>
                          </a:solidFill>
                          <a:latin typeface="Arial" panose="020B0604020202020204" pitchFamily="34" charset="0"/>
                          <a:cs typeface="Arial" panose="020B0604020202020204" pitchFamily="34" charset="0"/>
                          <a:sym typeface="+mn-ea"/>
                        </a:rPr>
                        <a:t>-Closure(Ø) = {Ø} Not ADDED to </a:t>
                      </a:r>
                      <a:r>
                        <a:rPr lang="en-GB" altLang="en-US" sz="1600" b="1">
                          <a:solidFill>
                            <a:srgbClr val="FF0000"/>
                          </a:solidFill>
                          <a:sym typeface="+mn-ea"/>
                        </a:rPr>
                        <a:t>Q</a:t>
                      </a:r>
                      <a:r>
                        <a:rPr lang="en-GB" altLang="en-US" sz="1600" b="1" baseline="-25000">
                          <a:solidFill>
                            <a:srgbClr val="FF0000"/>
                          </a:solidFill>
                          <a:sym typeface="+mn-ea"/>
                        </a:rPr>
                        <a:t>D</a:t>
                      </a:r>
                      <a:endParaRPr lang="en-GB" altLang="en-US" sz="1600" b="1" baseline="-25000">
                        <a:solidFill>
                          <a:srgbClr val="FF0000"/>
                        </a:solidFill>
                        <a:sym typeface="+mn-ea"/>
                      </a:endParaRPr>
                    </a:p>
                    <a:p>
                      <a:pPr>
                        <a:buNone/>
                      </a:pPr>
                      <a:r>
                        <a:rPr lang="el-GR" altLang="x-none" sz="1600" b="1" dirty="0">
                          <a:solidFill>
                            <a:srgbClr val="FF0000"/>
                          </a:solidFill>
                          <a:sym typeface="+mn-ea"/>
                        </a:rPr>
                        <a:t>δ</a:t>
                      </a:r>
                      <a:r>
                        <a:rPr sz="1600" b="1" baseline="-25000" dirty="0">
                          <a:solidFill>
                            <a:srgbClr val="FF0000"/>
                          </a:solidFill>
                          <a:sym typeface="+mn-ea"/>
                        </a:rPr>
                        <a:t>D</a:t>
                      </a:r>
                      <a:r>
                        <a:rPr lang="en-GB" altLang="el-GR" sz="1600" b="1" dirty="0">
                          <a:solidFill>
                            <a:schemeClr val="tx1"/>
                          </a:solidFill>
                          <a:latin typeface="Times New Roman" panose="02020603050405020304" pitchFamily="18" charset="0"/>
                          <a:cs typeface="Times New Roman" panose="02020603050405020304" pitchFamily="18" charset="0"/>
                          <a:sym typeface="+mn-ea"/>
                        </a:rPr>
                        <a:t>({</a:t>
                      </a:r>
                      <a:r>
                        <a:rPr lang="en-GB" altLang="el-GR" sz="1600" b="1" dirty="0">
                          <a:solidFill>
                            <a:schemeClr val="tx1"/>
                          </a:solidFill>
                          <a:latin typeface="Arial" panose="020B0604020202020204" pitchFamily="34" charset="0"/>
                          <a:cs typeface="Arial" panose="020B0604020202020204" pitchFamily="34" charset="0"/>
                          <a:sym typeface="+mn-ea"/>
                        </a:rPr>
                        <a:t>Ø</a:t>
                      </a:r>
                      <a:r>
                        <a:rPr lang="en-GB" altLang="el-GR" sz="1600" b="1" dirty="0">
                          <a:solidFill>
                            <a:schemeClr val="tx1"/>
                          </a:solidFill>
                          <a:latin typeface="Times New Roman" panose="02020603050405020304" pitchFamily="18" charset="0"/>
                          <a:cs typeface="Times New Roman" panose="02020603050405020304" pitchFamily="18" charset="0"/>
                          <a:sym typeface="+mn-ea"/>
                        </a:rPr>
                        <a:t>}, </a:t>
                      </a:r>
                      <a:r>
                        <a:rPr lang="en-IN" altLang="en-GB" sz="1600" b="1" dirty="0">
                          <a:solidFill>
                            <a:schemeClr val="tx1"/>
                          </a:solidFill>
                          <a:latin typeface="Times New Roman" panose="02020603050405020304" pitchFamily="18" charset="0"/>
                          <a:cs typeface="Times New Roman" panose="02020603050405020304" pitchFamily="18" charset="0"/>
                          <a:sym typeface="+mn-ea"/>
                        </a:rPr>
                        <a:t>b</a:t>
                      </a:r>
                      <a:r>
                        <a:rPr lang="en-GB" altLang="el-GR" sz="1600" b="1" dirty="0">
                          <a:solidFill>
                            <a:schemeClr val="tx1"/>
                          </a:solidFill>
                          <a:latin typeface="Times New Roman" panose="02020603050405020304" pitchFamily="18" charset="0"/>
                          <a:cs typeface="Times New Roman" panose="02020603050405020304" pitchFamily="18" charset="0"/>
                          <a:sym typeface="+mn-ea"/>
                        </a:rPr>
                        <a:t>) = </a:t>
                      </a:r>
                      <a:r>
                        <a:rPr lang="el-GR" altLang="x-none" sz="1600" b="1" dirty="0">
                          <a:solidFill>
                            <a:srgbClr val="FF0000"/>
                          </a:solidFill>
                          <a:latin typeface="Times New Roman" panose="02020603050405020304" pitchFamily="18" charset="0"/>
                          <a:cs typeface="Times New Roman" panose="02020603050405020304" pitchFamily="18" charset="0"/>
                          <a:sym typeface="+mn-ea"/>
                        </a:rPr>
                        <a:t>δ</a:t>
                      </a:r>
                      <a:r>
                        <a:rPr sz="1600" b="1" baseline="-25000" dirty="0">
                          <a:solidFill>
                            <a:srgbClr val="FF0000"/>
                          </a:solidFill>
                          <a:latin typeface="Times New Roman" panose="02020603050405020304" pitchFamily="18" charset="0"/>
                          <a:cs typeface="Times New Roman" panose="02020603050405020304" pitchFamily="18" charset="0"/>
                          <a:sym typeface="+mn-ea"/>
                        </a:rPr>
                        <a:t>N</a:t>
                      </a:r>
                      <a:r>
                        <a:rPr lang="en-GB" altLang="en-US" sz="1600">
                          <a:sym typeface="+mn-ea"/>
                        </a:rPr>
                        <a:t>(</a:t>
                      </a:r>
                      <a:r>
                        <a:rPr lang="en-IN" altLang="en-GB" sz="1600">
                          <a:sym typeface="+mn-ea"/>
                        </a:rPr>
                        <a:t>{</a:t>
                      </a:r>
                      <a:r>
                        <a:rPr lang="en-GB" altLang="en-US" sz="1600">
                          <a:latin typeface="Arial" panose="020B0604020202020204" pitchFamily="34" charset="0"/>
                          <a:cs typeface="Arial" panose="020B0604020202020204" pitchFamily="34" charset="0"/>
                          <a:sym typeface="+mn-ea"/>
                        </a:rPr>
                        <a:t>Ø</a:t>
                      </a:r>
                      <a:r>
                        <a:rPr lang="en-IN" altLang="en-GB" sz="1600">
                          <a:latin typeface="Arial" panose="020B0604020202020204" pitchFamily="34" charset="0"/>
                          <a:cs typeface="Arial" panose="020B0604020202020204" pitchFamily="34" charset="0"/>
                          <a:sym typeface="+mn-ea"/>
                        </a:rPr>
                        <a:t>}</a:t>
                      </a:r>
                      <a:r>
                        <a:rPr lang="en-GB" altLang="en-US" sz="1600">
                          <a:sym typeface="+mn-ea"/>
                        </a:rPr>
                        <a:t> </a:t>
                      </a:r>
                      <a:r>
                        <a:rPr lang="en-IN" altLang="en-GB" sz="1600">
                          <a:sym typeface="+mn-ea"/>
                        </a:rPr>
                        <a:t>b</a:t>
                      </a:r>
                      <a:r>
                        <a:rPr lang="en-GB" altLang="en-US" sz="1600">
                          <a:sym typeface="+mn-ea"/>
                        </a:rPr>
                        <a:t>) </a:t>
                      </a:r>
                      <a:r>
                        <a:rPr lang="en-IN" altLang="en-GB" sz="1600">
                          <a:sym typeface="+mn-ea"/>
                        </a:rPr>
                        <a:t>= {</a:t>
                      </a:r>
                      <a:r>
                        <a:rPr lang="en-IN" altLang="en-GB" sz="1600">
                          <a:latin typeface="Arial" panose="020B0604020202020204" pitchFamily="34" charset="0"/>
                          <a:cs typeface="Arial" panose="020B0604020202020204" pitchFamily="34" charset="0"/>
                          <a:sym typeface="+mn-ea"/>
                        </a:rPr>
                        <a:t>Ø</a:t>
                      </a:r>
                      <a:r>
                        <a:rPr lang="en-IN" altLang="en-GB" sz="1600">
                          <a:sym typeface="+mn-ea"/>
                        </a:rPr>
                        <a:t>}</a:t>
                      </a:r>
                      <a:endParaRPr lang="en-GB" altLang="en-US" sz="1600">
                        <a:sym typeface="+mn-ea"/>
                      </a:endParaRPr>
                    </a:p>
                    <a:p>
                      <a:pPr>
                        <a:buNone/>
                      </a:pPr>
                      <a:r>
                        <a:rPr lang="en-GB" altLang="en-US" sz="1600" b="1">
                          <a:solidFill>
                            <a:schemeClr val="tx1"/>
                          </a:solidFill>
                          <a:latin typeface="Arial" panose="020B0604020202020204" pitchFamily="34" charset="0"/>
                          <a:cs typeface="Arial" panose="020B0604020202020204" pitchFamily="34" charset="0"/>
                          <a:sym typeface="+mn-ea"/>
                        </a:rPr>
                        <a:t>Ԑ</a:t>
                      </a:r>
                      <a:r>
                        <a:rPr lang="en-IN" altLang="en-GB" sz="1600" b="1">
                          <a:solidFill>
                            <a:schemeClr val="tx1"/>
                          </a:solidFill>
                          <a:latin typeface="Arial" panose="020B0604020202020204" pitchFamily="34" charset="0"/>
                          <a:cs typeface="Arial" panose="020B0604020202020204" pitchFamily="34" charset="0"/>
                          <a:sym typeface="+mn-ea"/>
                        </a:rPr>
                        <a:t>-Closure(q4)</a:t>
                      </a:r>
                      <a:r>
                        <a:rPr lang="en-GB" altLang="en-US" sz="1600">
                          <a:latin typeface="Arial" panose="020B0604020202020204" pitchFamily="34" charset="0"/>
                          <a:cs typeface="Arial" panose="020B0604020202020204" pitchFamily="34" charset="0"/>
                          <a:sym typeface="+mn-ea"/>
                        </a:rPr>
                        <a:t> = </a:t>
                      </a:r>
                      <a:r>
                        <a:rPr lang="en-IN" altLang="en-GB" sz="1600" b="1">
                          <a:solidFill>
                            <a:schemeClr val="tx1"/>
                          </a:solidFill>
                          <a:latin typeface="Arial" panose="020B0604020202020204" pitchFamily="34" charset="0"/>
                          <a:cs typeface="Arial" panose="020B0604020202020204" pitchFamily="34" charset="0"/>
                          <a:sym typeface="+mn-ea"/>
                        </a:rPr>
                        <a:t>{Ø} Not ADDED to </a:t>
                      </a:r>
                      <a:r>
                        <a:rPr lang="en-GB" altLang="en-US" sz="1600" b="1">
                          <a:solidFill>
                            <a:srgbClr val="FF0000"/>
                          </a:solidFill>
                          <a:sym typeface="+mn-ea"/>
                        </a:rPr>
                        <a:t>Q</a:t>
                      </a:r>
                      <a:r>
                        <a:rPr lang="en-GB" altLang="en-US" sz="1600" b="1" baseline="-25000">
                          <a:solidFill>
                            <a:srgbClr val="FF0000"/>
                          </a:solidFill>
                          <a:sym typeface="+mn-ea"/>
                        </a:rPr>
                        <a:t>D</a:t>
                      </a:r>
                      <a:endParaRPr lang="en-GB" altLang="en-US" sz="1600" b="1" baseline="-25000">
                        <a:solidFill>
                          <a:srgbClr val="FF0000"/>
                        </a:solidFill>
                        <a:sym typeface="+mn-ea"/>
                      </a:endParaRPr>
                    </a:p>
                    <a:p>
                      <a:pPr>
                        <a:buNone/>
                      </a:pPr>
                      <a:endParaRPr lang="en-GB" altLang="en-US" sz="1600" b="1" baseline="-25000">
                        <a:solidFill>
                          <a:srgbClr val="FF0000"/>
                        </a:solidFill>
                        <a:latin typeface="Arial" panose="020B0604020202020204" pitchFamily="34" charset="0"/>
                        <a:cs typeface="Arial" panose="020B0604020202020204" pitchFamily="34" charset="0"/>
                        <a:sym typeface="+mn-ea"/>
                      </a:endParaRPr>
                    </a:p>
                  </a:txBody>
                  <a:tcPr/>
                </a:tc>
              </a:tr>
              <a:tr h="485775">
                <a:tc gridSpan="4">
                  <a:txBody>
                    <a:bodyPr/>
                    <a:p>
                      <a:pPr>
                        <a:buNone/>
                      </a:pPr>
                      <a:r>
                        <a:rPr lang="en-IN" altLang="en-GB" sz="1600"/>
                        <a:t>       </a:t>
                      </a:r>
                      <a:r>
                        <a:rPr lang="en-IN" altLang="el-GR" sz="1600" b="1" dirty="0">
                          <a:solidFill>
                            <a:srgbClr val="FF0000"/>
                          </a:solidFill>
                          <a:sym typeface="+mn-ea"/>
                        </a:rPr>
                        <a:t>          </a:t>
                      </a:r>
                      <a:r>
                        <a:rPr lang="en-IN" altLang="el-GR" sz="2400" b="1" dirty="0">
                          <a:solidFill>
                            <a:srgbClr val="FF0000"/>
                          </a:solidFill>
                          <a:sym typeface="+mn-ea"/>
                        </a:rPr>
                        <a:t> </a:t>
                      </a:r>
                      <a:r>
                        <a:rPr lang="en-IN" altLang="el-GR" sz="1600" b="1" dirty="0">
                          <a:solidFill>
                            <a:srgbClr val="FF0000"/>
                          </a:solidFill>
                          <a:sym typeface="+mn-ea"/>
                        </a:rPr>
                        <a:t> </a:t>
                      </a:r>
                      <a:r>
                        <a:rPr lang="el-GR" altLang="x-none" sz="1600" b="1" dirty="0">
                          <a:solidFill>
                            <a:srgbClr val="FF0000"/>
                          </a:solidFill>
                          <a:sym typeface="+mn-ea"/>
                        </a:rPr>
                        <a:t>δ</a:t>
                      </a:r>
                      <a:r>
                        <a:rPr sz="1600" b="1" baseline="-25000" dirty="0">
                          <a:solidFill>
                            <a:srgbClr val="FF0000"/>
                          </a:solidFill>
                          <a:sym typeface="+mn-ea"/>
                        </a:rPr>
                        <a:t>D</a:t>
                      </a:r>
                      <a:r>
                        <a:rPr sz="1600" dirty="0">
                          <a:sym typeface="+mn-ea"/>
                        </a:rPr>
                        <a:t> for all DFA state in </a:t>
                      </a:r>
                      <a:r>
                        <a:rPr sz="1600" dirty="0">
                          <a:solidFill>
                            <a:srgbClr val="FF0000"/>
                          </a:solidFill>
                          <a:sym typeface="+mn-ea"/>
                        </a:rPr>
                        <a:t>Q</a:t>
                      </a:r>
                      <a:r>
                        <a:rPr sz="1600" baseline="-25000" dirty="0">
                          <a:solidFill>
                            <a:srgbClr val="FF0000"/>
                          </a:solidFill>
                          <a:sym typeface="+mn-ea"/>
                        </a:rPr>
                        <a:t>D</a:t>
                      </a:r>
                      <a:r>
                        <a:rPr sz="1600" dirty="0">
                          <a:sym typeface="+mn-ea"/>
                        </a:rPr>
                        <a:t> </a:t>
                      </a:r>
                      <a:r>
                        <a:rPr lang="en-IN" sz="1600" dirty="0">
                          <a:sym typeface="+mn-ea"/>
                        </a:rPr>
                        <a:t>have been</a:t>
                      </a:r>
                      <a:r>
                        <a:rPr sz="1600" dirty="0">
                          <a:sym typeface="+mn-ea"/>
                        </a:rPr>
                        <a:t> defined</a:t>
                      </a:r>
                      <a:endParaRPr lang="en-IN" altLang="en-GB" sz="1600"/>
                    </a:p>
                  </a:txBody>
                  <a:tcPr/>
                </a:tc>
                <a:tc hMerge="1">
                  <a:tcPr/>
                </a:tc>
                <a:tc hMerge="1">
                  <a:tcPr/>
                </a:tc>
                <a:tc hMerge="1">
                  <a:tcPr/>
                </a:tc>
              </a:tr>
            </a:tbl>
          </a:graphicData>
        </a:graphic>
      </p:graphicFrame>
      <p:sp>
        <p:nvSpPr>
          <p:cNvPr id="7" name="Text Box 6"/>
          <p:cNvSpPr txBox="1"/>
          <p:nvPr/>
        </p:nvSpPr>
        <p:spPr>
          <a:xfrm>
            <a:off x="542290" y="43815"/>
            <a:ext cx="7704455" cy="579755"/>
          </a:xfrm>
          <a:prstGeom prst="rect">
            <a:avLst/>
          </a:prstGeom>
          <a:noFill/>
        </p:spPr>
        <p:txBody>
          <a:bodyPr wrap="square" rtlCol="0">
            <a:noAutofit/>
          </a:bodyPr>
          <a:p>
            <a:r>
              <a:rPr lang="en-GB" altLang="en-US" sz="2400"/>
              <a:t>Q</a:t>
            </a:r>
            <a:r>
              <a:rPr lang="en-GB" altLang="en-US" sz="2400" baseline="-25000"/>
              <a:t>D</a:t>
            </a:r>
            <a:r>
              <a:rPr lang="en-GB" altLang="en-US" sz="2400"/>
              <a:t> = {</a:t>
            </a:r>
            <a:r>
              <a:rPr lang="en-IN" altLang="en-US" sz="2400">
                <a:cs typeface="Arial" panose="020B0604020202020204" pitchFamily="34" charset="0"/>
                <a:sym typeface="+mn-ea"/>
              </a:rPr>
              <a:t> { q0, q1, q3 }, {q2}, {q4}, {</a:t>
            </a:r>
            <a:r>
              <a:rPr lang="en-IN" altLang="en-US" sz="2400">
                <a:cs typeface="Arial" panose="020B0604020202020204" pitchFamily="34" charset="0"/>
                <a:sym typeface="+mn-ea"/>
              </a:rPr>
              <a:t>Ø} </a:t>
            </a:r>
            <a:r>
              <a:rPr lang="en-GB" altLang="en-US" sz="2400"/>
              <a:t>}</a:t>
            </a:r>
            <a:endParaRPr lang="en-GB" altLang="en-US" sz="2400"/>
          </a:p>
        </p:txBody>
      </p:sp>
      <p:sp>
        <p:nvSpPr>
          <p:cNvPr id="2" name="Footer Placeholder 1"/>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 Box 4"/>
          <p:cNvSpPr txBox="1"/>
          <p:nvPr/>
        </p:nvSpPr>
        <p:spPr>
          <a:xfrm>
            <a:off x="570230" y="609600"/>
            <a:ext cx="6210935" cy="2231390"/>
          </a:xfrm>
          <a:prstGeom prst="rect">
            <a:avLst/>
          </a:prstGeom>
          <a:noFill/>
        </p:spPr>
        <p:txBody>
          <a:bodyPr wrap="square" rtlCol="0">
            <a:noAutofit/>
          </a:bodyPr>
          <a:p>
            <a:r>
              <a:rPr lang="en-IN" altLang="en-GB" sz="2000"/>
              <a:t>We can rename the states and write the Final DFA diagram.</a:t>
            </a:r>
            <a:endParaRPr lang="en-IN" altLang="en-GB" sz="2000"/>
          </a:p>
          <a:p>
            <a:r>
              <a:rPr lang="en-GB" altLang="en-US" sz="2000"/>
              <a:t>Q</a:t>
            </a:r>
            <a:r>
              <a:rPr lang="en-GB" altLang="en-US" sz="2000" baseline="-25000"/>
              <a:t>D</a:t>
            </a:r>
            <a:r>
              <a:rPr lang="en-GB" altLang="en-US" sz="2000"/>
              <a:t> = { {q0</a:t>
            </a:r>
            <a:r>
              <a:rPr lang="en-IN" altLang="en-GB" sz="2000"/>
              <a:t>,q1,q3</a:t>
            </a:r>
            <a:r>
              <a:rPr lang="en-GB" altLang="en-US" sz="2000"/>
              <a:t>}</a:t>
            </a:r>
            <a:r>
              <a:rPr lang="en-IN" altLang="en-GB" sz="2000"/>
              <a:t> </a:t>
            </a:r>
            <a:r>
              <a:rPr lang="en-IN" altLang="en-GB" sz="2000">
                <a:cs typeface="Arial" panose="020B0604020202020204" pitchFamily="34" charset="0"/>
              </a:rPr>
              <a:t>→ </a:t>
            </a:r>
            <a:r>
              <a:rPr lang="en-IN" altLang="en-GB" sz="2000" b="1">
                <a:solidFill>
                  <a:srgbClr val="FF0000"/>
                </a:solidFill>
                <a:cs typeface="Arial" panose="020B0604020202020204" pitchFamily="34" charset="0"/>
              </a:rPr>
              <a:t>A</a:t>
            </a:r>
            <a:r>
              <a:rPr lang="en-GB" altLang="en-US" sz="2000" b="1">
                <a:solidFill>
                  <a:srgbClr val="FF0000"/>
                </a:solidFill>
              </a:rPr>
              <a:t>,</a:t>
            </a:r>
            <a:r>
              <a:rPr lang="en-GB" altLang="en-US" sz="2000"/>
              <a:t> </a:t>
            </a:r>
            <a:endParaRPr lang="en-GB" altLang="en-US" sz="2000"/>
          </a:p>
          <a:p>
            <a:r>
              <a:rPr lang="en-GB" altLang="en-US" sz="2000"/>
              <a:t> </a:t>
            </a:r>
            <a:r>
              <a:rPr lang="en-IN" altLang="en-GB" sz="2000"/>
              <a:t>          </a:t>
            </a:r>
            <a:r>
              <a:rPr lang="en-GB" altLang="en-US" sz="2000"/>
              <a:t>{q</a:t>
            </a:r>
            <a:r>
              <a:rPr lang="en-IN" altLang="en-GB" sz="2000"/>
              <a:t>2</a:t>
            </a:r>
            <a:r>
              <a:rPr lang="en-GB" altLang="en-US" sz="2000"/>
              <a:t>}</a:t>
            </a:r>
            <a:r>
              <a:rPr lang="en-IN" altLang="en-GB" sz="2000"/>
              <a:t> </a:t>
            </a:r>
            <a:r>
              <a:rPr lang="en-IN" altLang="en-GB" sz="2000">
                <a:cs typeface="Arial" panose="020B0604020202020204" pitchFamily="34" charset="0"/>
              </a:rPr>
              <a:t>→ </a:t>
            </a:r>
            <a:r>
              <a:rPr lang="en-IN" altLang="en-GB" sz="2000" b="1">
                <a:solidFill>
                  <a:srgbClr val="FF0000"/>
                </a:solidFill>
                <a:cs typeface="Arial" panose="020B0604020202020204" pitchFamily="34" charset="0"/>
              </a:rPr>
              <a:t>B</a:t>
            </a:r>
            <a:r>
              <a:rPr lang="en-GB" altLang="en-US" sz="2000"/>
              <a:t>, </a:t>
            </a:r>
            <a:endParaRPr lang="en-GB" altLang="en-US" sz="2000"/>
          </a:p>
          <a:p>
            <a:r>
              <a:rPr lang="en-GB" altLang="en-US" sz="2000"/>
              <a:t> </a:t>
            </a:r>
            <a:r>
              <a:rPr lang="en-IN" altLang="en-GB" sz="2000"/>
              <a:t>          </a:t>
            </a:r>
            <a:r>
              <a:rPr lang="en-GB" altLang="en-US" sz="2000"/>
              <a:t>{q</a:t>
            </a:r>
            <a:r>
              <a:rPr lang="en-IN" altLang="en-GB" sz="2000"/>
              <a:t>4</a:t>
            </a:r>
            <a:r>
              <a:rPr lang="en-GB" altLang="en-US" sz="2000"/>
              <a:t>}</a:t>
            </a:r>
            <a:r>
              <a:rPr lang="en-GB" altLang="en-US" sz="2000">
                <a:cs typeface="Arial" panose="020B0604020202020204" pitchFamily="34" charset="0"/>
              </a:rPr>
              <a:t>→</a:t>
            </a:r>
            <a:r>
              <a:rPr lang="en-IN" altLang="en-GB" sz="2000">
                <a:cs typeface="Arial" panose="020B0604020202020204" pitchFamily="34" charset="0"/>
              </a:rPr>
              <a:t> </a:t>
            </a:r>
            <a:r>
              <a:rPr lang="en-IN" altLang="en-GB" sz="2000" b="1">
                <a:solidFill>
                  <a:srgbClr val="FF0000"/>
                </a:solidFill>
                <a:cs typeface="Arial" panose="020B0604020202020204" pitchFamily="34" charset="0"/>
              </a:rPr>
              <a:t>C,</a:t>
            </a:r>
            <a:r>
              <a:rPr lang="en-GB" altLang="en-US" sz="2000"/>
              <a:t> </a:t>
            </a:r>
            <a:endParaRPr lang="en-GB" altLang="en-US" sz="2000"/>
          </a:p>
          <a:p>
            <a:r>
              <a:rPr lang="en-GB" altLang="en-US" sz="2000"/>
              <a:t> </a:t>
            </a:r>
            <a:r>
              <a:rPr lang="en-IN" altLang="en-GB" sz="2000"/>
              <a:t>          </a:t>
            </a:r>
            <a:r>
              <a:rPr lang="en-GB" altLang="en-US" sz="2000"/>
              <a:t>{</a:t>
            </a:r>
            <a:r>
              <a:rPr lang="en-GB" altLang="en-US" sz="2000">
                <a:cs typeface="Arial" panose="020B0604020202020204" pitchFamily="34" charset="0"/>
              </a:rPr>
              <a:t>Ø</a:t>
            </a:r>
            <a:r>
              <a:rPr lang="en-GB" altLang="en-US" sz="2000"/>
              <a:t> }</a:t>
            </a:r>
            <a:r>
              <a:rPr lang="en-GB" altLang="en-US" sz="2000">
                <a:cs typeface="Arial" panose="020B0604020202020204" pitchFamily="34" charset="0"/>
              </a:rPr>
              <a:t>→</a:t>
            </a:r>
            <a:r>
              <a:rPr lang="en-IN" altLang="en-GB" sz="2000">
                <a:cs typeface="Arial" panose="020B0604020202020204" pitchFamily="34" charset="0"/>
              </a:rPr>
              <a:t> </a:t>
            </a:r>
            <a:r>
              <a:rPr lang="en-IN" altLang="en-GB" sz="2000" b="1">
                <a:solidFill>
                  <a:srgbClr val="FF0000"/>
                </a:solidFill>
                <a:cs typeface="Arial" panose="020B0604020202020204" pitchFamily="34" charset="0"/>
              </a:rPr>
              <a:t>D</a:t>
            </a:r>
            <a:endParaRPr lang="en-IN" altLang="en-GB" sz="2000">
              <a:cs typeface="Arial" panose="020B0604020202020204" pitchFamily="34" charset="0"/>
            </a:endParaRPr>
          </a:p>
          <a:p>
            <a:r>
              <a:rPr lang="en-IN" altLang="en-GB" sz="2000">
                <a:cs typeface="Arial" panose="020B0604020202020204" pitchFamily="34" charset="0"/>
              </a:rPr>
              <a:t>         </a:t>
            </a:r>
            <a:r>
              <a:rPr lang="en-GB" altLang="en-US" sz="2000"/>
              <a:t>}</a:t>
            </a:r>
            <a:endParaRPr lang="en-GB" altLang="en-US" sz="2000"/>
          </a:p>
        </p:txBody>
      </p:sp>
      <p:pic>
        <p:nvPicPr>
          <p:cNvPr id="9" name="Picture 8" descr="IMG_20240410_153522"/>
          <p:cNvPicPr>
            <a:picLocks noChangeAspect="1"/>
          </p:cNvPicPr>
          <p:nvPr/>
        </p:nvPicPr>
        <p:blipFill>
          <a:blip r:embed="rId1"/>
          <a:stretch>
            <a:fillRect/>
          </a:stretch>
        </p:blipFill>
        <p:spPr>
          <a:xfrm>
            <a:off x="573405" y="3141345"/>
            <a:ext cx="6980555" cy="3134995"/>
          </a:xfrm>
          <a:prstGeom prst="rect">
            <a:avLst/>
          </a:prstGeom>
        </p:spPr>
      </p:pic>
      <p:sp>
        <p:nvSpPr>
          <p:cNvPr id="2" name="Footer Placeholder 1"/>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122238"/>
            <a:ext cx="8229600" cy="1143000"/>
          </a:xfrm>
        </p:spPr>
        <p:txBody>
          <a:bodyPr/>
          <a:p>
            <a:r>
              <a:rPr lang="en-IN" altLang="en-US"/>
              <a:t>Excecise problems on </a:t>
            </a:r>
            <a:r>
              <a:rPr lang="en-IN" altLang="en-US">
                <a:latin typeface="Arial" panose="020B0604020202020204" pitchFamily="34" charset="0"/>
                <a:cs typeface="Arial" panose="020B0604020202020204" pitchFamily="34" charset="0"/>
              </a:rPr>
              <a:t>Ԑ-NFA</a:t>
            </a:r>
            <a:endParaRPr lang="en-IN" altLang="en-US">
              <a:latin typeface="Arial" panose="020B0604020202020204" pitchFamily="34" charset="0"/>
              <a:cs typeface="Arial" panose="020B0604020202020204" pitchFamily="34" charset="0"/>
            </a:endParaRPr>
          </a:p>
        </p:txBody>
      </p:sp>
      <p:sp>
        <p:nvSpPr>
          <p:cNvPr id="4" name="Text Box 3"/>
          <p:cNvSpPr txBox="1"/>
          <p:nvPr/>
        </p:nvSpPr>
        <p:spPr>
          <a:xfrm>
            <a:off x="647065" y="1237615"/>
            <a:ext cx="4567555" cy="3141980"/>
          </a:xfrm>
          <a:prstGeom prst="rect">
            <a:avLst/>
          </a:prstGeom>
          <a:noFill/>
        </p:spPr>
        <p:txBody>
          <a:bodyPr wrap="square" rtlCol="0">
            <a:noAutofit/>
          </a:bodyPr>
          <a:p>
            <a:r>
              <a:rPr lang="en-IN" altLang="en-US"/>
              <a:t>Ex-1 Consider the following </a:t>
            </a:r>
            <a:r>
              <a:rPr lang="en-IN" altLang="en-US">
                <a:cs typeface="Arial" panose="020B0604020202020204" pitchFamily="34" charset="0"/>
              </a:rPr>
              <a:t>Ԑ-NFA</a:t>
            </a:r>
            <a:endParaRPr lang="en-IN" altLang="en-US">
              <a:cs typeface="Arial" panose="020B0604020202020204" pitchFamily="34" charset="0"/>
            </a:endParaRPr>
          </a:p>
          <a:p>
            <a:endParaRPr lang="en-IN" altLang="en-US">
              <a:cs typeface="Arial" panose="020B0604020202020204" pitchFamily="34" charset="0"/>
            </a:endParaRPr>
          </a:p>
          <a:p>
            <a:endParaRPr lang="en-IN" altLang="en-US">
              <a:cs typeface="Arial" panose="020B0604020202020204" pitchFamily="34" charset="0"/>
            </a:endParaRPr>
          </a:p>
          <a:p>
            <a:endParaRPr lang="en-IN" altLang="en-US">
              <a:cs typeface="Arial" panose="020B0604020202020204" pitchFamily="34" charset="0"/>
            </a:endParaRPr>
          </a:p>
          <a:p>
            <a:endParaRPr lang="en-IN" altLang="en-US">
              <a:cs typeface="Arial" panose="020B0604020202020204" pitchFamily="34" charset="0"/>
            </a:endParaRPr>
          </a:p>
          <a:p>
            <a:endParaRPr lang="en-IN" altLang="en-US">
              <a:cs typeface="Arial" panose="020B0604020202020204" pitchFamily="34" charset="0"/>
            </a:endParaRPr>
          </a:p>
          <a:p>
            <a:endParaRPr lang="en-IN" altLang="en-US">
              <a:cs typeface="Arial" panose="020B0604020202020204" pitchFamily="34" charset="0"/>
            </a:endParaRPr>
          </a:p>
          <a:p>
            <a:endParaRPr lang="en-IN" altLang="en-US">
              <a:cs typeface="Arial" panose="020B0604020202020204" pitchFamily="34" charset="0"/>
            </a:endParaRPr>
          </a:p>
          <a:p>
            <a:pPr marL="0" lvl="1"/>
            <a:r>
              <a:rPr lang="en-IN" altLang="en-US">
                <a:cs typeface="Arial" panose="020B0604020202020204" pitchFamily="34" charset="0"/>
              </a:rPr>
              <a:t>a. Compute Ԑ-closure of each state.</a:t>
            </a:r>
            <a:endParaRPr lang="en-IN" altLang="en-US">
              <a:cs typeface="Arial" panose="020B0604020202020204" pitchFamily="34" charset="0"/>
            </a:endParaRPr>
          </a:p>
          <a:p>
            <a:r>
              <a:rPr lang="en-IN" altLang="en-US">
                <a:cs typeface="Arial" panose="020B0604020202020204" pitchFamily="34" charset="0"/>
              </a:rPr>
              <a:t>b. Convert to an Equivalent DFA</a:t>
            </a:r>
            <a:endParaRPr lang="en-IN" altLang="en-US">
              <a:cs typeface="Arial" panose="020B0604020202020204" pitchFamily="34" charset="0"/>
            </a:endParaRPr>
          </a:p>
        </p:txBody>
      </p:sp>
      <p:graphicFrame>
        <p:nvGraphicFramePr>
          <p:cNvPr id="6" name="Table 5"/>
          <p:cNvGraphicFramePr/>
          <p:nvPr/>
        </p:nvGraphicFramePr>
        <p:xfrm>
          <a:off x="1066800" y="1787525"/>
          <a:ext cx="2988310" cy="1724660"/>
        </p:xfrm>
        <a:graphic>
          <a:graphicData uri="http://schemas.openxmlformats.org/drawingml/2006/table">
            <a:tbl>
              <a:tblPr/>
              <a:tblGrid>
                <a:gridCol w="678815"/>
                <a:gridCol w="709295"/>
                <a:gridCol w="814070"/>
                <a:gridCol w="786130"/>
              </a:tblGrid>
              <a:tr h="324485">
                <a:tc>
                  <a:txBody>
                    <a:bodyPr/>
                    <a:p>
                      <a:pPr indent="0" algn="ctr">
                        <a:buNone/>
                      </a:pPr>
                      <a:r>
                        <a:rPr lang="en-US" sz="2000" b="0">
                          <a:latin typeface="Symbol" panose="05050102010706020507" charset="0"/>
                          <a:cs typeface="Symbol" panose="05050102010706020507" charset="0"/>
                        </a:rPr>
                        <a:t>d</a:t>
                      </a:r>
                      <a:r>
                        <a:rPr lang="en-IN" altLang="en-US" sz="2000" b="0">
                          <a:latin typeface="Symbol" panose="05050102010706020507" charset="0"/>
                          <a:cs typeface="Symbol" panose="05050102010706020507" charset="0"/>
                        </a:rPr>
                        <a:t>,</a:t>
                      </a:r>
                      <a:endParaRPr lang="en-IN" altLang="en-US" sz="2000" b="0">
                        <a:latin typeface="Symbol" panose="05050102010706020507" charset="0"/>
                        <a:ea typeface="Symbol" panose="05050102010706020507" charset="0"/>
                        <a:cs typeface="Symbol" panose="05050102010706020507"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Arial" panose="020B0604020202020204" pitchFamily="34" charset="0"/>
                          <a:ea typeface="Times New Roman" panose="02020603050405020304" pitchFamily="18" charset="0"/>
                          <a:cs typeface="Arial" panose="020B0604020202020204" pitchFamily="34" charset="0"/>
                        </a:rPr>
                        <a:t>Ԑ</a:t>
                      </a:r>
                      <a:endParaRPr lang="en-US" sz="2000" b="0">
                        <a:latin typeface="Arial" panose="020B0604020202020204" pitchFamily="34" charset="0"/>
                        <a:ea typeface="Times New Roman" panose="02020603050405020304" pitchFamily="18" charset="0"/>
                        <a:cs typeface="Arial" panose="020B0604020202020204" pitchFamily="3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IN" altLang="en-US" sz="2000" b="0">
                          <a:latin typeface="Times New Roman" panose="02020603050405020304" pitchFamily="18" charset="0"/>
                          <a:ea typeface="Times New Roman" panose="02020603050405020304" pitchFamily="18" charset="0"/>
                          <a:cs typeface="Times New Roman" panose="02020603050405020304" pitchFamily="18" charset="0"/>
                        </a:rPr>
                        <a:t>a</a:t>
                      </a:r>
                      <a:endParaRPr lang="en-IN" alt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IN" altLang="en-US" sz="2000" b="0">
                          <a:latin typeface="Times New Roman" panose="02020603050405020304" pitchFamily="18" charset="0"/>
                          <a:ea typeface="Times New Roman" panose="02020603050405020304" pitchFamily="18" charset="0"/>
                          <a:cs typeface="Times New Roman" panose="02020603050405020304" pitchFamily="18" charset="0"/>
                        </a:rPr>
                        <a:t>b</a:t>
                      </a:r>
                      <a:endParaRPr lang="en-IN" alt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27355">
                <a:tc>
                  <a:txBody>
                    <a:bodyPr/>
                    <a:p>
                      <a:pPr indent="0">
                        <a:buNone/>
                      </a:pPr>
                      <a:r>
                        <a:rPr lang="en-US" sz="2000" b="0">
                          <a:latin typeface="Arial" panose="020B0604020202020204" pitchFamily="34" charset="0"/>
                          <a:cs typeface="Arial" panose="020B0604020202020204" pitchFamily="34" charset="0"/>
                        </a:rPr>
                        <a:t>→</a:t>
                      </a:r>
                      <a:r>
                        <a:rPr lang="en-IN" altLang="en-US" sz="2000" b="0">
                          <a:latin typeface="Arial" panose="020B0604020202020204" pitchFamily="34" charset="0"/>
                          <a:cs typeface="Arial" panose="020B0604020202020204" pitchFamily="34" charset="0"/>
                        </a:rPr>
                        <a:t>p</a:t>
                      </a:r>
                      <a:endParaRPr lang="en-IN" altLang="en-US" sz="2000" b="0">
                        <a:latin typeface="Arial" panose="020B0604020202020204" pitchFamily="34" charset="0"/>
                        <a:ea typeface="Times New Roman" panose="02020603050405020304" pitchFamily="18" charset="0"/>
                        <a:cs typeface="Arial" panose="020B0604020202020204" pitchFamily="3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IN" altLang="en-US" sz="2000" b="0">
                          <a:latin typeface="Times New Roman" panose="02020603050405020304" pitchFamily="18" charset="0"/>
                          <a:ea typeface="Times New Roman" panose="02020603050405020304" pitchFamily="18" charset="0"/>
                          <a:cs typeface="Times New Roman" panose="02020603050405020304" pitchFamily="18" charset="0"/>
                        </a:rPr>
                        <a:t>{r}</a:t>
                      </a:r>
                      <a:endParaRPr lang="en-IN" alt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IN" altLang="en-US" sz="2000" b="0">
                          <a:latin typeface="Times New Roman" panose="02020603050405020304" pitchFamily="18" charset="0"/>
                          <a:cs typeface="Times New Roman" panose="02020603050405020304" pitchFamily="18" charset="0"/>
                        </a:rPr>
                        <a:t> { q}</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IN" altLang="en-US" sz="2000" b="0">
                          <a:latin typeface="Times New Roman" panose="02020603050405020304" pitchFamily="18" charset="0"/>
                          <a:ea typeface="Times New Roman" panose="02020603050405020304" pitchFamily="18" charset="0"/>
                          <a:cs typeface="Times New Roman" panose="02020603050405020304" pitchFamily="18" charset="0"/>
                        </a:rPr>
                        <a:t>{p, r}</a:t>
                      </a:r>
                      <a:endParaRPr lang="en-IN" alt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3850">
                <a:tc>
                  <a:txBody>
                    <a:bodyPr/>
                    <a:p>
                      <a:pPr indent="0">
                        <a:buNone/>
                      </a:pPr>
                      <a:r>
                        <a:rPr lang="en-IN" altLang="en-US" sz="2000" b="0">
                          <a:latin typeface="Times New Roman" panose="02020603050405020304" pitchFamily="18" charset="0"/>
                          <a:ea typeface="Times New Roman" panose="02020603050405020304" pitchFamily="18" charset="0"/>
                          <a:cs typeface="Times New Roman" panose="02020603050405020304" pitchFamily="18" charset="0"/>
                        </a:rPr>
                        <a:t>q</a:t>
                      </a:r>
                      <a:endParaRPr lang="en-IN" alt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IN" altLang="en-US" sz="2000" b="0">
                          <a:latin typeface="Arial" panose="020B0604020202020204" pitchFamily="34" charset="0"/>
                          <a:ea typeface="Times New Roman" panose="02020603050405020304" pitchFamily="18" charset="0"/>
                          <a:cs typeface="Arial" panose="020B0604020202020204" pitchFamily="34" charset="0"/>
                        </a:rPr>
                        <a:t>Ø</a:t>
                      </a:r>
                      <a:endParaRPr lang="en-IN" altLang="en-US" sz="2000" b="0">
                        <a:latin typeface="Arial" panose="020B0604020202020204" pitchFamily="34" charset="0"/>
                        <a:ea typeface="Times New Roman" panose="02020603050405020304" pitchFamily="18" charset="0"/>
                        <a:cs typeface="Arial" panose="020B0604020202020204" pitchFamily="3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Times New Roman" panose="02020603050405020304" pitchFamily="18" charset="0"/>
                          <a:cs typeface="Times New Roman" panose="02020603050405020304" pitchFamily="18" charset="0"/>
                        </a:rPr>
                        <a:t> </a:t>
                      </a:r>
                      <a:r>
                        <a:rPr lang="en-IN" altLang="en-US" sz="2000" b="0">
                          <a:latin typeface="Times New Roman" panose="02020603050405020304" pitchFamily="18" charset="0"/>
                          <a:cs typeface="Times New Roman" panose="02020603050405020304" pitchFamily="18" charset="0"/>
                        </a:rPr>
                        <a:t> {p}</a:t>
                      </a:r>
                      <a:endParaRPr lang="en-IN" alt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Times New Roman" panose="02020603050405020304" pitchFamily="18" charset="0"/>
                          <a:cs typeface="Times New Roman" panose="02020603050405020304" pitchFamily="18" charset="0"/>
                        </a:rPr>
                        <a:t> </a:t>
                      </a:r>
                      <a:r>
                        <a:rPr lang="en-US" sz="2000" b="0">
                          <a:latin typeface="Arial" panose="020B0604020202020204" pitchFamily="34" charset="0"/>
                          <a:cs typeface="Arial" panose="020B0604020202020204" pitchFamily="34" charset="0"/>
                        </a:rPr>
                        <a:t>Ø</a:t>
                      </a:r>
                      <a:endParaRPr lang="en-US" altLang="en-US" sz="2000" b="0">
                        <a:latin typeface="Arial" panose="020B0604020202020204" pitchFamily="34" charset="0"/>
                        <a:ea typeface="Times New Roman" panose="02020603050405020304" pitchFamily="18" charset="0"/>
                        <a:cs typeface="Arial" panose="020B0604020202020204" pitchFamily="3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4485">
                <a:tc>
                  <a:txBody>
                    <a:bodyPr/>
                    <a:p>
                      <a:pPr indent="0">
                        <a:buNone/>
                      </a:pPr>
                      <a:r>
                        <a:rPr lang="en-IN" altLang="en-US" sz="2000" b="0">
                          <a:latin typeface="Times New Roman" panose="02020603050405020304" pitchFamily="18" charset="0"/>
                          <a:ea typeface="Times New Roman" panose="02020603050405020304" pitchFamily="18" charset="0"/>
                          <a:cs typeface="Times New Roman" panose="02020603050405020304" pitchFamily="18" charset="0"/>
                        </a:rPr>
                        <a:t>*r</a:t>
                      </a:r>
                      <a:endParaRPr lang="en-IN" alt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IN" altLang="en-US" sz="2000" b="0">
                          <a:latin typeface="Times New Roman" panose="02020603050405020304" pitchFamily="18" charset="0"/>
                          <a:ea typeface="Times New Roman" panose="02020603050405020304" pitchFamily="18" charset="0"/>
                          <a:cs typeface="Times New Roman" panose="02020603050405020304" pitchFamily="18" charset="0"/>
                        </a:rPr>
                        <a:t>{p,q}</a:t>
                      </a:r>
                      <a:endParaRPr lang="en-IN" alt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Times New Roman" panose="02020603050405020304" pitchFamily="18" charset="0"/>
                          <a:cs typeface="Times New Roman" panose="02020603050405020304" pitchFamily="18" charset="0"/>
                        </a:rPr>
                        <a:t> </a:t>
                      </a:r>
                      <a:r>
                        <a:rPr lang="en-IN" altLang="en-US" sz="2000" b="0">
                          <a:latin typeface="Times New Roman" panose="02020603050405020304" pitchFamily="18" charset="0"/>
                          <a:cs typeface="Times New Roman" panose="02020603050405020304" pitchFamily="18" charset="0"/>
                        </a:rPr>
                        <a:t>{r}</a:t>
                      </a:r>
                      <a:endParaRPr lang="en-IN" alt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IN" altLang="en-US" sz="2000" b="0">
                          <a:latin typeface="Times New Roman" panose="02020603050405020304" pitchFamily="18" charset="0"/>
                          <a:ea typeface="Times New Roman" panose="02020603050405020304" pitchFamily="18" charset="0"/>
                          <a:cs typeface="Times New Roman" panose="02020603050405020304" pitchFamily="18" charset="0"/>
                        </a:rPr>
                        <a:t> {p}</a:t>
                      </a:r>
                      <a:endParaRPr lang="en-IN" alt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5" name="Text Box 4"/>
          <p:cNvSpPr txBox="1"/>
          <p:nvPr/>
        </p:nvSpPr>
        <p:spPr>
          <a:xfrm>
            <a:off x="4888865" y="1212215"/>
            <a:ext cx="4567555" cy="3141980"/>
          </a:xfrm>
          <a:prstGeom prst="rect">
            <a:avLst/>
          </a:prstGeom>
          <a:noFill/>
        </p:spPr>
        <p:txBody>
          <a:bodyPr wrap="square" rtlCol="0">
            <a:noAutofit/>
          </a:bodyPr>
          <a:p>
            <a:r>
              <a:rPr lang="en-IN" altLang="en-US"/>
              <a:t>Ex-1 Consider the following </a:t>
            </a:r>
            <a:r>
              <a:rPr lang="en-IN" altLang="en-US">
                <a:cs typeface="Arial" panose="020B0604020202020204" pitchFamily="34" charset="0"/>
              </a:rPr>
              <a:t>Ԑ-NFA</a:t>
            </a:r>
            <a:endParaRPr lang="en-IN" altLang="en-US">
              <a:cs typeface="Arial" panose="020B0604020202020204" pitchFamily="34" charset="0"/>
            </a:endParaRPr>
          </a:p>
          <a:p>
            <a:endParaRPr lang="en-IN" altLang="en-US">
              <a:cs typeface="Arial" panose="020B0604020202020204" pitchFamily="34" charset="0"/>
            </a:endParaRPr>
          </a:p>
          <a:p>
            <a:endParaRPr lang="en-IN" altLang="en-US">
              <a:cs typeface="Arial" panose="020B0604020202020204" pitchFamily="34" charset="0"/>
            </a:endParaRPr>
          </a:p>
          <a:p>
            <a:endParaRPr lang="en-IN" altLang="en-US">
              <a:cs typeface="Arial" panose="020B0604020202020204" pitchFamily="34" charset="0"/>
            </a:endParaRPr>
          </a:p>
          <a:p>
            <a:endParaRPr lang="en-IN" altLang="en-US">
              <a:cs typeface="Arial" panose="020B0604020202020204" pitchFamily="34" charset="0"/>
            </a:endParaRPr>
          </a:p>
          <a:p>
            <a:endParaRPr lang="en-IN" altLang="en-US">
              <a:cs typeface="Arial" panose="020B0604020202020204" pitchFamily="34" charset="0"/>
            </a:endParaRPr>
          </a:p>
          <a:p>
            <a:endParaRPr lang="en-IN" altLang="en-US">
              <a:cs typeface="Arial" panose="020B0604020202020204" pitchFamily="34" charset="0"/>
            </a:endParaRPr>
          </a:p>
          <a:p>
            <a:endParaRPr lang="en-IN" altLang="en-US"/>
          </a:p>
          <a:p>
            <a:r>
              <a:rPr lang="en-IN" altLang="en-US">
                <a:cs typeface="Arial" panose="020B0604020202020204" pitchFamily="34" charset="0"/>
              </a:rPr>
              <a:t>a. Compute Ԑ-closure of each state.</a:t>
            </a:r>
            <a:endParaRPr lang="en-IN" altLang="en-US">
              <a:cs typeface="Arial" panose="020B0604020202020204" pitchFamily="34" charset="0"/>
            </a:endParaRPr>
          </a:p>
          <a:p>
            <a:r>
              <a:rPr lang="en-IN" altLang="en-US">
                <a:cs typeface="Arial" panose="020B0604020202020204" pitchFamily="34" charset="0"/>
              </a:rPr>
              <a:t>b. Convert to an Equivalent DFA</a:t>
            </a:r>
            <a:endParaRPr lang="en-IN" altLang="en-US">
              <a:cs typeface="Arial" panose="020B0604020202020204" pitchFamily="34" charset="0"/>
            </a:endParaRPr>
          </a:p>
        </p:txBody>
      </p:sp>
      <p:graphicFrame>
        <p:nvGraphicFramePr>
          <p:cNvPr id="7" name="Table 6"/>
          <p:cNvGraphicFramePr/>
          <p:nvPr/>
        </p:nvGraphicFramePr>
        <p:xfrm>
          <a:off x="4919345" y="1752600"/>
          <a:ext cx="3589857" cy="1524000"/>
        </p:xfrm>
        <a:graphic>
          <a:graphicData uri="http://schemas.openxmlformats.org/drawingml/2006/table">
            <a:tbl>
              <a:tblPr/>
              <a:tblGrid>
                <a:gridCol w="711835"/>
                <a:gridCol w="775335"/>
                <a:gridCol w="755015"/>
                <a:gridCol w="632460"/>
                <a:gridCol w="715212"/>
              </a:tblGrid>
              <a:tr h="304800">
                <a:tc>
                  <a:txBody>
                    <a:bodyPr/>
                    <a:p>
                      <a:pPr indent="0" algn="ctr">
                        <a:buNone/>
                      </a:pPr>
                      <a:r>
                        <a:rPr lang="en-US" sz="2000" b="0">
                          <a:latin typeface="Symbol" panose="05050102010706020507" charset="0"/>
                          <a:cs typeface="Symbol" panose="05050102010706020507" charset="0"/>
                        </a:rPr>
                        <a:t>d</a:t>
                      </a:r>
                      <a:r>
                        <a:rPr lang="en-IN" altLang="en-US" sz="2000" b="0">
                          <a:latin typeface="Symbol" panose="05050102010706020507" charset="0"/>
                          <a:cs typeface="Symbol" panose="05050102010706020507" charset="0"/>
                        </a:rPr>
                        <a:t>,</a:t>
                      </a:r>
                      <a:endParaRPr lang="en-IN" altLang="en-US" sz="2000" b="0">
                        <a:latin typeface="Symbol" panose="05050102010706020507" charset="0"/>
                        <a:ea typeface="Symbol" panose="05050102010706020507" charset="0"/>
                        <a:cs typeface="Symbol" panose="05050102010706020507"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IN" altLang="en-US" sz="2000" b="0">
                          <a:latin typeface="Arial" panose="020B0604020202020204" pitchFamily="34" charset="0"/>
                          <a:ea typeface="Times New Roman" panose="02020603050405020304" pitchFamily="18" charset="0"/>
                          <a:cs typeface="Arial" panose="020B0604020202020204" pitchFamily="34" charset="0"/>
                        </a:rPr>
                        <a:t>Ԑ</a:t>
                      </a:r>
                      <a:endParaRPr lang="en-IN" altLang="en-US" sz="2000" b="0">
                        <a:latin typeface="Arial" panose="020B0604020202020204" pitchFamily="34" charset="0"/>
                        <a:ea typeface="Times New Roman" panose="02020603050405020304" pitchFamily="18" charset="0"/>
                        <a:cs typeface="Arial" panose="020B0604020202020204" pitchFamily="3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IN" altLang="en-US" sz="2000" b="0">
                          <a:latin typeface="Times New Roman" panose="02020603050405020304" pitchFamily="18" charset="0"/>
                          <a:ea typeface="Times New Roman" panose="02020603050405020304" pitchFamily="18" charset="0"/>
                          <a:cs typeface="Times New Roman" panose="02020603050405020304" pitchFamily="18" charset="0"/>
                        </a:rPr>
                        <a:t>a</a:t>
                      </a:r>
                      <a:endParaRPr lang="en-IN" alt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IN" altLang="en-US" sz="2000" b="0">
                          <a:latin typeface="Times New Roman" panose="02020603050405020304" pitchFamily="18" charset="0"/>
                          <a:ea typeface="Times New Roman" panose="02020603050405020304" pitchFamily="18" charset="0"/>
                          <a:cs typeface="Times New Roman" panose="02020603050405020304" pitchFamily="18" charset="0"/>
                        </a:rPr>
                        <a:t>b</a:t>
                      </a:r>
                      <a:endParaRPr lang="en-IN" alt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IN" altLang="en-US" sz="2000" b="0">
                          <a:latin typeface="Times New Roman" panose="02020603050405020304" pitchFamily="18" charset="0"/>
                          <a:ea typeface="Times New Roman" panose="02020603050405020304" pitchFamily="18" charset="0"/>
                          <a:cs typeface="Times New Roman" panose="02020603050405020304" pitchFamily="18" charset="0"/>
                        </a:rPr>
                        <a:t>c</a:t>
                      </a:r>
                      <a:endParaRPr lang="en-IN" alt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04800">
                <a:tc>
                  <a:txBody>
                    <a:bodyPr/>
                    <a:p>
                      <a:pPr indent="0">
                        <a:buNone/>
                      </a:pPr>
                      <a:r>
                        <a:rPr lang="en-US" sz="2000" b="0">
                          <a:latin typeface="Arial" panose="020B0604020202020204" pitchFamily="34" charset="0"/>
                          <a:cs typeface="Arial" panose="020B0604020202020204" pitchFamily="34" charset="0"/>
                        </a:rPr>
                        <a:t>→</a:t>
                      </a:r>
                      <a:r>
                        <a:rPr lang="en-IN" altLang="en-US" sz="2000" b="0">
                          <a:latin typeface="Arial" panose="020B0604020202020204" pitchFamily="34" charset="0"/>
                          <a:cs typeface="Arial" panose="020B0604020202020204" pitchFamily="34" charset="0"/>
                        </a:rPr>
                        <a:t>p</a:t>
                      </a:r>
                      <a:endParaRPr lang="en-IN" altLang="en-US" sz="2000" b="0">
                        <a:latin typeface="Arial" panose="020B0604020202020204" pitchFamily="34" charset="0"/>
                        <a:ea typeface="Times New Roman" panose="02020603050405020304" pitchFamily="18" charset="0"/>
                        <a:cs typeface="Arial" panose="020B0604020202020204" pitchFamily="3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IN" altLang="en-US" sz="2000" b="0">
                          <a:latin typeface="Times New Roman" panose="02020603050405020304" pitchFamily="18" charset="0"/>
                          <a:ea typeface="Times New Roman" panose="02020603050405020304" pitchFamily="18" charset="0"/>
                          <a:cs typeface="Times New Roman" panose="02020603050405020304" pitchFamily="18" charset="0"/>
                        </a:rPr>
                        <a:t>{q,r}</a:t>
                      </a:r>
                      <a:endParaRPr lang="en-IN" alt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IN" altLang="en-US" sz="2000" b="0">
                          <a:latin typeface="Times New Roman" panose="02020603050405020304" pitchFamily="18" charset="0"/>
                          <a:cs typeface="Times New Roman" panose="02020603050405020304" pitchFamily="18" charset="0"/>
                        </a:rPr>
                        <a:t> </a:t>
                      </a:r>
                      <a:r>
                        <a:rPr lang="en-IN" altLang="en-US" sz="2000" b="0">
                          <a:latin typeface="Arial" panose="020B0604020202020204" pitchFamily="34" charset="0"/>
                          <a:cs typeface="Arial" panose="020B0604020202020204" pitchFamily="34" charset="0"/>
                        </a:rPr>
                        <a:t>Ø</a:t>
                      </a:r>
                      <a:endParaRPr lang="en-IN" altLang="en-US" sz="2000" b="0">
                        <a:latin typeface="Arial" panose="020B0604020202020204" pitchFamily="34" charset="0"/>
                        <a:ea typeface="Times New Roman" panose="02020603050405020304" pitchFamily="18" charset="0"/>
                        <a:cs typeface="Arial" panose="020B0604020202020204" pitchFamily="3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IN" altLang="en-US" sz="2000" b="0">
                          <a:latin typeface="Times New Roman" panose="02020603050405020304" pitchFamily="18" charset="0"/>
                          <a:ea typeface="Times New Roman" panose="02020603050405020304" pitchFamily="18" charset="0"/>
                          <a:cs typeface="Times New Roman" panose="02020603050405020304" pitchFamily="18" charset="0"/>
                        </a:rPr>
                        <a:t>{q }</a:t>
                      </a:r>
                      <a:endParaRPr lang="en-IN" alt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IN" altLang="en-US" sz="2000" b="0">
                          <a:latin typeface="Times New Roman" panose="02020603050405020304" pitchFamily="18" charset="0"/>
                          <a:ea typeface="Times New Roman" panose="02020603050405020304" pitchFamily="18" charset="0"/>
                          <a:cs typeface="Times New Roman" panose="02020603050405020304" pitchFamily="18" charset="0"/>
                        </a:rPr>
                        <a:t>{r}</a:t>
                      </a:r>
                      <a:endParaRPr lang="en-IN" alt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04800">
                <a:tc>
                  <a:txBody>
                    <a:bodyPr/>
                    <a:p>
                      <a:pPr indent="0">
                        <a:buNone/>
                      </a:pPr>
                      <a:r>
                        <a:rPr lang="en-IN" altLang="en-US" sz="2000" b="0">
                          <a:latin typeface="Times New Roman" panose="02020603050405020304" pitchFamily="18" charset="0"/>
                          <a:ea typeface="Times New Roman" panose="02020603050405020304" pitchFamily="18" charset="0"/>
                          <a:cs typeface="Times New Roman" panose="02020603050405020304" pitchFamily="18" charset="0"/>
                        </a:rPr>
                        <a:t>q</a:t>
                      </a:r>
                      <a:endParaRPr lang="en-IN" alt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IN" altLang="en-US" sz="2000" b="0">
                          <a:latin typeface="Arial" panose="020B0604020202020204" pitchFamily="34" charset="0"/>
                          <a:ea typeface="Times New Roman" panose="02020603050405020304" pitchFamily="18" charset="0"/>
                          <a:cs typeface="Arial" panose="020B0604020202020204" pitchFamily="34" charset="0"/>
                        </a:rPr>
                        <a:t>Ø</a:t>
                      </a:r>
                      <a:endParaRPr lang="en-IN" altLang="en-US" sz="2000" b="0">
                        <a:latin typeface="Arial" panose="020B0604020202020204" pitchFamily="34" charset="0"/>
                        <a:ea typeface="Times New Roman" panose="02020603050405020304" pitchFamily="18" charset="0"/>
                        <a:cs typeface="Arial" panose="020B0604020202020204" pitchFamily="3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IN" altLang="en-US" sz="2000" b="0">
                          <a:latin typeface="Times New Roman" panose="02020603050405020304" pitchFamily="18" charset="0"/>
                          <a:cs typeface="Times New Roman" panose="02020603050405020304" pitchFamily="18" charset="0"/>
                        </a:rPr>
                        <a:t>{p}</a:t>
                      </a:r>
                      <a:endParaRPr lang="en-IN" alt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Times New Roman" panose="02020603050405020304" pitchFamily="18" charset="0"/>
                          <a:cs typeface="Times New Roman" panose="02020603050405020304" pitchFamily="18" charset="0"/>
                        </a:rPr>
                        <a:t> </a:t>
                      </a:r>
                      <a:r>
                        <a:rPr lang="en-IN" altLang="en-US" sz="2000" b="0">
                          <a:latin typeface="Times New Roman" panose="02020603050405020304" pitchFamily="18" charset="0"/>
                          <a:cs typeface="Times New Roman" panose="02020603050405020304" pitchFamily="18" charset="0"/>
                        </a:rPr>
                        <a:t>{r}</a:t>
                      </a:r>
                      <a:endParaRPr lang="en-IN" alt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IN" altLang="en-US" sz="2000" b="0">
                          <a:latin typeface="Times New Roman" panose="02020603050405020304" pitchFamily="18" charset="0"/>
                          <a:ea typeface="Times New Roman" panose="02020603050405020304" pitchFamily="18" charset="0"/>
                          <a:cs typeface="Times New Roman" panose="02020603050405020304" pitchFamily="18" charset="0"/>
                        </a:rPr>
                        <a:t>{p,q}</a:t>
                      </a:r>
                      <a:endParaRPr lang="en-IN" alt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04800">
                <a:tc>
                  <a:txBody>
                    <a:bodyPr/>
                    <a:p>
                      <a:pPr indent="0">
                        <a:buNone/>
                      </a:pPr>
                      <a:r>
                        <a:rPr lang="en-IN" altLang="en-US" sz="2000" b="0">
                          <a:latin typeface="Times New Roman" panose="02020603050405020304" pitchFamily="18" charset="0"/>
                          <a:ea typeface="Times New Roman" panose="02020603050405020304" pitchFamily="18" charset="0"/>
                          <a:cs typeface="Times New Roman" panose="02020603050405020304" pitchFamily="18" charset="0"/>
                        </a:rPr>
                        <a:t>*r</a:t>
                      </a:r>
                      <a:endParaRPr lang="en-IN" alt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IN" altLang="en-US" sz="2000" b="0">
                          <a:latin typeface="Arial" panose="020B0604020202020204" pitchFamily="34" charset="0"/>
                          <a:ea typeface="Times New Roman" panose="02020603050405020304" pitchFamily="18" charset="0"/>
                          <a:cs typeface="Arial" panose="020B0604020202020204" pitchFamily="34" charset="0"/>
                        </a:rPr>
                        <a:t>Ø</a:t>
                      </a:r>
                      <a:endParaRPr lang="en-IN" altLang="en-US" sz="2000" b="0">
                        <a:latin typeface="Arial" panose="020B0604020202020204" pitchFamily="34" charset="0"/>
                        <a:ea typeface="Times New Roman" panose="02020603050405020304" pitchFamily="18" charset="0"/>
                        <a:cs typeface="Arial" panose="020B0604020202020204" pitchFamily="3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IN" altLang="en-US" sz="2000" b="0">
                          <a:latin typeface="Arial" panose="020B0604020202020204" pitchFamily="34" charset="0"/>
                          <a:ea typeface="Times New Roman" panose="02020603050405020304" pitchFamily="18" charset="0"/>
                          <a:cs typeface="Arial" panose="020B0604020202020204" pitchFamily="34" charset="0"/>
                        </a:rPr>
                        <a:t>Ø</a:t>
                      </a:r>
                      <a:endParaRPr lang="en-IN" altLang="en-US" sz="2000" b="0">
                        <a:latin typeface="Arial" panose="020B0604020202020204" pitchFamily="34" charset="0"/>
                        <a:ea typeface="Times New Roman" panose="02020603050405020304" pitchFamily="18" charset="0"/>
                        <a:cs typeface="Arial" panose="020B0604020202020204" pitchFamily="3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IN" altLang="en-US" sz="2000" b="0">
                          <a:latin typeface="Arial" panose="020B0604020202020204" pitchFamily="34" charset="0"/>
                          <a:ea typeface="Times New Roman" panose="02020603050405020304" pitchFamily="18" charset="0"/>
                          <a:cs typeface="Arial" panose="020B0604020202020204" pitchFamily="34" charset="0"/>
                        </a:rPr>
                        <a:t>Ø</a:t>
                      </a:r>
                      <a:endParaRPr lang="en-IN" altLang="en-US" sz="2000" b="0">
                        <a:latin typeface="Arial" panose="020B0604020202020204" pitchFamily="34" charset="0"/>
                        <a:ea typeface="Times New Roman" panose="02020603050405020304" pitchFamily="18" charset="0"/>
                        <a:cs typeface="Arial" panose="020B0604020202020204" pitchFamily="3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IN" altLang="en-US" sz="2000" b="0">
                          <a:latin typeface="Arial" panose="020B0604020202020204" pitchFamily="34" charset="0"/>
                          <a:ea typeface="Times New Roman" panose="02020603050405020304" pitchFamily="18" charset="0"/>
                          <a:cs typeface="Arial" panose="020B0604020202020204" pitchFamily="34" charset="0"/>
                        </a:rPr>
                        <a:t>Ø</a:t>
                      </a:r>
                      <a:endParaRPr lang="en-IN" altLang="en-US" sz="2000" b="0">
                        <a:latin typeface="Arial" panose="020B0604020202020204" pitchFamily="34" charset="0"/>
                        <a:ea typeface="Times New Roman" panose="02020603050405020304" pitchFamily="18" charset="0"/>
                        <a:cs typeface="Arial" panose="020B0604020202020204" pitchFamily="3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3" name="Text Box 2"/>
          <p:cNvSpPr txBox="1"/>
          <p:nvPr/>
        </p:nvSpPr>
        <p:spPr>
          <a:xfrm>
            <a:off x="686435" y="4208145"/>
            <a:ext cx="7823200" cy="2426335"/>
          </a:xfrm>
          <a:prstGeom prst="rect">
            <a:avLst/>
          </a:prstGeom>
          <a:noFill/>
        </p:spPr>
        <p:txBody>
          <a:bodyPr wrap="square" rtlCol="0">
            <a:noAutofit/>
          </a:bodyPr>
          <a:p>
            <a:r>
              <a:rPr lang="en-IN" altLang="en-US"/>
              <a:t>Ex-3. Convert the following </a:t>
            </a:r>
            <a:r>
              <a:rPr lang="en-IN" altLang="en-US">
                <a:cs typeface="Arial" panose="020B0604020202020204" pitchFamily="34" charset="0"/>
                <a:sym typeface="+mn-ea"/>
              </a:rPr>
              <a:t>Ԑ-NFA to and an equivalent DFA</a:t>
            </a:r>
            <a:r>
              <a:rPr lang="en-IN" altLang="en-US"/>
              <a:t> </a:t>
            </a:r>
            <a:endParaRPr lang="en-IN" altLang="en-US"/>
          </a:p>
        </p:txBody>
      </p:sp>
      <p:pic>
        <p:nvPicPr>
          <p:cNvPr id="8" name="Content Placeholder 7" descr="MMM NFA"/>
          <p:cNvPicPr>
            <a:picLocks noChangeAspect="1"/>
          </p:cNvPicPr>
          <p:nvPr>
            <p:ph idx="1"/>
          </p:nvPr>
        </p:nvPicPr>
        <p:blipFill>
          <a:blip r:embed="rId1"/>
          <a:stretch>
            <a:fillRect/>
          </a:stretch>
        </p:blipFill>
        <p:spPr>
          <a:xfrm>
            <a:off x="1286510" y="4759960"/>
            <a:ext cx="6475095" cy="1894840"/>
          </a:xfrm>
          <a:prstGeom prst="rect">
            <a:avLst/>
          </a:prstGeom>
        </p:spPr>
      </p:pic>
      <p:sp>
        <p:nvSpPr>
          <p:cNvPr id="9" name="Footer Placeholder 8"/>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Title 1"/>
          <p:cNvSpPr>
            <a:spLocks noGrp="1"/>
          </p:cNvSpPr>
          <p:nvPr>
            <p:ph type="title"/>
          </p:nvPr>
        </p:nvSpPr>
        <p:spPr/>
        <p:txBody>
          <a:bodyPr vert="horz" wrap="square" lIns="91440" tIns="45720" rIns="91440" bIns="45720" anchor="ctr" anchorCtr="0"/>
          <a:p>
            <a:pPr eaLnBrk="1" hangingPunct="1"/>
            <a:r>
              <a:rPr lang="en-US" altLang="en-US" dirty="0"/>
              <a:t>Theorem-2</a:t>
            </a:r>
            <a:endParaRPr lang="en-US" altLang="en-US" dirty="0"/>
          </a:p>
        </p:txBody>
      </p:sp>
      <p:sp>
        <p:nvSpPr>
          <p:cNvPr id="3" name="Content Placeholder 2"/>
          <p:cNvSpPr>
            <a:spLocks noGrp="1"/>
          </p:cNvSpPr>
          <p:nvPr>
            <p:ph idx="1"/>
          </p:nvPr>
        </p:nvSpPr>
        <p:spPr/>
        <p:txBody>
          <a:bodyPr vert="horz" wrap="square" lIns="91440" tIns="45720" rIns="91440" bIns="45720" numCol="1" rtlCol="0" anchor="t" anchorCtr="0" compatLnSpc="1">
            <a:normAutofit lnSpcReduction="10000"/>
          </a:bodyPr>
          <a:lstStyle/>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Definition : If  D=(Q</a:t>
            </a:r>
            <a:r>
              <a:rPr kumimoji="0" lang="en-US" sz="3200" b="0" i="0" u="none" strike="noStrike" kern="1200" cap="none" spc="0" normalizeH="0" baseline="-25000" noProof="0" dirty="0" smtClean="0">
                <a:ln>
                  <a:noFill/>
                </a:ln>
                <a:solidFill>
                  <a:schemeClr val="tx1"/>
                </a:solidFill>
                <a:effectLst/>
                <a:uLnTx/>
                <a:uFillTx/>
                <a:latin typeface="+mn-lt"/>
                <a:ea typeface="+mn-ea"/>
                <a:cs typeface="+mn-cs"/>
              </a:rPr>
              <a:t>D</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a:t>
            </a:r>
            <a:r>
              <a:rPr kumimoji="0" lang="el-GR" sz="3200" b="0" i="0" u="none" strike="noStrike" kern="1200" cap="none" spc="0" normalizeH="0" baseline="0" noProof="0" dirty="0" smtClean="0">
                <a:ln>
                  <a:noFill/>
                </a:ln>
                <a:solidFill>
                  <a:schemeClr val="tx1"/>
                </a:solidFill>
                <a:effectLst/>
                <a:uLnTx/>
                <a:uFillTx/>
                <a:latin typeface="+mn-lt"/>
                <a:ea typeface="+mn-ea"/>
                <a:cs typeface="+mn-cs"/>
              </a:rPr>
              <a:t>δ</a:t>
            </a:r>
            <a:r>
              <a:rPr kumimoji="0" lang="en-US" sz="3200" b="0" i="0" u="none" strike="noStrike" kern="1200" cap="none" spc="0" normalizeH="0" baseline="-25000" noProof="0" dirty="0" smtClean="0">
                <a:ln>
                  <a:noFill/>
                </a:ln>
                <a:solidFill>
                  <a:schemeClr val="tx1"/>
                </a:solidFill>
                <a:effectLst/>
                <a:uLnTx/>
                <a:uFillTx/>
                <a:latin typeface="+mn-lt"/>
                <a:ea typeface="+mn-ea"/>
                <a:cs typeface="+mn-cs"/>
              </a:rPr>
              <a:t>D</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{q</a:t>
            </a:r>
            <a:r>
              <a:rPr kumimoji="0" lang="en-US" sz="3200" b="0" i="0" u="none" strike="noStrike" kern="1200" cap="none" spc="0" normalizeH="0" baseline="-25000" noProof="0" dirty="0" smtClean="0">
                <a:ln>
                  <a:noFill/>
                </a:ln>
                <a:solidFill>
                  <a:schemeClr val="tx1"/>
                </a:solidFill>
                <a:effectLst/>
                <a:uLnTx/>
                <a:uFillTx/>
                <a:latin typeface="+mn-lt"/>
                <a:ea typeface="+mn-ea"/>
                <a:cs typeface="+mn-cs"/>
              </a:rPr>
              <a:t>0</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F</a:t>
            </a:r>
            <a:r>
              <a:rPr kumimoji="0" lang="en-US" sz="3200" b="0" i="0" u="none" strike="noStrike" kern="1200" cap="none" spc="0" normalizeH="0" baseline="-25000" noProof="0" dirty="0" smtClean="0">
                <a:ln>
                  <a:noFill/>
                </a:ln>
                <a:solidFill>
                  <a:schemeClr val="tx1"/>
                </a:solidFill>
                <a:effectLst/>
                <a:uLnTx/>
                <a:uFillTx/>
                <a:latin typeface="+mn-lt"/>
                <a:ea typeface="+mn-ea"/>
                <a:cs typeface="+mn-cs"/>
              </a:rPr>
              <a:t>D</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is the DFA constructed  from N =(Q</a:t>
            </a:r>
            <a:r>
              <a:rPr kumimoji="0" lang="en-US" sz="3200" b="0" i="0" u="none" strike="noStrike" kern="1200" cap="none" spc="0" normalizeH="0" baseline="-25000" noProof="0" dirty="0" smtClean="0">
                <a:ln>
                  <a:noFill/>
                </a:ln>
                <a:solidFill>
                  <a:schemeClr val="tx1"/>
                </a:solidFill>
                <a:effectLst/>
                <a:uLnTx/>
                <a:uFillTx/>
                <a:latin typeface="+mn-lt"/>
                <a:ea typeface="+mn-ea"/>
                <a:cs typeface="+mn-cs"/>
              </a:rPr>
              <a:t>N</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a:t>
            </a:r>
            <a:r>
              <a:rPr kumimoji="0" lang="el-GR" sz="3200" b="0" i="0" u="none" strike="noStrike" kern="1200" cap="none" spc="0" normalizeH="0" baseline="0" noProof="0" dirty="0" smtClean="0">
                <a:ln>
                  <a:noFill/>
                </a:ln>
                <a:solidFill>
                  <a:schemeClr val="tx1"/>
                </a:solidFill>
                <a:effectLst/>
                <a:uLnTx/>
                <a:uFillTx/>
                <a:latin typeface="+mn-lt"/>
                <a:ea typeface="+mn-ea"/>
                <a:cs typeface="+mn-cs"/>
              </a:rPr>
              <a:t>δ</a:t>
            </a:r>
            <a:r>
              <a:rPr kumimoji="0" lang="en-US" sz="3200" b="0" i="0" u="none" strike="noStrike" kern="1200" cap="none" spc="0" normalizeH="0" baseline="-25000" noProof="0" dirty="0" smtClean="0">
                <a:ln>
                  <a:noFill/>
                </a:ln>
                <a:solidFill>
                  <a:schemeClr val="tx1"/>
                </a:solidFill>
                <a:effectLst/>
                <a:uLnTx/>
                <a:uFillTx/>
                <a:latin typeface="+mn-lt"/>
                <a:ea typeface="+mn-ea"/>
                <a:cs typeface="+mn-cs"/>
              </a:rPr>
              <a:t>N</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q</a:t>
            </a:r>
            <a:r>
              <a:rPr kumimoji="0" lang="en-US" sz="3200" b="0" i="0" u="none" strike="noStrike" kern="1200" cap="none" spc="0" normalizeH="0" baseline="-25000" noProof="0" dirty="0" smtClean="0">
                <a:ln>
                  <a:noFill/>
                </a:ln>
                <a:solidFill>
                  <a:schemeClr val="tx1"/>
                </a:solidFill>
                <a:effectLst/>
                <a:uLnTx/>
                <a:uFillTx/>
                <a:latin typeface="+mn-lt"/>
                <a:ea typeface="+mn-ea"/>
                <a:cs typeface="+mn-cs"/>
              </a:rPr>
              <a:t>0</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F</a:t>
            </a:r>
            <a:r>
              <a:rPr kumimoji="0" lang="en-US" sz="3200" b="0" i="0" u="none" strike="noStrike" kern="1200" cap="none" spc="0" normalizeH="0" baseline="-25000" noProof="0" dirty="0" smtClean="0">
                <a:ln>
                  <a:noFill/>
                </a:ln>
                <a:solidFill>
                  <a:schemeClr val="tx1"/>
                </a:solidFill>
                <a:effectLst/>
                <a:uLnTx/>
                <a:uFillTx/>
                <a:latin typeface="+mn-lt"/>
                <a:ea typeface="+mn-ea"/>
                <a:cs typeface="+mn-cs"/>
              </a:rPr>
              <a:t>N</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by the subset construction scheme then  L(D) = L(N).</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Proof : By induction we have to first prove on |w| is that</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r>
              <a:rPr kumimoji="0" lang="el-GR" sz="3200" b="0" i="0" u="none" strike="noStrike" kern="1200" cap="none" spc="0" normalizeH="0" baseline="0" noProof="0" dirty="0" smtClean="0">
                <a:ln>
                  <a:noFill/>
                </a:ln>
                <a:solidFill>
                  <a:schemeClr val="tx1"/>
                </a:solidFill>
                <a:effectLst/>
                <a:uLnTx/>
                <a:uFillTx/>
                <a:latin typeface="+mn-lt"/>
                <a:ea typeface="+mn-ea"/>
                <a:cs typeface="+mn-cs"/>
              </a:rPr>
              <a:t>δ</a:t>
            </a:r>
            <a:r>
              <a:rPr kumimoji="0" lang="en-US" sz="3200" b="0" i="0" u="none" strike="noStrike" kern="1200" cap="none" spc="0" normalizeH="0" baseline="-25000" noProof="0" dirty="0" smtClean="0">
                <a:ln>
                  <a:noFill/>
                </a:ln>
                <a:solidFill>
                  <a:schemeClr val="tx1"/>
                </a:solidFill>
                <a:effectLst/>
                <a:uLnTx/>
                <a:uFillTx/>
                <a:latin typeface="+mn-lt"/>
                <a:ea typeface="+mn-ea"/>
                <a:cs typeface="+mn-cs"/>
              </a:rPr>
              <a:t>D</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*({q</a:t>
            </a:r>
            <a:r>
              <a:rPr kumimoji="0" lang="en-US" sz="3200" b="0" i="0" u="none" strike="noStrike" kern="1200" cap="none" spc="0" normalizeH="0" baseline="-25000" noProof="0" dirty="0" smtClean="0">
                <a:ln>
                  <a:noFill/>
                </a:ln>
                <a:solidFill>
                  <a:schemeClr val="tx1"/>
                </a:solidFill>
                <a:effectLst/>
                <a:uLnTx/>
                <a:uFillTx/>
                <a:latin typeface="+mn-lt"/>
                <a:ea typeface="+mn-ea"/>
                <a:cs typeface="+mn-cs"/>
              </a:rPr>
              <a:t>0</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w)=</a:t>
            </a:r>
            <a:r>
              <a:rPr kumimoji="0" lang="el-GR" sz="3200" b="0" i="0" u="none" strike="noStrike" kern="1200" cap="none" spc="0" normalizeH="0" baseline="0" noProof="0" dirty="0" smtClean="0">
                <a:ln>
                  <a:noFill/>
                </a:ln>
                <a:solidFill>
                  <a:schemeClr val="tx1"/>
                </a:solidFill>
                <a:effectLst/>
                <a:uLnTx/>
                <a:uFillTx/>
                <a:latin typeface="+mn-lt"/>
                <a:ea typeface="+mn-ea"/>
                <a:cs typeface="+mn-cs"/>
              </a:rPr>
              <a:t>δ</a:t>
            </a:r>
            <a:r>
              <a:rPr kumimoji="0" lang="en-US" sz="3200" b="0" i="0" u="none" strike="noStrike" kern="1200" cap="none" spc="0" normalizeH="0" baseline="-25000" noProof="0" dirty="0" smtClean="0">
                <a:ln>
                  <a:noFill/>
                </a:ln>
                <a:solidFill>
                  <a:schemeClr val="tx1"/>
                </a:solidFill>
                <a:effectLst/>
                <a:uLnTx/>
                <a:uFillTx/>
                <a:latin typeface="+mn-lt"/>
                <a:ea typeface="+mn-ea"/>
                <a:cs typeface="+mn-cs"/>
              </a:rPr>
              <a:t>N</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*(q0,w)</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a:t>
            </a:r>
            <a:r>
              <a:rPr kumimoji="0" lang="en-US" sz="3200" b="0" i="0" u="none" strike="noStrike" kern="1200" cap="none" spc="0" normalizeH="0" baseline="0" noProof="0" dirty="0" smtClean="0">
                <a:ln>
                  <a:noFill/>
                </a:ln>
                <a:solidFill>
                  <a:srgbClr val="FF0000"/>
                </a:solidFill>
                <a:effectLst/>
                <a:uLnTx/>
                <a:uFillTx/>
                <a:latin typeface="+mn-lt"/>
                <a:ea typeface="+mn-ea"/>
                <a:cs typeface="+mn-cs"/>
              </a:rPr>
              <a:t>NOTE :</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We know that </a:t>
            </a:r>
            <a:r>
              <a:rPr kumimoji="0" lang="el-GR" sz="3200" b="0" i="0" u="none" strike="noStrike" kern="1200" cap="none" spc="0" normalizeH="0" baseline="0" noProof="0" dirty="0" smtClean="0">
                <a:ln>
                  <a:noFill/>
                </a:ln>
                <a:solidFill>
                  <a:schemeClr val="tx1"/>
                </a:solidFill>
                <a:effectLst/>
                <a:uLnTx/>
                <a:uFillTx/>
                <a:latin typeface="+mn-lt"/>
                <a:ea typeface="+mn-ea"/>
                <a:cs typeface="+mn-cs"/>
              </a:rPr>
              <a:t>δ</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function returns a set of state from NFA and </a:t>
            </a:r>
            <a:r>
              <a:rPr kumimoji="0" lang="el-GR" sz="3200" b="0" i="0" u="none" strike="noStrike" kern="1200" cap="none" spc="0" normalizeH="0" baseline="0" noProof="0" dirty="0" smtClean="0">
                <a:ln>
                  <a:noFill/>
                </a:ln>
                <a:solidFill>
                  <a:schemeClr val="tx1"/>
                </a:solidFill>
                <a:effectLst/>
                <a:uLnTx/>
                <a:uFillTx/>
                <a:latin typeface="+mn-lt"/>
                <a:ea typeface="+mn-ea"/>
                <a:cs typeface="+mn-cs"/>
              </a:rPr>
              <a:t>δ</a:t>
            </a:r>
            <a:r>
              <a:rPr kumimoji="0" lang="en-US" sz="3200" b="0" i="0" u="none" strike="noStrike" kern="1200" cap="none" spc="0" normalizeH="0" baseline="-25000" noProof="0" dirty="0" smtClean="0">
                <a:ln>
                  <a:noFill/>
                </a:ln>
                <a:solidFill>
                  <a:schemeClr val="tx1"/>
                </a:solidFill>
                <a:effectLst/>
                <a:uLnTx/>
                <a:uFillTx/>
                <a:latin typeface="+mn-lt"/>
                <a:ea typeface="+mn-ea"/>
                <a:cs typeface="+mn-cs"/>
              </a:rPr>
              <a:t>D</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for DFA interprets this as one state of Q</a:t>
            </a:r>
            <a:r>
              <a:rPr kumimoji="0" lang="en-US" sz="3200" b="0" i="0" u="none" strike="noStrike" kern="1200" cap="none" spc="0" normalizeH="0" baseline="-25000" noProof="0" dirty="0" smtClean="0">
                <a:ln>
                  <a:noFill/>
                </a:ln>
                <a:solidFill>
                  <a:schemeClr val="tx1"/>
                </a:solidFill>
                <a:effectLst/>
                <a:uLnTx/>
                <a:uFillTx/>
                <a:latin typeface="+mn-lt"/>
                <a:ea typeface="+mn-ea"/>
                <a:cs typeface="+mn-cs"/>
              </a:rPr>
              <a:t>D.</a:t>
            </a:r>
            <a:endParaRPr kumimoji="0" lang="en-US" sz="3200" b="0" i="0" u="none" strike="noStrike" kern="1200" cap="none" spc="0" normalizeH="0" baseline="-2500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en-US" sz="3200" b="0" i="0" u="none" strike="noStrike" kern="1200" cap="none" spc="0" normalizeH="0" baseline="-25000" noProof="0" dirty="0">
              <a:ln>
                <a:noFill/>
              </a:ln>
              <a:solidFill>
                <a:schemeClr val="tx1"/>
              </a:solidFill>
              <a:effectLst/>
              <a:uLnTx/>
              <a:uFillTx/>
              <a:latin typeface="+mn-lt"/>
              <a:ea typeface="+mn-ea"/>
              <a:cs typeface="+mn-cs"/>
            </a:endParaRPr>
          </a:p>
        </p:txBody>
      </p:sp>
      <p:sp>
        <p:nvSpPr>
          <p:cNvPr id="2" name="Footer Placeholder 1"/>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5" name="Content Placeholder 2"/>
          <p:cNvSpPr>
            <a:spLocks noGrp="1"/>
          </p:cNvSpPr>
          <p:nvPr>
            <p:ph idx="1"/>
          </p:nvPr>
        </p:nvSpPr>
        <p:spPr>
          <a:xfrm>
            <a:off x="457200" y="533400"/>
            <a:ext cx="8229600" cy="6172200"/>
          </a:xfrm>
        </p:spPr>
        <p:txBody>
          <a:bodyPr vert="horz" wrap="square" lIns="91440" tIns="45720" rIns="91440" bIns="45720" anchor="t" anchorCtr="0"/>
          <a:p>
            <a:pPr marL="956310" indent="-956310" eaLnBrk="1" hangingPunct="1">
              <a:buNone/>
            </a:pPr>
            <a:r>
              <a:rPr lang="en-US" altLang="en-US" sz="2400" b="1" dirty="0">
                <a:solidFill>
                  <a:srgbClr val="FF0000"/>
                </a:solidFill>
              </a:rPr>
              <a:t>BASIS :</a:t>
            </a:r>
            <a:r>
              <a:rPr lang="en-US" altLang="en-US" sz="2400" dirty="0"/>
              <a:t> Let |w| = 0 it means w=</a:t>
            </a:r>
            <a:r>
              <a:rPr lang="az-Cyrl-AZ" altLang="en-US" sz="2400" dirty="0"/>
              <a:t>Є</a:t>
            </a:r>
            <a:r>
              <a:rPr lang="en-US" altLang="en-US" sz="2400" dirty="0"/>
              <a:t>. By the basis definitions of </a:t>
            </a:r>
            <a:r>
              <a:rPr lang="el-GR" altLang="en-US" sz="2400" dirty="0"/>
              <a:t>δ</a:t>
            </a:r>
            <a:r>
              <a:rPr lang="en-US" altLang="en-US" sz="2400" dirty="0"/>
              <a:t>* for DFA and NFA </a:t>
            </a:r>
            <a:endParaRPr lang="en-US" altLang="en-US" sz="2400" dirty="0"/>
          </a:p>
          <a:p>
            <a:pPr indent="269875" eaLnBrk="1" hangingPunct="1"/>
            <a:r>
              <a:rPr lang="en-US" altLang="en-US" sz="2400" dirty="0"/>
              <a:t> we have </a:t>
            </a:r>
            <a:r>
              <a:rPr lang="el-GR" altLang="en-US" sz="2400" b="1" dirty="0">
                <a:solidFill>
                  <a:srgbClr val="FF0000"/>
                </a:solidFill>
              </a:rPr>
              <a:t>δ</a:t>
            </a:r>
            <a:r>
              <a:rPr lang="en-US" altLang="en-US" sz="2400" b="1" baseline="-25000" dirty="0">
                <a:solidFill>
                  <a:srgbClr val="FF0000"/>
                </a:solidFill>
              </a:rPr>
              <a:t>D</a:t>
            </a:r>
            <a:r>
              <a:rPr lang="en-US" altLang="en-US" sz="2400" b="1" dirty="0">
                <a:solidFill>
                  <a:srgbClr val="FF0000"/>
                </a:solidFill>
              </a:rPr>
              <a:t>*({q0},</a:t>
            </a:r>
            <a:r>
              <a:rPr lang="az-Cyrl-AZ" altLang="en-US" sz="2400" b="1" dirty="0">
                <a:solidFill>
                  <a:srgbClr val="FF0000"/>
                </a:solidFill>
              </a:rPr>
              <a:t>Є</a:t>
            </a:r>
            <a:r>
              <a:rPr lang="en-US" altLang="en-US" sz="2400" b="1" dirty="0">
                <a:solidFill>
                  <a:srgbClr val="FF0000"/>
                </a:solidFill>
              </a:rPr>
              <a:t>)  and </a:t>
            </a:r>
            <a:r>
              <a:rPr lang="el-GR" altLang="en-US" sz="2400" b="1" dirty="0">
                <a:solidFill>
                  <a:srgbClr val="FF0000"/>
                </a:solidFill>
              </a:rPr>
              <a:t>δ</a:t>
            </a:r>
            <a:r>
              <a:rPr lang="en-US" altLang="en-US" sz="2400" b="1" baseline="-25000" dirty="0">
                <a:solidFill>
                  <a:srgbClr val="FF0000"/>
                </a:solidFill>
              </a:rPr>
              <a:t>N</a:t>
            </a:r>
            <a:r>
              <a:rPr lang="en-US" altLang="en-US" sz="2400" b="1" dirty="0">
                <a:solidFill>
                  <a:srgbClr val="FF0000"/>
                </a:solidFill>
              </a:rPr>
              <a:t>*(q0,</a:t>
            </a:r>
            <a:r>
              <a:rPr lang="az-Cyrl-AZ" altLang="en-US" sz="2400" b="1" dirty="0">
                <a:solidFill>
                  <a:srgbClr val="FF0000"/>
                </a:solidFill>
              </a:rPr>
              <a:t>Є</a:t>
            </a:r>
            <a:r>
              <a:rPr lang="en-US" altLang="en-US" sz="2400" b="1" dirty="0">
                <a:solidFill>
                  <a:srgbClr val="FF0000"/>
                </a:solidFill>
              </a:rPr>
              <a:t>) are {q</a:t>
            </a:r>
            <a:r>
              <a:rPr lang="en-US" altLang="en-US" sz="2400" b="1" baseline="-25000" dirty="0">
                <a:solidFill>
                  <a:srgbClr val="FF0000"/>
                </a:solidFill>
              </a:rPr>
              <a:t>0</a:t>
            </a:r>
            <a:r>
              <a:rPr lang="en-US" altLang="en-US" sz="2400" b="1" dirty="0">
                <a:solidFill>
                  <a:srgbClr val="FF0000"/>
                </a:solidFill>
              </a:rPr>
              <a:t>}.</a:t>
            </a:r>
            <a:endParaRPr lang="en-US" altLang="en-US" sz="2400" b="1" dirty="0">
              <a:solidFill>
                <a:srgbClr val="FF0000"/>
              </a:solidFill>
            </a:endParaRPr>
          </a:p>
          <a:p>
            <a:pPr marL="1737360" indent="-1737360" eaLnBrk="1" hangingPunct="1">
              <a:buNone/>
            </a:pPr>
            <a:r>
              <a:rPr lang="en-US" altLang="en-US" sz="2400" b="1" dirty="0">
                <a:solidFill>
                  <a:srgbClr val="00B0F0"/>
                </a:solidFill>
              </a:rPr>
              <a:t>INDUCTION : </a:t>
            </a:r>
            <a:r>
              <a:rPr lang="en-US" altLang="en-US" sz="2400" dirty="0"/>
              <a:t>Let |w| = n, break up  w as w=xa where a is the final symbol of w and x is the remaining characters.</a:t>
            </a:r>
            <a:endParaRPr lang="en-US" altLang="en-US" sz="2400" dirty="0"/>
          </a:p>
          <a:p>
            <a:pPr indent="2540" eaLnBrk="1" hangingPunct="1"/>
            <a:r>
              <a:rPr lang="en-US" altLang="en-US" sz="2400" dirty="0"/>
              <a:t>   By the Induction hypothesis </a:t>
            </a:r>
            <a:r>
              <a:rPr lang="en-IN" altLang="en-US" sz="2400" dirty="0"/>
              <a:t>of </a:t>
            </a:r>
            <a:r>
              <a:rPr lang="en-US" altLang="en-US" sz="2400" b="1" dirty="0">
                <a:solidFill>
                  <a:srgbClr val="FF0000"/>
                </a:solidFill>
                <a:sym typeface="+mn-ea"/>
              </a:rPr>
              <a:t> </a:t>
            </a:r>
            <a:r>
              <a:rPr lang="el-GR" altLang="en-US" sz="2400" b="1" dirty="0">
                <a:solidFill>
                  <a:srgbClr val="FF0000"/>
                </a:solidFill>
                <a:sym typeface="+mn-ea"/>
              </a:rPr>
              <a:t>δ</a:t>
            </a:r>
            <a:r>
              <a:rPr lang="en-US" altLang="en-US" sz="2400" b="1" baseline="-25000" dirty="0">
                <a:solidFill>
                  <a:srgbClr val="FF0000"/>
                </a:solidFill>
                <a:sym typeface="+mn-ea"/>
              </a:rPr>
              <a:t>N</a:t>
            </a:r>
            <a:r>
              <a:rPr lang="en-US" altLang="en-US" sz="2400" b="1" dirty="0">
                <a:solidFill>
                  <a:srgbClr val="FF0000"/>
                </a:solidFill>
                <a:sym typeface="+mn-ea"/>
              </a:rPr>
              <a:t>*</a:t>
            </a:r>
            <a:r>
              <a:rPr lang="en-IN" altLang="en-US" sz="2400" b="1" dirty="0">
                <a:solidFill>
                  <a:srgbClr val="FF0000"/>
                </a:solidFill>
                <a:sym typeface="+mn-ea"/>
              </a:rPr>
              <a:t> </a:t>
            </a:r>
            <a:r>
              <a:rPr lang="en-US" altLang="en-US" sz="2400" dirty="0">
                <a:sym typeface="+mn-ea"/>
              </a:rPr>
              <a:t>on w</a:t>
            </a:r>
            <a:r>
              <a:rPr lang="en-IN" altLang="en-US" sz="2400" dirty="0">
                <a:sym typeface="+mn-ea"/>
              </a:rPr>
              <a:t>, we know that</a:t>
            </a:r>
            <a:endParaRPr lang="en-US" altLang="en-US" sz="2400" dirty="0"/>
          </a:p>
          <a:p>
            <a:pPr eaLnBrk="1" hangingPunct="1">
              <a:buNone/>
            </a:pPr>
            <a:r>
              <a:rPr lang="en-US" altLang="en-US" sz="2400" dirty="0"/>
              <a:t>               </a:t>
            </a:r>
            <a:r>
              <a:rPr lang="en-US" altLang="en-US" sz="2400" b="1" dirty="0">
                <a:solidFill>
                  <a:srgbClr val="FF0000"/>
                </a:solidFill>
              </a:rPr>
              <a:t> </a:t>
            </a:r>
            <a:r>
              <a:rPr lang="el-GR" altLang="en-US" sz="2400" b="1" dirty="0">
                <a:solidFill>
                  <a:srgbClr val="FF0000"/>
                </a:solidFill>
              </a:rPr>
              <a:t>δ</a:t>
            </a:r>
            <a:r>
              <a:rPr lang="en-US" altLang="en-US" sz="2400" b="1" baseline="-25000" dirty="0">
                <a:solidFill>
                  <a:srgbClr val="FF0000"/>
                </a:solidFill>
              </a:rPr>
              <a:t>N</a:t>
            </a:r>
            <a:r>
              <a:rPr lang="en-US" altLang="en-US" sz="2400" b="1" dirty="0">
                <a:solidFill>
                  <a:srgbClr val="FF0000"/>
                </a:solidFill>
              </a:rPr>
              <a:t>*(q0,w) = </a:t>
            </a:r>
            <a:r>
              <a:rPr lang="el-GR" altLang="en-US" sz="2400" b="1" dirty="0">
                <a:solidFill>
                  <a:srgbClr val="FF0000"/>
                </a:solidFill>
              </a:rPr>
              <a:t>δ</a:t>
            </a:r>
            <a:r>
              <a:rPr lang="en-US" altLang="en-US" sz="2400" b="1" baseline="-25000" dirty="0">
                <a:solidFill>
                  <a:srgbClr val="FF0000"/>
                </a:solidFill>
              </a:rPr>
              <a:t>N</a:t>
            </a:r>
            <a:r>
              <a:rPr lang="en-US" altLang="en-US" sz="2400" b="1" dirty="0">
                <a:solidFill>
                  <a:srgbClr val="FF0000"/>
                </a:solidFill>
              </a:rPr>
              <a:t> (</a:t>
            </a:r>
            <a:r>
              <a:rPr lang="el-GR" altLang="en-US" sz="2400" b="1" dirty="0">
                <a:solidFill>
                  <a:srgbClr val="FF0000"/>
                </a:solidFill>
              </a:rPr>
              <a:t>δ</a:t>
            </a:r>
            <a:r>
              <a:rPr lang="en-US" altLang="en-US" sz="2400" b="1" baseline="-25000" dirty="0">
                <a:solidFill>
                  <a:srgbClr val="FF0000"/>
                </a:solidFill>
              </a:rPr>
              <a:t>N</a:t>
            </a:r>
            <a:r>
              <a:rPr lang="en-US" altLang="en-US" sz="2400" b="1" dirty="0">
                <a:solidFill>
                  <a:srgbClr val="FF0000"/>
                </a:solidFill>
              </a:rPr>
              <a:t>*(q0,x),a) </a:t>
            </a:r>
            <a:r>
              <a:rPr lang="en-US" altLang="en-US" sz="2400" dirty="0"/>
              <a:t>  </a:t>
            </a:r>
            <a:endParaRPr lang="en-US" altLang="en-US" sz="2400" dirty="0"/>
          </a:p>
          <a:p>
            <a:pPr marL="651510" indent="-342900" eaLnBrk="1" hangingPunct="1"/>
            <a:r>
              <a:rPr lang="en-US" altLang="en-US" sz="2400" dirty="0"/>
              <a:t>In order to see the transition </a:t>
            </a:r>
            <a:r>
              <a:rPr lang="el-GR" altLang="en-US" sz="2400" dirty="0"/>
              <a:t>δ</a:t>
            </a:r>
            <a:r>
              <a:rPr lang="en-US" altLang="en-US" sz="2400" baseline="-25000" dirty="0"/>
              <a:t>N </a:t>
            </a:r>
            <a:r>
              <a:rPr lang="en-US" altLang="en-US" sz="2400" dirty="0"/>
              <a:t>on ‘a’ we must have </a:t>
            </a:r>
            <a:r>
              <a:rPr lang="en-IN" altLang="en-US" sz="2400" dirty="0"/>
              <a:t> </a:t>
            </a:r>
            <a:r>
              <a:rPr lang="en-US" altLang="en-US" sz="2400" dirty="0"/>
              <a:t>processed </a:t>
            </a:r>
            <a:r>
              <a:rPr lang="en-IN" altLang="en-US" sz="2400" dirty="0"/>
              <a:t>x from start state q0. </a:t>
            </a:r>
            <a:r>
              <a:rPr lang="en-US" altLang="en-US" sz="2400" dirty="0"/>
              <a:t> Let  </a:t>
            </a:r>
            <a:r>
              <a:rPr lang="el-GR" altLang="en-US" sz="2400" dirty="0"/>
              <a:t>δ</a:t>
            </a:r>
            <a:r>
              <a:rPr lang="en-US" altLang="en-US" sz="2400" baseline="-25000" dirty="0"/>
              <a:t>N</a:t>
            </a:r>
            <a:r>
              <a:rPr lang="en-US" altLang="en-US" sz="2400" dirty="0"/>
              <a:t>*(q0,x) = {p1,p2…pk}.</a:t>
            </a:r>
            <a:endParaRPr lang="en-US" altLang="en-US" sz="2400" dirty="0"/>
          </a:p>
          <a:p>
            <a:pPr marL="632460" indent="-278130" defTabSz="0" eaLnBrk="1" hangingPunct="1">
              <a:tabLst>
                <a:tab pos="0" algn="l"/>
              </a:tabLst>
            </a:pPr>
            <a:r>
              <a:rPr lang="en-US" altLang="en-US" sz="2400" dirty="0"/>
              <a:t>Therefore</a:t>
            </a:r>
            <a:r>
              <a:rPr lang="en-IN" altLang="en-US" sz="2400" dirty="0"/>
              <a:t> t</a:t>
            </a:r>
            <a:r>
              <a:rPr lang="en-US" altLang="en-US" sz="2400" dirty="0"/>
              <a:t>he inductive part of the definition of </a:t>
            </a:r>
            <a:r>
              <a:rPr lang="el-GR" altLang="en-US" sz="2400" dirty="0"/>
              <a:t>δ</a:t>
            </a:r>
            <a:r>
              <a:rPr lang="en-US" altLang="en-US" sz="2400" dirty="0"/>
              <a:t>* for NFA tell</a:t>
            </a:r>
            <a:r>
              <a:rPr lang="en-IN" altLang="en-US" sz="2400" dirty="0"/>
              <a:t>s </a:t>
            </a:r>
            <a:r>
              <a:rPr lang="en-US" altLang="en-US" sz="2400" dirty="0"/>
              <a:t>us that </a:t>
            </a:r>
            <a:r>
              <a:rPr lang="en-US" altLang="en-US" sz="2400" baseline="-25000" dirty="0"/>
              <a:t>                                                                                   </a:t>
            </a:r>
            <a:endParaRPr lang="en-US" altLang="en-US" sz="2400" baseline="-25000" dirty="0"/>
          </a:p>
          <a:p>
            <a:pPr eaLnBrk="1" hangingPunct="1">
              <a:buNone/>
            </a:pPr>
            <a:r>
              <a:rPr lang="en-US" altLang="en-US" sz="2400" dirty="0"/>
              <a:t>            </a:t>
            </a:r>
            <a:r>
              <a:rPr lang="en-US" altLang="en-US" sz="2400" b="1" dirty="0">
                <a:solidFill>
                  <a:srgbClr val="00B0F0"/>
                </a:solidFill>
              </a:rPr>
              <a:t> </a:t>
            </a:r>
            <a:r>
              <a:rPr lang="en-IN" altLang="en-US" sz="2400" b="1" dirty="0">
                <a:solidFill>
                  <a:srgbClr val="00B0F0"/>
                </a:solidFill>
              </a:rPr>
              <a:t>   </a:t>
            </a:r>
            <a:r>
              <a:rPr lang="el-GR" altLang="en-US" sz="2400" b="1" dirty="0">
                <a:solidFill>
                  <a:srgbClr val="00B0F0"/>
                </a:solidFill>
              </a:rPr>
              <a:t>δ</a:t>
            </a:r>
            <a:r>
              <a:rPr lang="en-US" altLang="en-US" sz="2400" b="1" baseline="-25000" dirty="0">
                <a:solidFill>
                  <a:srgbClr val="00B0F0"/>
                </a:solidFill>
              </a:rPr>
              <a:t>N</a:t>
            </a:r>
            <a:r>
              <a:rPr lang="en-US" altLang="en-US" sz="2400" b="1" dirty="0">
                <a:solidFill>
                  <a:srgbClr val="00B0F0"/>
                </a:solidFill>
              </a:rPr>
              <a:t>*(q0,w)   = </a:t>
            </a:r>
            <a:r>
              <a:rPr lang="el-GR" altLang="en-US" sz="2400" b="1" dirty="0">
                <a:solidFill>
                  <a:srgbClr val="00B0F0"/>
                </a:solidFill>
              </a:rPr>
              <a:t>δ</a:t>
            </a:r>
            <a:r>
              <a:rPr lang="en-US" altLang="en-US" sz="2400" b="1" baseline="-25000" dirty="0">
                <a:solidFill>
                  <a:srgbClr val="00B0F0"/>
                </a:solidFill>
              </a:rPr>
              <a:t>N</a:t>
            </a:r>
            <a:r>
              <a:rPr lang="en-US" altLang="en-US" sz="2400" b="1" dirty="0">
                <a:solidFill>
                  <a:srgbClr val="00B0F0"/>
                </a:solidFill>
              </a:rPr>
              <a:t>(</a:t>
            </a:r>
            <a:r>
              <a:rPr lang="el-GR" altLang="en-US" sz="2400" b="1" dirty="0">
                <a:solidFill>
                  <a:srgbClr val="00B0F0"/>
                </a:solidFill>
              </a:rPr>
              <a:t>δ</a:t>
            </a:r>
            <a:r>
              <a:rPr lang="en-US" altLang="en-US" sz="2400" b="1" baseline="-25000" dirty="0">
                <a:solidFill>
                  <a:srgbClr val="00B0F0"/>
                </a:solidFill>
              </a:rPr>
              <a:t>N</a:t>
            </a:r>
            <a:r>
              <a:rPr lang="en-US" altLang="en-US" sz="2400" b="1" dirty="0">
                <a:solidFill>
                  <a:srgbClr val="00B0F0"/>
                </a:solidFill>
              </a:rPr>
              <a:t>*(q0,x) a)=</a:t>
            </a:r>
            <a:r>
              <a:rPr lang="el-GR" altLang="en-US" sz="2400" b="1" dirty="0">
                <a:solidFill>
                  <a:srgbClr val="00B0F0"/>
                </a:solidFill>
              </a:rPr>
              <a:t> δ</a:t>
            </a:r>
            <a:r>
              <a:rPr lang="en-US" altLang="en-US" sz="2400" b="1" baseline="-25000" dirty="0">
                <a:solidFill>
                  <a:srgbClr val="00B0F0"/>
                </a:solidFill>
              </a:rPr>
              <a:t>N</a:t>
            </a:r>
            <a:r>
              <a:rPr lang="en-US" altLang="en-US" sz="2400" b="1" dirty="0">
                <a:solidFill>
                  <a:srgbClr val="00B0F0"/>
                </a:solidFill>
              </a:rPr>
              <a:t> ({p1,p2…pk},a) </a:t>
            </a:r>
            <a:endParaRPr lang="en-US" altLang="en-US" sz="2400" b="1" dirty="0">
              <a:solidFill>
                <a:srgbClr val="00B0F0"/>
              </a:solidFill>
            </a:endParaRPr>
          </a:p>
          <a:p>
            <a:pPr eaLnBrk="1" hangingPunct="1">
              <a:buNone/>
            </a:pPr>
            <a:r>
              <a:rPr lang="en-US" altLang="en-US" sz="2400" b="1" dirty="0">
                <a:solidFill>
                  <a:srgbClr val="00B0F0"/>
                </a:solidFill>
              </a:rPr>
              <a:t>                                  </a:t>
            </a:r>
            <a:r>
              <a:rPr lang="en-IN" altLang="en-US" sz="2400" b="1" dirty="0">
                <a:solidFill>
                  <a:srgbClr val="00B0F0"/>
                </a:solidFill>
              </a:rPr>
              <a:t>      </a:t>
            </a:r>
            <a:r>
              <a:rPr lang="en-US" altLang="en-US" sz="2400" b="1" dirty="0">
                <a:solidFill>
                  <a:srgbClr val="00B0F0"/>
                </a:solidFill>
              </a:rPr>
              <a:t> k</a:t>
            </a:r>
            <a:endParaRPr lang="en-US" altLang="en-US" sz="2400" b="1" dirty="0">
              <a:solidFill>
                <a:srgbClr val="00B0F0"/>
              </a:solidFill>
            </a:endParaRPr>
          </a:p>
          <a:p>
            <a:pPr eaLnBrk="1" hangingPunct="1">
              <a:buNone/>
            </a:pPr>
            <a:r>
              <a:rPr lang="en-US" altLang="en-US" sz="2400" b="1" dirty="0">
                <a:solidFill>
                  <a:srgbClr val="00B0F0"/>
                </a:solidFill>
              </a:rPr>
              <a:t>                          </a:t>
            </a:r>
            <a:r>
              <a:rPr lang="en-IN" altLang="en-US" sz="2400" b="1" dirty="0">
                <a:solidFill>
                  <a:srgbClr val="00B0F0"/>
                </a:solidFill>
              </a:rPr>
              <a:t>       </a:t>
            </a:r>
            <a:r>
              <a:rPr lang="en-US" altLang="en-US" sz="2400" b="1" dirty="0">
                <a:solidFill>
                  <a:srgbClr val="00B0F0"/>
                </a:solidFill>
              </a:rPr>
              <a:t>     = </a:t>
            </a:r>
            <a:r>
              <a:rPr lang="en-US" altLang="en-US" sz="2400" b="1" dirty="0">
                <a:solidFill>
                  <a:srgbClr val="00B0F0"/>
                </a:solidFill>
                <a:latin typeface="Times New Roman" panose="02020603050405020304" pitchFamily="18" charset="0"/>
                <a:cs typeface="Times New Roman" panose="02020603050405020304" pitchFamily="18" charset="0"/>
              </a:rPr>
              <a:t>Ụ</a:t>
            </a:r>
            <a:r>
              <a:rPr lang="el-GR" altLang="en-US" sz="2400" b="1" dirty="0">
                <a:solidFill>
                  <a:srgbClr val="00B0F0"/>
                </a:solidFill>
              </a:rPr>
              <a:t> δ</a:t>
            </a:r>
            <a:r>
              <a:rPr lang="en-US" altLang="en-US" sz="2400" b="1" baseline="-25000" dirty="0">
                <a:solidFill>
                  <a:srgbClr val="00B0F0"/>
                </a:solidFill>
              </a:rPr>
              <a:t>N</a:t>
            </a:r>
            <a:r>
              <a:rPr lang="en-US" altLang="en-US" sz="2400" b="1" dirty="0">
                <a:solidFill>
                  <a:srgbClr val="00B0F0"/>
                </a:solidFill>
              </a:rPr>
              <a:t>*(pi, a)      →  1</a:t>
            </a:r>
            <a:endParaRPr lang="en-US" altLang="en-US" sz="2400" b="1" dirty="0">
              <a:solidFill>
                <a:srgbClr val="00B0F0"/>
              </a:solidFill>
            </a:endParaRPr>
          </a:p>
          <a:p>
            <a:pPr eaLnBrk="1" hangingPunct="1">
              <a:buNone/>
            </a:pPr>
            <a:r>
              <a:rPr lang="en-US" altLang="en-US" sz="2400" b="1" dirty="0">
                <a:solidFill>
                  <a:srgbClr val="00B0F0"/>
                </a:solidFill>
              </a:rPr>
              <a:t>                                </a:t>
            </a:r>
            <a:r>
              <a:rPr lang="en-IN" altLang="en-US" sz="2400" b="1" dirty="0">
                <a:solidFill>
                  <a:srgbClr val="00B0F0"/>
                </a:solidFill>
              </a:rPr>
              <a:t>      </a:t>
            </a:r>
            <a:r>
              <a:rPr lang="en-US" altLang="en-US" sz="2400" b="1" dirty="0">
                <a:solidFill>
                  <a:srgbClr val="00B0F0"/>
                </a:solidFill>
              </a:rPr>
              <a:t>   </a:t>
            </a:r>
            <a:r>
              <a:rPr lang="en-US" altLang="en-US" sz="2400" b="1" baseline="30000" dirty="0">
                <a:solidFill>
                  <a:srgbClr val="00B0F0"/>
                </a:solidFill>
              </a:rPr>
              <a:t>i=1</a:t>
            </a:r>
            <a:endParaRPr lang="en-US" altLang="en-US" sz="2400" b="1" baseline="30000" dirty="0">
              <a:solidFill>
                <a:srgbClr val="00B0F0"/>
              </a:solidFill>
            </a:endParaRPr>
          </a:p>
          <a:p>
            <a:pPr eaLnBrk="1" hangingPunct="1">
              <a:buNone/>
            </a:pPr>
            <a:r>
              <a:rPr lang="en-US" altLang="en-US" sz="2400" dirty="0"/>
              <a:t>       </a:t>
            </a:r>
            <a:endParaRPr lang="en-US" altLang="en-US" sz="2400" dirty="0"/>
          </a:p>
        </p:txBody>
      </p:sp>
      <p:sp>
        <p:nvSpPr>
          <p:cNvPr id="2" name="Footer Placeholder 1"/>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57200" y="381000"/>
            <a:ext cx="8229600" cy="6451600"/>
          </a:xfrm>
        </p:spPr>
        <p:txBody>
          <a:bodyPr vert="horz" wrap="square" lIns="91440" tIns="45720" rIns="91440" bIns="45720" numCol="1" rtlCol="0" anchor="t" anchorCtr="0" compatLnSpc="1"/>
          <a:p>
            <a:pPr indent="-89535" eaLnBrk="1" hangingPunct="1">
              <a:lnSpc>
                <a:spcPct val="80000"/>
              </a:lnSpc>
            </a:pPr>
            <a:r>
              <a:rPr sz="2200" dirty="0"/>
              <a:t> </a:t>
            </a:r>
            <a:r>
              <a:rPr lang="en-IN" sz="2200" dirty="0"/>
              <a:t> </a:t>
            </a:r>
            <a:r>
              <a:rPr sz="2400" dirty="0"/>
              <a:t>By induction hypothesis of </a:t>
            </a:r>
            <a:r>
              <a:rPr sz="2400" b="1" dirty="0">
                <a:solidFill>
                  <a:srgbClr val="FF0000"/>
                </a:solidFill>
                <a:sym typeface="+mn-ea"/>
              </a:rPr>
              <a:t> δ</a:t>
            </a:r>
            <a:r>
              <a:rPr sz="2400" b="1" baseline="-25000" dirty="0">
                <a:solidFill>
                  <a:srgbClr val="FF0000"/>
                </a:solidFill>
                <a:sym typeface="+mn-ea"/>
              </a:rPr>
              <a:t>D</a:t>
            </a:r>
            <a:r>
              <a:rPr sz="2400" b="1" dirty="0">
                <a:solidFill>
                  <a:srgbClr val="FF0000"/>
                </a:solidFill>
                <a:sym typeface="+mn-ea"/>
              </a:rPr>
              <a:t>*</a:t>
            </a:r>
            <a:r>
              <a:rPr sz="2400" dirty="0"/>
              <a:t>  on </a:t>
            </a:r>
            <a:r>
              <a:rPr sz="2400" dirty="0">
                <a:solidFill>
                  <a:srgbClr val="FF0000"/>
                </a:solidFill>
              </a:rPr>
              <a:t>‘w’</a:t>
            </a:r>
            <a:r>
              <a:rPr sz="2400" dirty="0"/>
              <a:t> we know that</a:t>
            </a:r>
            <a:endParaRPr sz="2400" dirty="0"/>
          </a:p>
          <a:p>
            <a:pPr marL="461010" indent="-461010" eaLnBrk="1" hangingPunct="1">
              <a:lnSpc>
                <a:spcPct val="80000"/>
              </a:lnSpc>
              <a:buNone/>
            </a:pPr>
            <a:r>
              <a:rPr sz="2400" dirty="0"/>
              <a:t>                   </a:t>
            </a:r>
            <a:r>
              <a:rPr sz="2400" b="1" dirty="0">
                <a:solidFill>
                  <a:srgbClr val="FF0000"/>
                </a:solidFill>
              </a:rPr>
              <a:t>δ</a:t>
            </a:r>
            <a:r>
              <a:rPr sz="2400" b="1" baseline="-25000" dirty="0">
                <a:solidFill>
                  <a:srgbClr val="FF0000"/>
                </a:solidFill>
              </a:rPr>
              <a:t>D</a:t>
            </a:r>
            <a:r>
              <a:rPr sz="2400" b="1" dirty="0">
                <a:solidFill>
                  <a:srgbClr val="FF0000"/>
                </a:solidFill>
              </a:rPr>
              <a:t>*({q0}, w)= </a:t>
            </a:r>
            <a:r>
              <a:rPr lang="el-GR" altLang="x-none" sz="2400" b="1" dirty="0">
                <a:solidFill>
                  <a:srgbClr val="FF0000"/>
                </a:solidFill>
              </a:rPr>
              <a:t>δ</a:t>
            </a:r>
            <a:r>
              <a:rPr sz="2400" b="1" baseline="-25000" dirty="0">
                <a:solidFill>
                  <a:srgbClr val="FF0000"/>
                </a:solidFill>
              </a:rPr>
              <a:t>D</a:t>
            </a:r>
            <a:r>
              <a:rPr sz="2400" b="1" dirty="0">
                <a:solidFill>
                  <a:srgbClr val="FF0000"/>
                </a:solidFill>
              </a:rPr>
              <a:t>(</a:t>
            </a:r>
            <a:r>
              <a:rPr lang="el-GR" altLang="x-none" sz="2400" b="1" dirty="0">
                <a:solidFill>
                  <a:srgbClr val="FF0000"/>
                </a:solidFill>
              </a:rPr>
              <a:t>δ</a:t>
            </a:r>
            <a:r>
              <a:rPr sz="2400" b="1" baseline="-25000" dirty="0">
                <a:solidFill>
                  <a:srgbClr val="FF0000"/>
                </a:solidFill>
              </a:rPr>
              <a:t>D</a:t>
            </a:r>
            <a:r>
              <a:rPr sz="2400" b="1" dirty="0">
                <a:solidFill>
                  <a:srgbClr val="FF0000"/>
                </a:solidFill>
              </a:rPr>
              <a:t>*({q0},x),a)</a:t>
            </a:r>
            <a:r>
              <a:rPr lang="en-IN" sz="2400" b="1" dirty="0">
                <a:solidFill>
                  <a:srgbClr val="FF0000"/>
                </a:solidFill>
              </a:rPr>
              <a:t> </a:t>
            </a:r>
            <a:r>
              <a:rPr lang="en-US" altLang="en-US" sz="2400" dirty="0"/>
              <a:t>where</a:t>
            </a:r>
            <a:r>
              <a:rPr lang="en-IN" sz="2400" b="1" dirty="0">
                <a:solidFill>
                  <a:srgbClr val="FF0000"/>
                </a:solidFill>
              </a:rPr>
              <a:t> w=xa </a:t>
            </a:r>
            <a:r>
              <a:rPr lang="en-US" altLang="en-US" sz="2400" dirty="0"/>
              <a:t>such that</a:t>
            </a:r>
            <a:r>
              <a:rPr lang="en-IN" sz="2400" b="1" dirty="0">
                <a:solidFill>
                  <a:srgbClr val="FF0000"/>
                </a:solidFill>
              </a:rPr>
              <a:t> </a:t>
            </a:r>
            <a:r>
              <a:rPr lang="en-US" altLang="en-US" sz="2400" dirty="0">
                <a:sym typeface="+mn-ea"/>
              </a:rPr>
              <a:t> </a:t>
            </a:r>
            <a:r>
              <a:rPr lang="en-US" altLang="en-US" sz="2400" b="1" dirty="0">
                <a:solidFill>
                  <a:srgbClr val="FF0000"/>
                </a:solidFill>
                <a:sym typeface="+mn-ea"/>
              </a:rPr>
              <a:t>a </a:t>
            </a:r>
            <a:r>
              <a:rPr lang="en-IN" altLang="en-US" sz="2400" dirty="0">
                <a:sym typeface="+mn-ea"/>
              </a:rPr>
              <a:t> </a:t>
            </a:r>
            <a:r>
              <a:rPr lang="en-US" altLang="en-US" sz="2400" dirty="0">
                <a:sym typeface="+mn-ea"/>
              </a:rPr>
              <a:t>is the </a:t>
            </a:r>
            <a:r>
              <a:rPr lang="en-US" altLang="en-US" sz="2400" b="1" dirty="0">
                <a:solidFill>
                  <a:srgbClr val="FF0000"/>
                </a:solidFill>
                <a:sym typeface="+mn-ea"/>
              </a:rPr>
              <a:t>final symbol of w</a:t>
            </a:r>
            <a:r>
              <a:rPr lang="en-US" altLang="en-US" sz="2400" dirty="0">
                <a:sym typeface="+mn-ea"/>
              </a:rPr>
              <a:t> and </a:t>
            </a:r>
            <a:r>
              <a:rPr lang="en-US" altLang="en-US" sz="2400" b="1" dirty="0">
                <a:solidFill>
                  <a:srgbClr val="FF0000"/>
                </a:solidFill>
                <a:sym typeface="+mn-ea"/>
              </a:rPr>
              <a:t>x </a:t>
            </a:r>
            <a:r>
              <a:rPr lang="en-US" altLang="en-US" sz="2400" dirty="0">
                <a:sym typeface="+mn-ea"/>
              </a:rPr>
              <a:t>is the </a:t>
            </a:r>
            <a:r>
              <a:rPr lang="en-US" altLang="en-US" sz="2400" b="1" dirty="0">
                <a:solidFill>
                  <a:srgbClr val="FF0000"/>
                </a:solidFill>
                <a:sym typeface="+mn-ea"/>
              </a:rPr>
              <a:t>remaining characters</a:t>
            </a:r>
            <a:r>
              <a:rPr lang="en-US" altLang="en-US" sz="2400" dirty="0">
                <a:sym typeface="+mn-ea"/>
              </a:rPr>
              <a:t>.</a:t>
            </a:r>
            <a:endParaRPr sz="2400" b="1" dirty="0">
              <a:solidFill>
                <a:srgbClr val="FF0000"/>
              </a:solidFill>
            </a:endParaRPr>
          </a:p>
          <a:p>
            <a:pPr marL="428625" indent="28575" eaLnBrk="1" hangingPunct="1">
              <a:lnSpc>
                <a:spcPct val="80000"/>
              </a:lnSpc>
              <a:buNone/>
            </a:pPr>
            <a:r>
              <a:rPr sz="2400" dirty="0"/>
              <a:t>Here in order to see the transition </a:t>
            </a:r>
            <a:r>
              <a:rPr sz="2400" b="1" dirty="0">
                <a:solidFill>
                  <a:srgbClr val="FF0000"/>
                </a:solidFill>
              </a:rPr>
              <a:t>δ</a:t>
            </a:r>
            <a:r>
              <a:rPr sz="2400" b="1" baseline="-25000" dirty="0">
                <a:solidFill>
                  <a:srgbClr val="FF0000"/>
                </a:solidFill>
              </a:rPr>
              <a:t>D </a:t>
            </a:r>
            <a:r>
              <a:rPr sz="2400" baseline="-25000" dirty="0"/>
              <a:t>  </a:t>
            </a:r>
            <a:r>
              <a:rPr sz="2400" dirty="0"/>
              <a:t> on </a:t>
            </a:r>
            <a:r>
              <a:rPr sz="2400" b="1" dirty="0">
                <a:solidFill>
                  <a:srgbClr val="FF0000"/>
                </a:solidFill>
              </a:rPr>
              <a:t>’a’</a:t>
            </a:r>
            <a:r>
              <a:rPr sz="2400" dirty="0"/>
              <a:t> we must have processed </a:t>
            </a:r>
            <a:r>
              <a:rPr sz="2400" b="1" dirty="0">
                <a:solidFill>
                  <a:srgbClr val="FF0000"/>
                </a:solidFill>
              </a:rPr>
              <a:t>‘x’</a:t>
            </a:r>
            <a:r>
              <a:rPr sz="2400" dirty="0"/>
              <a:t>.  </a:t>
            </a:r>
            <a:endParaRPr sz="2400" dirty="0"/>
          </a:p>
          <a:p>
            <a:pPr marL="539115" indent="-258445" defTabSz="0" eaLnBrk="1" hangingPunct="1">
              <a:lnSpc>
                <a:spcPct val="80000"/>
              </a:lnSpc>
              <a:tabLst>
                <a:tab pos="447675" algn="l"/>
              </a:tabLst>
            </a:pPr>
            <a:r>
              <a:rPr lang="en-IN" sz="2400" dirty="0"/>
              <a:t>B</a:t>
            </a:r>
            <a:r>
              <a:rPr sz="2400" dirty="0">
                <a:sym typeface="+mn-ea"/>
              </a:rPr>
              <a:t>y subset construction</a:t>
            </a:r>
            <a:r>
              <a:rPr lang="en-IN" sz="2400" dirty="0">
                <a:sym typeface="+mn-ea"/>
              </a:rPr>
              <a:t> scheme, </a:t>
            </a:r>
            <a:r>
              <a:rPr sz="2400" dirty="0"/>
              <a:t> </a:t>
            </a:r>
            <a:r>
              <a:rPr sz="2400" b="1" dirty="0">
                <a:solidFill>
                  <a:srgbClr val="FF0000"/>
                </a:solidFill>
              </a:rPr>
              <a:t>δ</a:t>
            </a:r>
            <a:r>
              <a:rPr sz="2400" b="1" baseline="-25000" dirty="0">
                <a:solidFill>
                  <a:srgbClr val="FF0000"/>
                </a:solidFill>
              </a:rPr>
              <a:t>D</a:t>
            </a:r>
            <a:r>
              <a:rPr sz="2400" b="1" dirty="0">
                <a:solidFill>
                  <a:srgbClr val="FF0000"/>
                </a:solidFill>
              </a:rPr>
              <a:t> </a:t>
            </a:r>
            <a:r>
              <a:rPr sz="2400" baseline="-25000" dirty="0"/>
              <a:t> </a:t>
            </a:r>
            <a:r>
              <a:rPr sz="2400" dirty="0"/>
              <a:t> is  expressed in term</a:t>
            </a:r>
            <a:r>
              <a:rPr lang="el-GR" altLang="x-none" sz="2400" dirty="0"/>
              <a:t> </a:t>
            </a:r>
            <a:r>
              <a:rPr sz="2400" dirty="0"/>
              <a:t> </a:t>
            </a:r>
            <a:r>
              <a:rPr lang="el-GR" altLang="x-none" sz="2400" b="1" dirty="0">
                <a:solidFill>
                  <a:srgbClr val="FF0000"/>
                </a:solidFill>
              </a:rPr>
              <a:t>δ</a:t>
            </a:r>
            <a:r>
              <a:rPr sz="2400" b="1" baseline="-25000" dirty="0">
                <a:solidFill>
                  <a:srgbClr val="FF0000"/>
                </a:solidFill>
              </a:rPr>
              <a:t>N</a:t>
            </a:r>
            <a:r>
              <a:rPr sz="2400" dirty="0"/>
              <a:t> </a:t>
            </a:r>
            <a:r>
              <a:rPr lang="en-IN" sz="2400" dirty="0"/>
              <a:t> </a:t>
            </a:r>
            <a:r>
              <a:rPr sz="2400" dirty="0"/>
              <a:t>and </a:t>
            </a:r>
            <a:r>
              <a:rPr lang="en-IN" sz="2400" dirty="0"/>
              <a:t> </a:t>
            </a:r>
            <a:r>
              <a:rPr sz="2400" dirty="0"/>
              <a:t>set </a:t>
            </a:r>
            <a:r>
              <a:rPr lang="en-IN" sz="2400" dirty="0"/>
              <a:t> </a:t>
            </a:r>
            <a:r>
              <a:rPr sz="2400" dirty="0"/>
              <a:t>of NFA states is one DFA state</a:t>
            </a:r>
            <a:r>
              <a:rPr lang="en-IN" sz="2400" dirty="0"/>
              <a:t> in Q</a:t>
            </a:r>
            <a:r>
              <a:rPr lang="en-IN" sz="2400" baseline="-25000" dirty="0"/>
              <a:t>D</a:t>
            </a:r>
            <a:r>
              <a:rPr lang="en-IN" sz="2400" dirty="0"/>
              <a:t>.</a:t>
            </a:r>
            <a:r>
              <a:rPr sz="2400" dirty="0"/>
              <a:t> </a:t>
            </a:r>
            <a:endParaRPr sz="2400" dirty="0"/>
          </a:p>
          <a:p>
            <a:pPr marL="737870" lvl="1" indent="457200" defTabSz="0" eaLnBrk="1" hangingPunct="1">
              <a:lnSpc>
                <a:spcPct val="80000"/>
              </a:lnSpc>
              <a:buNone/>
              <a:tabLst>
                <a:tab pos="447675" algn="l"/>
              </a:tabLst>
            </a:pPr>
            <a:r>
              <a:rPr lang="en-IN" altLang="el-GR" sz="2400" dirty="0">
                <a:sym typeface="+mn-ea"/>
              </a:rPr>
              <a:t>i.e </a:t>
            </a:r>
            <a:r>
              <a:rPr lang="el-GR" altLang="x-none" sz="2400" dirty="0">
                <a:sym typeface="+mn-ea"/>
              </a:rPr>
              <a:t> </a:t>
            </a:r>
            <a:r>
              <a:rPr lang="el-GR" altLang="x-none" sz="2400" b="1" dirty="0">
                <a:solidFill>
                  <a:srgbClr val="00B0F0"/>
                </a:solidFill>
                <a:sym typeface="+mn-ea"/>
              </a:rPr>
              <a:t>δ</a:t>
            </a:r>
            <a:r>
              <a:rPr sz="2400" b="1" baseline="-25000" dirty="0">
                <a:solidFill>
                  <a:srgbClr val="00B0F0"/>
                </a:solidFill>
                <a:sym typeface="+mn-ea"/>
              </a:rPr>
              <a:t>D</a:t>
            </a:r>
            <a:r>
              <a:rPr sz="2400" b="1" dirty="0">
                <a:solidFill>
                  <a:srgbClr val="00B0F0"/>
                </a:solidFill>
                <a:sym typeface="+mn-ea"/>
              </a:rPr>
              <a:t>*({q0},x) = </a:t>
            </a:r>
            <a:r>
              <a:rPr lang="el-GR" altLang="x-none" sz="2400" b="1" dirty="0">
                <a:solidFill>
                  <a:srgbClr val="00B0F0"/>
                </a:solidFill>
                <a:sym typeface="+mn-ea"/>
              </a:rPr>
              <a:t>δ</a:t>
            </a:r>
            <a:r>
              <a:rPr sz="2400" b="1" baseline="-25000" dirty="0">
                <a:solidFill>
                  <a:srgbClr val="00B0F0"/>
                </a:solidFill>
                <a:sym typeface="+mn-ea"/>
              </a:rPr>
              <a:t>N</a:t>
            </a:r>
            <a:r>
              <a:rPr sz="2400" b="1" dirty="0">
                <a:solidFill>
                  <a:srgbClr val="00B0F0"/>
                </a:solidFill>
                <a:sym typeface="+mn-ea"/>
              </a:rPr>
              <a:t>*(q0,x) = {p1,p2…pk}</a:t>
            </a:r>
            <a:endParaRPr sz="2400" dirty="0"/>
          </a:p>
          <a:p>
            <a:pPr indent="-99060" eaLnBrk="1" hangingPunct="1">
              <a:lnSpc>
                <a:spcPct val="80000"/>
              </a:lnSpc>
            </a:pPr>
            <a:r>
              <a:rPr lang="en-IN" sz="2400" dirty="0"/>
              <a:t>   There for </a:t>
            </a:r>
            <a:r>
              <a:rPr lang="en-US" altLang="en-US" sz="2400" b="1" dirty="0">
                <a:solidFill>
                  <a:srgbClr val="FF0000"/>
                </a:solidFill>
                <a:sym typeface="+mn-ea"/>
              </a:rPr>
              <a:t> </a:t>
            </a:r>
            <a:r>
              <a:rPr lang="el-GR" altLang="en-US" sz="2400" b="1" dirty="0">
                <a:solidFill>
                  <a:srgbClr val="FF0000"/>
                </a:solidFill>
                <a:sym typeface="+mn-ea"/>
              </a:rPr>
              <a:t>δ</a:t>
            </a:r>
            <a:r>
              <a:rPr lang="en-IN" altLang="en-US" sz="2400" b="1" baseline="-25000" dirty="0">
                <a:solidFill>
                  <a:srgbClr val="FF0000"/>
                </a:solidFill>
                <a:sym typeface="+mn-ea"/>
              </a:rPr>
              <a:t>D</a:t>
            </a:r>
            <a:r>
              <a:rPr lang="en-US" altLang="en-US" sz="2400" b="1" dirty="0">
                <a:solidFill>
                  <a:srgbClr val="FF0000"/>
                </a:solidFill>
                <a:sym typeface="+mn-ea"/>
              </a:rPr>
              <a:t>*</a:t>
            </a:r>
            <a:r>
              <a:rPr lang="en-IN" altLang="en-US" sz="2400" b="1" dirty="0">
                <a:solidFill>
                  <a:srgbClr val="FF0000"/>
                </a:solidFill>
                <a:sym typeface="+mn-ea"/>
              </a:rPr>
              <a:t> on w </a:t>
            </a:r>
            <a:r>
              <a:rPr lang="en-IN" sz="2400" dirty="0">
                <a:sym typeface="+mn-ea"/>
              </a:rPr>
              <a:t>is expressed as</a:t>
            </a:r>
            <a:r>
              <a:rPr lang="en-IN" altLang="en-US" sz="2400" b="1" dirty="0">
                <a:solidFill>
                  <a:srgbClr val="FF0000"/>
                </a:solidFill>
                <a:sym typeface="+mn-ea"/>
              </a:rPr>
              <a:t> </a:t>
            </a:r>
            <a:r>
              <a:rPr lang="en-IN" sz="2400" dirty="0"/>
              <a:t> : </a:t>
            </a:r>
            <a:endParaRPr sz="2400" dirty="0"/>
          </a:p>
          <a:p>
            <a:pPr marL="1221105" indent="-9525" eaLnBrk="1" hangingPunct="1">
              <a:lnSpc>
                <a:spcPct val="80000"/>
              </a:lnSpc>
              <a:buNone/>
            </a:pPr>
            <a:r>
              <a:rPr sz="2400" b="1" dirty="0">
                <a:solidFill>
                  <a:srgbClr val="FF0000"/>
                </a:solidFill>
              </a:rPr>
              <a:t>δ</a:t>
            </a:r>
            <a:r>
              <a:rPr sz="2400" b="1" baseline="-25000" dirty="0">
                <a:solidFill>
                  <a:srgbClr val="FF0000"/>
                </a:solidFill>
              </a:rPr>
              <a:t>D</a:t>
            </a:r>
            <a:r>
              <a:rPr sz="2400" b="1" dirty="0">
                <a:solidFill>
                  <a:srgbClr val="FF0000"/>
                </a:solidFill>
              </a:rPr>
              <a:t>*({q0}, w)</a:t>
            </a:r>
            <a:r>
              <a:rPr lang="en-IN" sz="2400" b="1" dirty="0">
                <a:solidFill>
                  <a:srgbClr val="FF0000"/>
                </a:solidFill>
              </a:rPr>
              <a:t> </a:t>
            </a:r>
            <a:r>
              <a:rPr sz="2400" b="1" dirty="0">
                <a:solidFill>
                  <a:srgbClr val="FF0000"/>
                </a:solidFill>
              </a:rPr>
              <a:t>= δ</a:t>
            </a:r>
            <a:r>
              <a:rPr sz="2400" b="1" baseline="-25000" dirty="0">
                <a:solidFill>
                  <a:srgbClr val="FF0000"/>
                </a:solidFill>
              </a:rPr>
              <a:t>D</a:t>
            </a:r>
            <a:r>
              <a:rPr sz="2400" b="1" dirty="0">
                <a:solidFill>
                  <a:srgbClr val="FF0000"/>
                </a:solidFill>
              </a:rPr>
              <a:t>(δ</a:t>
            </a:r>
            <a:r>
              <a:rPr sz="2400" b="1" baseline="-25000" dirty="0">
                <a:solidFill>
                  <a:srgbClr val="FF0000"/>
                </a:solidFill>
              </a:rPr>
              <a:t>D</a:t>
            </a:r>
            <a:r>
              <a:rPr sz="2400" b="1" dirty="0">
                <a:solidFill>
                  <a:srgbClr val="FF0000"/>
                </a:solidFill>
              </a:rPr>
              <a:t>*({q0},x),a) </a:t>
            </a:r>
            <a:endParaRPr sz="2400" b="1" dirty="0">
              <a:solidFill>
                <a:srgbClr val="FF0000"/>
              </a:solidFill>
            </a:endParaRPr>
          </a:p>
          <a:p>
            <a:pPr marL="1221105" indent="-9525" eaLnBrk="1" hangingPunct="1">
              <a:lnSpc>
                <a:spcPct val="80000"/>
              </a:lnSpc>
              <a:buNone/>
            </a:pPr>
            <a:r>
              <a:rPr sz="2400" b="1" dirty="0">
                <a:solidFill>
                  <a:srgbClr val="FF0000"/>
                </a:solidFill>
              </a:rPr>
              <a:t>                     </a:t>
            </a:r>
            <a:r>
              <a:rPr lang="en-IN" sz="2400" b="1" dirty="0">
                <a:solidFill>
                  <a:srgbClr val="FF0000"/>
                </a:solidFill>
              </a:rPr>
              <a:t> </a:t>
            </a:r>
            <a:r>
              <a:rPr sz="2400" b="1" dirty="0">
                <a:solidFill>
                  <a:srgbClr val="FF0000"/>
                </a:solidFill>
              </a:rPr>
              <a:t> = δ</a:t>
            </a:r>
            <a:r>
              <a:rPr sz="2400" b="1" baseline="-25000" dirty="0">
                <a:solidFill>
                  <a:srgbClr val="FF0000"/>
                </a:solidFill>
              </a:rPr>
              <a:t>D</a:t>
            </a:r>
            <a:r>
              <a:rPr sz="2400" b="1" dirty="0">
                <a:solidFill>
                  <a:srgbClr val="FF0000"/>
                </a:solidFill>
              </a:rPr>
              <a:t>(δ</a:t>
            </a:r>
            <a:r>
              <a:rPr sz="2400" b="1" baseline="-25000" dirty="0">
                <a:solidFill>
                  <a:srgbClr val="FF0000"/>
                </a:solidFill>
              </a:rPr>
              <a:t>N</a:t>
            </a:r>
            <a:r>
              <a:rPr sz="2400" b="1" dirty="0">
                <a:solidFill>
                  <a:srgbClr val="FF0000"/>
                </a:solidFill>
              </a:rPr>
              <a:t>*({q0},x),a)    k                      </a:t>
            </a:r>
            <a:endParaRPr sz="2400" b="1" dirty="0">
              <a:solidFill>
                <a:srgbClr val="FF0000"/>
              </a:solidFill>
            </a:endParaRPr>
          </a:p>
          <a:p>
            <a:pPr marL="1221105" indent="-9525" eaLnBrk="1" hangingPunct="1">
              <a:lnSpc>
                <a:spcPct val="80000"/>
              </a:lnSpc>
              <a:buNone/>
            </a:pPr>
            <a:r>
              <a:rPr sz="2400" b="1" dirty="0">
                <a:solidFill>
                  <a:srgbClr val="FF0000"/>
                </a:solidFill>
              </a:rPr>
              <a:t>                      </a:t>
            </a:r>
            <a:r>
              <a:rPr lang="en-IN" sz="2400" b="1" dirty="0">
                <a:solidFill>
                  <a:srgbClr val="FF0000"/>
                </a:solidFill>
              </a:rPr>
              <a:t> </a:t>
            </a:r>
            <a:r>
              <a:rPr sz="2400" b="1" dirty="0">
                <a:solidFill>
                  <a:srgbClr val="FF0000"/>
                </a:solidFill>
              </a:rPr>
              <a:t>=δ</a:t>
            </a:r>
            <a:r>
              <a:rPr sz="2400" b="1" baseline="-25000" dirty="0">
                <a:solidFill>
                  <a:srgbClr val="FF0000"/>
                </a:solidFill>
              </a:rPr>
              <a:t>D</a:t>
            </a:r>
            <a:r>
              <a:rPr sz="2400" b="1" dirty="0">
                <a:solidFill>
                  <a:srgbClr val="FF0000"/>
                </a:solidFill>
              </a:rPr>
              <a:t>({p1,p2..pk},a) = Ụ δ</a:t>
            </a:r>
            <a:r>
              <a:rPr sz="2400" b="1" baseline="-25000" dirty="0">
                <a:solidFill>
                  <a:srgbClr val="FF0000"/>
                </a:solidFill>
              </a:rPr>
              <a:t>N</a:t>
            </a:r>
            <a:r>
              <a:rPr sz="2400" b="1" dirty="0">
                <a:solidFill>
                  <a:srgbClr val="FF0000"/>
                </a:solidFill>
              </a:rPr>
              <a:t>(pi, a) → 2</a:t>
            </a:r>
            <a:endParaRPr sz="2400" b="1" dirty="0">
              <a:solidFill>
                <a:srgbClr val="FF0000"/>
              </a:solidFill>
            </a:endParaRPr>
          </a:p>
          <a:p>
            <a:pPr marL="1221105" indent="-9525" eaLnBrk="1" hangingPunct="1">
              <a:lnSpc>
                <a:spcPct val="80000"/>
              </a:lnSpc>
              <a:buNone/>
            </a:pPr>
            <a:r>
              <a:rPr sz="2400" b="1" dirty="0">
                <a:solidFill>
                  <a:srgbClr val="FF0000"/>
                </a:solidFill>
              </a:rPr>
              <a:t>                                                          </a:t>
            </a:r>
            <a:r>
              <a:rPr lang="en-IN" sz="2400" b="1" dirty="0">
                <a:solidFill>
                  <a:srgbClr val="FF0000"/>
                </a:solidFill>
              </a:rPr>
              <a:t> </a:t>
            </a:r>
            <a:r>
              <a:rPr sz="2400" b="1" dirty="0">
                <a:solidFill>
                  <a:srgbClr val="FF0000"/>
                </a:solidFill>
              </a:rPr>
              <a:t>i=1    </a:t>
            </a:r>
            <a:endParaRPr sz="2400" b="1" dirty="0">
              <a:solidFill>
                <a:srgbClr val="FF0000"/>
              </a:solidFill>
            </a:endParaRPr>
          </a:p>
          <a:p>
            <a:pPr indent="-107950" eaLnBrk="1" hangingPunct="1">
              <a:lnSpc>
                <a:spcPct val="80000"/>
              </a:lnSpc>
            </a:pPr>
            <a:r>
              <a:rPr lang="en-IN" sz="2400" dirty="0"/>
              <a:t>  </a:t>
            </a:r>
            <a:r>
              <a:rPr sz="2400" dirty="0"/>
              <a:t>From </a:t>
            </a:r>
            <a:r>
              <a:rPr sz="2400" dirty="0">
                <a:solidFill>
                  <a:srgbClr val="FF0000"/>
                </a:solidFill>
              </a:rPr>
              <a:t>1</a:t>
            </a:r>
            <a:r>
              <a:rPr sz="2400" dirty="0"/>
              <a:t> and </a:t>
            </a:r>
            <a:r>
              <a:rPr sz="2400" dirty="0">
                <a:solidFill>
                  <a:srgbClr val="FF0000"/>
                </a:solidFill>
              </a:rPr>
              <a:t>2</a:t>
            </a:r>
            <a:r>
              <a:rPr sz="2400" dirty="0"/>
              <a:t> it demonstrates that                                            </a:t>
            </a:r>
            <a:endParaRPr sz="2400" dirty="0"/>
          </a:p>
          <a:p>
            <a:pPr marL="520700" indent="-520700" defTabSz="0" eaLnBrk="1" hangingPunct="1">
              <a:lnSpc>
                <a:spcPct val="80000"/>
              </a:lnSpc>
              <a:buNone/>
              <a:tabLst>
                <a:tab pos="179070" algn="l"/>
              </a:tabLst>
            </a:pPr>
            <a:r>
              <a:rPr sz="2400" dirty="0"/>
              <a:t>              </a:t>
            </a:r>
            <a:r>
              <a:rPr sz="2400" b="1" dirty="0">
                <a:solidFill>
                  <a:srgbClr val="00B0F0"/>
                </a:solidFill>
              </a:rPr>
              <a:t> δ</a:t>
            </a:r>
            <a:r>
              <a:rPr sz="2400" b="1" baseline="-25000" dirty="0">
                <a:solidFill>
                  <a:srgbClr val="00B0F0"/>
                </a:solidFill>
              </a:rPr>
              <a:t>D</a:t>
            </a:r>
            <a:r>
              <a:rPr sz="2400" b="1" dirty="0">
                <a:solidFill>
                  <a:srgbClr val="00B0F0"/>
                </a:solidFill>
              </a:rPr>
              <a:t>*({q0}, w)= δ</a:t>
            </a:r>
            <a:r>
              <a:rPr sz="2400" b="1" baseline="-25000" dirty="0">
                <a:solidFill>
                  <a:srgbClr val="00B0F0"/>
                </a:solidFill>
              </a:rPr>
              <a:t>N</a:t>
            </a:r>
            <a:r>
              <a:rPr sz="2400" b="1" dirty="0">
                <a:solidFill>
                  <a:srgbClr val="00B0F0"/>
                </a:solidFill>
              </a:rPr>
              <a:t>*(q0,w)</a:t>
            </a:r>
            <a:r>
              <a:rPr sz="2400" dirty="0"/>
              <a:t> and w is valid only when  they contain </a:t>
            </a:r>
            <a:r>
              <a:rPr lang="en-IN" sz="2400" dirty="0"/>
              <a:t> </a:t>
            </a:r>
            <a:r>
              <a:rPr sz="2400" dirty="0"/>
              <a:t>state</a:t>
            </a:r>
            <a:r>
              <a:rPr lang="en-IN" sz="2400" dirty="0"/>
              <a:t> ‘p’</a:t>
            </a:r>
            <a:r>
              <a:rPr sz="2400" dirty="0"/>
              <a:t> in F</a:t>
            </a:r>
            <a:r>
              <a:rPr sz="2400" baseline="-25000" dirty="0"/>
              <a:t>N.</a:t>
            </a:r>
            <a:r>
              <a:rPr lang="en-IN" sz="2400" baseline="-25000" dirty="0"/>
              <a:t>  </a:t>
            </a:r>
            <a:endParaRPr lang="en-IN" sz="2400" baseline="-25000" dirty="0"/>
          </a:p>
          <a:p>
            <a:pPr marL="489585" indent="-263525" eaLnBrk="1" hangingPunct="1">
              <a:lnSpc>
                <a:spcPct val="80000"/>
              </a:lnSpc>
            </a:pPr>
            <a:r>
              <a:rPr lang="en-IN" sz="2400" dirty="0">
                <a:sym typeface="+mn-ea"/>
              </a:rPr>
              <a:t>This proves the argument of the theorem that </a:t>
            </a:r>
            <a:r>
              <a:rPr sz="2400" b="1" dirty="0">
                <a:solidFill>
                  <a:srgbClr val="FF0000"/>
                </a:solidFill>
                <a:sym typeface="+mn-ea"/>
              </a:rPr>
              <a:t>L(D) = L(N)</a:t>
            </a:r>
            <a:r>
              <a:rPr lang="en-IN" sz="2400" b="1" dirty="0">
                <a:solidFill>
                  <a:srgbClr val="FF0000"/>
                </a:solidFill>
                <a:sym typeface="+mn-ea"/>
              </a:rPr>
              <a:t>,  </a:t>
            </a:r>
            <a:r>
              <a:rPr lang="en-IN" sz="2400" dirty="0">
                <a:sym typeface="+mn-ea"/>
              </a:rPr>
              <a:t>when DFA is constucted from NFA by a Subset construction Schme.</a:t>
            </a:r>
            <a:endParaRPr lang="en-IN" sz="2400" dirty="0">
              <a:sym typeface="+mn-ea"/>
            </a:endParaRPr>
          </a:p>
        </p:txBody>
      </p:sp>
      <p:sp>
        <p:nvSpPr>
          <p:cNvPr id="2" name="Footer Placeholder 1"/>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8" name="Rectangles 941057"/>
          <p:cNvSpPr/>
          <p:nvPr/>
        </p:nvSpPr>
        <p:spPr>
          <a:xfrm>
            <a:off x="279400" y="3124200"/>
            <a:ext cx="8579485" cy="1073150"/>
          </a:xfrm>
          <a:prstGeom prst="rect">
            <a:avLst/>
          </a:prstGeom>
          <a:solidFill>
            <a:srgbClr val="FFFF66"/>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0" indent="0" algn="ctr" eaLnBrk="1" hangingPunct="1">
              <a:spcBef>
                <a:spcPct val="0"/>
              </a:spcBef>
              <a:buNone/>
            </a:pPr>
            <a:endParaRPr lang="zh-CN" altLang="en-US" sz="1350" dirty="0">
              <a:ea typeface="SimSun" panose="02010600030101010101" pitchFamily="2" charset="-122"/>
            </a:endParaRPr>
          </a:p>
        </p:txBody>
      </p:sp>
      <p:sp>
        <p:nvSpPr>
          <p:cNvPr id="11269" name="Text Box 941058"/>
          <p:cNvSpPr txBox="1"/>
          <p:nvPr/>
        </p:nvSpPr>
        <p:spPr>
          <a:xfrm>
            <a:off x="506095" y="3352800"/>
            <a:ext cx="7811135" cy="55308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0" indent="0" eaLnBrk="1" hangingPunct="1">
              <a:spcBef>
                <a:spcPct val="0"/>
              </a:spcBef>
              <a:buNone/>
            </a:pPr>
            <a:r>
              <a:rPr lang="en-IN" altLang="en-US" sz="3000" b="1" dirty="0" smtClean="0">
                <a:solidFill>
                  <a:srgbClr val="FF0000"/>
                </a:solidFill>
              </a:rPr>
              <a:t>                                 END of </a:t>
            </a:r>
            <a:r>
              <a:rPr lang="en-US" altLang="en-US" sz="3000" b="1" dirty="0" smtClean="0">
                <a:solidFill>
                  <a:srgbClr val="FF0000"/>
                </a:solidFill>
              </a:rPr>
              <a:t>UNIT-</a:t>
            </a:r>
            <a:r>
              <a:rPr lang="en-IN" altLang="en-US" sz="3000" b="1" dirty="0" smtClean="0">
                <a:solidFill>
                  <a:srgbClr val="FF0000"/>
                </a:solidFill>
              </a:rPr>
              <a:t>1</a:t>
            </a:r>
            <a:r>
              <a:rPr lang="en-US" altLang="en-US" sz="3000" b="1" dirty="0" smtClean="0">
                <a:solidFill>
                  <a:srgbClr val="FF0000"/>
                </a:solidFill>
              </a:rPr>
              <a:t>.</a:t>
            </a:r>
            <a:r>
              <a:rPr lang="zh-CN" altLang="en-US" sz="3000" b="1" dirty="0" smtClean="0">
                <a:solidFill>
                  <a:srgbClr val="FF0000"/>
                </a:solidFill>
                <a:ea typeface="SimSun" panose="02010600030101010101" pitchFamily="2" charset="-122"/>
              </a:rPr>
              <a:t>   </a:t>
            </a:r>
            <a:endParaRPr lang="zh-CN" altLang="en-US" sz="3000" dirty="0">
              <a:ea typeface="SimSun" panose="02010600030101010101" pitchFamily="2" charset="-122"/>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t>Prepared by Dr. Mallikarjun Math Professor &amp; Head CC</a:t>
            </a:r>
            <a:endParaRPr kumimoji="0" 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36670</Words>
  <Application>WPS Presentation</Application>
  <PresentationFormat/>
  <Paragraphs>1296</Paragraphs>
  <Slides>65</Slides>
  <Notes>0</Notes>
  <HiddenSlides>2</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65</vt:i4>
      </vt:variant>
    </vt:vector>
  </HeadingPairs>
  <TitlesOfParts>
    <vt:vector size="83" baseType="lpstr">
      <vt:lpstr>Arial</vt:lpstr>
      <vt:lpstr>SimSun</vt:lpstr>
      <vt:lpstr>Wingdings</vt:lpstr>
      <vt:lpstr>Calibri</vt:lpstr>
      <vt:lpstr>Times New Roman</vt:lpstr>
      <vt:lpstr>Bahnschrift Light SemiCondensed</vt:lpstr>
      <vt:lpstr>Wingdings</vt:lpstr>
      <vt:lpstr>Microsoft YaHei</vt:lpstr>
      <vt:lpstr>Arial Unicode MS</vt:lpstr>
      <vt:lpstr>Garamond</vt:lpstr>
      <vt:lpstr>PMingLiU</vt:lpstr>
      <vt:lpstr>Segoe Print</vt:lpstr>
      <vt:lpstr>Symbol</vt:lpstr>
      <vt:lpstr>Gill Sans MT</vt:lpstr>
      <vt:lpstr>Gill Sans MT</vt:lpstr>
      <vt:lpstr>MS PGothic</vt:lpstr>
      <vt:lpstr>Symbol</vt:lpstr>
      <vt:lpstr>Office Theme</vt:lpstr>
      <vt:lpstr>  Topics to be covered :</vt:lpstr>
      <vt:lpstr> Deterministic Finite Automata(DFA)</vt:lpstr>
      <vt:lpstr> Structural/Schematic Representation and working of a Finite    Automata.</vt:lpstr>
      <vt:lpstr>PowerPoint 演示文稿</vt:lpstr>
      <vt:lpstr>Central concept of automata theory</vt:lpstr>
      <vt:lpstr>PowerPoint 演示文稿</vt:lpstr>
      <vt:lpstr>PowerPoint 演示文稿</vt:lpstr>
      <vt:lpstr>Types of Automata</vt:lpstr>
      <vt:lpstr>Types of Automata</vt:lpstr>
      <vt:lpstr>PowerPoint 演示文稿</vt:lpstr>
      <vt:lpstr>Formal Definition</vt:lpstr>
      <vt:lpstr>Processing of strings by DFA</vt:lpstr>
      <vt:lpstr>Simpler Notations of DFA</vt:lpstr>
      <vt:lpstr>Simpler Notations of DFA</vt:lpstr>
      <vt:lpstr>Extended Transition Function δ *</vt:lpstr>
      <vt:lpstr>PowerPoint 演示文稿</vt:lpstr>
      <vt:lpstr>PowerPoint 演示文稿</vt:lpstr>
      <vt:lpstr>Language of DFA</vt:lpstr>
      <vt:lpstr>Examples</vt:lpstr>
      <vt:lpstr>Examples on Design Of DFA</vt:lpstr>
      <vt:lpstr>PowerPoint 演示文稿</vt:lpstr>
      <vt:lpstr>PowerPoint 演示文稿</vt:lpstr>
      <vt:lpstr>Non Deterministic Finite Automata(NFA)</vt:lpstr>
      <vt:lpstr>Introduction</vt:lpstr>
      <vt:lpstr>Formal Definition</vt:lpstr>
      <vt:lpstr>Processing of string by an NFA</vt:lpstr>
      <vt:lpstr>Extended Transition Function δ *</vt:lpstr>
      <vt:lpstr>PowerPoint 演示文稿</vt:lpstr>
      <vt:lpstr>PowerPoint 演示文稿</vt:lpstr>
      <vt:lpstr>Languages of an NFA </vt:lpstr>
      <vt:lpstr>Problems on the design of NFA</vt:lpstr>
      <vt:lpstr>Equivalence of Deterministic and Non Deterministic Finite Automata </vt:lpstr>
      <vt:lpstr>Conversion of NFA to DFA using Subset Construction Scheme</vt:lpstr>
      <vt:lpstr>PowerPoint 演示文稿</vt:lpstr>
      <vt:lpstr>PowerPoint 演示文稿</vt:lpstr>
      <vt:lpstr>PowerPoint 演示文稿</vt:lpstr>
      <vt:lpstr>PowerPoint 演示文稿</vt:lpstr>
      <vt:lpstr>Conversion of NFA to DFA by using Subset Construction Scheme by Lasy Evaluation</vt:lpstr>
      <vt:lpstr>PowerPoint 演示文稿</vt:lpstr>
      <vt:lpstr>PowerPoint 演示文稿</vt:lpstr>
      <vt:lpstr>PowerPoint 演示文稿</vt:lpstr>
      <vt:lpstr>PowerPoint 演示文稿</vt:lpstr>
      <vt:lpstr>PowerPoint 演示文稿</vt:lpstr>
      <vt:lpstr>Є-NFA</vt:lpstr>
      <vt:lpstr>Introduction</vt:lpstr>
      <vt:lpstr>Formal Definition</vt:lpstr>
      <vt:lpstr>Processing of string and Extended Transition Function δ*</vt:lpstr>
      <vt:lpstr>Example to use Є-closure() function</vt:lpstr>
      <vt:lpstr>Extended transition function δ* :</vt:lpstr>
      <vt:lpstr>Use of Extended transition function δ* to validate the inputs :  Example -1 - Computation of δ*(q0, -2•62) : δ*(q0,Ԑ) = Є-closure(q0) → By Basis                  = {q0,q1} δ*(q0,-) =δ(δ*(q0,Ԑ),-) = δ({q0,q1},-) ← By induction                                           = δ({q0,-) Ụ δ(q1,-)                                          = { q1} Ụ {Ø}                                   = {q1}                                   =  Є-closure(q1) ← By Induction                                   = {q1}   </vt:lpstr>
      <vt:lpstr>PowerPoint 演示文稿</vt:lpstr>
      <vt:lpstr>PowerPoint 演示文稿</vt:lpstr>
      <vt:lpstr>Languages of an Є-NFA</vt:lpstr>
      <vt:lpstr>Conversion of Ԑ-NFA to DFA by using Subset Construction Scheme by Lasy Evaluation</vt:lpstr>
      <vt:lpstr>PowerPoint 演示文稿</vt:lpstr>
      <vt:lpstr>PowerPoint 演示文稿</vt:lpstr>
      <vt:lpstr>PowerPoint 演示文稿</vt:lpstr>
      <vt:lpstr>PowerPoint 演示文稿</vt:lpstr>
      <vt:lpstr>PowerPoint 演示文稿</vt:lpstr>
      <vt:lpstr>PowerPoint 演示文稿</vt:lpstr>
      <vt:lpstr>Excecise problems on Ԑ-NFA</vt:lpstr>
      <vt:lpstr>Theorem-2</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Problems on the Design of DFA      </dc:title>
  <dc:creator/>
  <cp:lastModifiedBy>gitcc3</cp:lastModifiedBy>
  <cp:revision>350</cp:revision>
  <dcterms:created xsi:type="dcterms:W3CDTF">2006-08-16T00:00:00Z</dcterms:created>
  <dcterms:modified xsi:type="dcterms:W3CDTF">2024-04-11T16:14:58Z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6D2C60EEF13B4156B5B2DA20FA06024A_13</vt:lpwstr>
  </property>
  <property fmtid="{D5CDD505-2E9C-101B-9397-08002B2CF9AE}" pid="3" name="KSOProductBuildVer">
    <vt:lpwstr>1033-12.2.0.13489</vt:lpwstr>
  </property>
</Properties>
</file>